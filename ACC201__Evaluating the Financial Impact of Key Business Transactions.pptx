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M Serif Display" pitchFamily="2" charset="0"/>
      <p:regular r:id="rId11"/>
    </p:embeddedFont>
    <p:embeddedFont>
      <p:font typeface="MV Boli" panose="02000500030200090000" pitchFamily="2" charset="0"/>
      <p:regular r:id="rId12"/>
    </p:embeddedFont>
    <p:embeddedFont>
      <p:font typeface="Open Sauce" panose="020B0604020202020204" charset="0"/>
      <p:regular r:id="rId13"/>
    </p:embeddedFont>
    <p:embeddedFont>
      <p:font typeface="Open Sauce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00" autoAdjust="0"/>
    <p:restoredTop sz="94622" autoAdjust="0"/>
  </p:normalViewPr>
  <p:slideViewPr>
    <p:cSldViewPr>
      <p:cViewPr>
        <p:scale>
          <a:sx n="33" d="100"/>
          <a:sy n="33" d="100"/>
        </p:scale>
        <p:origin x="1680" y="5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frr.worldbank.org/sites/default/files/2022-07/accrual_report.pdf" TargetMode="External"/><Relationship Id="rId3" Type="http://schemas.openxmlformats.org/officeDocument/2006/relationships/hyperlink" Target="https://www.researchgate.net/publication/394654117_Accounting_Information_System_and_Financial_Reporting_Quality_Role_of_Internal_Audit_Effectiveness" TargetMode="External"/><Relationship Id="rId7" Type="http://schemas.openxmlformats.org/officeDocument/2006/relationships/hyperlink" Target="https://www.ijebmr.com/uploads/pdf/archivepdf/2024/IJEBMR_1436.pdf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journal.cz/files/518.pdf" TargetMode="External"/><Relationship Id="rId5" Type="http://schemas.openxmlformats.org/officeDocument/2006/relationships/hyperlink" Target="https://www.growingscience.com/ijds/Vol7/ijdns_2023_112.pdf" TargetMode="External"/><Relationship Id="rId4" Type="http://schemas.openxmlformats.org/officeDocument/2006/relationships/hyperlink" Target="https://doras.dcu.ie/28212/1/online%20%20XBRL%20IMPACT%20On%20FRQ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388077"/>
            <a:ext cx="16230600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Evaluating the Financial Impact of Key Business Transactions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40173" y="4619625"/>
            <a:ext cx="1240765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Using MYOB Accounting Data and Financial Statements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27291" y="6285925"/>
            <a:ext cx="4233419" cy="334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Student Name:</a:t>
            </a:r>
          </a:p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Student ID:</a:t>
            </a:r>
          </a:p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Course Code:</a:t>
            </a:r>
          </a:p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Institution Affiliation:</a:t>
            </a:r>
          </a:p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Instructor’s Name: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Date: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853723" y="15621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3851646" y="1028700"/>
            <a:ext cx="2486312" cy="2486312"/>
          </a:xfrm>
          <a:custGeom>
            <a:avLst/>
            <a:gdLst/>
            <a:ahLst/>
            <a:cxnLst/>
            <a:rect l="l" t="t" r="r" b="b"/>
            <a:pathLst>
              <a:path w="2486312" h="2486312">
                <a:moveTo>
                  <a:pt x="0" y="0"/>
                </a:moveTo>
                <a:lnTo>
                  <a:pt x="2486311" y="0"/>
                </a:lnTo>
                <a:lnTo>
                  <a:pt x="2486311" y="2486312"/>
                </a:lnTo>
                <a:lnTo>
                  <a:pt x="0" y="2486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53723" y="1850930"/>
            <a:ext cx="6088849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91637" y="4051109"/>
            <a:ext cx="12203165" cy="362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Evaluating Key Bus</a:t>
            </a: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iness Transactions Using MYOB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Analysis of three significant business transactions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Focus on financial impact and informed decision-making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Understanding how transactions affect business performance</a:t>
            </a:r>
          </a:p>
          <a:p>
            <a:pPr marL="1295400" lvl="2" indent="-431800" algn="l">
              <a:lnSpc>
                <a:spcPts val="4800"/>
              </a:lnSpc>
              <a:buFont typeface="Arial"/>
              <a:buChar char="⚬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Clear link to balance sheet and income statement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548051" y="647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4729183" y="3232797"/>
            <a:ext cx="1260617" cy="1236980"/>
          </a:xfrm>
          <a:custGeom>
            <a:avLst/>
            <a:gdLst/>
            <a:ahLst/>
            <a:cxnLst/>
            <a:rect l="l" t="t" r="r" b="b"/>
            <a:pathLst>
              <a:path w="1260617" h="1236980">
                <a:moveTo>
                  <a:pt x="0" y="0"/>
                </a:moveTo>
                <a:lnTo>
                  <a:pt x="1260617" y="0"/>
                </a:lnTo>
                <a:lnTo>
                  <a:pt x="1260617" y="1236980"/>
                </a:lnTo>
                <a:lnTo>
                  <a:pt x="0" y="12369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48051" y="1028700"/>
            <a:ext cx="1422996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Cash Received from Customer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666" y="2525152"/>
            <a:ext cx="4286786" cy="1190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Transacti</a:t>
            </a: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on: Cash Receipt ($80)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4875" y="4265665"/>
            <a:ext cx="4843133" cy="362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Recorded as</a:t>
            </a: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sales revenue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Increases business cash flow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Supports daily operations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08442" y="2248198"/>
            <a:ext cx="7196284" cy="7848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3000" b="1" dirty="0">
                <a:latin typeface="Open Sauce" panose="020B0604020202020204" charset="0"/>
              </a:rPr>
              <a:t>Significance:</a:t>
            </a:r>
            <a:endParaRPr lang="en-GB" sz="3000" dirty="0">
              <a:latin typeface="Open Sauce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latin typeface="Open Sauce" panose="020B0604020202020204" charset="0"/>
              </a:rPr>
              <a:t>Supports business operations and cash availability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latin typeface="Open Sauce" panose="020B0604020202020204" charset="0"/>
              </a:rPr>
              <a:t>Benefits owner (improved cash flow) and customers (continued service)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latin typeface="Open Sauce" panose="020B0604020202020204" charset="0"/>
              </a:rPr>
              <a:t>Strengthens future financial stability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000" dirty="0">
              <a:latin typeface="Open Sauce" panose="020B0604020202020204" charset="0"/>
            </a:endParaRPr>
          </a:p>
          <a:p>
            <a:r>
              <a:rPr lang="en-GB" sz="3000" b="1" dirty="0">
                <a:latin typeface="Open Sauce" panose="020B0604020202020204" charset="0"/>
              </a:rPr>
              <a:t>Balance Sheet Impact:</a:t>
            </a:r>
            <a:endParaRPr lang="en-GB" sz="3000" dirty="0"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latin typeface="Open Sauce" panose="020B0604020202020204" charset="0"/>
              </a:rPr>
              <a:t>Bank (Asset) increases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000" dirty="0">
              <a:latin typeface="Open Sauce" panose="020B0604020202020204" charset="0"/>
            </a:endParaRPr>
          </a:p>
          <a:p>
            <a:r>
              <a:rPr lang="en-GB" sz="3000" b="1" dirty="0">
                <a:latin typeface="Open Sauce" panose="020B0604020202020204" charset="0"/>
              </a:rPr>
              <a:t>Income Statement Impact:</a:t>
            </a:r>
            <a:endParaRPr lang="en-GB" sz="3000" dirty="0">
              <a:latin typeface="Open Sauc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latin typeface="Open Sauce" panose="020B0604020202020204" charset="0"/>
              </a:rPr>
              <a:t>Revenue increases → Profit increases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79559" y="2525152"/>
            <a:ext cx="4833608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</a:t>
            </a: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ation: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11467" y="4991100"/>
            <a:ext cx="4843133" cy="362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800"/>
              </a:lnSpc>
              <a:buFont typeface="Wingdings" panose="05000000000000000000" pitchFamily="2" charset="2"/>
              <a:buChar char="ü"/>
            </a:pPr>
            <a:r>
              <a:rPr lang="en-US" sz="3000" dirty="0" err="1"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Favourable</a:t>
            </a:r>
            <a:r>
              <a:rPr lang="en-US" sz="3000" dirty="0"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: improves cash flow, s</a:t>
            </a:r>
            <a:r>
              <a:rPr lang="en-US" sz="3000" u="none" strike="noStrike" dirty="0"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trengthens liquidity, and supports </a:t>
            </a:r>
            <a:r>
              <a:rPr lang="en-US" sz="3200" dirty="0">
                <a:latin typeface="Open Sauce" panose="020B0604020202020204" charset="0"/>
              </a:rPr>
              <a:t>future financial stability </a:t>
            </a:r>
            <a:r>
              <a:rPr lang="en-US" sz="3000" u="none" strike="noStrike" dirty="0"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(</a:t>
            </a:r>
            <a:r>
              <a:rPr lang="en-US" sz="3000" u="none" strike="noStrike" dirty="0" err="1"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Sembiring</a:t>
            </a:r>
            <a:r>
              <a:rPr lang="en-US" sz="3000" u="none" strike="noStrike" dirty="0">
                <a:solidFill>
                  <a:srgbClr val="000000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rPr>
              <a:t> et al., 2022)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 dirty="0"/>
          </a:p>
        </p:txBody>
      </p:sp>
      <p:grpSp>
        <p:nvGrpSpPr>
          <p:cNvPr id="3" name="Group 3"/>
          <p:cNvGrpSpPr/>
          <p:nvPr/>
        </p:nvGrpSpPr>
        <p:grpSpPr>
          <a:xfrm>
            <a:off x="670138" y="2505988"/>
            <a:ext cx="4167601" cy="5982326"/>
            <a:chOff x="0" y="0"/>
            <a:chExt cx="4489857" cy="44898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685038" y="643275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5396904" y="2463208"/>
            <a:ext cx="6325163" cy="7623850"/>
            <a:chOff x="0" y="0"/>
            <a:chExt cx="4489857" cy="49898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89857" cy="4989843"/>
            </a:xfrm>
            <a:custGeom>
              <a:avLst/>
              <a:gdLst/>
              <a:ahLst/>
              <a:cxnLst/>
              <a:rect l="l" t="t" r="r" b="b"/>
              <a:pathLst>
                <a:path w="4489857" h="4989843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966852"/>
                  </a:lnTo>
                  <a:cubicBezTo>
                    <a:pt x="4489857" y="4979550"/>
                    <a:pt x="4479564" y="4989843"/>
                    <a:pt x="4466866" y="4989843"/>
                  </a:cubicBezTo>
                  <a:lnTo>
                    <a:pt x="22991" y="4989843"/>
                  </a:lnTo>
                  <a:cubicBezTo>
                    <a:pt x="10293" y="4989843"/>
                    <a:pt x="0" y="4979550"/>
                    <a:pt x="0" y="4966852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489857" cy="5037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95047" y="3491019"/>
            <a:ext cx="5718300" cy="6195365"/>
            <a:chOff x="0" y="0"/>
            <a:chExt cx="5107743" cy="55338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07743" cy="5533871"/>
            </a:xfrm>
            <a:custGeom>
              <a:avLst/>
              <a:gdLst/>
              <a:ahLst/>
              <a:cxnLst/>
              <a:rect l="l" t="t" r="r" b="b"/>
              <a:pathLst>
                <a:path w="5107743" h="5533871">
                  <a:moveTo>
                    <a:pt x="20210" y="0"/>
                  </a:moveTo>
                  <a:lnTo>
                    <a:pt x="5087533" y="0"/>
                  </a:lnTo>
                  <a:cubicBezTo>
                    <a:pt x="5098695" y="0"/>
                    <a:pt x="5107743" y="9048"/>
                    <a:pt x="5107743" y="20210"/>
                  </a:cubicBezTo>
                  <a:lnTo>
                    <a:pt x="5107743" y="5513661"/>
                  </a:lnTo>
                  <a:cubicBezTo>
                    <a:pt x="5107743" y="5524822"/>
                    <a:pt x="5098695" y="5533871"/>
                    <a:pt x="5087533" y="5533871"/>
                  </a:cubicBezTo>
                  <a:lnTo>
                    <a:pt x="20210" y="5533871"/>
                  </a:lnTo>
                  <a:cubicBezTo>
                    <a:pt x="9048" y="5533871"/>
                    <a:pt x="0" y="5524822"/>
                    <a:pt x="0" y="5513661"/>
                  </a:cubicBezTo>
                  <a:lnTo>
                    <a:pt x="0" y="20210"/>
                  </a:lnTo>
                  <a:cubicBezTo>
                    <a:pt x="0" y="9048"/>
                    <a:pt x="9048" y="0"/>
                    <a:pt x="2021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107743" cy="5581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85038" y="598594"/>
            <a:ext cx="17602962" cy="1359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75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Purchase Return (Defective Equipment)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8133" y="2700420"/>
            <a:ext cx="3580638" cy="6090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Transaction: Purchase Return ($66)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Returned faulty machinery component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Reduces supplier obligation</a:t>
            </a:r>
          </a:p>
          <a:p>
            <a:pPr marL="0" lvl="0" indent="0" algn="l">
              <a:lnSpc>
                <a:spcPts val="4800"/>
              </a:lnSpc>
            </a:pPr>
            <a:endParaRPr lang="en-US" sz="3000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85038" y="9648283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0662" y="2700420"/>
            <a:ext cx="598006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3200" b="1" dirty="0"/>
              <a:t>Significance:</a:t>
            </a: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Prevents unnecessary costs and losses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Benefits owner (cost control) and maintains supplier relationships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Improves future operational efficiency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3200" dirty="0"/>
          </a:p>
          <a:p>
            <a:r>
              <a:rPr lang="en-GB" sz="3200" b="1" dirty="0"/>
              <a:t>Balance Sheet Impact:</a:t>
            </a: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Inventory (Asset) decreases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Accounts Payable (Liability) decreases </a:t>
            </a:r>
          </a:p>
          <a:p>
            <a:r>
              <a:rPr lang="en-GB" sz="3200" b="1" dirty="0"/>
              <a:t>Income Statement Impact:</a:t>
            </a:r>
            <a:endParaRPr lang="en-GB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Expenses decrease → Profit increases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99067" y="3465830"/>
            <a:ext cx="5455533" cy="60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Evaluation:</a:t>
            </a:r>
          </a:p>
          <a:p>
            <a:pPr marL="457200" lvl="0" indent="-457200" algn="l">
              <a:lnSpc>
                <a:spcPts val="4800"/>
              </a:lnSpc>
              <a:buFont typeface="Wingdings" panose="05000000000000000000" pitchFamily="2" charset="2"/>
              <a:buChar char="ü"/>
            </a:pP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Favourab</a:t>
            </a:r>
            <a:r>
              <a:rPr lang="en-US" sz="3000" u="none" strike="noStrike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</a:t>
            </a: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reduces unnecessary costs and avoids losses from faulty items (Abiodun, 2024)</a:t>
            </a:r>
          </a:p>
          <a:p>
            <a:pPr marL="457200" lvl="0" indent="-457200" algn="l">
              <a:lnSpc>
                <a:spcPts val="4800"/>
              </a:lnSpc>
              <a:buFont typeface="Wingdings" panose="05000000000000000000" pitchFamily="2" charset="2"/>
              <a:buChar char="ü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Improves operational efficiency and ensures better resource management (World Bank, 2022)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4769894" y="1381226"/>
            <a:ext cx="2016244" cy="2016244"/>
          </a:xfrm>
          <a:custGeom>
            <a:avLst/>
            <a:gdLst/>
            <a:ahLst/>
            <a:cxnLst/>
            <a:rect l="l" t="t" r="r" b="b"/>
            <a:pathLst>
              <a:path w="2016244" h="2016244">
                <a:moveTo>
                  <a:pt x="0" y="0"/>
                </a:moveTo>
                <a:lnTo>
                  <a:pt x="2016244" y="0"/>
                </a:lnTo>
                <a:lnTo>
                  <a:pt x="2016244" y="2016243"/>
                </a:lnTo>
                <a:lnTo>
                  <a:pt x="0" y="2016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23470" y="1301171"/>
            <a:ext cx="14229965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Owner Capital Adjustment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4926" y="3337000"/>
            <a:ext cx="5000581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Transacti</a:t>
            </a: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on: Share Capital Payment ($300)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2468" y="5049082"/>
            <a:ext cx="4843133" cy="2396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8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Owner funds used to pay shares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Intern</a:t>
            </a: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 equity adjustment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23549" y="2732165"/>
            <a:ext cx="6636717" cy="7122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000" b="1" dirty="0">
                <a:latin typeface="Open Sauce" panose="020B0604020202020204" charset="0"/>
              </a:rPr>
              <a:t>Significance</a:t>
            </a:r>
            <a:r>
              <a:rPr lang="en-GB" sz="2800" b="1" dirty="0">
                <a:latin typeface="Open Sauce" panose="020B0604020202020204" charset="0"/>
              </a:rPr>
              <a:t>:</a:t>
            </a:r>
            <a:endParaRPr lang="en-GB" sz="2800" dirty="0">
              <a:latin typeface="Open Sauce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Open Sauce" panose="020B0604020202020204" charset="0"/>
              </a:rPr>
              <a:t>Strengthens financial structure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Open Sauce" panose="020B0604020202020204" charset="0"/>
              </a:rPr>
              <a:t>Builds stakeholder confidence (owners and investors)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Open Sauce" panose="020B0604020202020204" charset="0"/>
              </a:rPr>
              <a:t>Supports long-term business stability </a:t>
            </a:r>
          </a:p>
          <a:p>
            <a:pPr>
              <a:lnSpc>
                <a:spcPct val="150000"/>
              </a:lnSpc>
            </a:pPr>
            <a:r>
              <a:rPr lang="en-GB" sz="3000" b="1" dirty="0">
                <a:latin typeface="Open Sauce" panose="020B0604020202020204" charset="0"/>
              </a:rPr>
              <a:t>Balance Sheet Impact:</a:t>
            </a:r>
            <a:endParaRPr lang="en-GB" sz="3000" dirty="0">
              <a:latin typeface="Open Sauce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Open Sauce" panose="020B0604020202020204" charset="0"/>
              </a:rPr>
              <a:t>Equity changes (Owner funds decrease, Share capital increases) </a:t>
            </a:r>
          </a:p>
          <a:p>
            <a:pPr>
              <a:lnSpc>
                <a:spcPct val="150000"/>
              </a:lnSpc>
            </a:pPr>
            <a:r>
              <a:rPr lang="en-GB" sz="3000" b="1" dirty="0">
                <a:latin typeface="Open Sauce" panose="020B0604020202020204" charset="0"/>
              </a:rPr>
              <a:t>Income Statement Impact:</a:t>
            </a:r>
            <a:endParaRPr lang="en-GB" sz="3000" dirty="0">
              <a:latin typeface="Open Sauce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Open Sauce" panose="020B0604020202020204" charset="0"/>
              </a:rPr>
              <a:t>No impact (not revenue or expense)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61212" y="3583045"/>
            <a:ext cx="4833608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</a:t>
            </a: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ation: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9760" y="4349645"/>
            <a:ext cx="5367905" cy="424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4800"/>
              </a:lnSpc>
              <a:buFont typeface="Wingdings" panose="05000000000000000000" pitchFamily="2" charset="2"/>
              <a:buChar char="ü"/>
            </a:pP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Favourable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s</a:t>
            </a: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trengthens financial structure</a:t>
            </a:r>
          </a:p>
          <a:p>
            <a:pPr marL="457200" lvl="0" indent="-457200" algn="l">
              <a:lnSpc>
                <a:spcPts val="4800"/>
              </a:lnSpc>
              <a:buFont typeface="Wingdings" panose="05000000000000000000" pitchFamily="2" charset="2"/>
              <a:buChar char="ü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Improves stakeholder confidence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supporting long-term stability</a:t>
            </a:r>
            <a:endParaRPr lang="en-US" sz="3000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lvl="0" indent="-457200" algn="l">
              <a:lnSpc>
                <a:spcPts val="4800"/>
              </a:lnSpc>
              <a:buFont typeface="Wingdings" panose="05000000000000000000" pitchFamily="2" charset="2"/>
              <a:buChar char="ü"/>
            </a:pPr>
            <a:endParaRPr lang="en-US" sz="3000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800"/>
              </a:lnSpc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(Le et al., 2024)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166399" y="3491019"/>
            <a:ext cx="5026555" cy="5689176"/>
            <a:chOff x="0" y="0"/>
            <a:chExt cx="4489857" cy="50817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89857" cy="5081729"/>
            </a:xfrm>
            <a:custGeom>
              <a:avLst/>
              <a:gdLst/>
              <a:ahLst/>
              <a:cxnLst/>
              <a:rect l="l" t="t" r="r" b="b"/>
              <a:pathLst>
                <a:path w="4489857" h="5081729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5058739"/>
                  </a:lnTo>
                  <a:cubicBezTo>
                    <a:pt x="4489857" y="5071436"/>
                    <a:pt x="4479564" y="5081729"/>
                    <a:pt x="4466866" y="5081729"/>
                  </a:cubicBezTo>
                  <a:lnTo>
                    <a:pt x="22991" y="5081729"/>
                  </a:lnTo>
                  <a:cubicBezTo>
                    <a:pt x="10293" y="5081729"/>
                    <a:pt x="0" y="5071436"/>
                    <a:pt x="0" y="5058739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89857" cy="5129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6630723" y="3491019"/>
            <a:ext cx="5026555" cy="5806969"/>
            <a:chOff x="0" y="0"/>
            <a:chExt cx="4489857" cy="51869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89857" cy="5186945"/>
            </a:xfrm>
            <a:custGeom>
              <a:avLst/>
              <a:gdLst/>
              <a:ahLst/>
              <a:cxnLst/>
              <a:rect l="l" t="t" r="r" b="b"/>
              <a:pathLst>
                <a:path w="4489857" h="5186945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5163954"/>
                  </a:lnTo>
                  <a:cubicBezTo>
                    <a:pt x="4489857" y="5176652"/>
                    <a:pt x="4479564" y="5186945"/>
                    <a:pt x="4466866" y="5186945"/>
                  </a:cubicBezTo>
                  <a:lnTo>
                    <a:pt x="22991" y="5186945"/>
                  </a:lnTo>
                  <a:cubicBezTo>
                    <a:pt x="10293" y="5186945"/>
                    <a:pt x="0" y="5176652"/>
                    <a:pt x="0" y="5163954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489857" cy="5234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95047" y="3491019"/>
            <a:ext cx="5026555" cy="5683795"/>
            <a:chOff x="0" y="0"/>
            <a:chExt cx="4489857" cy="44898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242898" y="1348125"/>
            <a:ext cx="1153465" cy="1215337"/>
          </a:xfrm>
          <a:custGeom>
            <a:avLst/>
            <a:gdLst/>
            <a:ahLst/>
            <a:cxnLst/>
            <a:rect l="l" t="t" r="r" b="b"/>
            <a:pathLst>
              <a:path w="1153465" h="1215337">
                <a:moveTo>
                  <a:pt x="0" y="0"/>
                </a:moveTo>
                <a:lnTo>
                  <a:pt x="1153465" y="0"/>
                </a:lnTo>
                <a:lnTo>
                  <a:pt x="1153465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963460" y="2618270"/>
            <a:ext cx="918154" cy="818627"/>
          </a:xfrm>
          <a:custGeom>
            <a:avLst/>
            <a:gdLst/>
            <a:ahLst/>
            <a:cxnLst/>
            <a:rect l="l" t="t" r="r" b="b"/>
            <a:pathLst>
              <a:path w="918154" h="818627">
                <a:moveTo>
                  <a:pt x="0" y="0"/>
                </a:moveTo>
                <a:lnTo>
                  <a:pt x="918154" y="0"/>
                </a:lnTo>
                <a:lnTo>
                  <a:pt x="918154" y="818627"/>
                </a:lnTo>
                <a:lnTo>
                  <a:pt x="0" y="8186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166399" y="1186200"/>
            <a:ext cx="12504727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Overall Financial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4286" y="3536952"/>
            <a:ext cx="4446811" cy="545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Comb</a:t>
            </a:r>
            <a:r>
              <a:rPr lang="en-US" sz="3000" b="1" u="none" strike="noStrik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ined Impact on Business: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Improves liquidity (cash inflow)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Reduces costs (purchase return)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Strengthens capital structure</a:t>
            </a:r>
          </a:p>
          <a:p>
            <a:pPr marL="0" lvl="0" indent="0" algn="l">
              <a:lnSpc>
                <a:spcPts val="4800"/>
              </a:lnSpc>
            </a:pPr>
            <a:endParaRPr lang="en-US" sz="3000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38611" y="3536952"/>
            <a:ext cx="4634632" cy="606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Stakeholder</a:t>
            </a:r>
            <a:r>
              <a:rPr lang="en-US" sz="3000" b="1" u="none" strike="noStrik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Impact: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Owners → stronger equity position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Customers → continued service delivery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Suppliers → accurate transaction adjustments</a:t>
            </a:r>
          </a:p>
          <a:p>
            <a:pPr marL="0" lvl="0" indent="0" algn="l">
              <a:lnSpc>
                <a:spcPts val="4800"/>
              </a:lnSpc>
            </a:pPr>
            <a:endParaRPr lang="en-US" sz="3000" u="none" strike="noStrike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469907" y="3824073"/>
            <a:ext cx="4276833" cy="4858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Viabi</a:t>
            </a: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lity:</a:t>
            </a: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ü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Better decision-making (Tawiah &amp; Borgi, 2022)</a:t>
            </a: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ü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More reliable financial reporting (</a:t>
            </a:r>
            <a:r>
              <a:rPr lang="en-US" sz="3000" u="none" strike="noStrike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Zraqat</a:t>
            </a: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et al., 2023)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 dirty="0"/>
          </a:p>
        </p:txBody>
      </p:sp>
      <p:sp>
        <p:nvSpPr>
          <p:cNvPr id="3" name="AutoShape 3"/>
          <p:cNvSpPr/>
          <p:nvPr/>
        </p:nvSpPr>
        <p:spPr>
          <a:xfrm>
            <a:off x="1853723" y="16383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3915423" y="1028700"/>
            <a:ext cx="2961881" cy="2961881"/>
          </a:xfrm>
          <a:custGeom>
            <a:avLst/>
            <a:gdLst/>
            <a:ahLst/>
            <a:cxnLst/>
            <a:rect l="l" t="t" r="r" b="b"/>
            <a:pathLst>
              <a:path w="2961881" h="2961881">
                <a:moveTo>
                  <a:pt x="0" y="0"/>
                </a:moveTo>
                <a:lnTo>
                  <a:pt x="2961881" y="0"/>
                </a:lnTo>
                <a:lnTo>
                  <a:pt x="2961881" y="2961881"/>
                </a:lnTo>
                <a:lnTo>
                  <a:pt x="0" y="2961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53723" y="1850930"/>
            <a:ext cx="6088849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71125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91637" y="4051109"/>
            <a:ext cx="12203165" cy="484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q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Transactions directly shape financial performance</a:t>
            </a: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q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Accurate recording supports decision-making (Tawiah &amp; Borgi, 2022)</a:t>
            </a:r>
          </a:p>
          <a:p>
            <a:pPr marL="781050" lvl="1" indent="-457200" algn="l">
              <a:lnSpc>
                <a:spcPts val="4800"/>
              </a:lnSpc>
              <a:buFont typeface="Wingdings" panose="05000000000000000000" pitchFamily="2" charset="2"/>
              <a:buChar char="q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MYOB enhances reporting reliability (</a:t>
            </a:r>
            <a:r>
              <a:rPr lang="en-US" sz="3000" u="none" strike="noStrike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Sembiring</a:t>
            </a: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et al., 2022)</a:t>
            </a:r>
          </a:p>
          <a:p>
            <a:pPr algn="l">
              <a:lnSpc>
                <a:spcPts val="4800"/>
              </a:lnSpc>
            </a:pPr>
            <a:endParaRPr lang="en-US" sz="3000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800"/>
              </a:lnSpc>
            </a:pPr>
            <a:r>
              <a:rPr lang="en-US" sz="3000" b="1" u="none" strike="noStrike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Final Insight:</a:t>
            </a:r>
          </a:p>
          <a:p>
            <a:pPr marL="457200" indent="-457200" algn="l">
              <a:lnSpc>
                <a:spcPts val="4800"/>
              </a:lnSpc>
              <a:buFont typeface="Wingdings" panose="05000000000000000000" pitchFamily="2" charset="2"/>
              <a:buChar char="v"/>
            </a:pPr>
            <a:r>
              <a:rPr lang="en-US" sz="30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Effective transaction management improves both short-term performance and long-term sustainability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7940726" y="10668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5837553" y="866775"/>
            <a:ext cx="6088849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References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6314" y="2400300"/>
            <a:ext cx="16766941" cy="754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680"/>
              </a:lnSpc>
              <a:buFont typeface="Arial"/>
              <a:buChar char="•"/>
            </a:pPr>
            <a:r>
              <a:rPr lang="en-US" sz="23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Sembi</a:t>
            </a:r>
            <a:r>
              <a:rPr lang="en-US" sz="2300" u="none" strike="noStrike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ring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H. R., </a:t>
            </a:r>
            <a:r>
              <a:rPr lang="en-US" sz="2300" u="none" strike="noStrike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Sinulingga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M. H., &amp; Muda, I. (2022). Analysis of the effect of business transactions on the accounting equation. 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3"/>
              </a:rPr>
              <a:t>https://www.researchgate.net/publication/394654117_Accounting_Information_System_and_Financial_Reporting_Quality_Role_of_Internal_Audit_Effectiveness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marL="496571" lvl="1" indent="-248285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Tawiah, V., &amp; Borgi, H. (2022). The impact of digital reporting systems on financial reporting quality. Dublin City University Repository. 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/>
              </a:rPr>
              <a:t>https://doras.dcu.ie/28212/1/online%20%20XBRL%20IMPACT%20On%20FRQ.pdf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marL="496571" lvl="1" indent="-248285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Zraqat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O., Almutairi, A., &amp; </a:t>
            </a:r>
            <a:r>
              <a:rPr lang="en-US" sz="2300" u="none" strike="noStrike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Alrashidi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M. (2023). The effect of big data on financial reporting quality. International Journal of Data and Network Science, 7(2), 801–810. 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5"/>
              </a:rPr>
              <a:t>https://www.growingscience.com/ijds/Vol7/ijdns_2023_112.pdf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marL="496571" lvl="1" indent="-248285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Le, H. T. M., Lai, C. P., Phan, V. H., &amp; Pham, V. T. (2024). Financial reporting quality and investment efficiency. Czech Journal of Economics and Finance. 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6"/>
              </a:rPr>
              <a:t>https://www.cjournal.cz/files/518.pdf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marL="496571" lvl="1" indent="-248285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Abiodun, O. O. (2024). Corporate governance and financial reporting quality. International Journal of Economics, Business and Management Research. 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7"/>
              </a:rPr>
              <a:t>https://www.ijebmr.com/uploads/pdf/archivepdf/2024/IJEBMR_1436.pdf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marL="496571" lvl="1" indent="-248285" algn="l">
              <a:lnSpc>
                <a:spcPts val="3680"/>
              </a:lnSpc>
              <a:buFont typeface="Arial"/>
              <a:buChar char="•"/>
            </a:pP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World Bank (2022). The road to accrual accounting implementation: Lessons learned from the European Union member states. 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8"/>
              </a:rPr>
              <a:t>https://cfrr.worldbank.org/sites/default/files/2022-07/accrual_report.pdf</a:t>
            </a:r>
            <a:r>
              <a:rPr lang="en-US" sz="2300" u="none" strike="noStrike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3680"/>
              </a:lnSpc>
            </a:pPr>
            <a:endParaRPr lang="en-US" sz="2300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05000" y="1373539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39000" y="5939731"/>
            <a:ext cx="9926914" cy="121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7000" spc="300" dirty="0">
                <a:solidFill>
                  <a:srgbClr val="000000"/>
                </a:solidFill>
                <a:latin typeface="MV Boli" panose="02000500030200090000" pitchFamily="2" charset="0"/>
                <a:ea typeface="Open Sauce"/>
                <a:cs typeface="MV Boli" panose="02000500030200090000" pitchFamily="2" charset="0"/>
                <a:sym typeface="Open Sauce"/>
              </a:rPr>
              <a:t>Thank You For Listening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771</Words>
  <Application>Microsoft Office PowerPoint</Application>
  <PresentationFormat>Custom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Open Sauce</vt:lpstr>
      <vt:lpstr>MV Boli</vt:lpstr>
      <vt:lpstr>Calibri</vt:lpstr>
      <vt:lpstr>DM Serif Display</vt:lpstr>
      <vt:lpstr>Open Sauce Bold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the Financial Impact of Key Business Transactions</dc:title>
  <dc:creator>ADMIN</dc:creator>
  <cp:lastModifiedBy>kelvin mwangi</cp:lastModifiedBy>
  <cp:revision>20</cp:revision>
  <dcterms:created xsi:type="dcterms:W3CDTF">2006-08-16T00:00:00Z</dcterms:created>
  <dcterms:modified xsi:type="dcterms:W3CDTF">2026-04-03T13:17:55Z</dcterms:modified>
  <dc:identifier>DAHFvUbd9NI</dc:identifier>
</cp:coreProperties>
</file>