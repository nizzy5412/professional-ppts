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914" y="4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Hello everyone, today we will be presenting on sibling rivalry. We decided to write about this issue as it is an extremely widespread family phenomenon and may considerably influence the emotional state of children and their relations. With the future of education under our belt, a knowledge of sibling rivalry will assist us in advancing the support of children and their families in the process of transition.</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Sibling rivalry is a conflict, jealousy and rivalry between siblings. Rebar et al. (2020) notes that it can start with the introduction of a new child into the family because the elder child might feel that his/her position is at risk. Nevertheless, competition is possible at all ages. Parents tend to give attention, love, and approval towards their children, and this can be a cause of emotional tension among children.</a:t>
            </a:r>
            <a:endParaRPr sz="1200">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61b6d227315c8dbf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61b6d227315c8dbf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Age difference, personality differences, and the manner in which parents treat the children are some of the factors that may cause sibling rivalry. According to Holmes et al. (2024).  These differences may bring about rivalry and misinterpretations. Rebar et al. (2020) cites cases of negative effects such as aggression and low self-esteem as an outcome of sibling rivalry. Nevertheless, it can also be beneficial, including the way of teaching children essential social skills, including negotiation and resolving conflicts.</a:t>
            </a:r>
            <a:endParaRPr sz="1200">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Teachers can help the children who have sibling rivalry. One of these strategies is teaching conflict resolution skills, which includes sharing and taking turns. Suresh and Chandran (2020) stress that it is necessary to assist the children in expressing their feelings in the most effective ways. Also, encouraging individuality of the child leads to decreasing competition because, according to McHale and colleagues (2012), when every child is aware of his or her strengths, comparison and jealousy among them can be minimized.</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These books concerning children are useful in dealing with sibling rivalry. They present stories that people can relate to and learn how to relate well with their siblings in a positive manner. The book I Love My Brother by Joe Cepeda is particularly significant because it is more inclusive to children with various backgrounds as it reflects a variety of voices and opinions (Kpea, 2026).</a:t>
            </a:r>
            <a:endParaRPr sz="1200">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a:latin typeface="Times New Roman"/>
                <a:ea typeface="Times New Roman"/>
                <a:cs typeface="Times New Roman"/>
                <a:sym typeface="Times New Roman"/>
              </a:rPr>
              <a:t>The community resources can also be used by families. SickKids Hospital provides quality child development and family support information. Trew (2025) portray Toronto Public Health has parenting programs that enable families to cope with issues such as sibling rivalry. Also, the suggested video describes the reasons of sibling rivalry, as well as provides useful strategies that can be implemented by both parents and children (Reghintovschi, 2025).</a:t>
            </a:r>
            <a:endParaRPr sz="1200">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7772dab412001f94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7772dab412001f94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These are the academic references that we used in our presentation. They encompass scholarly publications and our course textbook, which gave evidence-based data concerning sibling relationships and family transitions.</a:t>
            </a:r>
            <a:endParaRPr sz="1200">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e425ec1d80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e425ec1d80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All the members of the group played an equal part in this project. We shared the slides and research duties with each other and jointly edited and recorded so that we could have a balanced and unified presentation.</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0574" y="1"/>
            <a:ext cx="9164574" cy="5149286"/>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721444" y="1365365"/>
            <a:ext cx="3600450" cy="2071640"/>
          </a:xfrm>
        </p:spPr>
        <p:txBody>
          <a:bodyPr vert="horz" lIns="91440" tIns="45720" rIns="91440" bIns="45720" rtlCol="0" anchor="b">
            <a:normAutofit/>
          </a:bodyPr>
          <a:lstStyle>
            <a:lvl1pPr>
              <a:defRPr lang="en-US" sz="36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1445" y="3536116"/>
            <a:ext cx="2873156" cy="1122462"/>
          </a:xfrm>
        </p:spPr>
        <p:txBody>
          <a:bodyPr vert="horz" lIns="91440" tIns="45720" rIns="91440" bIns="45720" rtlCol="0" anchor="t">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721444" y="164592"/>
            <a:ext cx="2027833" cy="253746"/>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926580" y="164592"/>
            <a:ext cx="1121524" cy="253746"/>
          </a:xfrm>
        </p:spPr>
        <p:txBody>
          <a:bodyPr/>
          <a:lstStyle>
            <a:lvl1pPr>
              <a:defRPr>
                <a:solidFill>
                  <a:schemeClr val="tx1"/>
                </a:solidFill>
              </a:defRPr>
            </a:lvl1pPr>
          </a:lstStyle>
          <a:p>
            <a:fld id="{21359139-99F8-4B6E-8834-95F2B9D91EE4}" type="datetime1">
              <a:rPr lang="en-US" smtClean="0"/>
              <a:pPr/>
              <a:t>9/19/2026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713923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913089" y="161144"/>
            <a:ext cx="1114425" cy="253746"/>
          </a:xfrm>
        </p:spPr>
        <p:txBody>
          <a:bodyPr/>
          <a:lstStyle>
            <a:lvl1pPr>
              <a:defRPr>
                <a:solidFill>
                  <a:schemeClr val="tx1"/>
                </a:solidFill>
              </a:defRPr>
            </a:lvl1pPr>
          </a:lstStyle>
          <a:p>
            <a:fld id="{44BE14B8-5058-4271-B378-2217DE83796E}" type="datetime1">
              <a:rPr lang="en-US" smtClean="0"/>
              <a:pPr/>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81700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1" y="8925"/>
            <a:ext cx="9144001" cy="5149286"/>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315594" y="344440"/>
            <a:ext cx="4243851" cy="2018519"/>
          </a:xfrm>
        </p:spPr>
        <p:txBody>
          <a:bodyPr/>
          <a:lstStyle>
            <a:lvl1pPr>
              <a:defRPr sz="345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5521698" y="387450"/>
            <a:ext cx="1945361" cy="1220915"/>
          </a:xfrm>
        </p:spPr>
        <p:txBody>
          <a:bodyPr vert="horz" lIns="91440" tIns="45720" rIns="91440" bIns="45720" rtlCol="0" anchor="t">
            <a:normAutofit/>
          </a:bodyPr>
          <a:lstStyle>
            <a:lvl1pPr marL="0" indent="0">
              <a:buNone/>
              <a:defRPr lang="en-US" sz="9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521699" y="164592"/>
            <a:ext cx="1878037" cy="253746"/>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2401" y="164592"/>
            <a:ext cx="859787" cy="253746"/>
          </a:xfrm>
        </p:spPr>
        <p:txBody>
          <a:bodyPr/>
          <a:lstStyle>
            <a:lvl1pPr>
              <a:defRPr>
                <a:solidFill>
                  <a:schemeClr val="tx1"/>
                </a:solidFill>
              </a:defRPr>
            </a:lvl1pPr>
          </a:lstStyle>
          <a:p>
            <a:fld id="{679FB602-DB7A-4B0E-854D-FB51F38BB0AA}" type="datetime1">
              <a:rPr lang="en-US" smtClean="0"/>
              <a:pPr/>
              <a:t>9/19/2026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468743" y="164592"/>
            <a:ext cx="416961" cy="253746"/>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30422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9141714" cy="51435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3347883"/>
            <a:ext cx="9141714" cy="1795618"/>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3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6600825" y="3347883"/>
            <a:ext cx="2540890" cy="1795618"/>
          </a:xfrm>
        </p:spPr>
        <p:txBody>
          <a:bodyPr vert="horz" lIns="137160" tIns="365760" rIns="0" bIns="457200" rtlCol="0" anchor="b">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328242" y="164592"/>
            <a:ext cx="2055462" cy="27432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6649571" y="164592"/>
            <a:ext cx="1468493" cy="274320"/>
          </a:xfrm>
        </p:spPr>
        <p:txBody>
          <a:bodyPr/>
          <a:lstStyle>
            <a:lvl1pPr>
              <a:defRPr>
                <a:solidFill>
                  <a:schemeClr val="tx1"/>
                </a:solidFill>
              </a:defRPr>
            </a:lvl1pPr>
          </a:lstStyle>
          <a:p>
            <a:fld id="{21560963-1EEA-4BDE-8FF9-3FEE13B5D43C}" type="datetime1">
              <a:rPr lang="en-US" smtClean="0"/>
              <a:pPr/>
              <a:t>9/19/2026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8521647" y="164592"/>
            <a:ext cx="336604" cy="274320"/>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711455863"/>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35879" cy="51435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307485" y="3233854"/>
            <a:ext cx="6439003" cy="1776225"/>
          </a:xfrm>
        </p:spPr>
        <p:txBody>
          <a:bodyPr anchor="b">
            <a:normAutofit/>
          </a:bodyPr>
          <a:lstStyle>
            <a:lvl1pPr>
              <a:defRPr sz="5175">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314325" y="164592"/>
            <a:ext cx="1992134"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6600825" y="164592"/>
            <a:ext cx="1434942" cy="253746"/>
          </a:xfrm>
        </p:spPr>
        <p:txBody>
          <a:bodyPr/>
          <a:lstStyle>
            <a:lvl1pPr>
              <a:defRPr>
                <a:solidFill>
                  <a:schemeClr val="tx1"/>
                </a:solidFill>
              </a:defRPr>
            </a:lvl1pPr>
          </a:lstStyle>
          <a:p>
            <a:fld id="{71006E0F-42A5-451E-8A36-26756F7C34E0}" type="datetime1">
              <a:rPr lang="en-US" smtClean="0"/>
              <a:pPr/>
              <a:t>9/19/2026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468744" y="164592"/>
            <a:ext cx="416961" cy="253746"/>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756866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1"/>
            <a:ext cx="9144000" cy="215182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76276" y="1604082"/>
            <a:ext cx="4824950" cy="1471612"/>
          </a:xfrm>
        </p:spPr>
        <p:txBody>
          <a:bodyPr anchor="t">
            <a:normAutofit/>
          </a:bodyPr>
          <a:lstStyle>
            <a:lvl1pPr>
              <a:defRPr sz="66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514975" y="161144"/>
            <a:ext cx="1114425" cy="253746"/>
          </a:xfrm>
        </p:spPr>
        <p:txBody>
          <a:bodyPr/>
          <a:lstStyle>
            <a:lvl1pPr>
              <a:defRPr>
                <a:solidFill>
                  <a:schemeClr val="tx1"/>
                </a:solidFill>
              </a:defRPr>
            </a:lvl1pPr>
          </a:lstStyle>
          <a:p>
            <a:fld id="{22922ABD-C052-4D3A-818B-C58AFC20B321}" type="datetime1">
              <a:rPr lang="en-US" smtClean="0"/>
              <a:pPr/>
              <a:t>9/19/2026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14976" y="1604082"/>
            <a:ext cx="2788815" cy="3082218"/>
          </a:xfrm>
        </p:spPr>
        <p:txBody>
          <a:bodyPr vert="horz" lIns="91440" tIns="45720" rIns="91440" bIns="45720" rtlCol="0" anchor="t">
            <a:normAutofit/>
          </a:bodyPr>
          <a:lstStyle>
            <a:lvl1pPr marL="342900" indent="-342900">
              <a:buFont typeface="+mj-lt"/>
              <a:buAutoNum type="arabicPeriod"/>
              <a:defRPr lang="en-US" sz="1050" dirty="0">
                <a:solidFill>
                  <a:schemeClr val="tx1"/>
                </a:solidFill>
              </a:defRPr>
            </a:lvl1pPr>
            <a:lvl2pPr marL="428625" indent="-257175">
              <a:buFont typeface="+mj-lt"/>
              <a:buAutoNum type="arabicPeriod"/>
              <a:defRPr lang="en-US" sz="1050" dirty="0">
                <a:solidFill>
                  <a:schemeClr val="tx1"/>
                </a:solidFill>
              </a:defRPr>
            </a:lvl2pPr>
            <a:lvl3pPr marL="600075" indent="-257175">
              <a:buFont typeface="+mj-lt"/>
              <a:buAutoNum type="arabicPeriod"/>
              <a:defRPr lang="en-US" sz="1050" dirty="0">
                <a:solidFill>
                  <a:schemeClr val="tx1"/>
                </a:solidFill>
              </a:defRPr>
            </a:lvl3pPr>
            <a:lvl4pPr>
              <a:buFont typeface="+mj-lt"/>
              <a:buAutoNum type="arabicPeriod"/>
              <a:defRPr lang="en-US" sz="1050" dirty="0">
                <a:solidFill>
                  <a:schemeClr val="tx1"/>
                </a:solidFill>
              </a:defRPr>
            </a:lvl4pPr>
            <a:lvl5pPr>
              <a:buFont typeface="+mj-lt"/>
              <a:buAutoNum type="arabicPeriod"/>
              <a:defRPr lang="en-US" sz="105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06728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7487" y="1916813"/>
            <a:ext cx="9144000" cy="3257931"/>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93139" y="2611285"/>
            <a:ext cx="4122320" cy="1569204"/>
          </a:xfrm>
        </p:spPr>
        <p:txBody>
          <a:bodyPr anchor="t">
            <a:normAutofit/>
          </a:bodyPr>
          <a:lstStyle>
            <a:lvl1pPr>
              <a:defRPr sz="57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1"/>
            <a:ext cx="9144000" cy="1916813"/>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25246" y="2050551"/>
            <a:ext cx="2045498" cy="253746"/>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39176" y="2050551"/>
            <a:ext cx="1190033" cy="253746"/>
          </a:xfrm>
        </p:spPr>
        <p:txBody>
          <a:bodyPr/>
          <a:lstStyle>
            <a:lvl1pPr>
              <a:defRPr>
                <a:solidFill>
                  <a:schemeClr val="tx1"/>
                </a:solidFill>
              </a:defRPr>
            </a:lvl1pPr>
          </a:lstStyle>
          <a:p>
            <a:fld id="{348FC9B1-6F61-4A8F-9F5E-715654075A93}" type="datetime1">
              <a:rPr lang="en-US" smtClean="0"/>
              <a:pPr/>
              <a:t>9/19/2026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87461" y="2050551"/>
            <a:ext cx="395021" cy="253746"/>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39176" y="2611285"/>
            <a:ext cx="2937077" cy="2074415"/>
          </a:xfrm>
        </p:spPr>
        <p:txBody>
          <a:bodyPr vert="horz" lIns="91440" tIns="45720" rIns="91440" bIns="45720" rtlCol="0">
            <a:normAutofit/>
          </a:bodyPr>
          <a:lstStyle>
            <a:lvl1pPr marL="257175" indent="-257175">
              <a:lnSpc>
                <a:spcPct val="130000"/>
              </a:lnSpc>
              <a:buFont typeface="+mj-lt"/>
              <a:buAutoNum type="arabicPeriod"/>
              <a:defRPr lang="en-US" sz="1050" dirty="0">
                <a:solidFill>
                  <a:schemeClr val="tx1"/>
                </a:solidFill>
              </a:defRPr>
            </a:lvl1pPr>
            <a:lvl2pPr marL="428625" indent="-257175">
              <a:lnSpc>
                <a:spcPct val="130000"/>
              </a:lnSpc>
              <a:buFont typeface="+mj-lt"/>
              <a:buAutoNum type="arabicPeriod"/>
              <a:defRPr lang="en-US" sz="1050" dirty="0">
                <a:solidFill>
                  <a:schemeClr val="tx1"/>
                </a:solidFill>
              </a:defRPr>
            </a:lvl2pPr>
            <a:lvl3pPr marL="600075" indent="-257175">
              <a:lnSpc>
                <a:spcPct val="130000"/>
              </a:lnSpc>
              <a:buFont typeface="+mj-lt"/>
              <a:buAutoNum type="arabicPeriod"/>
              <a:defRPr lang="en-US" sz="1050" dirty="0">
                <a:solidFill>
                  <a:schemeClr val="tx1"/>
                </a:solidFill>
              </a:defRPr>
            </a:lvl3pPr>
            <a:lvl4pPr>
              <a:lnSpc>
                <a:spcPct val="130000"/>
              </a:lnSpc>
              <a:buFont typeface="+mj-lt"/>
              <a:buAutoNum type="arabicPeriod"/>
              <a:defRPr lang="en-US" sz="1050" dirty="0">
                <a:solidFill>
                  <a:schemeClr val="tx1"/>
                </a:solidFill>
              </a:defRPr>
            </a:lvl4pPr>
            <a:lvl5pPr>
              <a:lnSpc>
                <a:spcPct val="130000"/>
              </a:lnSpc>
              <a:buFont typeface="+mj-lt"/>
              <a:buAutoNum type="arabicPeriod"/>
              <a:defRPr lang="en-US" sz="1050" dirty="0">
                <a:solidFill>
                  <a:schemeClr val="tx1"/>
                </a:solidFill>
              </a:defRPr>
            </a:lvl5pPr>
          </a:lstStyle>
          <a:p>
            <a:pPr marL="171450" lvl="0" indent="-171450"/>
            <a:r>
              <a:rPr lang="en-US"/>
              <a:t>Click to edit Master text styles</a:t>
            </a:r>
          </a:p>
          <a:p>
            <a:pPr marL="171450" lvl="1" indent="-171450"/>
            <a:r>
              <a:rPr lang="en-US"/>
              <a:t>Second level</a:t>
            </a:r>
          </a:p>
          <a:p>
            <a:pPr marL="171450" lvl="2" indent="-171450"/>
            <a:r>
              <a:rPr lang="en-US"/>
              <a:t>Third level</a:t>
            </a:r>
          </a:p>
          <a:p>
            <a:pPr marL="171450" lvl="3" indent="-171450"/>
            <a:r>
              <a:rPr lang="en-US"/>
              <a:t>Fourth level</a:t>
            </a:r>
          </a:p>
          <a:p>
            <a:pPr marL="171450" lvl="4" indent="-171450"/>
            <a:r>
              <a:rPr lang="en-US"/>
              <a:t>Fifth level</a:t>
            </a:r>
            <a:endParaRPr lang="en-US" dirty="0"/>
          </a:p>
        </p:txBody>
      </p:sp>
    </p:spTree>
    <p:extLst>
      <p:ext uri="{BB962C8B-B14F-4D97-AF65-F5344CB8AC3E}">
        <p14:creationId xmlns:p14="http://schemas.microsoft.com/office/powerpoint/2010/main" val="3279967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4743451" y="1"/>
            <a:ext cx="4410941" cy="51435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14139" y="957742"/>
            <a:ext cx="4033700" cy="739244"/>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24295" y="161144"/>
            <a:ext cx="2044782"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600825" y="161144"/>
            <a:ext cx="1456380" cy="253746"/>
          </a:xfrm>
        </p:spPr>
        <p:txBody>
          <a:bodyPr/>
          <a:lstStyle>
            <a:lvl1pPr>
              <a:defRPr>
                <a:solidFill>
                  <a:schemeClr val="tx1"/>
                </a:solidFill>
              </a:defRPr>
            </a:lvl1pPr>
          </a:lstStyle>
          <a:p>
            <a:fld id="{44BE14B8-5058-4271-B378-2217DE83796E}" type="datetime1">
              <a:rPr lang="en-US" smtClean="0"/>
              <a:pPr/>
              <a:t>9/19/2026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67721" y="161144"/>
            <a:ext cx="416961" cy="253746"/>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20608" y="1853802"/>
            <a:ext cx="4033701" cy="2747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7306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3305175"/>
            <a:ext cx="6858000" cy="183832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00175" y="1415034"/>
            <a:ext cx="2630992" cy="2425446"/>
          </a:xfrm>
        </p:spPr>
        <p:txBody>
          <a:bodyPr anchor="t">
            <a:normAutofit/>
          </a:bodyPr>
          <a:lstStyle>
            <a:lvl1pPr>
              <a:defRPr sz="2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14325" y="156296"/>
            <a:ext cx="1899089" cy="253746"/>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00550" y="156296"/>
            <a:ext cx="1513161" cy="253746"/>
          </a:xfrm>
        </p:spPr>
        <p:txBody>
          <a:bodyPr/>
          <a:lstStyle>
            <a:lvl1pPr>
              <a:defRPr>
                <a:solidFill>
                  <a:schemeClr val="tx1"/>
                </a:solidFill>
              </a:defRPr>
            </a:lvl1pPr>
          </a:lstStyle>
          <a:p>
            <a:fld id="{06CB2F34-49A1-4C07-91D5-90BE967306D3}" type="datetime1">
              <a:rPr lang="en-US" smtClean="0"/>
              <a:pPr/>
              <a:t>9/19/2026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72441" y="156296"/>
            <a:ext cx="414867" cy="253746"/>
          </a:xfrm>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400551" y="1415034"/>
            <a:ext cx="3371850" cy="2425446"/>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83120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327" y="836676"/>
            <a:ext cx="1878948" cy="121809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4592"/>
            <a:ext cx="2013036" cy="25374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30548" y="161867"/>
            <a:ext cx="1114425" cy="253746"/>
          </a:xfrm>
        </p:spPr>
        <p:txBody>
          <a:bodyPr/>
          <a:lstStyle>
            <a:lvl1pPr>
              <a:defRPr>
                <a:solidFill>
                  <a:schemeClr val="tx1"/>
                </a:solidFill>
                <a:effectLst/>
              </a:defRPr>
            </a:lvl1pPr>
          </a:lstStyle>
          <a:p>
            <a:fld id="{14EE7FE5-A250-423F-B9E1-3EE5D07A8055}"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682" y="161867"/>
            <a:ext cx="411954"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21327" y="2271392"/>
            <a:ext cx="1878948" cy="2557784"/>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2530548" y="885825"/>
            <a:ext cx="6613452" cy="425767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663606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6"/>
            <a:ext cx="3000375" cy="1014387"/>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325" y="164592"/>
            <a:ext cx="2045948"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5924" y="164592"/>
            <a:ext cx="1310831" cy="253746"/>
          </a:xfrm>
        </p:spPr>
        <p:txBody>
          <a:bodyPr/>
          <a:lstStyle/>
          <a:p>
            <a:fld id="{48B2456C-66BE-435E-8059-3A9CD55F29F9}" type="datetime1">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0461" y="162210"/>
            <a:ext cx="413335"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5924" y="828675"/>
            <a:ext cx="5193752" cy="1014387"/>
          </a:xfrm>
        </p:spPr>
        <p:txBody>
          <a:bodyPr>
            <a:normAutofit/>
          </a:bodyPr>
          <a:lstStyle>
            <a:lvl1pPr marL="214313" indent="-214313">
              <a:buFont typeface="Arial" panose="020B0604020202020204" pitchFamily="34" charset="0"/>
              <a:buNone/>
              <a:defRPr sz="1050"/>
            </a:lvl1pPr>
            <a:lvl2pPr marL="385763" indent="-214313">
              <a:buFont typeface="Arial" panose="020B0604020202020204" pitchFamily="34" charset="0"/>
              <a:buNone/>
              <a:defRPr sz="1050"/>
            </a:lvl2pPr>
            <a:lvl3pPr marL="557213" indent="-214313">
              <a:buFont typeface="Arial" panose="020B0604020202020204" pitchFamily="34" charset="0"/>
              <a:buNone/>
              <a:defRPr sz="1050"/>
            </a:lvl3pPr>
            <a:lvl4pPr marL="642938" indent="-128588">
              <a:buFont typeface="Arial" panose="020B0604020202020204" pitchFamily="34" charset="0"/>
              <a:buNone/>
              <a:defRPr sz="1050"/>
            </a:lvl4pPr>
            <a:lvl5pPr marL="814388" indent="-128588">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203882"/>
            <a:ext cx="9144000" cy="293961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1294412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7"/>
            <a:ext cx="1885950" cy="218918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161144"/>
            <a:ext cx="1885950" cy="253746"/>
          </a:xfrm>
        </p:spPr>
        <p:txBody>
          <a:bodyPr/>
          <a:lstStyle>
            <a:lvl1pPr>
              <a:defRPr>
                <a:solidFill>
                  <a:schemeClr val="tx1"/>
                </a:solidFill>
                <a:effectLst/>
              </a:defRPr>
            </a:lvl1pPr>
          </a:lstStyle>
          <a:p>
            <a:r>
              <a:rPr lang="en-US" dirty="0"/>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2567811" y="1"/>
            <a:ext cx="6576190" cy="298928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3058221"/>
            <a:ext cx="1440180" cy="253746"/>
          </a:xfrm>
        </p:spPr>
        <p:txBody>
          <a:bodyPr/>
          <a:lstStyle/>
          <a:p>
            <a:fld id="{17409D93-5111-4952-AC4F-FA1AE909A4B8}"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3058221"/>
            <a:ext cx="416961" cy="253746"/>
          </a:xfrm>
        </p:spPr>
        <p:txBody>
          <a:bodyPr/>
          <a:lstStyle>
            <a:lvl1pPr>
              <a:defRPr>
                <a:solidFill>
                  <a:schemeClr val="tx1"/>
                </a:solidFill>
                <a:effectLs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2514600" y="3317682"/>
            <a:ext cx="6315075" cy="136861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3499896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1005" y="836677"/>
            <a:ext cx="3935683" cy="745598"/>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4592"/>
            <a:ext cx="2200275" cy="25374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422434" y="156816"/>
            <a:ext cx="1383033" cy="253746"/>
          </a:xfrm>
        </p:spPr>
        <p:txBody>
          <a:bodyPr/>
          <a:lstStyle>
            <a:lvl1pPr>
              <a:defRPr>
                <a:solidFill>
                  <a:schemeClr val="tx1"/>
                </a:solidFill>
                <a:effectLst/>
              </a:defRPr>
            </a:lvl1pPr>
          </a:lstStyle>
          <a:p>
            <a:fld id="{A43E10B2-AFF3-4A4A-BC83-5BB137C878CB}"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500639" y="156816"/>
            <a:ext cx="416961"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885825"/>
            <a:ext cx="3935683" cy="4257675"/>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4411005" y="1600200"/>
            <a:ext cx="3935683" cy="30861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393622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9543" y="836676"/>
            <a:ext cx="2705753" cy="2377909"/>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161144"/>
            <a:ext cx="1947830"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4432" y="161144"/>
            <a:ext cx="1190033" cy="253746"/>
          </a:xfrm>
        </p:spPr>
        <p:txBody>
          <a:bodyPr/>
          <a:lstStyle/>
          <a:p>
            <a:fld id="{C1935215-257D-4F50-AF56-70E3294947FA}" type="datetime1">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208" y="161144"/>
            <a:ext cx="416961"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4432" y="834504"/>
            <a:ext cx="5195243" cy="1475856"/>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3677310" y="2625153"/>
            <a:ext cx="5466691" cy="2518348"/>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9885887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4295" y="2571751"/>
            <a:ext cx="1875980" cy="1913987"/>
          </a:xfrm>
        </p:spPr>
        <p:txBody>
          <a:bodyPr anchor="t">
            <a:normAutofit/>
          </a:bodyPr>
          <a:lstStyle>
            <a:lvl1pPr>
              <a:defRPr sz="225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9144000" cy="2028824"/>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2148968"/>
            <a:ext cx="2044782"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2148968"/>
            <a:ext cx="1475509" cy="253746"/>
          </a:xfrm>
        </p:spPr>
        <p:txBody>
          <a:bodyPr/>
          <a:lstStyle/>
          <a:p>
            <a:fld id="{2B0E3CDF-6E7C-4C67-B567-8606B07963A0}" type="datetime1">
              <a:rPr lang="en-US" smtClean="0"/>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2148968"/>
            <a:ext cx="416961"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514600" y="2571750"/>
            <a:ext cx="6157653" cy="2257425"/>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6390810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34673" y="836676"/>
            <a:ext cx="2702442" cy="105740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29025" y="156816"/>
            <a:ext cx="1885950" cy="253746"/>
          </a:xfrm>
        </p:spPr>
        <p:txBody>
          <a:bodyPr/>
          <a:lstStyle/>
          <a:p>
            <a:fld id="{5060FE60-4389-4D8B-84BB-900FC000024C}"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4515" y="164592"/>
            <a:ext cx="423256" cy="253746"/>
          </a:xfrm>
        </p:spPr>
        <p:txBody>
          <a:bodyPr/>
          <a:lstStyle>
            <a:lvl1pPr>
              <a:defRPr>
                <a:solidFill>
                  <a:schemeClr val="tx1"/>
                </a:solidFill>
                <a:effectLst/>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34673" y="2028825"/>
            <a:ext cx="2702442" cy="2771775"/>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3701452" y="881743"/>
            <a:ext cx="5442548" cy="4261757"/>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73021572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3455719"/>
            <a:ext cx="3314700" cy="1230581"/>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435" y="1"/>
            <a:ext cx="3627590" cy="3160643"/>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55956" y="156816"/>
            <a:ext cx="2044782" cy="25374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00825" y="161144"/>
            <a:ext cx="1428938" cy="253746"/>
          </a:xfrm>
        </p:spPr>
        <p:txBody>
          <a:bodyPr/>
          <a:lstStyle>
            <a:lvl1pPr>
              <a:defRPr>
                <a:solidFill>
                  <a:schemeClr val="tx1"/>
                </a:solidFill>
                <a:effectLst/>
              </a:defRPr>
            </a:lvl1pPr>
          </a:lstStyle>
          <a:p>
            <a:fld id="{86709B22-BFE8-4BFE-80D5-4133DC0C2AC6}"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55957" y="828675"/>
            <a:ext cx="4312786" cy="385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850131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6" y="836676"/>
            <a:ext cx="2329001" cy="1227383"/>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161144"/>
            <a:ext cx="2044782" cy="253746"/>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41641" y="161144"/>
            <a:ext cx="1902741" cy="253746"/>
          </a:xfrm>
        </p:spPr>
        <p:txBody>
          <a:bodyPr/>
          <a:lstStyle/>
          <a:p>
            <a:fld id="{BFCE55E5-7E1C-4243-A685-91A6EB8BE97F}" type="datetime1">
              <a:rPr lang="en-US" smtClean="0"/>
              <a:t>9/19/2026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9630" y="161144"/>
            <a:ext cx="416961" cy="253746"/>
          </a:xfrm>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2263140"/>
            <a:ext cx="2563427" cy="288036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041642" y="828676"/>
            <a:ext cx="5607428" cy="40004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264487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9144000" cy="5148072"/>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5829300" y="3811784"/>
            <a:ext cx="3000375" cy="876923"/>
          </a:xfrm>
        </p:spPr>
        <p:txBody>
          <a:bodyPr anchor="b">
            <a:normAutofit/>
          </a:bodyPr>
          <a:lstStyle>
            <a:lvl1pPr>
              <a:defRPr sz="1500" spc="-38"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5829300" y="156816"/>
            <a:ext cx="1478018" cy="253746"/>
          </a:xfrm>
        </p:spPr>
        <p:txBody>
          <a:bodyPr/>
          <a:lstStyle>
            <a:lvl1pPr>
              <a:defRPr>
                <a:solidFill>
                  <a:schemeClr val="tx1"/>
                </a:solidFill>
              </a:defRPr>
            </a:lvl1pPr>
          </a:lstStyle>
          <a:p>
            <a:fld id="{15AFD96D-C3CB-4F44-8CE3-582861660F11}" type="datetime1">
              <a:rPr lang="en-US" smtClean="0"/>
              <a:pPr/>
              <a:t>9/19/2026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10742" y="797719"/>
            <a:ext cx="7821215" cy="2631281"/>
          </a:xfrm>
        </p:spPr>
        <p:txBody>
          <a:bodyPr>
            <a:noAutofit/>
          </a:bodyPr>
          <a:lstStyle>
            <a:lvl1pPr>
              <a:lnSpc>
                <a:spcPct val="80000"/>
              </a:lnSpc>
              <a:defRPr sz="19500"/>
            </a:lvl1pPr>
          </a:lstStyle>
          <a:p>
            <a:pPr lvl="0"/>
            <a:r>
              <a:rPr lang="en-US" dirty="0"/>
              <a:t>XX%</a:t>
            </a:r>
          </a:p>
        </p:txBody>
      </p:sp>
    </p:spTree>
    <p:extLst>
      <p:ext uri="{BB962C8B-B14F-4D97-AF65-F5344CB8AC3E}">
        <p14:creationId xmlns:p14="http://schemas.microsoft.com/office/powerpoint/2010/main" val="85655815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1"/>
            <a:ext cx="9144000" cy="360211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850392"/>
            <a:ext cx="7989570" cy="6858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9/19/2026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4325" y="2164205"/>
            <a:ext cx="6600826" cy="2664970"/>
          </a:xfrm>
        </p:spPr>
        <p:txBody>
          <a:bodyPr anchor="b">
            <a:normAutofit/>
          </a:bodyPr>
          <a:lstStyle>
            <a:lvl1pPr marL="0" indent="0">
              <a:lnSpc>
                <a:spcPct val="85000"/>
              </a:lnSpc>
              <a:buNone/>
              <a:defRPr sz="4500" b="0" spc="-38" baseline="0">
                <a:solidFill>
                  <a:schemeClr val="tx1"/>
                </a:solidFill>
              </a:defRPr>
            </a:lvl1pPr>
            <a:lvl2pPr marL="171450" indent="0">
              <a:lnSpc>
                <a:spcPct val="85000"/>
              </a:lnSpc>
              <a:buNone/>
              <a:defRPr sz="3300" b="0" spc="-38" baseline="0">
                <a:solidFill>
                  <a:schemeClr val="tx1"/>
                </a:solidFill>
              </a:defRPr>
            </a:lvl2pPr>
            <a:lvl3pPr marL="342900" indent="0">
              <a:lnSpc>
                <a:spcPct val="85000"/>
              </a:lnSpc>
              <a:buNone/>
              <a:defRPr sz="3000" b="0" spc="-38" baseline="0">
                <a:solidFill>
                  <a:schemeClr val="tx1"/>
                </a:solidFill>
              </a:defRPr>
            </a:lvl3pPr>
            <a:lvl4pPr marL="514350" indent="0">
              <a:lnSpc>
                <a:spcPct val="85000"/>
              </a:lnSpc>
              <a:buNone/>
              <a:defRPr sz="2700" b="0" spc="-38" baseline="0">
                <a:solidFill>
                  <a:schemeClr val="tx1"/>
                </a:solidFill>
              </a:defRPr>
            </a:lvl4pPr>
            <a:lvl5pPr marL="685800" indent="0">
              <a:lnSpc>
                <a:spcPct val="85000"/>
              </a:lnSpc>
              <a:buNone/>
              <a:defRPr sz="2400" b="0" spc="-38"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018466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9144000" cy="514807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400175" y="3655664"/>
            <a:ext cx="6379925" cy="499820"/>
          </a:xfrm>
        </p:spPr>
        <p:txBody>
          <a:bodyPr anchor="ctr">
            <a:normAutofit/>
          </a:bodyPr>
          <a:lstStyle>
            <a:lvl1pPr algn="r">
              <a:lnSpc>
                <a:spcPct val="90000"/>
              </a:lnSpc>
              <a:defRPr sz="1050" b="0" cap="all" spc="75"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9/19/2026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00175" y="1392072"/>
            <a:ext cx="6379925" cy="2141541"/>
          </a:xfrm>
        </p:spPr>
        <p:txBody>
          <a:bodyPr anchor="ctr">
            <a:normAutofit/>
          </a:bodyPr>
          <a:lstStyle>
            <a:lvl1pPr marL="123444" indent="-123444">
              <a:lnSpc>
                <a:spcPct val="90000"/>
              </a:lnSpc>
              <a:spcBef>
                <a:spcPts val="0"/>
              </a:spcBef>
              <a:buFont typeface="Arial" panose="020B0604020202020204" pitchFamily="34" charset="0"/>
              <a:buNone/>
              <a:defRPr sz="3750" spc="-38"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63440410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836676"/>
            <a:ext cx="6286500" cy="526243"/>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9/19/2026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323850" y="1425178"/>
            <a:ext cx="3693319" cy="326112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4409118" y="1425178"/>
            <a:ext cx="3693319" cy="326112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891297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13992" y="699073"/>
            <a:ext cx="8126654" cy="52806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600825" y="161144"/>
            <a:ext cx="1440180" cy="253746"/>
          </a:xfrm>
        </p:spPr>
        <p:txBody>
          <a:bodyPr/>
          <a:lstStyle>
            <a:lvl1pPr>
              <a:defRPr>
                <a:solidFill>
                  <a:schemeClr val="tx1"/>
                </a:solidFill>
              </a:defRPr>
            </a:lvl1pPr>
          </a:lstStyle>
          <a:p>
            <a:fld id="{83D71BEE-9C65-4D84-970B-0B47E929926B}" type="datetime1">
              <a:rPr lang="en-US" smtClean="0"/>
              <a:pPr/>
              <a:t>9/19/2026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13991" y="1256710"/>
            <a:ext cx="3685439" cy="419876"/>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323850" y="1713766"/>
            <a:ext cx="3675580" cy="29725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714875" y="1256710"/>
            <a:ext cx="3725771" cy="419876"/>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4709551" y="1713766"/>
            <a:ext cx="3737072" cy="29725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0761110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15594" y="835133"/>
            <a:ext cx="6285232" cy="657145"/>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9/19/2026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5475912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9/19/2026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5206422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51435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4295" y="569214"/>
            <a:ext cx="5707251" cy="1301150"/>
          </a:xfrm>
        </p:spPr>
        <p:txBody>
          <a:bodyPr anchor="t">
            <a:noAutofit/>
          </a:bodyPr>
          <a:lstStyle>
            <a:lvl1pPr>
              <a:defRPr sz="5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14325" y="2028826"/>
            <a:ext cx="6600825" cy="2210663"/>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45868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51435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315594" y="2028579"/>
            <a:ext cx="4099245" cy="2050038"/>
          </a:xfrm>
        </p:spPr>
        <p:txBody>
          <a:bodyPr/>
          <a:lstStyle>
            <a:lvl1pPr>
              <a:defRPr sz="5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9/19/2026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4729163" y="2028825"/>
            <a:ext cx="3307556" cy="11715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256914"/>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title, body and image" type="twoColTx">
  <p:cSld name="Custom title, body and image">
    <p:spTree>
      <p:nvGrpSpPr>
        <p:cNvPr id="1" name="Shape 158"/>
        <p:cNvGrpSpPr/>
        <p:nvPr/>
      </p:nvGrpSpPr>
      <p:grpSpPr>
        <a:xfrm>
          <a:off x="0" y="0"/>
          <a:ext cx="0" cy="0"/>
          <a:chOff x="0" y="0"/>
          <a:chExt cx="0" cy="0"/>
        </a:xfrm>
      </p:grpSpPr>
      <p:sp>
        <p:nvSpPr>
          <p:cNvPr id="159" name="Google Shape;159;p27"/>
          <p:cNvSpPr txBox="1">
            <a:spLocks noGrp="1"/>
          </p:cNvSpPr>
          <p:nvPr>
            <p:ph type="body" idx="1"/>
          </p:nvPr>
        </p:nvSpPr>
        <p:spPr>
          <a:xfrm>
            <a:off x="4269825" y="1524575"/>
            <a:ext cx="4562400" cy="2817000"/>
          </a:xfrm>
          <a:prstGeom prst="rect">
            <a:avLst/>
          </a:prstGeom>
        </p:spPr>
        <p:txBody>
          <a:bodyPr spcFirstLastPara="1" wrap="square" lIns="91425" tIns="91425" rIns="91425" bIns="91425" anchor="ctr" anchorCtr="0">
            <a:normAutofit/>
          </a:bodyPr>
          <a:lstStyle>
            <a:lvl1pPr marL="457200" lvl="0" indent="-317500">
              <a:lnSpc>
                <a:spcPct val="100000"/>
              </a:lnSpc>
              <a:spcBef>
                <a:spcPts val="0"/>
              </a:spcBef>
              <a:spcAft>
                <a:spcPts val="0"/>
              </a:spcAft>
              <a:buSzPts val="1400"/>
              <a:buChar char="●"/>
              <a:defRPr/>
            </a:lvl1pPr>
            <a:lvl2pPr marL="914400" lvl="1" indent="-304800">
              <a:lnSpc>
                <a:spcPct val="100000"/>
              </a:lnSpc>
              <a:spcBef>
                <a:spcPts val="0"/>
              </a:spcBef>
              <a:spcAft>
                <a:spcPts val="0"/>
              </a:spcAft>
              <a:buSzPts val="1200"/>
              <a:buChar char="○"/>
              <a:defRPr sz="1200"/>
            </a:lvl2pPr>
            <a:lvl3pPr marL="1371600" lvl="2" indent="-304800">
              <a:lnSpc>
                <a:spcPct val="100000"/>
              </a:lnSpc>
              <a:spcBef>
                <a:spcPts val="0"/>
              </a:spcBef>
              <a:spcAft>
                <a:spcPts val="0"/>
              </a:spcAft>
              <a:buSzPts val="1200"/>
              <a:buChar char="■"/>
              <a:defRPr sz="1200"/>
            </a:lvl3pPr>
            <a:lvl4pPr marL="1828800" lvl="3" indent="-304800">
              <a:lnSpc>
                <a:spcPct val="100000"/>
              </a:lnSpc>
              <a:spcBef>
                <a:spcPts val="0"/>
              </a:spcBef>
              <a:spcAft>
                <a:spcPts val="0"/>
              </a:spcAft>
              <a:buSzPts val="1200"/>
              <a:buChar char="●"/>
              <a:defRPr sz="1200"/>
            </a:lvl4pPr>
            <a:lvl5pPr marL="2286000" lvl="4" indent="-304800">
              <a:lnSpc>
                <a:spcPct val="100000"/>
              </a:lnSpc>
              <a:spcBef>
                <a:spcPts val="0"/>
              </a:spcBef>
              <a:spcAft>
                <a:spcPts val="0"/>
              </a:spcAft>
              <a:buSzPts val="1200"/>
              <a:buChar char="○"/>
              <a:defRPr sz="1200"/>
            </a:lvl5pPr>
            <a:lvl6pPr marL="2743200" lvl="5" indent="-304800">
              <a:lnSpc>
                <a:spcPct val="100000"/>
              </a:lnSpc>
              <a:spcBef>
                <a:spcPts val="0"/>
              </a:spcBef>
              <a:spcAft>
                <a:spcPts val="0"/>
              </a:spcAft>
              <a:buSzPts val="1200"/>
              <a:buChar char="■"/>
              <a:defRPr sz="1200"/>
            </a:lvl6pPr>
            <a:lvl7pPr marL="3200400" lvl="6" indent="-304800">
              <a:lnSpc>
                <a:spcPct val="100000"/>
              </a:lnSpc>
              <a:spcBef>
                <a:spcPts val="0"/>
              </a:spcBef>
              <a:spcAft>
                <a:spcPts val="0"/>
              </a:spcAft>
              <a:buSzPts val="1200"/>
              <a:buChar char="●"/>
              <a:defRPr sz="1200"/>
            </a:lvl7pPr>
            <a:lvl8pPr marL="3657600" lvl="7" indent="-304800">
              <a:lnSpc>
                <a:spcPct val="100000"/>
              </a:lnSpc>
              <a:spcBef>
                <a:spcPts val="0"/>
              </a:spcBef>
              <a:spcAft>
                <a:spcPts val="0"/>
              </a:spcAft>
              <a:buSzPts val="1200"/>
              <a:buChar char="○"/>
              <a:defRPr sz="1200"/>
            </a:lvl8pPr>
            <a:lvl9pPr marL="4114800" lvl="8" indent="-304800">
              <a:lnSpc>
                <a:spcPct val="100000"/>
              </a:lnSpc>
              <a:spcBef>
                <a:spcPts val="0"/>
              </a:spcBef>
              <a:spcAft>
                <a:spcPts val="0"/>
              </a:spcAft>
              <a:buSzPts val="1200"/>
              <a:buChar char="■"/>
              <a:defRPr sz="1200"/>
            </a:lvl9pPr>
          </a:lstStyle>
          <a:p>
            <a:endParaRPr/>
          </a:p>
        </p:txBody>
      </p:sp>
      <p:sp>
        <p:nvSpPr>
          <p:cNvPr id="160" name="Google Shape;16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1" name="Google Shape;161;p27"/>
          <p:cNvSpPr txBox="1">
            <a:spLocks noGrp="1"/>
          </p:cNvSpPr>
          <p:nvPr>
            <p:ph type="subTitle" idx="2"/>
          </p:nvPr>
        </p:nvSpPr>
        <p:spPr>
          <a:xfrm>
            <a:off x="1032600" y="257925"/>
            <a:ext cx="7078800" cy="752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4200"/>
              <a:buFont typeface="Roboto Serif"/>
              <a:buNone/>
              <a:defRPr sz="4200" b="1">
                <a:latin typeface="Roboto Serif"/>
                <a:ea typeface="Roboto Serif"/>
                <a:cs typeface="Roboto Serif"/>
                <a:sym typeface="Roboto Serif"/>
              </a:defRPr>
            </a:lvl1pPr>
            <a:lvl2pPr lvl="1">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a:endParaRPr/>
          </a:p>
        </p:txBody>
      </p:sp>
      <p:sp>
        <p:nvSpPr>
          <p:cNvPr id="163" name="Google Shape;163;p27"/>
          <p:cNvSpPr>
            <a:spLocks noGrp="1"/>
          </p:cNvSpPr>
          <p:nvPr>
            <p:ph type="pic" idx="3"/>
          </p:nvPr>
        </p:nvSpPr>
        <p:spPr>
          <a:xfrm>
            <a:off x="471125" y="1278125"/>
            <a:ext cx="3309900" cy="3309900"/>
          </a:xfrm>
          <a:prstGeom prst="ellipse">
            <a:avLst/>
          </a:prstGeom>
          <a:noFill/>
          <a:ln w="19050" cap="flat" cmpd="sng">
            <a:solidFill>
              <a:schemeClr val="dk1"/>
            </a:solidFill>
            <a:prstDash val="solid"/>
            <a:round/>
            <a:headEnd type="none" w="sm" len="sm"/>
            <a:tailEnd type="none" w="sm" len="sm"/>
          </a:ln>
        </p:spPr>
      </p:sp>
    </p:spTree>
    <p:extLst>
      <p:ext uri="{BB962C8B-B14F-4D97-AF65-F5344CB8AC3E}">
        <p14:creationId xmlns:p14="http://schemas.microsoft.com/office/powerpoint/2010/main" val="31588932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and Text 1">
  <p:cSld name="Image and Text 1">
    <p:spTree>
      <p:nvGrpSpPr>
        <p:cNvPr id="1" name="Shape 188"/>
        <p:cNvGrpSpPr/>
        <p:nvPr/>
      </p:nvGrpSpPr>
      <p:grpSpPr>
        <a:xfrm>
          <a:off x="0" y="0"/>
          <a:ext cx="0" cy="0"/>
          <a:chOff x="0" y="0"/>
          <a:chExt cx="0" cy="0"/>
        </a:xfrm>
      </p:grpSpPr>
      <p:sp>
        <p:nvSpPr>
          <p:cNvPr id="189" name="Google Shape;18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30"/>
          <p:cNvSpPr>
            <a:spLocks noGrp="1"/>
          </p:cNvSpPr>
          <p:nvPr>
            <p:ph type="pic" idx="2"/>
          </p:nvPr>
        </p:nvSpPr>
        <p:spPr>
          <a:xfrm>
            <a:off x="-1862775" y="0"/>
            <a:ext cx="5143500" cy="5143500"/>
          </a:xfrm>
          <a:prstGeom prst="flowChartDelay">
            <a:avLst/>
          </a:prstGeom>
          <a:noFill/>
          <a:ln w="19050" cap="flat" cmpd="sng">
            <a:solidFill>
              <a:schemeClr val="dk1"/>
            </a:solidFill>
            <a:prstDash val="solid"/>
            <a:round/>
            <a:headEnd type="none" w="sm" len="sm"/>
            <a:tailEnd type="none" w="sm" len="sm"/>
          </a:ln>
        </p:spPr>
      </p:sp>
      <p:sp>
        <p:nvSpPr>
          <p:cNvPr id="191" name="Google Shape;191;p30"/>
          <p:cNvSpPr txBox="1">
            <a:spLocks noGrp="1"/>
          </p:cNvSpPr>
          <p:nvPr>
            <p:ph type="subTitle" idx="1"/>
          </p:nvPr>
        </p:nvSpPr>
        <p:spPr>
          <a:xfrm>
            <a:off x="3476475" y="1981200"/>
            <a:ext cx="5458200" cy="753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3800"/>
              <a:buFont typeface="Roboto Serif"/>
              <a:buNone/>
              <a:defRPr sz="3800" b="1">
                <a:latin typeface="Roboto Serif"/>
                <a:ea typeface="Roboto Serif"/>
                <a:cs typeface="Roboto Serif"/>
                <a:sym typeface="Roboto Serif"/>
              </a:defRPr>
            </a:lvl1pPr>
            <a:lvl2pPr lvl="1">
              <a:lnSpc>
                <a:spcPct val="100000"/>
              </a:lnSpc>
              <a:spcBef>
                <a:spcPts val="0"/>
              </a:spcBef>
              <a:spcAft>
                <a:spcPts val="0"/>
              </a:spcAft>
              <a:buSzPts val="3800"/>
              <a:buFont typeface="Roboto Serif"/>
              <a:buNone/>
              <a:defRPr sz="3800" b="1">
                <a:latin typeface="Roboto Serif"/>
                <a:ea typeface="Roboto Serif"/>
                <a:cs typeface="Roboto Serif"/>
                <a:sym typeface="Roboto Serif"/>
              </a:defRPr>
            </a:lvl2pPr>
            <a:lvl3pPr lvl="2">
              <a:lnSpc>
                <a:spcPct val="100000"/>
              </a:lnSpc>
              <a:spcBef>
                <a:spcPts val="0"/>
              </a:spcBef>
              <a:spcAft>
                <a:spcPts val="0"/>
              </a:spcAft>
              <a:buSzPts val="3800"/>
              <a:buFont typeface="Roboto Serif"/>
              <a:buNone/>
              <a:defRPr sz="3800" b="1">
                <a:latin typeface="Roboto Serif"/>
                <a:ea typeface="Roboto Serif"/>
                <a:cs typeface="Roboto Serif"/>
                <a:sym typeface="Roboto Serif"/>
              </a:defRPr>
            </a:lvl3pPr>
            <a:lvl4pPr lvl="3">
              <a:lnSpc>
                <a:spcPct val="100000"/>
              </a:lnSpc>
              <a:spcBef>
                <a:spcPts val="0"/>
              </a:spcBef>
              <a:spcAft>
                <a:spcPts val="0"/>
              </a:spcAft>
              <a:buSzPts val="3800"/>
              <a:buFont typeface="Roboto Serif"/>
              <a:buNone/>
              <a:defRPr sz="3800" b="1">
                <a:latin typeface="Roboto Serif"/>
                <a:ea typeface="Roboto Serif"/>
                <a:cs typeface="Roboto Serif"/>
                <a:sym typeface="Roboto Serif"/>
              </a:defRPr>
            </a:lvl4pPr>
            <a:lvl5pPr lvl="4">
              <a:lnSpc>
                <a:spcPct val="100000"/>
              </a:lnSpc>
              <a:spcBef>
                <a:spcPts val="0"/>
              </a:spcBef>
              <a:spcAft>
                <a:spcPts val="0"/>
              </a:spcAft>
              <a:buSzPts val="3800"/>
              <a:buFont typeface="Roboto Serif"/>
              <a:buNone/>
              <a:defRPr sz="3800" b="1">
                <a:latin typeface="Roboto Serif"/>
                <a:ea typeface="Roboto Serif"/>
                <a:cs typeface="Roboto Serif"/>
                <a:sym typeface="Roboto Serif"/>
              </a:defRPr>
            </a:lvl5pPr>
            <a:lvl6pPr lvl="5">
              <a:lnSpc>
                <a:spcPct val="100000"/>
              </a:lnSpc>
              <a:spcBef>
                <a:spcPts val="0"/>
              </a:spcBef>
              <a:spcAft>
                <a:spcPts val="0"/>
              </a:spcAft>
              <a:buSzPts val="3800"/>
              <a:buFont typeface="Roboto Serif"/>
              <a:buNone/>
              <a:defRPr sz="3800" b="1">
                <a:latin typeface="Roboto Serif"/>
                <a:ea typeface="Roboto Serif"/>
                <a:cs typeface="Roboto Serif"/>
                <a:sym typeface="Roboto Serif"/>
              </a:defRPr>
            </a:lvl6pPr>
            <a:lvl7pPr lvl="6">
              <a:lnSpc>
                <a:spcPct val="100000"/>
              </a:lnSpc>
              <a:spcBef>
                <a:spcPts val="0"/>
              </a:spcBef>
              <a:spcAft>
                <a:spcPts val="0"/>
              </a:spcAft>
              <a:buSzPts val="3800"/>
              <a:buFont typeface="Roboto Serif"/>
              <a:buNone/>
              <a:defRPr sz="3800" b="1">
                <a:latin typeface="Roboto Serif"/>
                <a:ea typeface="Roboto Serif"/>
                <a:cs typeface="Roboto Serif"/>
                <a:sym typeface="Roboto Serif"/>
              </a:defRPr>
            </a:lvl7pPr>
            <a:lvl8pPr lvl="7">
              <a:lnSpc>
                <a:spcPct val="100000"/>
              </a:lnSpc>
              <a:spcBef>
                <a:spcPts val="0"/>
              </a:spcBef>
              <a:spcAft>
                <a:spcPts val="0"/>
              </a:spcAft>
              <a:buSzPts val="3800"/>
              <a:buFont typeface="Roboto Serif"/>
              <a:buNone/>
              <a:defRPr sz="3800" b="1">
                <a:latin typeface="Roboto Serif"/>
                <a:ea typeface="Roboto Serif"/>
                <a:cs typeface="Roboto Serif"/>
                <a:sym typeface="Roboto Serif"/>
              </a:defRPr>
            </a:lvl8pPr>
            <a:lvl9pPr lvl="8">
              <a:lnSpc>
                <a:spcPct val="100000"/>
              </a:lnSpc>
              <a:spcBef>
                <a:spcPts val="0"/>
              </a:spcBef>
              <a:spcAft>
                <a:spcPts val="0"/>
              </a:spcAft>
              <a:buSzPts val="3800"/>
              <a:buFont typeface="Roboto Serif"/>
              <a:buNone/>
              <a:defRPr sz="3800" b="1">
                <a:latin typeface="Roboto Serif"/>
                <a:ea typeface="Roboto Serif"/>
                <a:cs typeface="Roboto Serif"/>
                <a:sym typeface="Roboto Serif"/>
              </a:defRPr>
            </a:lvl9pPr>
          </a:lstStyle>
          <a:p>
            <a:endParaRPr/>
          </a:p>
        </p:txBody>
      </p:sp>
      <p:sp>
        <p:nvSpPr>
          <p:cNvPr id="192" name="Google Shape;192;p30"/>
          <p:cNvSpPr txBox="1">
            <a:spLocks noGrp="1"/>
          </p:cNvSpPr>
          <p:nvPr>
            <p:ph type="body" idx="3"/>
          </p:nvPr>
        </p:nvSpPr>
        <p:spPr>
          <a:xfrm>
            <a:off x="3476475" y="2609850"/>
            <a:ext cx="4505400" cy="6096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Roboto"/>
              <a:buChar char="●"/>
              <a:defRPr/>
            </a:lvl1pPr>
            <a:lvl2pPr marL="914400" lvl="1" indent="-317500">
              <a:spcBef>
                <a:spcPts val="0"/>
              </a:spcBef>
              <a:spcAft>
                <a:spcPts val="0"/>
              </a:spcAft>
              <a:buSzPts val="1400"/>
              <a:buFont typeface="Roboto"/>
              <a:buChar char="○"/>
              <a:defRPr/>
            </a:lvl2pPr>
            <a:lvl3pPr marL="1371600" lvl="2" indent="-317500">
              <a:spcBef>
                <a:spcPts val="0"/>
              </a:spcBef>
              <a:spcAft>
                <a:spcPts val="0"/>
              </a:spcAft>
              <a:buSzPts val="1400"/>
              <a:buFont typeface="Roboto"/>
              <a:buChar char="■"/>
              <a:defRPr/>
            </a:lvl3pPr>
            <a:lvl4pPr marL="1828800" lvl="3" indent="-317500">
              <a:spcBef>
                <a:spcPts val="0"/>
              </a:spcBef>
              <a:spcAft>
                <a:spcPts val="0"/>
              </a:spcAft>
              <a:buSzPts val="1400"/>
              <a:buFont typeface="Roboto"/>
              <a:buChar char="●"/>
              <a:defRPr/>
            </a:lvl4pPr>
            <a:lvl5pPr marL="2286000" lvl="4" indent="-317500">
              <a:spcBef>
                <a:spcPts val="0"/>
              </a:spcBef>
              <a:spcAft>
                <a:spcPts val="0"/>
              </a:spcAft>
              <a:buSzPts val="1400"/>
              <a:buFont typeface="Roboto"/>
              <a:buChar char="○"/>
              <a:defRPr/>
            </a:lvl5pPr>
            <a:lvl6pPr marL="2743200" lvl="5" indent="-317500">
              <a:spcBef>
                <a:spcPts val="0"/>
              </a:spcBef>
              <a:spcAft>
                <a:spcPts val="0"/>
              </a:spcAft>
              <a:buSzPts val="1400"/>
              <a:buFont typeface="Roboto"/>
              <a:buChar char="■"/>
              <a:defRPr/>
            </a:lvl6pPr>
            <a:lvl7pPr marL="3200400" lvl="6" indent="-317500">
              <a:spcBef>
                <a:spcPts val="0"/>
              </a:spcBef>
              <a:spcAft>
                <a:spcPts val="0"/>
              </a:spcAft>
              <a:buSzPts val="1400"/>
              <a:buFont typeface="Roboto"/>
              <a:buChar char="●"/>
              <a:defRPr/>
            </a:lvl7pPr>
            <a:lvl8pPr marL="3657600" lvl="7" indent="-317500">
              <a:spcBef>
                <a:spcPts val="0"/>
              </a:spcBef>
              <a:spcAft>
                <a:spcPts val="0"/>
              </a:spcAft>
              <a:buSzPts val="1400"/>
              <a:buFont typeface="Roboto"/>
              <a:buChar char="○"/>
              <a:defRPr/>
            </a:lvl8pPr>
            <a:lvl9pPr marL="4114800" lvl="8" indent="-317500">
              <a:spcBef>
                <a:spcPts val="0"/>
              </a:spcBef>
              <a:spcAft>
                <a:spcPts val="0"/>
              </a:spcAft>
              <a:buSzPts val="1400"/>
              <a:buFont typeface="Roboto"/>
              <a:buChar char="■"/>
              <a:defRPr/>
            </a:lvl9pPr>
          </a:lstStyle>
          <a:p>
            <a:endParaRPr/>
          </a:p>
        </p:txBody>
      </p:sp>
    </p:spTree>
    <p:extLst>
      <p:ext uri="{BB962C8B-B14F-4D97-AF65-F5344CB8AC3E}">
        <p14:creationId xmlns:p14="http://schemas.microsoft.com/office/powerpoint/2010/main" val="3508642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870282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871120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477428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dk1"/>
        </a:solidFill>
        <a:effectLst/>
      </p:bgPr>
    </p:bg>
    <p:spTree>
      <p:nvGrpSpPr>
        <p:cNvPr id="1" name="Shape 134"/>
        <p:cNvGrpSpPr/>
        <p:nvPr/>
      </p:nvGrpSpPr>
      <p:grpSpPr>
        <a:xfrm>
          <a:off x="0" y="0"/>
          <a:ext cx="0" cy="0"/>
          <a:chOff x="0" y="0"/>
          <a:chExt cx="0" cy="0"/>
        </a:xfrm>
      </p:grpSpPr>
      <p:sp>
        <p:nvSpPr>
          <p:cNvPr id="137" name="Google Shape;137;p23"/>
          <p:cNvSpPr txBox="1">
            <a:spLocks noGrp="1"/>
          </p:cNvSpPr>
          <p:nvPr>
            <p:ph type="title"/>
          </p:nvPr>
        </p:nvSpPr>
        <p:spPr>
          <a:xfrm>
            <a:off x="650850" y="1825650"/>
            <a:ext cx="7842300" cy="1492200"/>
          </a:xfrm>
          <a:prstGeom prst="rect">
            <a:avLst/>
          </a:prstGeom>
        </p:spPr>
        <p:txBody>
          <a:bodyPr spcFirstLastPara="1" wrap="square" lIns="91425" tIns="91425" rIns="91425" bIns="91425" anchor="ctr" anchorCtr="0">
            <a:noAutofit/>
          </a:bodyPr>
          <a:lstStyle>
            <a:lvl1pPr lvl="0" algn="ctr">
              <a:spcBef>
                <a:spcPts val="0"/>
              </a:spcBef>
              <a:spcAft>
                <a:spcPts val="0"/>
              </a:spcAft>
              <a:buSzPts val="54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8" name="Google Shape;138;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6001613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15594" y="835133"/>
            <a:ext cx="7456807" cy="65714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22063" y="1600200"/>
            <a:ext cx="7456807" cy="32289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324295" y="161144"/>
            <a:ext cx="2044782" cy="253746"/>
          </a:xfrm>
          <a:prstGeom prst="rect">
            <a:avLst/>
          </a:prstGeom>
        </p:spPr>
        <p:txBody>
          <a:bodyPr vert="horz" lIns="91440" tIns="45720" rIns="91440" bIns="45720" rtlCol="0" anchor="ctr"/>
          <a:lstStyle>
            <a:lvl1pPr algn="l" rtl="0">
              <a:defRPr sz="525"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600825" y="161144"/>
            <a:ext cx="1440180" cy="253746"/>
          </a:xfrm>
          <a:prstGeom prst="rect">
            <a:avLst/>
          </a:prstGeom>
        </p:spPr>
        <p:txBody>
          <a:bodyPr vert="horz" lIns="91440" tIns="45720" rIns="91440" bIns="45720" rtlCol="0" anchor="ctr"/>
          <a:lstStyle>
            <a:lvl1pPr algn="l" rtl="0">
              <a:defRPr sz="525" cap="all" baseline="0">
                <a:solidFill>
                  <a:schemeClr val="tx1"/>
                </a:solidFill>
              </a:defRPr>
            </a:lvl1pPr>
          </a:lstStyle>
          <a:p>
            <a:fld id="{F288AF9F-2338-4040-A485-373B8EC8151E}" type="datetime1">
              <a:rPr lang="en-US" smtClean="0"/>
              <a:pPr/>
              <a:t>9/19/2026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468743" y="161144"/>
            <a:ext cx="416961" cy="253746"/>
          </a:xfrm>
          <a:prstGeom prst="rect">
            <a:avLst/>
          </a:prstGeom>
        </p:spPr>
        <p:txBody>
          <a:bodyPr vert="horz" lIns="91440" tIns="45720" rIns="91440" bIns="45720" rtlCol="0" anchor="ctr"/>
          <a:lstStyle>
            <a:lvl1pPr algn="r" rtl="0">
              <a:defRPr sz="525" cap="all" baseline="0">
                <a:solidFill>
                  <a:schemeClr val="tx1"/>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6552053"/>
      </p:ext>
    </p:extLst>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 id="2147483712" r:id="rId31"/>
    <p:sldLayoutId id="2147483713" r:id="rId32"/>
    <p:sldLayoutId id="2147483714" r:id="rId33"/>
  </p:sldLayoutIdLst>
  <p:hf sldNum="0" hdr="0" ftr="0" dt="0"/>
  <p:txStyles>
    <p:titleStyle>
      <a:lvl1pPr algn="l" defTabSz="685800" rtl="0" eaLnBrk="1" latinLnBrk="0" hangingPunct="1">
        <a:lnSpc>
          <a:spcPct val="85000"/>
        </a:lnSpc>
        <a:spcBef>
          <a:spcPct val="0"/>
        </a:spcBef>
        <a:buNone/>
        <a:defRPr sz="2250" b="0" kern="1200" spc="-83" baseline="0">
          <a:solidFill>
            <a:schemeClr val="tx1"/>
          </a:solidFill>
          <a:latin typeface="+mj-lt"/>
          <a:ea typeface="+mj-ea"/>
          <a:cs typeface="+mj-cs"/>
        </a:defRPr>
      </a:lvl1pPr>
    </p:titleStyle>
    <p:bodyStyle>
      <a:lvl1pPr marL="0" indent="0" algn="l" defTabSz="685800" rtl="0" eaLnBrk="1" latinLnBrk="0" hangingPunct="1">
        <a:lnSpc>
          <a:spcPct val="120000"/>
        </a:lnSpc>
        <a:spcBef>
          <a:spcPts val="750"/>
        </a:spcBef>
        <a:buFont typeface="Arial" panose="020B0604020202020204" pitchFamily="34" charset="0"/>
        <a:buNone/>
        <a:defRPr sz="1050" kern="1200">
          <a:solidFill>
            <a:schemeClr val="tx1"/>
          </a:solidFill>
          <a:latin typeface="+mn-lt"/>
          <a:ea typeface="+mn-ea"/>
          <a:cs typeface="+mn-cs"/>
        </a:defRPr>
      </a:lvl1pPr>
      <a:lvl2pPr marL="1714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2pPr>
      <a:lvl3pPr marL="3429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3pPr>
      <a:lvl4pPr marL="5143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4pPr>
      <a:lvl5pPr marL="6858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
          <p:cNvSpPr txBox="1">
            <a:spLocks noGrp="1"/>
          </p:cNvSpPr>
          <p:nvPr>
            <p:ph type="subTitle" idx="2"/>
          </p:nvPr>
        </p:nvSpPr>
        <p:spPr>
          <a:xfrm>
            <a:off x="0" y="134825"/>
            <a:ext cx="7078800" cy="7521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1200"/>
              </a:spcAft>
              <a:buSzPts val="4200"/>
              <a:buNone/>
            </a:pPr>
            <a:r>
              <a:rPr lang="en"/>
              <a:t>Introduction</a:t>
            </a:r>
            <a:endParaRPr/>
          </a:p>
        </p:txBody>
      </p:sp>
      <p:sp>
        <p:nvSpPr>
          <p:cNvPr id="263" name="Google Shape;263;p1"/>
          <p:cNvSpPr txBox="1"/>
          <p:nvPr/>
        </p:nvSpPr>
        <p:spPr>
          <a:xfrm>
            <a:off x="3781025" y="1521275"/>
            <a:ext cx="5363100" cy="2823600"/>
          </a:xfrm>
          <a:prstGeom prst="rect">
            <a:avLst/>
          </a:prstGeom>
          <a:noFill/>
          <a:ln>
            <a:noFill/>
          </a:ln>
        </p:spPr>
        <p:txBody>
          <a:bodyPr spcFirstLastPara="1" wrap="square" lIns="91425" tIns="91425" rIns="91425" bIns="91425" anchor="ctr" anchorCtr="0">
            <a:noAutofit/>
          </a:bodyPr>
          <a:lstStyle/>
          <a:p>
            <a:pPr marL="457200" marR="0" lvl="0" indent="0" algn="l" rtl="0">
              <a:lnSpc>
                <a:spcPct val="115000"/>
              </a:lnSpc>
              <a:spcBef>
                <a:spcPts val="0"/>
              </a:spcBef>
              <a:spcAft>
                <a:spcPts val="0"/>
              </a:spcAft>
              <a:buClr>
                <a:srgbClr val="000000"/>
              </a:buClr>
              <a:buSzPts val="2400"/>
              <a:buFont typeface="Arial"/>
              <a:buNone/>
            </a:pPr>
            <a:r>
              <a:rPr lang="en" sz="2400" b="1" i="0" u="none" strike="noStrike" cap="none">
                <a:solidFill>
                  <a:schemeClr val="dk1"/>
                </a:solidFill>
                <a:latin typeface="Times New Roman"/>
                <a:ea typeface="Times New Roman"/>
                <a:cs typeface="Times New Roman"/>
                <a:sym typeface="Times New Roman"/>
              </a:rPr>
              <a:t>Sibling Rivalry</a:t>
            </a:r>
            <a:endParaRPr sz="2400" b="1"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r>
              <a:rPr lang="en" sz="2400" b="1" i="0" u="none" strike="noStrike" cap="none">
                <a:solidFill>
                  <a:schemeClr val="dk1"/>
                </a:solidFill>
                <a:latin typeface="Times New Roman"/>
                <a:ea typeface="Times New Roman"/>
                <a:cs typeface="Times New Roman"/>
                <a:sym typeface="Times New Roman"/>
              </a:rPr>
              <a:t>Names: </a:t>
            </a:r>
            <a:r>
              <a:rPr lang="en" sz="2400" b="0" i="0" u="none" strike="noStrike" cap="none">
                <a:solidFill>
                  <a:schemeClr val="dk1"/>
                </a:solidFill>
                <a:latin typeface="Times New Roman"/>
                <a:ea typeface="Times New Roman"/>
                <a:cs typeface="Times New Roman"/>
                <a:sym typeface="Times New Roman"/>
              </a:rPr>
              <a:t>[Insert Names]</a:t>
            </a:r>
            <a:endParaRPr sz="2400" b="0"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r>
              <a:rPr lang="en" sz="2400" b="1" i="0" u="none" strike="noStrike" cap="none">
                <a:solidFill>
                  <a:schemeClr val="dk1"/>
                </a:solidFill>
                <a:latin typeface="Times New Roman"/>
                <a:ea typeface="Times New Roman"/>
                <a:cs typeface="Times New Roman"/>
                <a:sym typeface="Times New Roman"/>
              </a:rPr>
              <a:t>Course:</a:t>
            </a:r>
            <a:r>
              <a:rPr lang="en" sz="2400" b="0" i="0" u="none" strike="noStrike" cap="none">
                <a:solidFill>
                  <a:schemeClr val="dk1"/>
                </a:solidFill>
                <a:latin typeface="Times New Roman"/>
                <a:ea typeface="Times New Roman"/>
                <a:cs typeface="Times New Roman"/>
                <a:sym typeface="Times New Roman"/>
              </a:rPr>
              <a:t> Families in Transition</a:t>
            </a:r>
            <a:endParaRPr sz="2400" b="0"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endParaRPr sz="2400" b="1"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r>
              <a:rPr lang="en" sz="2400" b="1" i="0" u="none" strike="noStrike" cap="none">
                <a:solidFill>
                  <a:schemeClr val="dk1"/>
                </a:solidFill>
                <a:latin typeface="Times New Roman"/>
                <a:ea typeface="Times New Roman"/>
                <a:cs typeface="Times New Roman"/>
                <a:sym typeface="Times New Roman"/>
              </a:rPr>
              <a:t>Why we chose this topic:</a:t>
            </a:r>
            <a:endParaRPr sz="2400" b="1"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r>
              <a:rPr lang="en" sz="2400" b="0" i="0" u="none" strike="noStrike" cap="none">
                <a:solidFill>
                  <a:schemeClr val="dk1"/>
                </a:solidFill>
                <a:latin typeface="Times New Roman"/>
                <a:ea typeface="Times New Roman"/>
                <a:cs typeface="Times New Roman"/>
                <a:sym typeface="Times New Roman"/>
              </a:rPr>
              <a:t>Common in many families</a:t>
            </a:r>
            <a:endParaRPr sz="2400" b="0"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r>
              <a:rPr lang="en" sz="2400" b="0" i="0" u="none" strike="noStrike" cap="none">
                <a:solidFill>
                  <a:schemeClr val="dk1"/>
                </a:solidFill>
                <a:latin typeface="Times New Roman"/>
                <a:ea typeface="Times New Roman"/>
                <a:cs typeface="Times New Roman"/>
                <a:sym typeface="Times New Roman"/>
              </a:rPr>
              <a:t>Impacts children’s emotional and social development</a:t>
            </a:r>
            <a:endParaRPr sz="2400" b="0" i="0" u="none" strike="noStrike" cap="none">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pic>
        <p:nvPicPr>
          <p:cNvPr id="264" name="Google Shape;264;p1"/>
          <p:cNvPicPr preferRelativeResize="0"/>
          <p:nvPr/>
        </p:nvPicPr>
        <p:blipFill rotWithShape="1">
          <a:blip r:embed="rId3">
            <a:alphaModFix/>
          </a:blip>
          <a:srcRect/>
          <a:stretch/>
        </p:blipFill>
        <p:spPr>
          <a:xfrm>
            <a:off x="152400" y="886925"/>
            <a:ext cx="3919225" cy="4020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
          <p:cNvSpPr txBox="1">
            <a:spLocks noGrp="1"/>
          </p:cNvSpPr>
          <p:nvPr>
            <p:ph type="subTitle" idx="1"/>
          </p:nvPr>
        </p:nvSpPr>
        <p:spPr>
          <a:xfrm>
            <a:off x="3025075" y="271250"/>
            <a:ext cx="6345300" cy="75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lt2"/>
              </a:buClr>
              <a:buSzPts val="1100"/>
              <a:buFont typeface="Arial"/>
              <a:buNone/>
            </a:pPr>
            <a:r>
              <a:rPr lang="en" sz="3600">
                <a:solidFill>
                  <a:schemeClr val="lt2"/>
                </a:solidFill>
                <a:latin typeface="Times New Roman"/>
                <a:ea typeface="Times New Roman"/>
                <a:cs typeface="Times New Roman"/>
                <a:sym typeface="Times New Roman"/>
              </a:rPr>
              <a:t>What is Sibling Rivalry?</a:t>
            </a:r>
            <a:endParaRPr sz="3600">
              <a:solidFill>
                <a:schemeClr val="lt2"/>
              </a:solidFill>
              <a:latin typeface="Times New Roman"/>
              <a:ea typeface="Times New Roman"/>
              <a:cs typeface="Times New Roman"/>
              <a:sym typeface="Times New Roman"/>
            </a:endParaRPr>
          </a:p>
          <a:p>
            <a:pPr marL="0" lvl="0" indent="0" algn="l" rtl="0">
              <a:lnSpc>
                <a:spcPct val="100000"/>
              </a:lnSpc>
              <a:spcBef>
                <a:spcPts val="400"/>
              </a:spcBef>
              <a:spcAft>
                <a:spcPts val="1200"/>
              </a:spcAft>
              <a:buSzPts val="3800"/>
              <a:buNone/>
            </a:pPr>
            <a:endParaRPr sz="3100"/>
          </a:p>
        </p:txBody>
      </p:sp>
      <p:sp>
        <p:nvSpPr>
          <p:cNvPr id="270" name="Google Shape;270;p2"/>
          <p:cNvSpPr txBox="1">
            <a:spLocks noGrp="1"/>
          </p:cNvSpPr>
          <p:nvPr>
            <p:ph type="body" idx="3"/>
          </p:nvPr>
        </p:nvSpPr>
        <p:spPr>
          <a:xfrm>
            <a:off x="3449125" y="1351325"/>
            <a:ext cx="5634000" cy="6096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SzPts val="2400"/>
              <a:buFont typeface="Times New Roman"/>
              <a:buChar char="●"/>
            </a:pPr>
            <a:r>
              <a:rPr lang="en" sz="2400" b="1">
                <a:latin typeface="Times New Roman"/>
                <a:ea typeface="Times New Roman"/>
                <a:cs typeface="Times New Roman"/>
                <a:sym typeface="Times New Roman"/>
              </a:rPr>
              <a:t>Conflict, jealousy, and competition between siblings</a:t>
            </a:r>
            <a:endParaRPr sz="2400" b="1">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1">
                <a:latin typeface="Times New Roman"/>
                <a:ea typeface="Times New Roman"/>
                <a:cs typeface="Times New Roman"/>
                <a:sym typeface="Times New Roman"/>
              </a:rPr>
              <a:t>Frequently starts when a new baby is born.</a:t>
            </a:r>
            <a:endParaRPr sz="2400" b="1">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1">
                <a:latin typeface="Times New Roman"/>
                <a:ea typeface="Times New Roman"/>
                <a:cs typeface="Times New Roman"/>
                <a:sym typeface="Times New Roman"/>
              </a:rPr>
              <a:t>May happen at any age.</a:t>
            </a:r>
            <a:endParaRPr sz="2400" b="1">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1">
                <a:latin typeface="Times New Roman"/>
                <a:ea typeface="Times New Roman"/>
                <a:cs typeface="Times New Roman"/>
                <a:sym typeface="Times New Roman"/>
              </a:rPr>
              <a:t>Linked to need for attention and validation (Rebar et al., 2020) </a:t>
            </a:r>
            <a:endParaRPr sz="2400" b="1">
              <a:latin typeface="Times New Roman"/>
              <a:ea typeface="Times New Roman"/>
              <a:cs typeface="Times New Roman"/>
              <a:sym typeface="Times New Roman"/>
            </a:endParaRPr>
          </a:p>
          <a:p>
            <a:pPr marL="457200" lvl="0" indent="0" algn="l" rtl="0">
              <a:lnSpc>
                <a:spcPct val="115000"/>
              </a:lnSpc>
              <a:spcBef>
                <a:spcPts val="1200"/>
              </a:spcBef>
              <a:spcAft>
                <a:spcPts val="1200"/>
              </a:spcAft>
              <a:buSzPts val="1400"/>
              <a:buNone/>
            </a:pPr>
            <a:endParaRPr sz="1800" b="1">
              <a:latin typeface="Times New Roman"/>
              <a:ea typeface="Times New Roman"/>
              <a:cs typeface="Times New Roman"/>
              <a:sym typeface="Times New Roman"/>
            </a:endParaRPr>
          </a:p>
        </p:txBody>
      </p:sp>
      <p:pic>
        <p:nvPicPr>
          <p:cNvPr id="271" name="Google Shape;271;p2"/>
          <p:cNvPicPr preferRelativeResize="0"/>
          <p:nvPr/>
        </p:nvPicPr>
        <p:blipFill rotWithShape="1">
          <a:blip r:embed="rId3">
            <a:alphaModFix/>
          </a:blip>
          <a:srcRect/>
          <a:stretch/>
        </p:blipFill>
        <p:spPr>
          <a:xfrm>
            <a:off x="218425" y="1272418"/>
            <a:ext cx="3230701" cy="34981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3000" dirty="0">
                <a:latin typeface="Times New Roman"/>
                <a:ea typeface="Times New Roman"/>
                <a:cs typeface="Times New Roman"/>
                <a:sym typeface="Times New Roman"/>
              </a:rPr>
              <a:t>The causes and effects of Sibling Rivalry</a:t>
            </a:r>
            <a:endParaRPr sz="3000" dirty="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300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Age differences</a:t>
            </a:r>
            <a:endParaRPr sz="2400" b="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Personality differences</a:t>
            </a:r>
            <a:endParaRPr sz="2400" b="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Parenting styles</a:t>
            </a:r>
            <a:endParaRPr sz="2400" b="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dirty="0">
                <a:latin typeface="Times New Roman"/>
                <a:ea typeface="Times New Roman"/>
                <a:cs typeface="Times New Roman"/>
                <a:sym typeface="Times New Roman"/>
              </a:rPr>
              <a:t>Effects:</a:t>
            </a:r>
            <a:endParaRPr sz="240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Aggression or conflict</a:t>
            </a:r>
            <a:endParaRPr sz="2400" b="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Low self-esteem</a:t>
            </a:r>
            <a:endParaRPr sz="2400" b="0" dirty="0">
              <a:latin typeface="Times New Roman"/>
              <a:ea typeface="Times New Roman"/>
              <a:cs typeface="Times New Roman"/>
              <a:sym typeface="Times New Roman"/>
            </a:endParaRPr>
          </a:p>
          <a:p>
            <a:pPr marL="342900" lvl="0" indent="-342900" algn="l" rtl="0">
              <a:lnSpc>
                <a:spcPct val="115000"/>
              </a:lnSpc>
              <a:spcBef>
                <a:spcPts val="0"/>
              </a:spcBef>
              <a:spcAft>
                <a:spcPts val="0"/>
              </a:spcAft>
              <a:buFont typeface="Arial" panose="020B0604020202020204" pitchFamily="34" charset="0"/>
              <a:buChar char="•"/>
            </a:pPr>
            <a:r>
              <a:rPr lang="en" sz="2400" b="0" dirty="0">
                <a:latin typeface="Times New Roman"/>
                <a:ea typeface="Times New Roman"/>
                <a:cs typeface="Times New Roman"/>
                <a:sym typeface="Times New Roman"/>
              </a:rPr>
              <a:t>Development of social skills</a:t>
            </a:r>
            <a:endParaRPr sz="2400" b="0" dirty="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3000" dirty="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3000" dirty="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3000" dirty="0">
              <a:latin typeface="Times New Roman"/>
              <a:ea typeface="Times New Roman"/>
              <a:cs typeface="Times New Roman"/>
              <a:sym typeface="Times New Roman"/>
            </a:endParaRPr>
          </a:p>
        </p:txBody>
      </p:sp>
      <p:pic>
        <p:nvPicPr>
          <p:cNvPr id="304" name="Google Shape;304;p1"/>
          <p:cNvPicPr preferRelativeResize="0"/>
          <p:nvPr/>
        </p:nvPicPr>
        <p:blipFill rotWithShape="1">
          <a:blip r:embed="rId3">
            <a:alphaModFix/>
          </a:blip>
          <a:srcRect/>
          <a:stretch/>
        </p:blipFill>
        <p:spPr>
          <a:xfrm>
            <a:off x="4942550" y="1247523"/>
            <a:ext cx="3666900" cy="3666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
          <p:cNvSpPr txBox="1">
            <a:spLocks noGrp="1"/>
          </p:cNvSpPr>
          <p:nvPr>
            <p:ph type="title"/>
          </p:nvPr>
        </p:nvSpPr>
        <p:spPr>
          <a:xfrm>
            <a:off x="0" y="547850"/>
            <a:ext cx="5716500" cy="12351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ct val="111111"/>
              <a:buNone/>
            </a:pPr>
            <a:r>
              <a:rPr lang="en">
                <a:latin typeface="Times New Roman"/>
                <a:ea typeface="Times New Roman"/>
                <a:cs typeface="Times New Roman"/>
                <a:sym typeface="Times New Roman"/>
              </a:rPr>
              <a:t>Strategies for Educators</a:t>
            </a:r>
            <a:endParaRPr>
              <a:latin typeface="Times New Roman"/>
              <a:ea typeface="Times New Roman"/>
              <a:cs typeface="Times New Roman"/>
              <a:sym typeface="Times New Roman"/>
            </a:endParaRPr>
          </a:p>
          <a:p>
            <a:pPr marL="0" lvl="0" indent="0" algn="l" rtl="0">
              <a:lnSpc>
                <a:spcPct val="100000"/>
              </a:lnSpc>
              <a:spcBef>
                <a:spcPts val="0"/>
              </a:spcBef>
              <a:spcAft>
                <a:spcPts val="0"/>
              </a:spcAft>
              <a:buSzPct val="111111"/>
              <a:buNone/>
            </a:pPr>
            <a:endParaRPr/>
          </a:p>
        </p:txBody>
      </p:sp>
      <p:sp>
        <p:nvSpPr>
          <p:cNvPr id="281" name="Google Shape;281;p4"/>
          <p:cNvSpPr txBox="1">
            <a:spLocks noGrp="1"/>
          </p:cNvSpPr>
          <p:nvPr>
            <p:ph type="subTitle" idx="1"/>
          </p:nvPr>
        </p:nvSpPr>
        <p:spPr>
          <a:xfrm>
            <a:off x="526800" y="1062467"/>
            <a:ext cx="4045200" cy="12351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Clr>
                <a:schemeClr val="lt2"/>
              </a:buClr>
              <a:buSzPts val="2400"/>
              <a:buFont typeface="Times New Roman"/>
              <a:buChar char="●"/>
            </a:pPr>
            <a:r>
              <a:rPr lang="en" sz="2400">
                <a:solidFill>
                  <a:schemeClr val="lt2"/>
                </a:solidFill>
                <a:latin typeface="Times New Roman"/>
                <a:ea typeface="Times New Roman"/>
                <a:cs typeface="Times New Roman"/>
                <a:sym typeface="Times New Roman"/>
              </a:rPr>
              <a:t>Teach conflict resolution skills</a:t>
            </a:r>
            <a:endParaRPr sz="2400">
              <a:solidFill>
                <a:schemeClr val="lt2"/>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lt2"/>
              </a:buClr>
              <a:buSzPts val="2400"/>
              <a:buFont typeface="Times New Roman"/>
              <a:buChar char="●"/>
            </a:pPr>
            <a:r>
              <a:rPr lang="en" sz="2400">
                <a:solidFill>
                  <a:schemeClr val="lt2"/>
                </a:solidFill>
                <a:latin typeface="Times New Roman"/>
                <a:ea typeface="Times New Roman"/>
                <a:cs typeface="Times New Roman"/>
                <a:sym typeface="Times New Roman"/>
              </a:rPr>
              <a:t>Promote openness and expression of emotions.</a:t>
            </a:r>
            <a:endParaRPr sz="2400">
              <a:solidFill>
                <a:schemeClr val="lt2"/>
              </a:solidFill>
              <a:latin typeface="Times New Roman"/>
              <a:ea typeface="Times New Roman"/>
              <a:cs typeface="Times New Roman"/>
              <a:sym typeface="Times New Roman"/>
            </a:endParaRPr>
          </a:p>
          <a:p>
            <a:pPr marL="457200" lvl="0" indent="-381000" algn="l" rtl="0">
              <a:lnSpc>
                <a:spcPct val="115000"/>
              </a:lnSpc>
              <a:spcBef>
                <a:spcPts val="0"/>
              </a:spcBef>
              <a:spcAft>
                <a:spcPts val="0"/>
              </a:spcAft>
              <a:buClr>
                <a:schemeClr val="lt2"/>
              </a:buClr>
              <a:buSzPts val="2400"/>
              <a:buFont typeface="Times New Roman"/>
              <a:buChar char="●"/>
            </a:pPr>
            <a:r>
              <a:rPr lang="en" sz="2400">
                <a:solidFill>
                  <a:schemeClr val="lt2"/>
                </a:solidFill>
                <a:latin typeface="Times New Roman"/>
                <a:ea typeface="Times New Roman"/>
                <a:cs typeface="Times New Roman"/>
                <a:sym typeface="Times New Roman"/>
              </a:rPr>
              <a:t>Support each child’s individuality</a:t>
            </a:r>
            <a:endParaRPr sz="2400">
              <a:solidFill>
                <a:schemeClr val="lt2"/>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lt2"/>
              </a:buClr>
              <a:buSzPts val="1100"/>
              <a:buFont typeface="Arial"/>
              <a:buNone/>
            </a:pPr>
            <a:r>
              <a:rPr lang="en" sz="2400">
                <a:solidFill>
                  <a:schemeClr val="lt2"/>
                </a:solidFill>
                <a:latin typeface="Times New Roman"/>
                <a:ea typeface="Times New Roman"/>
                <a:cs typeface="Times New Roman"/>
                <a:sym typeface="Times New Roman"/>
              </a:rPr>
              <a:t>(Suresh &amp; Chandran, 2020).</a:t>
            </a:r>
            <a:endParaRPr sz="2400">
              <a:solidFill>
                <a:schemeClr val="lt2"/>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lt2"/>
              </a:buClr>
              <a:buSzPts val="1100"/>
              <a:buFont typeface="Arial"/>
              <a:buNone/>
            </a:pPr>
            <a:endParaRPr sz="2400">
              <a:solidFill>
                <a:schemeClr val="lt2"/>
              </a:solidFill>
              <a:latin typeface="Times New Roman"/>
              <a:ea typeface="Times New Roman"/>
              <a:cs typeface="Times New Roman"/>
              <a:sym typeface="Times New Roman"/>
            </a:endParaRPr>
          </a:p>
          <a:p>
            <a:pPr marL="0" lvl="0" indent="0" algn="ctr" rtl="0">
              <a:lnSpc>
                <a:spcPct val="100000"/>
              </a:lnSpc>
              <a:spcBef>
                <a:spcPts val="0"/>
              </a:spcBef>
              <a:spcAft>
                <a:spcPts val="0"/>
              </a:spcAft>
              <a:buSzPts val="2100"/>
              <a:buNone/>
            </a:pPr>
            <a:endParaRPr sz="2400">
              <a:latin typeface="Times New Roman"/>
              <a:ea typeface="Times New Roman"/>
              <a:cs typeface="Times New Roman"/>
              <a:sym typeface="Times New Roman"/>
            </a:endParaRPr>
          </a:p>
        </p:txBody>
      </p:sp>
      <p:sp>
        <p:nvSpPr>
          <p:cNvPr id="282" name="Google Shape;282;p4"/>
          <p:cNvSpPr/>
          <p:nvPr/>
        </p:nvSpPr>
        <p:spPr>
          <a:xfrm>
            <a:off x="0" y="12161375"/>
            <a:ext cx="3400500" cy="2267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3" name="Google Shape;283;p4"/>
          <p:cNvPicPr preferRelativeResize="0"/>
          <p:nvPr/>
        </p:nvPicPr>
        <p:blipFill rotWithShape="1">
          <a:blip r:embed="rId3">
            <a:alphaModFix/>
          </a:blip>
          <a:srcRect/>
          <a:stretch/>
        </p:blipFill>
        <p:spPr>
          <a:xfrm>
            <a:off x="4585200" y="0"/>
            <a:ext cx="44064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5"/>
          <p:cNvSpPr txBox="1">
            <a:spLocks noGrp="1"/>
          </p:cNvSpPr>
          <p:nvPr>
            <p:ph type="title"/>
          </p:nvPr>
        </p:nvSpPr>
        <p:spPr>
          <a:xfrm>
            <a:off x="311600" y="481650"/>
            <a:ext cx="4692900" cy="481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400"/>
              <a:buNone/>
            </a:pPr>
            <a:r>
              <a:rPr lang="en" sz="3000">
                <a:latin typeface="Times New Roman"/>
                <a:ea typeface="Times New Roman"/>
                <a:cs typeface="Times New Roman"/>
                <a:sym typeface="Times New Roman"/>
              </a:rPr>
              <a:t>Children’s Books</a:t>
            </a:r>
            <a:endParaRPr sz="3000">
              <a:latin typeface="Times New Roman"/>
              <a:ea typeface="Times New Roman"/>
              <a:cs typeface="Times New Roman"/>
              <a:sym typeface="Times New Roman"/>
            </a:endParaRPr>
          </a:p>
          <a:p>
            <a:pPr marL="0" lvl="0" indent="0" algn="l" rtl="0">
              <a:lnSpc>
                <a:spcPct val="100000"/>
              </a:lnSpc>
              <a:spcBef>
                <a:spcPts val="0"/>
              </a:spcBef>
              <a:spcAft>
                <a:spcPts val="0"/>
              </a:spcAft>
              <a:buSzPts val="5400"/>
              <a:buNone/>
            </a:pPr>
            <a:endParaRPr sz="300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0">
                <a:latin typeface="Times New Roman"/>
                <a:ea typeface="Times New Roman"/>
                <a:cs typeface="Times New Roman"/>
                <a:sym typeface="Times New Roman"/>
              </a:rPr>
              <a:t>Teach conflict resolution skills</a:t>
            </a:r>
            <a:endParaRPr sz="2400" b="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0">
                <a:latin typeface="Times New Roman"/>
                <a:ea typeface="Times New Roman"/>
                <a:cs typeface="Times New Roman"/>
                <a:sym typeface="Times New Roman"/>
              </a:rPr>
              <a:t>Encourage communication and emotional expression</a:t>
            </a:r>
            <a:endParaRPr sz="2400" b="0">
              <a:latin typeface="Times New Roman"/>
              <a:ea typeface="Times New Roman"/>
              <a:cs typeface="Times New Roman"/>
              <a:sym typeface="Times New Roman"/>
            </a:endParaRPr>
          </a:p>
          <a:p>
            <a:pPr marL="457200" lvl="0" indent="-381000" algn="l" rtl="0">
              <a:lnSpc>
                <a:spcPct val="115000"/>
              </a:lnSpc>
              <a:spcBef>
                <a:spcPts val="0"/>
              </a:spcBef>
              <a:spcAft>
                <a:spcPts val="0"/>
              </a:spcAft>
              <a:buSzPts val="2400"/>
              <a:buFont typeface="Times New Roman"/>
              <a:buChar char="●"/>
            </a:pPr>
            <a:r>
              <a:rPr lang="en" sz="2400" b="0">
                <a:latin typeface="Times New Roman"/>
                <a:ea typeface="Times New Roman"/>
                <a:cs typeface="Times New Roman"/>
                <a:sym typeface="Times New Roman"/>
              </a:rPr>
              <a:t>Support each child’s individuality</a:t>
            </a:r>
            <a:endParaRPr sz="2400" b="0">
              <a:latin typeface="Times New Roman"/>
              <a:ea typeface="Times New Roman"/>
              <a:cs typeface="Times New Roman"/>
              <a:sym typeface="Times New Roman"/>
            </a:endParaRPr>
          </a:p>
          <a:p>
            <a:pPr marL="0" lvl="0" indent="0" algn="l" rtl="0">
              <a:lnSpc>
                <a:spcPct val="115000"/>
              </a:lnSpc>
              <a:spcBef>
                <a:spcPts val="0"/>
              </a:spcBef>
              <a:spcAft>
                <a:spcPts val="0"/>
              </a:spcAft>
              <a:buSzPts val="5400"/>
              <a:buNone/>
            </a:pPr>
            <a:r>
              <a:rPr lang="en" sz="2400" b="0">
                <a:latin typeface="Times New Roman"/>
                <a:ea typeface="Times New Roman"/>
                <a:cs typeface="Times New Roman"/>
                <a:sym typeface="Times New Roman"/>
              </a:rPr>
              <a:t>Fitri and Erwinda (2024).</a:t>
            </a:r>
            <a:endParaRPr sz="2400" b="0">
              <a:latin typeface="Times New Roman"/>
              <a:ea typeface="Times New Roman"/>
              <a:cs typeface="Times New Roman"/>
              <a:sym typeface="Times New Roman"/>
            </a:endParaRPr>
          </a:p>
        </p:txBody>
      </p:sp>
      <p:pic>
        <p:nvPicPr>
          <p:cNvPr id="289" name="Google Shape;289;p5"/>
          <p:cNvPicPr preferRelativeResize="0"/>
          <p:nvPr/>
        </p:nvPicPr>
        <p:blipFill rotWithShape="1">
          <a:blip r:embed="rId3">
            <a:alphaModFix/>
          </a:blip>
          <a:srcRect/>
          <a:stretch/>
        </p:blipFill>
        <p:spPr>
          <a:xfrm>
            <a:off x="5004488" y="481660"/>
            <a:ext cx="3989125" cy="3893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6"/>
          <p:cNvSpPr txBox="1">
            <a:spLocks noGrp="1"/>
          </p:cNvSpPr>
          <p:nvPr>
            <p:ph type="title"/>
          </p:nvPr>
        </p:nvSpPr>
        <p:spPr>
          <a:xfrm>
            <a:off x="311700" y="205625"/>
            <a:ext cx="8520600" cy="812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ct val="150000"/>
              <a:buNone/>
            </a:pPr>
            <a:r>
              <a:rPr lang="en" sz="4000"/>
              <a:t>Community Resources (Toronto)</a:t>
            </a:r>
            <a:endParaRPr sz="4000"/>
          </a:p>
          <a:p>
            <a:pPr marL="0" lvl="0" indent="0" algn="l" rtl="0">
              <a:lnSpc>
                <a:spcPct val="100000"/>
              </a:lnSpc>
              <a:spcBef>
                <a:spcPts val="0"/>
              </a:spcBef>
              <a:spcAft>
                <a:spcPts val="0"/>
              </a:spcAft>
              <a:buSzPct val="111111"/>
              <a:buNone/>
            </a:pPr>
            <a:endParaRPr/>
          </a:p>
        </p:txBody>
      </p:sp>
      <p:sp>
        <p:nvSpPr>
          <p:cNvPr id="295" name="Google Shape;295;p6"/>
          <p:cNvSpPr txBox="1">
            <a:spLocks noGrp="1"/>
          </p:cNvSpPr>
          <p:nvPr>
            <p:ph type="body" idx="1"/>
          </p:nvPr>
        </p:nvSpPr>
        <p:spPr>
          <a:xfrm>
            <a:off x="311700" y="1017725"/>
            <a:ext cx="9144000" cy="35511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0"/>
              </a:spcAft>
              <a:buSzPct val="58333"/>
              <a:buNone/>
            </a:pPr>
            <a:r>
              <a:rPr lang="en" sz="9600">
                <a:latin typeface="Times New Roman"/>
                <a:ea typeface="Times New Roman"/>
                <a:cs typeface="Times New Roman"/>
                <a:sym typeface="Times New Roman"/>
              </a:rPr>
              <a:t>SickKids Hospital</a:t>
            </a:r>
            <a:endParaRPr sz="9600">
              <a:latin typeface="Times New Roman"/>
              <a:ea typeface="Times New Roman"/>
              <a:cs typeface="Times New Roman"/>
              <a:sym typeface="Times New Roman"/>
            </a:endParaRPr>
          </a:p>
          <a:p>
            <a:pPr marL="457200" lvl="0" indent="-381000" algn="l" rtl="0">
              <a:lnSpc>
                <a:spcPct val="115000"/>
              </a:lnSpc>
              <a:spcBef>
                <a:spcPts val="1200"/>
              </a:spcBef>
              <a:spcAft>
                <a:spcPts val="0"/>
              </a:spcAft>
              <a:buSzPct val="100000"/>
              <a:buFont typeface="Times New Roman"/>
              <a:buChar char="●"/>
            </a:pPr>
            <a:r>
              <a:rPr lang="en" sz="9600">
                <a:latin typeface="Times New Roman"/>
                <a:ea typeface="Times New Roman"/>
                <a:cs typeface="Times New Roman"/>
                <a:sym typeface="Times New Roman"/>
              </a:rPr>
              <a:t>Resources on parenting and child development.</a:t>
            </a:r>
            <a:endParaRPr sz="9600">
              <a:latin typeface="Times New Roman"/>
              <a:ea typeface="Times New Roman"/>
              <a:cs typeface="Times New Roman"/>
              <a:sym typeface="Times New Roman"/>
            </a:endParaRPr>
          </a:p>
          <a:p>
            <a:pPr marL="457200" lvl="0" indent="-381000" algn="l" rtl="0">
              <a:lnSpc>
                <a:spcPct val="115000"/>
              </a:lnSpc>
              <a:spcBef>
                <a:spcPts val="0"/>
              </a:spcBef>
              <a:spcAft>
                <a:spcPts val="0"/>
              </a:spcAft>
              <a:buSzPct val="100000"/>
              <a:buFont typeface="Times New Roman"/>
              <a:buChar char="●"/>
            </a:pPr>
            <a:r>
              <a:rPr lang="en" sz="9600">
                <a:latin typeface="Times New Roman"/>
                <a:ea typeface="Times New Roman"/>
                <a:cs typeface="Times New Roman"/>
                <a:sym typeface="Times New Roman"/>
              </a:rPr>
              <a:t>https://www.sickkids.ca</a:t>
            </a:r>
            <a:endParaRPr sz="9600">
              <a:latin typeface="Times New Roman"/>
              <a:ea typeface="Times New Roman"/>
              <a:cs typeface="Times New Roman"/>
              <a:sym typeface="Times New Roman"/>
            </a:endParaRPr>
          </a:p>
          <a:p>
            <a:pPr marL="0" lvl="0" indent="0" algn="l" rtl="0">
              <a:lnSpc>
                <a:spcPct val="115000"/>
              </a:lnSpc>
              <a:spcBef>
                <a:spcPts val="1200"/>
              </a:spcBef>
              <a:spcAft>
                <a:spcPts val="0"/>
              </a:spcAft>
              <a:buSzPct val="58333"/>
              <a:buNone/>
            </a:pPr>
            <a:r>
              <a:rPr lang="en" sz="9600">
                <a:latin typeface="Times New Roman"/>
                <a:ea typeface="Times New Roman"/>
                <a:cs typeface="Times New Roman"/>
                <a:sym typeface="Times New Roman"/>
              </a:rPr>
              <a:t>Toronto Public Health</a:t>
            </a:r>
            <a:endParaRPr sz="9600">
              <a:latin typeface="Times New Roman"/>
              <a:ea typeface="Times New Roman"/>
              <a:cs typeface="Times New Roman"/>
              <a:sym typeface="Times New Roman"/>
            </a:endParaRPr>
          </a:p>
          <a:p>
            <a:pPr marL="457200" lvl="0" indent="-381000" algn="l" rtl="0">
              <a:lnSpc>
                <a:spcPct val="115000"/>
              </a:lnSpc>
              <a:spcBef>
                <a:spcPts val="1200"/>
              </a:spcBef>
              <a:spcAft>
                <a:spcPts val="0"/>
              </a:spcAft>
              <a:buSzPct val="100000"/>
              <a:buFont typeface="Times New Roman"/>
              <a:buChar char="●"/>
            </a:pPr>
            <a:r>
              <a:rPr lang="en" sz="9600">
                <a:latin typeface="Times New Roman"/>
                <a:ea typeface="Times New Roman"/>
                <a:cs typeface="Times New Roman"/>
                <a:sym typeface="Times New Roman"/>
              </a:rPr>
              <a:t>Parenting training and workshops.</a:t>
            </a:r>
            <a:endParaRPr sz="9600">
              <a:latin typeface="Times New Roman"/>
              <a:ea typeface="Times New Roman"/>
              <a:cs typeface="Times New Roman"/>
              <a:sym typeface="Times New Roman"/>
            </a:endParaRPr>
          </a:p>
          <a:p>
            <a:pPr marL="457200" lvl="0" indent="-381000" algn="l" rtl="0">
              <a:lnSpc>
                <a:spcPct val="115000"/>
              </a:lnSpc>
              <a:spcBef>
                <a:spcPts val="0"/>
              </a:spcBef>
              <a:spcAft>
                <a:spcPts val="0"/>
              </a:spcAft>
              <a:buSzPct val="100000"/>
              <a:buFont typeface="Times New Roman"/>
              <a:buChar char="●"/>
            </a:pPr>
            <a:r>
              <a:rPr lang="en" sz="9600">
                <a:latin typeface="Times New Roman"/>
                <a:ea typeface="Times New Roman"/>
                <a:cs typeface="Times New Roman"/>
                <a:sym typeface="Times New Roman"/>
              </a:rPr>
              <a:t>https://www.toronto.ca</a:t>
            </a:r>
            <a:endParaRPr sz="9600">
              <a:latin typeface="Times New Roman"/>
              <a:ea typeface="Times New Roman"/>
              <a:cs typeface="Times New Roman"/>
              <a:sym typeface="Times New Roman"/>
            </a:endParaRPr>
          </a:p>
          <a:p>
            <a:pPr marL="0" lvl="0" indent="0" algn="l" rtl="0">
              <a:lnSpc>
                <a:spcPct val="115000"/>
              </a:lnSpc>
              <a:spcBef>
                <a:spcPts val="1200"/>
              </a:spcBef>
              <a:spcAft>
                <a:spcPts val="0"/>
              </a:spcAft>
              <a:buSzPct val="58333"/>
              <a:buNone/>
            </a:pPr>
            <a:r>
              <a:rPr lang="en" sz="9600">
                <a:latin typeface="Times New Roman"/>
                <a:ea typeface="Times New Roman"/>
                <a:cs typeface="Times New Roman"/>
                <a:sym typeface="Times New Roman"/>
              </a:rPr>
              <a:t>Video:</a:t>
            </a:r>
            <a:endParaRPr sz="9600">
              <a:latin typeface="Times New Roman"/>
              <a:ea typeface="Times New Roman"/>
              <a:cs typeface="Times New Roman"/>
              <a:sym typeface="Times New Roman"/>
            </a:endParaRPr>
          </a:p>
          <a:p>
            <a:pPr marL="457200" lvl="0" indent="-381000" algn="l" rtl="0">
              <a:lnSpc>
                <a:spcPct val="115000"/>
              </a:lnSpc>
              <a:spcBef>
                <a:spcPts val="1200"/>
              </a:spcBef>
              <a:spcAft>
                <a:spcPts val="0"/>
              </a:spcAft>
              <a:buSzPct val="100000"/>
              <a:buFont typeface="Times New Roman"/>
              <a:buChar char="●"/>
            </a:pPr>
            <a:r>
              <a:rPr lang="en" sz="9600">
                <a:latin typeface="Times New Roman"/>
                <a:ea typeface="Times New Roman"/>
                <a:cs typeface="Times New Roman"/>
                <a:sym typeface="Times New Roman"/>
              </a:rPr>
              <a:t>How to Deal with Sibling Rivalry (YouTube).</a:t>
            </a:r>
            <a:endParaRPr sz="9600">
              <a:latin typeface="Times New Roman"/>
              <a:ea typeface="Times New Roman"/>
              <a:cs typeface="Times New Roman"/>
              <a:sym typeface="Times New Roman"/>
            </a:endParaRPr>
          </a:p>
          <a:p>
            <a:pPr marL="457200" lvl="0" indent="-250825" algn="l" rtl="0">
              <a:lnSpc>
                <a:spcPct val="115000"/>
              </a:lnSpc>
              <a:spcBef>
                <a:spcPts val="0"/>
              </a:spcBef>
              <a:spcAft>
                <a:spcPts val="0"/>
              </a:spcAft>
              <a:buSzPts val="350"/>
              <a:buFont typeface="Times New Roman"/>
              <a:buChar char="●"/>
            </a:pPr>
            <a:r>
              <a:rPr lang="en" sz="9600">
                <a:latin typeface="Times New Roman"/>
                <a:ea typeface="Times New Roman"/>
                <a:cs typeface="Times New Roman"/>
                <a:sym typeface="Times New Roman"/>
              </a:rPr>
              <a:t>Describes family causes and strategies</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0" lvl="0" indent="0" algn="l" rtl="0">
              <a:lnSpc>
                <a:spcPct val="115000"/>
              </a:lnSpc>
              <a:spcBef>
                <a:spcPts val="1200"/>
              </a:spcBef>
              <a:spcAft>
                <a:spcPts val="0"/>
              </a:spcAft>
              <a:buSzPts val="1400"/>
              <a:buNone/>
            </a:pPr>
            <a:endParaRPr>
              <a:latin typeface="Times New Roman"/>
              <a:ea typeface="Times New Roman"/>
              <a:cs typeface="Times New Roman"/>
              <a:sym typeface="Times New Roman"/>
            </a:endParaRPr>
          </a:p>
          <a:p>
            <a:pPr marL="0" lvl="0" indent="0" algn="l" rtl="0">
              <a:lnSpc>
                <a:spcPct val="115000"/>
              </a:lnSpc>
              <a:spcBef>
                <a:spcPts val="1200"/>
              </a:spcBef>
              <a:spcAft>
                <a:spcPts val="1200"/>
              </a:spcAft>
              <a:buSzPts val="140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7"/>
          <p:cNvSpPr txBox="1">
            <a:spLocks noGrp="1"/>
          </p:cNvSpPr>
          <p:nvPr>
            <p:ph type="title"/>
          </p:nvPr>
        </p:nvSpPr>
        <p:spPr>
          <a:xfrm>
            <a:off x="311700" y="2"/>
            <a:ext cx="8520600" cy="1576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400"/>
              <a:t>References</a:t>
            </a:r>
            <a:r>
              <a:rPr lang="en" sz="1400"/>
              <a:t> </a:t>
            </a:r>
            <a:endParaRPr sz="1400"/>
          </a:p>
          <a:p>
            <a:pPr marL="457200" lvl="0" indent="-317500" algn="l" rtl="0">
              <a:lnSpc>
                <a:spcPct val="100000"/>
              </a:lnSpc>
              <a:spcBef>
                <a:spcPts val="0"/>
              </a:spcBef>
              <a:spcAft>
                <a:spcPts val="0"/>
              </a:spcAft>
              <a:buSzPts val="1400"/>
              <a:buChar char="●"/>
            </a:pPr>
            <a:r>
              <a:rPr lang="en" sz="1400"/>
              <a:t>Fitri, R. A., &amp; Erwinda, L. (2024). The influence of toxic parenting on sibling rivalry among high school students. Journal of Counseling and Educational Research, 1(2), 91–98. https://doi.org/10.63203/jcerch.v1i2.120</a:t>
            </a:r>
            <a:endParaRPr sz="1400"/>
          </a:p>
          <a:p>
            <a:pPr marL="457200" lvl="0" indent="-317500" algn="l" rtl="0">
              <a:lnSpc>
                <a:spcPct val="100000"/>
              </a:lnSpc>
              <a:spcBef>
                <a:spcPts val="0"/>
              </a:spcBef>
              <a:spcAft>
                <a:spcPts val="0"/>
              </a:spcAft>
              <a:buSzPts val="1400"/>
              <a:buChar char="●"/>
            </a:pPr>
            <a:r>
              <a:rPr lang="en" sz="1400"/>
              <a:t>Holmes, M. R., O’Donnell, K. A., Lovato, K., Kramer, L., Korsch-Williams, A. E., Herceg, A. E., &amp; Stephens, S. O. (2024). Exploring sibling relationship quality among Latinx siblings: A systematic review. Behavioral Sciences, 14(7), 624. https://doi.org/10.3390/bs14070624</a:t>
            </a:r>
            <a:endParaRPr sz="1400"/>
          </a:p>
          <a:p>
            <a:pPr marL="457200" lvl="0" indent="-317500" algn="l" rtl="0">
              <a:lnSpc>
                <a:spcPct val="100000"/>
              </a:lnSpc>
              <a:spcBef>
                <a:spcPts val="0"/>
              </a:spcBef>
              <a:spcAft>
                <a:spcPts val="0"/>
              </a:spcAft>
              <a:buSzPts val="1400"/>
              <a:buChar char="●"/>
            </a:pPr>
            <a:r>
              <a:rPr lang="en" sz="1400"/>
              <a:t>Kpea, K. C. (2026). Sibling rivalry in dysfunctional families and its toll on maternal mental health: A scoping review. Discover Public Health, 23, 214. https://doi.org/10.1186/s12982-026-01552-7</a:t>
            </a:r>
            <a:endParaRPr sz="1400"/>
          </a:p>
          <a:p>
            <a:pPr marL="457200" lvl="0" indent="-317500" algn="l" rtl="0">
              <a:lnSpc>
                <a:spcPct val="100000"/>
              </a:lnSpc>
              <a:spcBef>
                <a:spcPts val="0"/>
              </a:spcBef>
              <a:spcAft>
                <a:spcPts val="0"/>
              </a:spcAft>
              <a:buSzPts val="1400"/>
              <a:buChar char="●"/>
            </a:pPr>
            <a:r>
              <a:rPr lang="en" sz="1400"/>
              <a:t>Rebar, D., Bailey, N. W., Jarrett, B. J. M., &amp; Kilner, R. M. (2020). An evolutionary switch from sibling rivalry to sibling cooperation, caused by a sustained loss of parental care. Proceedings of the National Academy of Sciences, 117(5), 2544–2550. https://doi.org/10.1073/pnas.1911677117⁠�</a:t>
            </a:r>
            <a:endParaRPr sz="1400"/>
          </a:p>
          <a:p>
            <a:pPr marL="457200" lvl="0" indent="-317500" algn="l" rtl="0">
              <a:lnSpc>
                <a:spcPct val="100000"/>
              </a:lnSpc>
              <a:spcBef>
                <a:spcPts val="0"/>
              </a:spcBef>
              <a:spcAft>
                <a:spcPts val="0"/>
              </a:spcAft>
              <a:buSzPts val="1400"/>
              <a:buChar char="●"/>
            </a:pPr>
            <a:r>
              <a:rPr lang="en" sz="1400"/>
              <a:t>Reghintovschi, S. (2025). The unconscious sibling rivalry in psychoanalytic institutions. Frontiers in Psychology, 15, 1510824. https://doi.org/10.3389/fpsyg.2024.1510824</a:t>
            </a:r>
            <a:endParaRPr sz="1400"/>
          </a:p>
          <a:p>
            <a:pPr marL="457200" lvl="0" indent="-317500" algn="l" rtl="0">
              <a:lnSpc>
                <a:spcPct val="100000"/>
              </a:lnSpc>
              <a:spcBef>
                <a:spcPts val="0"/>
              </a:spcBef>
              <a:spcAft>
                <a:spcPts val="0"/>
              </a:spcAft>
              <a:buSzPts val="1400"/>
              <a:buChar char="●"/>
            </a:pPr>
            <a:r>
              <a:rPr lang="en" sz="1400"/>
              <a:t>Suresh, J., &amp; Chandran, N. (2020). Sibling rivalry: An under-rated entity of the little minds? International Journal of Indian Psychology. https://doi.org/10.25215/0803.069</a:t>
            </a:r>
            <a:endParaRPr sz="1400"/>
          </a:p>
          <a:p>
            <a:pPr marL="457200" lvl="0" indent="-317500" algn="l" rtl="0">
              <a:lnSpc>
                <a:spcPct val="100000"/>
              </a:lnSpc>
              <a:spcBef>
                <a:spcPts val="0"/>
              </a:spcBef>
              <a:spcAft>
                <a:spcPts val="0"/>
              </a:spcAft>
              <a:buSzPts val="1400"/>
              <a:buChar char="●"/>
            </a:pPr>
            <a:r>
              <a:rPr lang="en" sz="1400"/>
              <a:t>Trew, S. (2025). Close relationships despite the challenges: Sibling relationships and autism. Journal of Autism and Developmental Disorders, 55, 2989–3001. https://doi.org/10.1007/s10803-024-06412-4</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1"/>
          <p:cNvSpPr txBox="1">
            <a:spLocks noGrp="1"/>
          </p:cNvSpPr>
          <p:nvPr>
            <p:ph type="title"/>
          </p:nvPr>
        </p:nvSpPr>
        <p:spPr>
          <a:xfrm>
            <a:off x="555100" y="-68400"/>
            <a:ext cx="7842300" cy="149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100"/>
              <a:t>Group Contributions</a:t>
            </a:r>
            <a:endParaRPr sz="4100"/>
          </a:p>
        </p:txBody>
      </p:sp>
      <p:sp>
        <p:nvSpPr>
          <p:cNvPr id="256" name="Google Shape;256;p41"/>
          <p:cNvSpPr txBox="1"/>
          <p:nvPr/>
        </p:nvSpPr>
        <p:spPr>
          <a:xfrm>
            <a:off x="898000" y="1053000"/>
            <a:ext cx="7499400" cy="4090500"/>
          </a:xfrm>
          <a:prstGeom prst="rect">
            <a:avLst/>
          </a:prstGeom>
          <a:noFill/>
          <a:ln>
            <a:noFill/>
          </a:ln>
        </p:spPr>
        <p:txBody>
          <a:bodyPr spcFirstLastPara="1" wrap="square" lIns="91425" tIns="91425" rIns="91425" bIns="91425" anchor="t" anchorCtr="0">
            <a:spAutoFit/>
          </a:bodyPr>
          <a:lstStyle/>
          <a:p>
            <a:pPr marL="177800" lvl="0" indent="-177800" algn="l" rtl="0">
              <a:lnSpc>
                <a:spcPct val="115000"/>
              </a:lnSpc>
              <a:spcBef>
                <a:spcPts val="1400"/>
              </a:spcBef>
              <a:spcAft>
                <a:spcPts val="0"/>
              </a:spcAft>
              <a:buClr>
                <a:schemeClr val="lt2"/>
              </a:buClr>
              <a:buSzPts val="1100"/>
              <a:buFont typeface="Arial"/>
              <a:buNone/>
            </a:pPr>
            <a:r>
              <a:rPr lang="en" sz="3000">
                <a:solidFill>
                  <a:schemeClr val="dk1"/>
                </a:solidFill>
                <a:latin typeface="Times New Roman"/>
                <a:ea typeface="Times New Roman"/>
                <a:cs typeface="Times New Roman"/>
                <a:sym typeface="Times New Roman"/>
              </a:rPr>
              <a:t>[Name]: Slides 1–3, research</a:t>
            </a:r>
            <a:endParaRPr sz="3000">
              <a:solidFill>
                <a:schemeClr val="dk1"/>
              </a:solidFill>
              <a:latin typeface="Times New Roman"/>
              <a:ea typeface="Times New Roman"/>
              <a:cs typeface="Times New Roman"/>
              <a:sym typeface="Times New Roman"/>
            </a:endParaRPr>
          </a:p>
          <a:p>
            <a:pPr marL="177800" lvl="0" indent="-177800" algn="l" rtl="0">
              <a:lnSpc>
                <a:spcPct val="115000"/>
              </a:lnSpc>
              <a:spcBef>
                <a:spcPts val="1400"/>
              </a:spcBef>
              <a:spcAft>
                <a:spcPts val="0"/>
              </a:spcAft>
              <a:buClr>
                <a:schemeClr val="lt2"/>
              </a:buClr>
              <a:buSzPts val="1100"/>
              <a:buFont typeface="Arial"/>
              <a:buNone/>
            </a:pPr>
            <a:r>
              <a:rPr lang="en" sz="3000">
                <a:solidFill>
                  <a:schemeClr val="dk1"/>
                </a:solidFill>
                <a:latin typeface="Times New Roman"/>
                <a:ea typeface="Times New Roman"/>
                <a:cs typeface="Times New Roman"/>
                <a:sym typeface="Times New Roman"/>
              </a:rPr>
              <a:t>[Name]: Slides 4–6, research</a:t>
            </a:r>
            <a:endParaRPr sz="3000">
              <a:solidFill>
                <a:schemeClr val="dk1"/>
              </a:solidFill>
              <a:latin typeface="Times New Roman"/>
              <a:ea typeface="Times New Roman"/>
              <a:cs typeface="Times New Roman"/>
              <a:sym typeface="Times New Roman"/>
            </a:endParaRPr>
          </a:p>
          <a:p>
            <a:pPr marL="177800" lvl="0" indent="-177800" algn="l" rtl="0">
              <a:lnSpc>
                <a:spcPct val="115000"/>
              </a:lnSpc>
              <a:spcBef>
                <a:spcPts val="1400"/>
              </a:spcBef>
              <a:spcAft>
                <a:spcPts val="0"/>
              </a:spcAft>
              <a:buClr>
                <a:schemeClr val="lt2"/>
              </a:buClr>
              <a:buSzPts val="1100"/>
              <a:buFont typeface="Arial"/>
              <a:buNone/>
            </a:pPr>
            <a:r>
              <a:rPr lang="en" sz="3000">
                <a:solidFill>
                  <a:schemeClr val="dk1"/>
                </a:solidFill>
                <a:latin typeface="Times New Roman"/>
                <a:ea typeface="Times New Roman"/>
                <a:cs typeface="Times New Roman"/>
                <a:sym typeface="Times New Roman"/>
              </a:rPr>
              <a:t>[Name]: Slides 7–8, editing &amp; design</a:t>
            </a:r>
            <a:endParaRPr sz="3000">
              <a:solidFill>
                <a:schemeClr val="dk1"/>
              </a:solidFill>
              <a:latin typeface="Times New Roman"/>
              <a:ea typeface="Times New Roman"/>
              <a:cs typeface="Times New Roman"/>
              <a:sym typeface="Times New Roman"/>
            </a:endParaRPr>
          </a:p>
          <a:p>
            <a:pPr marL="177800" lvl="0" indent="-177800" algn="l" rtl="0">
              <a:lnSpc>
                <a:spcPct val="115000"/>
              </a:lnSpc>
              <a:spcBef>
                <a:spcPts val="1400"/>
              </a:spcBef>
              <a:spcAft>
                <a:spcPts val="0"/>
              </a:spcAft>
              <a:buClr>
                <a:schemeClr val="lt2"/>
              </a:buClr>
              <a:buSzPts val="1100"/>
              <a:buFont typeface="Arial"/>
              <a:buNone/>
            </a:pPr>
            <a:r>
              <a:rPr lang="en" sz="3000">
                <a:solidFill>
                  <a:schemeClr val="dk1"/>
                </a:solidFill>
                <a:latin typeface="Times New Roman"/>
                <a:ea typeface="Times New Roman"/>
                <a:cs typeface="Times New Roman"/>
                <a:sym typeface="Times New Roman"/>
              </a:rPr>
              <a:t>Recording was equally the contribution of all members.</a:t>
            </a:r>
            <a:endParaRPr sz="3000">
              <a:solidFill>
                <a:schemeClr val="dk1"/>
              </a:solidFill>
              <a:latin typeface="Times New Roman"/>
              <a:ea typeface="Times New Roman"/>
              <a:cs typeface="Times New Roman"/>
              <a:sym typeface="Times New Roman"/>
            </a:endParaRPr>
          </a:p>
          <a:p>
            <a:pPr marL="177800" lvl="0" indent="-177800" algn="l" rtl="0">
              <a:lnSpc>
                <a:spcPct val="115000"/>
              </a:lnSpc>
              <a:spcBef>
                <a:spcPts val="1400"/>
              </a:spcBef>
              <a:spcAft>
                <a:spcPts val="1400"/>
              </a:spcAft>
              <a:buClr>
                <a:schemeClr val="lt2"/>
              </a:buClr>
              <a:buSzPts val="1100"/>
              <a:buFont typeface="Arial"/>
              <a:buNone/>
            </a:pPr>
            <a:endParaRPr sz="30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Film Burn</Template>
  <TotalTime>0</TotalTime>
  <Words>1131</Words>
  <Application>Microsoft Office PowerPoint</Application>
  <PresentationFormat>On-screen Show (16:9)</PresentationFormat>
  <Paragraphs>65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Neue Haas Grotesk Text Pro</vt:lpstr>
      <vt:lpstr>Roboto</vt:lpstr>
      <vt:lpstr>Roboto Serif</vt:lpstr>
      <vt:lpstr>Times New Roman</vt:lpstr>
      <vt:lpstr>Film Burn</vt:lpstr>
      <vt:lpstr>PowerPoint Presentation</vt:lpstr>
      <vt:lpstr>PowerPoint Presentation</vt:lpstr>
      <vt:lpstr>The causes and effects of Sibling Rivalry  Age differences Personality differences Parenting styles Effects: Aggression or conflict Low self-esteem Development of social skills   </vt:lpstr>
      <vt:lpstr>Strategies for Educators </vt:lpstr>
      <vt:lpstr>Children’s Books  Teach conflict resolution skills Encourage communication and emotional expression Support each child’s individuality Fitri and Erwinda (2024).</vt:lpstr>
      <vt:lpstr>Community Resources (Toronto) </vt:lpstr>
      <vt:lpstr>References  Fitri, R. A., &amp; Erwinda, L. (2024). The influence of toxic parenting on sibling rivalry among high school students. Journal of Counseling and Educational Research, 1(2), 91–98. https://doi.org/10.63203/jcerch.v1i2.120 Holmes, M. R., O’Donnell, K. A., Lovato, K., Kramer, L., Korsch-Williams, A. E., Herceg, A. E., &amp; Stephens, S. O. (2024). Exploring sibling relationship quality among Latinx siblings: A systematic review. Behavioral Sciences, 14(7), 624. https://doi.org/10.3390/bs14070624 Kpea, K. C. (2026). Sibling rivalry in dysfunctional families and its toll on maternal mental health: A scoping review. Discover Public Health, 23, 214. https://doi.org/10.1186/s12982-026-01552-7 Rebar, D., Bailey, N. W., Jarrett, B. J. M., &amp; Kilner, R. M. (2020). An evolutionary switch from sibling rivalry to sibling cooperation, caused by a sustained loss of parental care. Proceedings of the National Academy of Sciences, 117(5), 2544–2550. https://doi.org/10.1073/pnas.1911677117⁠� Reghintovschi, S. (2025). The unconscious sibling rivalry in psychoanalytic institutions. Frontiers in Psychology, 15, 1510824. https://doi.org/10.3389/fpsyg.2024.1510824 Suresh, J., &amp; Chandran, N. (2020). Sibling rivalry: An under-rated entity of the little minds? International Journal of Indian Psychology. https://doi.org/10.25215/0803.069 Trew, S. (2025). Close relationships despite the challenges: Sibling relationships and autism. Journal of Autism and Developmental Disorders, 55, 2989–3001. https://doi.org/10.1007/s10803-024-06412-4</vt:lpstr>
      <vt:lpstr>Group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HomePC</cp:lastModifiedBy>
  <cp:revision>1</cp:revision>
  <dcterms:modified xsi:type="dcterms:W3CDTF">2026-09-19T12:39:59Z</dcterms:modified>
</cp:coreProperties>
</file>