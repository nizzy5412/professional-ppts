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Candal" panose="020B0604020202020204" charset="0"/>
      <p:regular r:id="rId4"/>
    </p:embeddedFont>
    <p:embeddedFont>
      <p:font typeface="Glacial Indifference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3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3723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74249" y="-73529"/>
            <a:ext cx="3316526" cy="2972095"/>
          </a:xfrm>
          <a:custGeom>
            <a:avLst/>
            <a:gdLst/>
            <a:ahLst/>
            <a:cxnLst/>
            <a:rect l="l" t="t" r="r" b="b"/>
            <a:pathLst>
              <a:path w="3316526" h="2972095">
                <a:moveTo>
                  <a:pt x="0" y="0"/>
                </a:moveTo>
                <a:lnTo>
                  <a:pt x="3316526" y="0"/>
                </a:lnTo>
                <a:lnTo>
                  <a:pt x="3316526" y="2972095"/>
                </a:lnTo>
                <a:lnTo>
                  <a:pt x="0" y="29720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2098" y="2730143"/>
            <a:ext cx="13189831" cy="6521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Chinese verb-result (V-R) structures demonstrate how to combine an action and its result together in a single sentence.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conforms to the concept of conflation of events by Talmy in which various sections of an event are merging into one.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 these structures:</a:t>
            </a:r>
          </a:p>
          <a:p>
            <a:pPr marL="1148080" lvl="2" indent="-457200" algn="just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verb shows the action</a:t>
            </a:r>
          </a:p>
          <a:p>
            <a:pPr marL="1148080" lvl="2" indent="-457200" algn="just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complement shows the result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Most of our examples involve state change or realization, where an action leads to a clear outcome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Compared with English:</a:t>
            </a:r>
          </a:p>
          <a:p>
            <a:pPr marL="1148080" lvl="2" indent="-457200" algn="just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Chinese is more strongly satellite-framed, so the result is clearly expressed in the complement</a:t>
            </a:r>
          </a:p>
          <a:p>
            <a:pPr marL="1148080" lvl="2" indent="-457200" algn="just">
              <a:lnSpc>
                <a:spcPts val="3359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English is also satellite-framed, but less consistent and often separates the result</a:t>
            </a:r>
          </a:p>
          <a:p>
            <a:pPr algn="just">
              <a:lnSpc>
                <a:spcPts val="3359"/>
              </a:lnSpc>
            </a:pPr>
            <a:endParaRPr lang="en-US" sz="2800" dirty="0">
              <a:solidFill>
                <a:srgbClr val="34343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Freeform 5"/>
          <p:cNvSpPr/>
          <p:nvPr/>
        </p:nvSpPr>
        <p:spPr>
          <a:xfrm rot="-5400000">
            <a:off x="-2253471" y="5402126"/>
            <a:ext cx="5752212" cy="4017540"/>
          </a:xfrm>
          <a:custGeom>
            <a:avLst/>
            <a:gdLst/>
            <a:ahLst/>
            <a:cxnLst/>
            <a:rect l="l" t="t" r="r" b="b"/>
            <a:pathLst>
              <a:path w="6860854" h="6087449">
                <a:moveTo>
                  <a:pt x="0" y="0"/>
                </a:moveTo>
                <a:lnTo>
                  <a:pt x="6860854" y="0"/>
                </a:lnTo>
                <a:lnTo>
                  <a:pt x="6860854" y="6087449"/>
                </a:lnTo>
                <a:lnTo>
                  <a:pt x="0" y="60874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31079" y="-245745"/>
            <a:ext cx="4920951" cy="1906869"/>
          </a:xfrm>
          <a:custGeom>
            <a:avLst/>
            <a:gdLst/>
            <a:ahLst/>
            <a:cxnLst/>
            <a:rect l="l" t="t" r="r" b="b"/>
            <a:pathLst>
              <a:path w="4920951" h="1906869">
                <a:moveTo>
                  <a:pt x="0" y="0"/>
                </a:moveTo>
                <a:lnTo>
                  <a:pt x="4920951" y="0"/>
                </a:lnTo>
                <a:lnTo>
                  <a:pt x="4920951" y="1906869"/>
                </a:lnTo>
                <a:lnTo>
                  <a:pt x="0" y="1906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42589" y="6899916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0" y="0"/>
                </a:moveTo>
                <a:lnTo>
                  <a:pt x="4017541" y="0"/>
                </a:lnTo>
                <a:lnTo>
                  <a:pt x="4017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32280" y="456843"/>
            <a:ext cx="12385918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Conclusion: Chinese V-R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00106" y="895350"/>
            <a:ext cx="8559438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What This Shows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94962" y="2933700"/>
            <a:ext cx="11383238" cy="564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</a:t>
            </a:r>
            <a:r>
              <a:rPr lang="en-US" sz="2800" dirty="0" err="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fifference</a:t>
            </a: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between Chinese and the English do not lie in mere wording but shows the </a:t>
            </a:r>
            <a:r>
              <a:rPr lang="en-US" sz="2800" dirty="0" err="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waysof</a:t>
            </a: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arranging events in language.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Chinese V-R structures ease the integration of action and result into a compact form.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confirms the idea that languages take various patterns on how they organize events, as stated by Talmy.</a:t>
            </a:r>
          </a:p>
          <a:p>
            <a:pPr marL="518160" lvl="1" indent="-259080" algn="just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conclude:</a:t>
            </a:r>
          </a:p>
          <a:p>
            <a:pPr marL="1036320" lvl="2" indent="-345440" algn="just">
              <a:lnSpc>
                <a:spcPts val="3359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Chinese V-R = a clear example of state-change / realization event integration</a:t>
            </a:r>
          </a:p>
          <a:p>
            <a:pPr marL="1036320" lvl="2" indent="-345440" algn="just">
              <a:lnSpc>
                <a:spcPts val="3359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Chinese–English difference comes from different framing patterns</a:t>
            </a:r>
          </a:p>
          <a:p>
            <a:pPr marL="1036320" lvl="2" indent="-345440" algn="just">
              <a:lnSpc>
                <a:spcPts val="3359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structures show how languages organize meaning in different 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209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Glacial Indifference</vt:lpstr>
      <vt:lpstr>Arial</vt:lpstr>
      <vt:lpstr>Calibri</vt:lpstr>
      <vt:lpstr>Wingdings</vt:lpstr>
      <vt:lpstr>Candal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cp:lastModifiedBy>kelvin mwangi</cp:lastModifiedBy>
  <cp:revision>3</cp:revision>
  <dcterms:created xsi:type="dcterms:W3CDTF">2006-08-16T00:00:00Z</dcterms:created>
  <dcterms:modified xsi:type="dcterms:W3CDTF">2026-03-22T00:27:27Z</dcterms:modified>
  <dc:identifier>DAHEn8KGScU</dc:identifier>
</cp:coreProperties>
</file>