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6" r:id="rId9"/>
    <p:sldId id="267" r:id="rId10"/>
    <p:sldId id="268" r:id="rId11"/>
    <p:sldId id="270" r:id="rId12"/>
    <p:sldId id="269" r:id="rId13"/>
    <p:sldId id="271" r:id="rId14"/>
    <p:sldId id="273" r:id="rId15"/>
    <p:sldId id="272" r:id="rId16"/>
    <p:sldId id="274" r:id="rId17"/>
    <p:sldId id="263" r:id="rId18"/>
    <p:sldId id="275" r:id="rId19"/>
    <p:sldId id="264" r:id="rId20"/>
    <p:sldId id="265" r:id="rId21"/>
  </p:sldIdLst>
  <p:sldSz cx="18288000" cy="10287000"/>
  <p:notesSz cx="6858000" cy="9144000"/>
  <p:embeddedFontLst>
    <p:embeddedFont>
      <p:font typeface="Anantason Bold" panose="020B0604020202020204" charset="-34"/>
      <p:regular r:id="rId22"/>
    </p:embeddedFont>
    <p:embeddedFont>
      <p:font typeface="Montserrat" panose="00000500000000000000" pitchFamily="2" charset="0"/>
      <p:regular r:id="rId23"/>
      <p:bold r:id="rId24"/>
      <p:italic r:id="rId25"/>
      <p:boldItalic r:id="rId26"/>
    </p:embeddedFont>
    <p:embeddedFont>
      <p:font typeface="Montserrat Bold" panose="00000800000000000000" charset="0"/>
      <p:regular r:id="rId27"/>
    </p:embeddedFont>
    <p:embeddedFont>
      <p:font typeface="Open Sans" panose="020B0606030504020204" pitchFamily="34" charset="0"/>
      <p:regular r:id="rId28"/>
      <p:bold r:id="rId29"/>
    </p:embeddedFont>
    <p:embeddedFont>
      <p:font typeface="Open Sans Bold" panose="020B0806030504020204" charset="0"/>
      <p:regular r:id="rId30"/>
    </p:embeddedFont>
    <p:embeddedFont>
      <p:font typeface="Open Sans Italics"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636"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hyperlink" Target="http://www.puirp.com/index.php/research/article/view/17" TargetMode="External"/><Relationship Id="rId13" Type="http://schemas.openxmlformats.org/officeDocument/2006/relationships/hyperlink" Target="https://www.statista.com/statistics/266240/blackberry-revenue/?utm_source=chatgpt.com" TargetMode="External"/><Relationship Id="rId3" Type="http://schemas.openxmlformats.org/officeDocument/2006/relationships/image" Target="../media/image9.svg"/><Relationship Id="rId7" Type="http://schemas.openxmlformats.org/officeDocument/2006/relationships/hyperlink" Target="https://www.sunstar.com.ph/cebu/lifestyle/dissecting-the-rise-fall-of-blackberry" TargetMode="External"/><Relationship Id="rId12" Type="http://schemas.openxmlformats.org/officeDocument/2006/relationships/hyperlink" Target="https://www.emerald.com/jkm/article/doi/10.1108/JKM-03-2025-0425/1308888" TargetMode="External"/><Relationship Id="rId2" Type="http://schemas.openxmlformats.org/officeDocument/2006/relationships/image" Target="../media/image8.png"/><Relationship Id="rId16" Type="http://schemas.openxmlformats.org/officeDocument/2006/relationships/hyperlink" Target="https://link.springer.com/article/10.1007/s10664-024-10543-8" TargetMode="External"/><Relationship Id="rId1" Type="http://schemas.openxmlformats.org/officeDocument/2006/relationships/slideLayout" Target="../slideLayouts/slideLayout7.xml"/><Relationship Id="rId6" Type="http://schemas.openxmlformats.org/officeDocument/2006/relationships/hyperlink" Target="https://www.statista.com/topics/5316" TargetMode="External"/><Relationship Id="rId11" Type="http://schemas.openxmlformats.org/officeDocument/2006/relationships/hyperlink" Target="https://bmjopen.bmj.com/content/12/1/e051569.abstract" TargetMode="External"/><Relationship Id="rId5" Type="http://schemas.openxmlformats.org/officeDocument/2006/relationships/image" Target="../media/image5.svg"/><Relationship Id="rId15" Type="http://schemas.openxmlformats.org/officeDocument/2006/relationships/hyperlink" Target="https://humanfactors.jmir.org/2025/1/e69533/" TargetMode="External"/><Relationship Id="rId10" Type="http://schemas.openxmlformats.org/officeDocument/2006/relationships/hyperlink" Target="https://westminsterresearch.westminster.ac.uk/item/967yy/strategic-tensions-within-the-smartphones-industry-the-case-of-blackberry" TargetMode="External"/><Relationship Id="rId4" Type="http://schemas.openxmlformats.org/officeDocument/2006/relationships/image" Target="../media/image4.png"/><Relationship Id="rId9" Type="http://schemas.openxmlformats.org/officeDocument/2006/relationships/hyperlink" Target="https://www.reuters.com/technology/blackberry-forecasts-lower-annual-revenue-due-weak-demand-cybersecurity-services-2025-04-02/" TargetMode="External"/><Relationship Id="rId14" Type="http://schemas.openxmlformats.org/officeDocument/2006/relationships/hyperlink" Target="https://peerj.com/articles/cs-2401/"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4960"/>
            <a:ext cx="3187884" cy="2250383"/>
          </a:xfrm>
          <a:custGeom>
            <a:avLst/>
            <a:gdLst/>
            <a:ahLst/>
            <a:cxnLst/>
            <a:rect l="l" t="t" r="r" b="b"/>
            <a:pathLst>
              <a:path w="3187884" h="2250383">
                <a:moveTo>
                  <a:pt x="0" y="0"/>
                </a:moveTo>
                <a:lnTo>
                  <a:pt x="3187884" y="0"/>
                </a:lnTo>
                <a:lnTo>
                  <a:pt x="3187884" y="2250382"/>
                </a:lnTo>
                <a:lnTo>
                  <a:pt x="0" y="2250382"/>
                </a:lnTo>
                <a:lnTo>
                  <a:pt x="0" y="0"/>
                </a:lnTo>
                <a:close/>
              </a:path>
            </a:pathLst>
          </a:custGeom>
          <a:blipFill>
            <a:blip r:embed="rId2"/>
            <a:stretch>
              <a:fillRect t="-20266" b="-21392"/>
            </a:stretch>
          </a:blipFill>
        </p:spPr>
      </p:sp>
      <p:sp>
        <p:nvSpPr>
          <p:cNvPr id="3" name="Freeform 3"/>
          <p:cNvSpPr/>
          <p:nvPr/>
        </p:nvSpPr>
        <p:spPr>
          <a:xfrm>
            <a:off x="11924574" y="9258300"/>
            <a:ext cx="5778062" cy="991261"/>
          </a:xfrm>
          <a:custGeom>
            <a:avLst/>
            <a:gdLst/>
            <a:ahLst/>
            <a:cxnLst/>
            <a:rect l="l" t="t" r="r" b="b"/>
            <a:pathLst>
              <a:path w="5778062" h="991261">
                <a:moveTo>
                  <a:pt x="0" y="0"/>
                </a:moveTo>
                <a:lnTo>
                  <a:pt x="5778062" y="0"/>
                </a:lnTo>
                <a:lnTo>
                  <a:pt x="5778062" y="991261"/>
                </a:lnTo>
                <a:lnTo>
                  <a:pt x="0" y="991261"/>
                </a:lnTo>
                <a:lnTo>
                  <a:pt x="0" y="0"/>
                </a:lnTo>
                <a:close/>
              </a:path>
            </a:pathLst>
          </a:custGeom>
          <a:blipFill>
            <a:blip r:embed="rId3">
              <a:alphaModFix amt="31999"/>
            </a:blip>
            <a:stretch>
              <a:fillRect t="-232113" b="-250786"/>
            </a:stretch>
          </a:blipFill>
        </p:spPr>
      </p:sp>
      <p:sp>
        <p:nvSpPr>
          <p:cNvPr id="4" name="TextBox 4"/>
          <p:cNvSpPr txBox="1"/>
          <p:nvPr/>
        </p:nvSpPr>
        <p:spPr>
          <a:xfrm>
            <a:off x="1861949" y="2415343"/>
            <a:ext cx="15020184" cy="4359463"/>
          </a:xfrm>
          <a:prstGeom prst="rect">
            <a:avLst/>
          </a:prstGeom>
        </p:spPr>
        <p:txBody>
          <a:bodyPr lIns="0" tIns="0" rIns="0" bIns="0" rtlCol="0" anchor="t">
            <a:spAutoFit/>
          </a:bodyPr>
          <a:lstStyle/>
          <a:p>
            <a:pPr algn="ctr">
              <a:lnSpc>
                <a:spcPts val="17489"/>
              </a:lnSpc>
            </a:pPr>
            <a:r>
              <a:rPr lang="en-US" sz="12492" b="1" dirty="0">
                <a:solidFill>
                  <a:srgbClr val="000000"/>
                </a:solidFill>
                <a:latin typeface="Montserrat Bold"/>
                <a:ea typeface="Montserrat Bold"/>
                <a:cs typeface="Montserrat Bold"/>
                <a:sym typeface="Montserrat Bold"/>
              </a:rPr>
              <a:t>REINVIGORATING BLACKBERRY</a:t>
            </a:r>
          </a:p>
        </p:txBody>
      </p:sp>
      <p:sp>
        <p:nvSpPr>
          <p:cNvPr id="5" name="Freeform 5"/>
          <p:cNvSpPr/>
          <p:nvPr/>
        </p:nvSpPr>
        <p:spPr>
          <a:xfrm>
            <a:off x="15288191" y="164960"/>
            <a:ext cx="3187884" cy="2250383"/>
          </a:xfrm>
          <a:custGeom>
            <a:avLst/>
            <a:gdLst/>
            <a:ahLst/>
            <a:cxnLst/>
            <a:rect l="l" t="t" r="r" b="b"/>
            <a:pathLst>
              <a:path w="3187884" h="2250383">
                <a:moveTo>
                  <a:pt x="0" y="0"/>
                </a:moveTo>
                <a:lnTo>
                  <a:pt x="3187884" y="0"/>
                </a:lnTo>
                <a:lnTo>
                  <a:pt x="3187884" y="2250382"/>
                </a:lnTo>
                <a:lnTo>
                  <a:pt x="0" y="2250382"/>
                </a:lnTo>
                <a:lnTo>
                  <a:pt x="0" y="0"/>
                </a:lnTo>
                <a:close/>
              </a:path>
            </a:pathLst>
          </a:custGeom>
          <a:blipFill>
            <a:blip r:embed="rId2"/>
            <a:stretch>
              <a:fillRect t="-20266" b="-21392"/>
            </a:stretch>
          </a:blipFill>
        </p:spPr>
      </p:sp>
      <p:sp>
        <p:nvSpPr>
          <p:cNvPr id="6" name="Freeform 6"/>
          <p:cNvSpPr/>
          <p:nvPr/>
        </p:nvSpPr>
        <p:spPr>
          <a:xfrm>
            <a:off x="0" y="7645420"/>
            <a:ext cx="2641580" cy="2641580"/>
          </a:xfrm>
          <a:custGeom>
            <a:avLst/>
            <a:gdLst/>
            <a:ahLst/>
            <a:cxnLst/>
            <a:rect l="l" t="t" r="r" b="b"/>
            <a:pathLst>
              <a:path w="2641580" h="2641580">
                <a:moveTo>
                  <a:pt x="0" y="0"/>
                </a:moveTo>
                <a:lnTo>
                  <a:pt x="2641580" y="0"/>
                </a:lnTo>
                <a:lnTo>
                  <a:pt x="2641580" y="2641580"/>
                </a:lnTo>
                <a:lnTo>
                  <a:pt x="0" y="2641580"/>
                </a:lnTo>
                <a:lnTo>
                  <a:pt x="0" y="0"/>
                </a:lnTo>
                <a:close/>
              </a:path>
            </a:pathLst>
          </a:custGeom>
          <a:blipFill>
            <a:blip r:embed="rId4">
              <a:alphaModFix amt="13000"/>
            </a:blip>
            <a:stretch>
              <a:fillRect/>
            </a:stretch>
          </a:blipFill>
        </p:spPr>
      </p:sp>
      <p:sp>
        <p:nvSpPr>
          <p:cNvPr id="7" name="TextBox 7"/>
          <p:cNvSpPr txBox="1"/>
          <p:nvPr/>
        </p:nvSpPr>
        <p:spPr>
          <a:xfrm>
            <a:off x="2641580" y="6974425"/>
            <a:ext cx="8522150" cy="2784475"/>
          </a:xfrm>
          <a:prstGeom prst="rect">
            <a:avLst/>
          </a:prstGeom>
        </p:spPr>
        <p:txBody>
          <a:bodyPr lIns="0" tIns="0" rIns="0" bIns="0" rtlCol="0" anchor="t">
            <a:spAutoFit/>
          </a:bodyPr>
          <a:lstStyle/>
          <a:p>
            <a:pPr algn="l">
              <a:lnSpc>
                <a:spcPts val="5599"/>
              </a:lnSpc>
            </a:pPr>
            <a:r>
              <a:rPr lang="en-US" sz="3999" dirty="0">
                <a:solidFill>
                  <a:srgbClr val="000000"/>
                </a:solidFill>
                <a:latin typeface="Montserrat"/>
                <a:ea typeface="Montserrat"/>
                <a:cs typeface="Montserrat"/>
                <a:sym typeface="Montserrat"/>
              </a:rPr>
              <a:t>Student Names:</a:t>
            </a:r>
          </a:p>
          <a:p>
            <a:pPr algn="l">
              <a:lnSpc>
                <a:spcPts val="5599"/>
              </a:lnSpc>
            </a:pPr>
            <a:r>
              <a:rPr lang="en-US" sz="3999" dirty="0">
                <a:solidFill>
                  <a:srgbClr val="000000"/>
                </a:solidFill>
                <a:latin typeface="Montserrat"/>
                <a:ea typeface="Montserrat"/>
                <a:cs typeface="Montserrat"/>
                <a:sym typeface="Montserrat"/>
              </a:rPr>
              <a:t>Course Code:</a:t>
            </a:r>
          </a:p>
          <a:p>
            <a:pPr algn="l">
              <a:lnSpc>
                <a:spcPts val="5599"/>
              </a:lnSpc>
            </a:pPr>
            <a:r>
              <a:rPr lang="en-US" sz="3999" dirty="0">
                <a:solidFill>
                  <a:srgbClr val="000000"/>
                </a:solidFill>
                <a:latin typeface="Montserrat"/>
                <a:ea typeface="Montserrat"/>
                <a:cs typeface="Montserrat"/>
                <a:sym typeface="Montserrat"/>
              </a:rPr>
              <a:t>Instructor’s Name:</a:t>
            </a:r>
          </a:p>
          <a:p>
            <a:pPr algn="l">
              <a:lnSpc>
                <a:spcPts val="5599"/>
              </a:lnSpc>
            </a:pPr>
            <a:r>
              <a:rPr lang="en-US" sz="3999" dirty="0">
                <a:solidFill>
                  <a:srgbClr val="000000"/>
                </a:solidFill>
                <a:latin typeface="Montserrat"/>
                <a:ea typeface="Montserrat"/>
                <a:cs typeface="Montserrat"/>
                <a:sym typeface="Montserrat"/>
              </a:rPr>
              <a:t>Date:</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a:off x="-1652990" y="-3786997"/>
            <a:ext cx="5987226" cy="5998131"/>
          </a:xfrm>
          <a:custGeom>
            <a:avLst/>
            <a:gdLst/>
            <a:ahLst/>
            <a:cxnLst/>
            <a:rect l="l" t="t" r="r" b="b"/>
            <a:pathLst>
              <a:path w="5987226" h="5998131">
                <a:moveTo>
                  <a:pt x="0" y="0"/>
                </a:moveTo>
                <a:lnTo>
                  <a:pt x="5987226" y="0"/>
                </a:lnTo>
                <a:lnTo>
                  <a:pt x="5987226" y="5998131"/>
                </a:lnTo>
                <a:lnTo>
                  <a:pt x="0" y="599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8407" y="554038"/>
            <a:ext cx="14266052" cy="854075"/>
          </a:xfrm>
          <a:prstGeom prst="rect">
            <a:avLst/>
          </a:prstGeom>
        </p:spPr>
        <p:txBody>
          <a:bodyPr lIns="0" tIns="0" rIns="0" bIns="0" rtlCol="0" anchor="t">
            <a:spAutoFit/>
          </a:bodyPr>
          <a:lstStyle/>
          <a:p>
            <a:pPr algn="ctr">
              <a:lnSpc>
                <a:spcPts val="7000"/>
              </a:lnSpc>
            </a:pPr>
            <a:r>
              <a:rPr lang="en-US" sz="5000" b="1" dirty="0">
                <a:solidFill>
                  <a:srgbClr val="000000"/>
                </a:solidFill>
                <a:latin typeface="Montserrat Bold"/>
                <a:ea typeface="Montserrat Bold"/>
                <a:cs typeface="Montserrat Bold"/>
                <a:sym typeface="Montserrat Bold"/>
              </a:rPr>
              <a:t>COLORS, FONTS, AND BRAND GUIDELINES</a:t>
            </a:r>
          </a:p>
        </p:txBody>
      </p:sp>
      <p:sp>
        <p:nvSpPr>
          <p:cNvPr id="4" name="TextBox 4"/>
          <p:cNvSpPr txBox="1"/>
          <p:nvPr/>
        </p:nvSpPr>
        <p:spPr>
          <a:xfrm>
            <a:off x="2677096" y="1740007"/>
            <a:ext cx="14048674" cy="7781290"/>
          </a:xfrm>
          <a:prstGeom prst="rect">
            <a:avLst/>
          </a:prstGeom>
        </p:spPr>
        <p:txBody>
          <a:bodyPr lIns="0" tIns="0" rIns="0" bIns="0" rtlCol="0" anchor="t">
            <a:spAutoFit/>
          </a:bodyPr>
          <a:lstStyle/>
          <a:p>
            <a:pPr algn="just">
              <a:lnSpc>
                <a:spcPts val="4759"/>
              </a:lnSpc>
            </a:pPr>
            <a:r>
              <a:rPr lang="en-US" sz="3399" dirty="0">
                <a:solidFill>
                  <a:srgbClr val="000000"/>
                </a:solidFill>
                <a:latin typeface="Open Sans"/>
                <a:ea typeface="Open Sans"/>
                <a:cs typeface="Open Sans"/>
                <a:sym typeface="Open Sans"/>
              </a:rPr>
              <a:t>Colors, Fonts, and Brand Guidelines</a:t>
            </a:r>
          </a:p>
          <a:p>
            <a:pPr marL="734058" lvl="1" indent="-367029" algn="just">
              <a:lnSpc>
                <a:spcPts val="4759"/>
              </a:lnSpc>
              <a:buFont typeface="Arial"/>
              <a:buChar char="•"/>
            </a:pPr>
            <a:r>
              <a:rPr lang="en-US" sz="3399" b="1" dirty="0">
                <a:solidFill>
                  <a:srgbClr val="000000"/>
                </a:solidFill>
                <a:latin typeface="Open Sans Bold"/>
                <a:ea typeface="Open Sans Bold"/>
                <a:cs typeface="Open Sans Bold"/>
                <a:sym typeface="Open Sans Bold"/>
              </a:rPr>
              <a:t>Primary Colors: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Black </a:t>
            </a:r>
            <a:r>
              <a:rPr lang="en-US" sz="3399" dirty="0">
                <a:solidFill>
                  <a:srgbClr val="E01A72"/>
                </a:solidFill>
                <a:latin typeface="Open Sans"/>
                <a:ea typeface="Open Sans"/>
                <a:cs typeface="Open Sans"/>
                <a:sym typeface="Open Sans"/>
              </a:rPr>
              <a:t>(#000000)</a:t>
            </a:r>
            <a:r>
              <a:rPr lang="en-US" sz="3399" dirty="0">
                <a:solidFill>
                  <a:srgbClr val="000000"/>
                </a:solidFill>
                <a:latin typeface="Open Sans"/>
                <a:ea typeface="Open Sans"/>
                <a:cs typeface="Open Sans"/>
                <a:sym typeface="Open Sans"/>
              </a:rPr>
              <a:t> – Represents security and legacy heritage</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Magenta </a:t>
            </a:r>
            <a:r>
              <a:rPr lang="en-US" sz="3399" dirty="0">
                <a:solidFill>
                  <a:srgbClr val="E01A72"/>
                </a:solidFill>
                <a:latin typeface="Open Sans"/>
                <a:ea typeface="Open Sans"/>
                <a:cs typeface="Open Sans"/>
                <a:sym typeface="Open Sans"/>
              </a:rPr>
              <a:t>(#E01A72)</a:t>
            </a:r>
            <a:r>
              <a:rPr lang="en-US" sz="3399" dirty="0">
                <a:solidFill>
                  <a:srgbClr val="000000"/>
                </a:solidFill>
                <a:latin typeface="Open Sans"/>
                <a:ea typeface="Open Sans"/>
                <a:cs typeface="Open Sans"/>
                <a:sym typeface="Open Sans"/>
              </a:rPr>
              <a:t> – BlackBerry official accent</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White </a:t>
            </a:r>
            <a:r>
              <a:rPr lang="en-US" sz="3399" dirty="0">
                <a:solidFill>
                  <a:srgbClr val="E01A72"/>
                </a:solidFill>
                <a:latin typeface="Open Sans"/>
                <a:ea typeface="Open Sans"/>
                <a:cs typeface="Open Sans"/>
                <a:sym typeface="Open Sans"/>
              </a:rPr>
              <a:t>(#FFFFFF)</a:t>
            </a:r>
            <a:r>
              <a:rPr lang="en-US" sz="3399" dirty="0">
                <a:solidFill>
                  <a:srgbClr val="000000"/>
                </a:solidFill>
                <a:latin typeface="Open Sans"/>
                <a:ea typeface="Open Sans"/>
                <a:cs typeface="Open Sans"/>
                <a:sym typeface="Open Sans"/>
              </a:rPr>
              <a:t> – Clean and modern background</a:t>
            </a:r>
          </a:p>
          <a:p>
            <a:pPr marL="734058" lvl="1" indent="-367029" algn="just">
              <a:lnSpc>
                <a:spcPts val="4759"/>
              </a:lnSpc>
              <a:buFont typeface="Arial"/>
              <a:buChar char="•"/>
            </a:pPr>
            <a:r>
              <a:rPr lang="en-US" sz="3399" b="1" dirty="0">
                <a:solidFill>
                  <a:srgbClr val="000000"/>
                </a:solidFill>
                <a:latin typeface="Open Sans Bold"/>
                <a:ea typeface="Open Sans Bold"/>
                <a:cs typeface="Open Sans Bold"/>
                <a:sym typeface="Open Sans Bold"/>
              </a:rPr>
              <a:t>Fonts: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Title &amp; Headings: Montserrat</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Body Text: Open Sans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Consistency: Use bold for emphasis, avoid decorative fonts</a:t>
            </a:r>
          </a:p>
          <a:p>
            <a:pPr marL="734058" lvl="1" indent="-367029" algn="just">
              <a:lnSpc>
                <a:spcPts val="4759"/>
              </a:lnSpc>
              <a:buFont typeface="Arial"/>
              <a:buChar char="•"/>
            </a:pPr>
            <a:r>
              <a:rPr lang="en-US" sz="3399" b="1" dirty="0">
                <a:solidFill>
                  <a:srgbClr val="000000"/>
                </a:solidFill>
                <a:latin typeface="Open Sans Bold"/>
                <a:ea typeface="Open Sans Bold"/>
                <a:cs typeface="Open Sans Bold"/>
                <a:sym typeface="Open Sans Bold"/>
              </a:rPr>
              <a:t>Brand Guidelines: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Minimal, balanced slides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High-quality visuals</a:t>
            </a:r>
          </a:p>
          <a:p>
            <a:pPr marL="1468116" lvl="2" indent="-489372" algn="just">
              <a:lnSpc>
                <a:spcPts val="4759"/>
              </a:lnSpc>
              <a:buFont typeface="Arial"/>
              <a:buChar char="⚬"/>
            </a:pPr>
            <a:r>
              <a:rPr lang="en-US" sz="3399" dirty="0">
                <a:solidFill>
                  <a:srgbClr val="000000"/>
                </a:solidFill>
                <a:latin typeface="Open Sans"/>
                <a:ea typeface="Open Sans"/>
                <a:cs typeface="Open Sans"/>
                <a:sym typeface="Open Sans"/>
              </a:rPr>
              <a:t>Clear hierarchy of text</a:t>
            </a:r>
          </a:p>
        </p:txBody>
      </p:sp>
      <p:sp>
        <p:nvSpPr>
          <p:cNvPr id="5" name="Freeform 5"/>
          <p:cNvSpPr/>
          <p:nvPr/>
        </p:nvSpPr>
        <p:spPr>
          <a:xfrm rot="7488824">
            <a:off x="17178162" y="-1873476"/>
            <a:ext cx="3071030" cy="5804353"/>
          </a:xfrm>
          <a:custGeom>
            <a:avLst/>
            <a:gdLst/>
            <a:ahLst/>
            <a:cxnLst/>
            <a:rect l="l" t="t" r="r" b="b"/>
            <a:pathLst>
              <a:path w="3071030" h="5804353">
                <a:moveTo>
                  <a:pt x="0" y="0"/>
                </a:moveTo>
                <a:lnTo>
                  <a:pt x="3071030" y="0"/>
                </a:lnTo>
                <a:lnTo>
                  <a:pt x="3071030" y="5804352"/>
                </a:lnTo>
                <a:lnTo>
                  <a:pt x="0" y="58043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6"/>
            <a:stretch>
              <a:fillRect t="-20266" b="-21392"/>
            </a:stretch>
          </a:blipFill>
        </p:spPr>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flipH="1" flipV="1">
            <a:off x="12294454" y="6858930"/>
            <a:ext cx="5987226" cy="599813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585649" y="2055305"/>
            <a:ext cx="12942721" cy="1642110"/>
          </a:xfrm>
          <a:prstGeom prst="rect">
            <a:avLst/>
          </a:prstGeom>
        </p:spPr>
        <p:txBody>
          <a:bodyPr lIns="0" tIns="0" rIns="0" bIns="0" rtlCol="0" anchor="t">
            <a:spAutoFit/>
          </a:bodyPr>
          <a:lstStyle/>
          <a:p>
            <a:pPr algn="ctr">
              <a:lnSpc>
                <a:spcPts val="13439"/>
              </a:lnSpc>
            </a:pPr>
            <a:r>
              <a:rPr lang="en-US" sz="9600" b="1">
                <a:solidFill>
                  <a:srgbClr val="000000"/>
                </a:solidFill>
                <a:latin typeface="Montserrat Bold"/>
                <a:ea typeface="Montserrat Bold"/>
                <a:cs typeface="Montserrat Bold"/>
                <a:sym typeface="Montserrat Bold"/>
              </a:rPr>
              <a:t>TABLE OF CONTENT</a:t>
            </a:r>
          </a:p>
        </p:txBody>
      </p:sp>
      <p:sp>
        <p:nvSpPr>
          <p:cNvPr id="4" name="Freeform 4"/>
          <p:cNvSpPr/>
          <p:nvPr/>
        </p:nvSpPr>
        <p:spPr>
          <a:xfrm>
            <a:off x="510939" y="465446"/>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4"/>
            <a:stretch>
              <a:fillRect t="-20266" b="-21392"/>
            </a:stretch>
          </a:blipFill>
        </p:spPr>
      </p:sp>
      <p:sp>
        <p:nvSpPr>
          <p:cNvPr id="5" name="Freeform 5"/>
          <p:cNvSpPr/>
          <p:nvPr/>
        </p:nvSpPr>
        <p:spPr>
          <a:xfrm>
            <a:off x="0" y="3877562"/>
            <a:ext cx="5380738" cy="5380738"/>
          </a:xfrm>
          <a:custGeom>
            <a:avLst/>
            <a:gdLst/>
            <a:ahLst/>
            <a:cxnLst/>
            <a:rect l="l" t="t" r="r" b="b"/>
            <a:pathLst>
              <a:path w="5380738" h="5380738">
                <a:moveTo>
                  <a:pt x="0" y="0"/>
                </a:moveTo>
                <a:lnTo>
                  <a:pt x="5380738" y="0"/>
                </a:lnTo>
                <a:lnTo>
                  <a:pt x="5380738" y="5380738"/>
                </a:lnTo>
                <a:lnTo>
                  <a:pt x="0" y="5380738"/>
                </a:lnTo>
                <a:lnTo>
                  <a:pt x="0" y="0"/>
                </a:lnTo>
                <a:close/>
              </a:path>
            </a:pathLst>
          </a:custGeom>
          <a:blipFill>
            <a:blip r:embed="rId5"/>
            <a:stretch>
              <a:fillRect/>
            </a:stretch>
          </a:blipFill>
        </p:spPr>
      </p:sp>
      <p:sp>
        <p:nvSpPr>
          <p:cNvPr id="6" name="TextBox 6"/>
          <p:cNvSpPr txBox="1"/>
          <p:nvPr/>
        </p:nvSpPr>
        <p:spPr>
          <a:xfrm>
            <a:off x="7153685" y="4427981"/>
            <a:ext cx="8427908" cy="4203700"/>
          </a:xfrm>
          <a:prstGeom prst="rect">
            <a:avLst/>
          </a:prstGeom>
        </p:spPr>
        <p:txBody>
          <a:bodyPr lIns="0" tIns="0" rIns="0" bIns="0" rtlCol="0" anchor="t">
            <a:spAutoFit/>
          </a:bodyPr>
          <a:lstStyle/>
          <a:p>
            <a:pPr marL="863599" lvl="1" indent="-431800" algn="just">
              <a:lnSpc>
                <a:spcPts val="5599"/>
              </a:lnSpc>
              <a:buFont typeface="Arial"/>
              <a:buChar char="•"/>
            </a:pPr>
            <a:r>
              <a:rPr lang="en-US" sz="3999">
                <a:solidFill>
                  <a:srgbClr val="000000"/>
                </a:solidFill>
                <a:latin typeface="Open Sans"/>
                <a:ea typeface="Open Sans"/>
                <a:cs typeface="Open Sans"/>
                <a:sym typeface="Open Sans"/>
              </a:rPr>
              <a:t>Project Brief</a:t>
            </a:r>
          </a:p>
          <a:p>
            <a:pPr marL="863599" lvl="1" indent="-431800" algn="just">
              <a:lnSpc>
                <a:spcPts val="5599"/>
              </a:lnSpc>
              <a:buFont typeface="Arial"/>
              <a:buChar char="•"/>
            </a:pPr>
            <a:r>
              <a:rPr lang="en-US" sz="3999">
                <a:solidFill>
                  <a:srgbClr val="000000"/>
                </a:solidFill>
                <a:latin typeface="Open Sans"/>
                <a:ea typeface="Open Sans"/>
                <a:cs typeface="Open Sans"/>
                <a:sym typeface="Open Sans"/>
              </a:rPr>
              <a:t>Project Objective</a:t>
            </a:r>
          </a:p>
          <a:p>
            <a:pPr marL="863599" lvl="1" indent="-431800" algn="just">
              <a:lnSpc>
                <a:spcPts val="5599"/>
              </a:lnSpc>
              <a:buFont typeface="Arial"/>
              <a:buChar char="•"/>
            </a:pPr>
            <a:r>
              <a:rPr lang="en-US" sz="3999">
                <a:solidFill>
                  <a:srgbClr val="000000"/>
                </a:solidFill>
                <a:latin typeface="Open Sans"/>
                <a:ea typeface="Open Sans"/>
                <a:cs typeface="Open Sans"/>
                <a:sym typeface="Open Sans"/>
              </a:rPr>
              <a:t>Goal</a:t>
            </a:r>
          </a:p>
          <a:p>
            <a:pPr marL="863599" lvl="1" indent="-431800" algn="just">
              <a:lnSpc>
                <a:spcPts val="5599"/>
              </a:lnSpc>
              <a:buFont typeface="Arial"/>
              <a:buChar char="•"/>
            </a:pPr>
            <a:r>
              <a:rPr lang="en-US" sz="3999">
                <a:solidFill>
                  <a:srgbClr val="000000"/>
                </a:solidFill>
                <a:latin typeface="Open Sans"/>
                <a:ea typeface="Open Sans"/>
                <a:cs typeface="Open Sans"/>
                <a:sym typeface="Open Sans"/>
              </a:rPr>
              <a:t>Chosen Company + Hypothesis</a:t>
            </a:r>
          </a:p>
          <a:p>
            <a:pPr marL="863599" lvl="1" indent="-431800" algn="just">
              <a:lnSpc>
                <a:spcPts val="5599"/>
              </a:lnSpc>
              <a:buFont typeface="Arial"/>
              <a:buChar char="•"/>
            </a:pPr>
            <a:r>
              <a:rPr lang="en-US" sz="3999">
                <a:solidFill>
                  <a:srgbClr val="000000"/>
                </a:solidFill>
                <a:latin typeface="Open Sans"/>
                <a:ea typeface="Open Sans"/>
                <a:cs typeface="Open Sans"/>
                <a:sym typeface="Open Sans"/>
              </a:rPr>
              <a:t>Draft Approach</a:t>
            </a:r>
          </a:p>
          <a:p>
            <a:pPr marL="863599" lvl="1" indent="-431800" algn="just">
              <a:lnSpc>
                <a:spcPts val="5599"/>
              </a:lnSpc>
              <a:buFont typeface="Arial"/>
              <a:buChar char="•"/>
            </a:pPr>
            <a:r>
              <a:rPr lang="en-US" sz="3999">
                <a:solidFill>
                  <a:srgbClr val="000000"/>
                </a:solidFill>
                <a:latin typeface="Open Sans"/>
                <a:ea typeface="Open Sans"/>
                <a:cs typeface="Open Sans"/>
                <a:sym typeface="Open Sans"/>
              </a:rPr>
              <a:t>References</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67055" y="-180975"/>
            <a:ext cx="10288007" cy="1641984"/>
          </a:xfrm>
          <a:prstGeom prst="rect">
            <a:avLst/>
          </a:prstGeom>
        </p:spPr>
        <p:txBody>
          <a:bodyPr lIns="0" tIns="0" rIns="0" bIns="0" rtlCol="0" anchor="t">
            <a:spAutoFit/>
          </a:bodyPr>
          <a:lstStyle/>
          <a:p>
            <a:pPr algn="ctr">
              <a:lnSpc>
                <a:spcPts val="13446"/>
              </a:lnSpc>
            </a:pPr>
            <a:r>
              <a:rPr lang="en-US" sz="9604" b="1">
                <a:solidFill>
                  <a:srgbClr val="000000"/>
                </a:solidFill>
                <a:latin typeface="Montserrat Bold"/>
                <a:ea typeface="Montserrat Bold"/>
                <a:cs typeface="Montserrat Bold"/>
                <a:sym typeface="Montserrat Bold"/>
              </a:rPr>
              <a:t>PROJECT BRIEF</a:t>
            </a:r>
          </a:p>
        </p:txBody>
      </p:sp>
      <p:sp>
        <p:nvSpPr>
          <p:cNvPr id="3" name="TextBox 3"/>
          <p:cNvSpPr txBox="1"/>
          <p:nvPr/>
        </p:nvSpPr>
        <p:spPr>
          <a:xfrm>
            <a:off x="274358" y="1163260"/>
            <a:ext cx="10365966" cy="8981440"/>
          </a:xfrm>
          <a:prstGeom prst="rect">
            <a:avLst/>
          </a:prstGeom>
        </p:spPr>
        <p:txBody>
          <a:bodyPr lIns="0" tIns="0" rIns="0" bIns="0" rtlCol="0" anchor="t">
            <a:spAutoFit/>
          </a:bodyPr>
          <a:lstStyle/>
          <a:p>
            <a:pPr algn="just">
              <a:lnSpc>
                <a:spcPts val="4759"/>
              </a:lnSpc>
            </a:pPr>
            <a:r>
              <a:rPr lang="en-US" sz="3399">
                <a:solidFill>
                  <a:srgbClr val="000000"/>
                </a:solidFill>
                <a:latin typeface="Open Sans"/>
                <a:ea typeface="Open Sans"/>
                <a:cs typeface="Open Sans"/>
                <a:sym typeface="Open Sans"/>
              </a:rPr>
              <a:t>BlackBerry used to be a leader in mobile communication technology, in which it controlled the smartphone market through secure messaging and physical keyboards. It had a massive market share around </a:t>
            </a:r>
            <a:r>
              <a:rPr lang="en-US" sz="3399">
                <a:solidFill>
                  <a:srgbClr val="E01A72"/>
                </a:solidFill>
                <a:latin typeface="Open Sans"/>
                <a:ea typeface="Open Sans"/>
                <a:cs typeface="Open Sans"/>
                <a:sym typeface="Open Sans"/>
              </a:rPr>
              <a:t>2011</a:t>
            </a:r>
            <a:r>
              <a:rPr lang="en-US" sz="3399">
                <a:solidFill>
                  <a:srgbClr val="000000"/>
                </a:solidFill>
                <a:latin typeface="Open Sans"/>
                <a:ea typeface="Open Sans"/>
                <a:cs typeface="Open Sans"/>
                <a:sym typeface="Open Sans"/>
              </a:rPr>
              <a:t>, and it could not adjust to touchscreen innovation and evolving consumer requirements (Statista, 2026). This made the market value and relevance of BlackBerry crash drastically. It no longer manufactures phones and has moved on to cybersecurity and software services, but its financial performance is poor in comparison to the peers. To stay alive and prosper, BlackBerry should be able to reinvent its brand and resonate with the current generation (SunStar, 2024).</a:t>
            </a:r>
          </a:p>
        </p:txBody>
      </p:sp>
      <p:sp>
        <p:nvSpPr>
          <p:cNvPr id="4" name="Freeform 4"/>
          <p:cNvSpPr/>
          <p:nvPr/>
        </p:nvSpPr>
        <p:spPr>
          <a:xfrm>
            <a:off x="10918109" y="2962694"/>
            <a:ext cx="7217864" cy="5449248"/>
          </a:xfrm>
          <a:custGeom>
            <a:avLst/>
            <a:gdLst/>
            <a:ahLst/>
            <a:cxnLst/>
            <a:rect l="l" t="t" r="r" b="b"/>
            <a:pathLst>
              <a:path w="7217864" h="5449248">
                <a:moveTo>
                  <a:pt x="0" y="0"/>
                </a:moveTo>
                <a:lnTo>
                  <a:pt x="7217864" y="0"/>
                </a:lnTo>
                <a:lnTo>
                  <a:pt x="7217864" y="5449248"/>
                </a:lnTo>
                <a:lnTo>
                  <a:pt x="0" y="5449248"/>
                </a:lnTo>
                <a:lnTo>
                  <a:pt x="0" y="0"/>
                </a:lnTo>
                <a:close/>
              </a:path>
            </a:pathLst>
          </a:custGeom>
          <a:blipFill>
            <a:blip r:embed="rId2"/>
            <a:stretch>
              <a:fillRect/>
            </a:stretch>
          </a:blipFill>
        </p:spPr>
      </p:sp>
      <p:sp>
        <p:nvSpPr>
          <p:cNvPr id="5" name="Freeform 5"/>
          <p:cNvSpPr/>
          <p:nvPr/>
        </p:nvSpPr>
        <p:spPr>
          <a:xfrm>
            <a:off x="14948089" y="145490"/>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3"/>
            <a:stretch>
              <a:fillRect t="-20266" b="-21392"/>
            </a:stretch>
          </a:blipFill>
        </p:spPr>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a:off x="-534114" y="-2384689"/>
            <a:ext cx="6164261" cy="4413791"/>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4"/>
            <a:stretch>
              <a:fillRect t="-20266" b="-21392"/>
            </a:stretch>
          </a:blipFill>
        </p:spPr>
      </p:sp>
      <p:sp>
        <p:nvSpPr>
          <p:cNvPr id="4" name="Freeform 4"/>
          <p:cNvSpPr/>
          <p:nvPr/>
        </p:nvSpPr>
        <p:spPr>
          <a:xfrm>
            <a:off x="177365" y="2962694"/>
            <a:ext cx="2559194" cy="2559194"/>
          </a:xfrm>
          <a:custGeom>
            <a:avLst/>
            <a:gdLst/>
            <a:ahLst/>
            <a:cxnLst/>
            <a:rect l="l" t="t" r="r" b="b"/>
            <a:pathLst>
              <a:path w="2559194" h="2559194">
                <a:moveTo>
                  <a:pt x="0" y="0"/>
                </a:moveTo>
                <a:lnTo>
                  <a:pt x="2559195" y="0"/>
                </a:lnTo>
                <a:lnTo>
                  <a:pt x="2559195" y="2559194"/>
                </a:lnTo>
                <a:lnTo>
                  <a:pt x="0" y="2559194"/>
                </a:lnTo>
                <a:lnTo>
                  <a:pt x="0" y="0"/>
                </a:lnTo>
                <a:close/>
              </a:path>
            </a:pathLst>
          </a:custGeom>
          <a:blipFill>
            <a:blip r:embed="rId5"/>
            <a:stretch>
              <a:fillRect/>
            </a:stretch>
          </a:blipFill>
        </p:spPr>
      </p:sp>
      <p:sp>
        <p:nvSpPr>
          <p:cNvPr id="5" name="Freeform 5"/>
          <p:cNvSpPr/>
          <p:nvPr/>
        </p:nvSpPr>
        <p:spPr>
          <a:xfrm>
            <a:off x="16012036" y="4767829"/>
            <a:ext cx="1708832" cy="3268788"/>
          </a:xfrm>
          <a:custGeom>
            <a:avLst/>
            <a:gdLst/>
            <a:ahLst/>
            <a:cxnLst/>
            <a:rect l="l" t="t" r="r" b="b"/>
            <a:pathLst>
              <a:path w="1708832" h="3268788">
                <a:moveTo>
                  <a:pt x="0" y="0"/>
                </a:moveTo>
                <a:lnTo>
                  <a:pt x="1708831" y="0"/>
                </a:lnTo>
                <a:lnTo>
                  <a:pt x="1708831" y="3268788"/>
                </a:lnTo>
                <a:lnTo>
                  <a:pt x="0" y="3268788"/>
                </a:lnTo>
                <a:lnTo>
                  <a:pt x="0" y="0"/>
                </a:lnTo>
                <a:close/>
              </a:path>
            </a:pathLst>
          </a:custGeom>
          <a:blipFill>
            <a:blip r:embed="rId6"/>
            <a:stretch>
              <a:fillRect/>
            </a:stretch>
          </a:blipFill>
        </p:spPr>
      </p:sp>
      <p:sp>
        <p:nvSpPr>
          <p:cNvPr id="6" name="TextBox 6"/>
          <p:cNvSpPr txBox="1"/>
          <p:nvPr/>
        </p:nvSpPr>
        <p:spPr>
          <a:xfrm>
            <a:off x="2736560" y="1574088"/>
            <a:ext cx="13616480" cy="1641984"/>
          </a:xfrm>
          <a:prstGeom prst="rect">
            <a:avLst/>
          </a:prstGeom>
        </p:spPr>
        <p:txBody>
          <a:bodyPr lIns="0" tIns="0" rIns="0" bIns="0" rtlCol="0" anchor="t">
            <a:spAutoFit/>
          </a:bodyPr>
          <a:lstStyle/>
          <a:p>
            <a:pPr algn="ctr">
              <a:lnSpc>
                <a:spcPts val="13446"/>
              </a:lnSpc>
            </a:pPr>
            <a:r>
              <a:rPr lang="en-US" sz="9604" b="1">
                <a:solidFill>
                  <a:srgbClr val="000000"/>
                </a:solidFill>
                <a:latin typeface="Montserrat Bold"/>
                <a:ea typeface="Montserrat Bold"/>
                <a:cs typeface="Montserrat Bold"/>
                <a:sym typeface="Montserrat Bold"/>
              </a:rPr>
              <a:t>PROJECT OBJECTIVE</a:t>
            </a:r>
          </a:p>
        </p:txBody>
      </p:sp>
      <p:sp>
        <p:nvSpPr>
          <p:cNvPr id="7" name="TextBox 7"/>
          <p:cNvSpPr txBox="1"/>
          <p:nvPr/>
        </p:nvSpPr>
        <p:spPr>
          <a:xfrm>
            <a:off x="2841792" y="4278466"/>
            <a:ext cx="12604416" cy="4180840"/>
          </a:xfrm>
          <a:prstGeom prst="rect">
            <a:avLst/>
          </a:prstGeom>
        </p:spPr>
        <p:txBody>
          <a:bodyPr lIns="0" tIns="0" rIns="0" bIns="0" rtlCol="0" anchor="t">
            <a:spAutoFit/>
          </a:bodyPr>
          <a:lstStyle/>
          <a:p>
            <a:pPr algn="just">
              <a:lnSpc>
                <a:spcPts val="4759"/>
              </a:lnSpc>
            </a:pPr>
            <a:r>
              <a:rPr lang="en-US" sz="3399">
                <a:solidFill>
                  <a:srgbClr val="000000"/>
                </a:solidFill>
                <a:latin typeface="Open Sans"/>
                <a:ea typeface="Open Sans"/>
                <a:cs typeface="Open Sans"/>
                <a:sym typeface="Open Sans"/>
              </a:rPr>
              <a:t>To analyse the downfall of BlackBerry and find a new opportunity avenue that would fit into its strength. Our objective is to establish a </a:t>
            </a:r>
            <a:r>
              <a:rPr lang="en-US" sz="3399">
                <a:solidFill>
                  <a:srgbClr val="E01A72"/>
                </a:solidFill>
                <a:latin typeface="Open Sans"/>
                <a:ea typeface="Open Sans"/>
                <a:cs typeface="Open Sans"/>
                <a:sym typeface="Open Sans"/>
              </a:rPr>
              <a:t>reinvention programme</a:t>
            </a:r>
            <a:r>
              <a:rPr lang="en-US" sz="3399">
                <a:solidFill>
                  <a:srgbClr val="000000"/>
                </a:solidFill>
                <a:latin typeface="Open Sans"/>
                <a:ea typeface="Open Sans"/>
                <a:cs typeface="Open Sans"/>
                <a:sym typeface="Open Sans"/>
              </a:rPr>
              <a:t> that makes BlackBerry a new brand worth believing in once more, a brand that can be used by digital users but whose security background will be used to its advantage.</a:t>
            </a:r>
          </a:p>
          <a:p>
            <a:pPr algn="just">
              <a:lnSpc>
                <a:spcPts val="4759"/>
              </a:lnSpc>
            </a:pPr>
            <a:endParaRPr lang="en-US" sz="3399">
              <a:solidFill>
                <a:srgbClr val="000000"/>
              </a:solidFill>
              <a:latin typeface="Open Sans"/>
              <a:ea typeface="Open Sans"/>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flipH="1" flipV="1">
            <a:off x="13490086" y="8170441"/>
            <a:ext cx="6156859" cy="458754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426328" y="2963929"/>
            <a:ext cx="3713026" cy="3713026"/>
          </a:xfrm>
          <a:custGeom>
            <a:avLst/>
            <a:gdLst/>
            <a:ahLst/>
            <a:cxnLst/>
            <a:rect l="l" t="t" r="r" b="b"/>
            <a:pathLst>
              <a:path w="3713026" h="3713026">
                <a:moveTo>
                  <a:pt x="3713027" y="0"/>
                </a:moveTo>
                <a:lnTo>
                  <a:pt x="0" y="0"/>
                </a:lnTo>
                <a:lnTo>
                  <a:pt x="0" y="3713026"/>
                </a:lnTo>
                <a:lnTo>
                  <a:pt x="3713027" y="3713026"/>
                </a:lnTo>
                <a:lnTo>
                  <a:pt x="3713027" y="0"/>
                </a:lnTo>
                <a:close/>
              </a:path>
            </a:pathLst>
          </a:custGeom>
          <a:blipFill>
            <a:blip r:embed="rId4"/>
            <a:stretch>
              <a:fillRect/>
            </a:stretch>
          </a:blipFill>
        </p:spPr>
      </p:sp>
      <p:sp>
        <p:nvSpPr>
          <p:cNvPr id="4" name="TextBox 4"/>
          <p:cNvSpPr txBox="1"/>
          <p:nvPr/>
        </p:nvSpPr>
        <p:spPr>
          <a:xfrm>
            <a:off x="4139355" y="1478933"/>
            <a:ext cx="10009291" cy="1641984"/>
          </a:xfrm>
          <a:prstGeom prst="rect">
            <a:avLst/>
          </a:prstGeom>
        </p:spPr>
        <p:txBody>
          <a:bodyPr lIns="0" tIns="0" rIns="0" bIns="0" rtlCol="0" anchor="t">
            <a:spAutoFit/>
          </a:bodyPr>
          <a:lstStyle/>
          <a:p>
            <a:pPr algn="ctr">
              <a:lnSpc>
                <a:spcPts val="13446"/>
              </a:lnSpc>
            </a:pPr>
            <a:r>
              <a:rPr lang="en-US" sz="9604" b="1">
                <a:solidFill>
                  <a:srgbClr val="000000"/>
                </a:solidFill>
                <a:latin typeface="Montserrat Bold"/>
                <a:ea typeface="Montserrat Bold"/>
                <a:cs typeface="Montserrat Bold"/>
                <a:sym typeface="Montserrat Bold"/>
              </a:rPr>
              <a:t>GOAL</a:t>
            </a:r>
          </a:p>
        </p:txBody>
      </p:sp>
      <p:sp>
        <p:nvSpPr>
          <p:cNvPr id="5" name="TextBox 5"/>
          <p:cNvSpPr txBox="1"/>
          <p:nvPr/>
        </p:nvSpPr>
        <p:spPr>
          <a:xfrm>
            <a:off x="4616882" y="3866942"/>
            <a:ext cx="11763777" cy="3804285"/>
          </a:xfrm>
          <a:prstGeom prst="rect">
            <a:avLst/>
          </a:prstGeom>
        </p:spPr>
        <p:txBody>
          <a:bodyPr lIns="0" tIns="0" rIns="0" bIns="0" rtlCol="0" anchor="t">
            <a:spAutoFit/>
          </a:bodyPr>
          <a:lstStyle/>
          <a:p>
            <a:pPr algn="just">
              <a:lnSpc>
                <a:spcPts val="5040"/>
              </a:lnSpc>
            </a:pPr>
            <a:r>
              <a:rPr lang="en-US" sz="3600">
                <a:solidFill>
                  <a:srgbClr val="000000"/>
                </a:solidFill>
                <a:latin typeface="Open Sans"/>
                <a:ea typeface="Open Sans"/>
                <a:cs typeface="Open Sans"/>
                <a:sym typeface="Open Sans"/>
              </a:rPr>
              <a:t>The goal is to rebrand BlackBerry within the circumstances of </a:t>
            </a:r>
            <a:r>
              <a:rPr lang="en-US" sz="3600" i="1">
                <a:solidFill>
                  <a:srgbClr val="E01A72"/>
                </a:solidFill>
                <a:latin typeface="Open Sans Italics"/>
                <a:ea typeface="Open Sans Italics"/>
                <a:cs typeface="Open Sans Italics"/>
                <a:sym typeface="Open Sans Italics"/>
              </a:rPr>
              <a:t>mobile lifestyle</a:t>
            </a:r>
            <a:r>
              <a:rPr lang="en-US" sz="3600">
                <a:solidFill>
                  <a:srgbClr val="000000"/>
                </a:solidFill>
                <a:latin typeface="Open Sans"/>
                <a:ea typeface="Open Sans"/>
                <a:cs typeface="Open Sans"/>
                <a:sym typeface="Open Sans"/>
              </a:rPr>
              <a:t> and concentrate on privacy, control, and digital wellbeing. Users who are tired of being bombarded by data tracking, numerous notifications, and addictive app ecosystems will use the brand.</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694517"/>
            <a:ext cx="16211305" cy="1193800"/>
          </a:xfrm>
          <a:prstGeom prst="rect">
            <a:avLst/>
          </a:prstGeom>
        </p:spPr>
        <p:txBody>
          <a:bodyPr lIns="0" tIns="0" rIns="0" bIns="0" rtlCol="0" anchor="t">
            <a:spAutoFit/>
          </a:bodyPr>
          <a:lstStyle/>
          <a:p>
            <a:pPr algn="ctr">
              <a:lnSpc>
                <a:spcPts val="9799"/>
              </a:lnSpc>
            </a:pPr>
            <a:r>
              <a:rPr lang="en-US" sz="6999" b="1">
                <a:solidFill>
                  <a:srgbClr val="000000"/>
                </a:solidFill>
                <a:latin typeface="Montserrat Bold"/>
                <a:ea typeface="Montserrat Bold"/>
                <a:cs typeface="Montserrat Bold"/>
                <a:sym typeface="Montserrat Bold"/>
              </a:rPr>
              <a:t>CHOSEN COMPANY + HYPOTHESIS</a:t>
            </a:r>
          </a:p>
        </p:txBody>
      </p:sp>
      <p:sp>
        <p:nvSpPr>
          <p:cNvPr id="3" name="TextBox 3"/>
          <p:cNvSpPr txBox="1"/>
          <p:nvPr/>
        </p:nvSpPr>
        <p:spPr>
          <a:xfrm>
            <a:off x="1028700" y="2354115"/>
            <a:ext cx="16230600" cy="2980690"/>
          </a:xfrm>
          <a:prstGeom prst="rect">
            <a:avLst/>
          </a:prstGeom>
        </p:spPr>
        <p:txBody>
          <a:bodyPr lIns="0" tIns="0" rIns="0" bIns="0" rtlCol="0" anchor="t">
            <a:spAutoFit/>
          </a:bodyPr>
          <a:lstStyle/>
          <a:p>
            <a:pPr algn="just">
              <a:lnSpc>
                <a:spcPts val="4759"/>
              </a:lnSpc>
            </a:pPr>
            <a:r>
              <a:rPr lang="en-US" sz="3399">
                <a:solidFill>
                  <a:srgbClr val="000000"/>
                </a:solidFill>
                <a:latin typeface="Open Sans"/>
                <a:ea typeface="Open Sans"/>
                <a:cs typeface="Open Sans"/>
                <a:sym typeface="Open Sans"/>
              </a:rPr>
              <a:t>Company: </a:t>
            </a:r>
            <a:r>
              <a:rPr lang="en-US" sz="3399">
                <a:solidFill>
                  <a:srgbClr val="E01A72"/>
                </a:solidFill>
                <a:latin typeface="Open Sans"/>
                <a:ea typeface="Open Sans"/>
                <a:cs typeface="Open Sans"/>
                <a:sym typeface="Open Sans"/>
              </a:rPr>
              <a:t>BlackBerry Limited</a:t>
            </a:r>
          </a:p>
          <a:p>
            <a:pPr algn="just">
              <a:lnSpc>
                <a:spcPts val="4759"/>
              </a:lnSpc>
            </a:pPr>
            <a:r>
              <a:rPr lang="en-US" sz="3399">
                <a:solidFill>
                  <a:srgbClr val="000000"/>
                </a:solidFill>
                <a:latin typeface="Open Sans"/>
                <a:ea typeface="Open Sans"/>
                <a:cs typeface="Open Sans"/>
                <a:sym typeface="Open Sans"/>
              </a:rPr>
              <a:t>BlackBerry used to be a mobile phone empire but is currently specialized in enterprise and (connected device) software cybersecurity and software (Reuters, 2025). The recent revenue forecasts indicate its vulnerability and reduces demand in the traditional enterprise cybersecurity services (Statista, 2025).</a:t>
            </a:r>
          </a:p>
        </p:txBody>
      </p:sp>
      <p:sp>
        <p:nvSpPr>
          <p:cNvPr id="4" name="TextBox 4"/>
          <p:cNvSpPr txBox="1"/>
          <p:nvPr/>
        </p:nvSpPr>
        <p:spPr>
          <a:xfrm>
            <a:off x="1028700" y="5628700"/>
            <a:ext cx="16230600" cy="3580765"/>
          </a:xfrm>
          <a:prstGeom prst="rect">
            <a:avLst/>
          </a:prstGeom>
        </p:spPr>
        <p:txBody>
          <a:bodyPr lIns="0" tIns="0" rIns="0" bIns="0" rtlCol="0" anchor="t">
            <a:spAutoFit/>
          </a:bodyPr>
          <a:lstStyle/>
          <a:p>
            <a:pPr algn="just">
              <a:lnSpc>
                <a:spcPts val="4759"/>
              </a:lnSpc>
            </a:pPr>
            <a:r>
              <a:rPr lang="en-US" sz="3399" dirty="0">
                <a:solidFill>
                  <a:srgbClr val="000000"/>
                </a:solidFill>
                <a:latin typeface="Open Sans"/>
                <a:ea typeface="Open Sans"/>
                <a:cs typeface="Open Sans"/>
                <a:sym typeface="Open Sans"/>
              </a:rPr>
              <a:t>Hypothesis:</a:t>
            </a:r>
          </a:p>
          <a:p>
            <a:pPr algn="just">
              <a:lnSpc>
                <a:spcPts val="4759"/>
              </a:lnSpc>
            </a:pPr>
            <a:r>
              <a:rPr lang="en-US" sz="3399" dirty="0">
                <a:solidFill>
                  <a:srgbClr val="000000"/>
                </a:solidFill>
                <a:latin typeface="Open Sans"/>
                <a:ea typeface="Open Sans"/>
                <a:cs typeface="Open Sans"/>
                <a:sym typeface="Open Sans"/>
              </a:rPr>
              <a:t>If BlackBerry repositions itself as the flagship brand in the digital wellness and privacy-conscious devices, it will be able to appeal to a new generation of users who feel disillusioned by the existing smartphone ecosystems and </a:t>
            </a:r>
            <a:r>
              <a:rPr lang="en-US" sz="3399" dirty="0" err="1">
                <a:solidFill>
                  <a:srgbClr val="000000"/>
                </a:solidFill>
                <a:latin typeface="Open Sans"/>
                <a:ea typeface="Open Sans"/>
                <a:cs typeface="Open Sans"/>
                <a:sym typeface="Open Sans"/>
              </a:rPr>
              <a:t>capitalise</a:t>
            </a:r>
            <a:r>
              <a:rPr lang="en-US" sz="3399" dirty="0">
                <a:solidFill>
                  <a:srgbClr val="000000"/>
                </a:solidFill>
                <a:latin typeface="Open Sans"/>
                <a:ea typeface="Open Sans"/>
                <a:cs typeface="Open Sans"/>
                <a:sym typeface="Open Sans"/>
              </a:rPr>
              <a:t> on its track record of safety and trust (Youssef Haj Youssef, 2013).</a:t>
            </a:r>
          </a:p>
          <a:p>
            <a:pPr algn="just">
              <a:lnSpc>
                <a:spcPts val="4759"/>
              </a:lnSpc>
            </a:pPr>
            <a:endParaRPr lang="en-US" sz="3399" dirty="0">
              <a:solidFill>
                <a:srgbClr val="000000"/>
              </a:solidFill>
              <a:latin typeface="Open Sans"/>
              <a:ea typeface="Open Sans"/>
              <a:cs typeface="Open Sans"/>
              <a:sym typeface="Open Sans"/>
            </a:endParaRPr>
          </a:p>
        </p:txBody>
      </p:sp>
      <p:sp>
        <p:nvSpPr>
          <p:cNvPr id="5" name="Freeform 3">
            <a:extLst>
              <a:ext uri="{FF2B5EF4-FFF2-40B4-BE49-F238E27FC236}">
                <a16:creationId xmlns:a16="http://schemas.microsoft.com/office/drawing/2014/main" id="{81C892F7-64DA-B9BA-7B5B-12EC54768F6E}"/>
              </a:ext>
            </a:extLst>
          </p:cNvPr>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EE927-62D2-77E2-CB04-DF0F773805C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8A5F235-65B5-F94E-90FE-E46292C0A415}"/>
              </a:ext>
            </a:extLst>
          </p:cNvPr>
          <p:cNvSpPr txBox="1"/>
          <p:nvPr/>
        </p:nvSpPr>
        <p:spPr>
          <a:xfrm>
            <a:off x="1028700" y="419100"/>
            <a:ext cx="16211305" cy="1182888"/>
          </a:xfrm>
          <a:prstGeom prst="rect">
            <a:avLst/>
          </a:prstGeom>
        </p:spPr>
        <p:txBody>
          <a:bodyPr lIns="0" tIns="0" rIns="0" bIns="0" rtlCol="0" anchor="t">
            <a:spAutoFit/>
          </a:bodyPr>
          <a:lstStyle/>
          <a:p>
            <a:pPr algn="ctr">
              <a:lnSpc>
                <a:spcPts val="9799"/>
              </a:lnSpc>
            </a:pPr>
            <a:r>
              <a:rPr lang="en-US" sz="7200" dirty="0"/>
              <a:t>The Modern Digital Stress Ecosystem</a:t>
            </a:r>
            <a:endParaRPr lang="en-US" sz="6999" b="1" dirty="0">
              <a:solidFill>
                <a:srgbClr val="000000"/>
              </a:solidFill>
              <a:latin typeface="Montserrat Bold"/>
              <a:ea typeface="Montserrat Bold"/>
              <a:cs typeface="Montserrat Bold"/>
              <a:sym typeface="Montserrat Bold"/>
            </a:endParaRPr>
          </a:p>
        </p:txBody>
      </p:sp>
      <p:sp>
        <p:nvSpPr>
          <p:cNvPr id="5" name="Freeform 3">
            <a:extLst>
              <a:ext uri="{FF2B5EF4-FFF2-40B4-BE49-F238E27FC236}">
                <a16:creationId xmlns:a16="http://schemas.microsoft.com/office/drawing/2014/main" id="{2C819FD3-28CF-02ED-7DB2-CDA284DFD652}"/>
              </a:ext>
            </a:extLst>
          </p:cNvPr>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sp>
        <p:nvSpPr>
          <p:cNvPr id="9" name="Oval 8">
            <a:extLst>
              <a:ext uri="{FF2B5EF4-FFF2-40B4-BE49-F238E27FC236}">
                <a16:creationId xmlns:a16="http://schemas.microsoft.com/office/drawing/2014/main" id="{2D5E8F74-1BC1-CAEF-B36A-17A0D953564E}"/>
              </a:ext>
            </a:extLst>
          </p:cNvPr>
          <p:cNvSpPr/>
          <p:nvPr/>
        </p:nvSpPr>
        <p:spPr>
          <a:xfrm>
            <a:off x="4724400" y="5295900"/>
            <a:ext cx="1981200" cy="1981200"/>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Modern Smartphone User </a:t>
            </a:r>
            <a:endParaRPr lang="LID4096" dirty="0"/>
          </a:p>
        </p:txBody>
      </p:sp>
      <p:sp>
        <p:nvSpPr>
          <p:cNvPr id="10" name="Oval 9">
            <a:extLst>
              <a:ext uri="{FF2B5EF4-FFF2-40B4-BE49-F238E27FC236}">
                <a16:creationId xmlns:a16="http://schemas.microsoft.com/office/drawing/2014/main" id="{6153E197-CA1B-AB63-2381-DD2642899C7C}"/>
              </a:ext>
            </a:extLst>
          </p:cNvPr>
          <p:cNvSpPr/>
          <p:nvPr/>
        </p:nvSpPr>
        <p:spPr>
          <a:xfrm>
            <a:off x="8305800" y="4305300"/>
            <a:ext cx="2819400" cy="2895600"/>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Data Tracking &amp; Algorithms → behavior monitoring → privacy anxiety</a:t>
            </a:r>
            <a:endParaRPr lang="LID4096"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Oval 10">
            <a:extLst>
              <a:ext uri="{FF2B5EF4-FFF2-40B4-BE49-F238E27FC236}">
                <a16:creationId xmlns:a16="http://schemas.microsoft.com/office/drawing/2014/main" id="{75C524F2-FBA0-BDF1-A231-5CAAC932EAB9}"/>
              </a:ext>
            </a:extLst>
          </p:cNvPr>
          <p:cNvSpPr/>
          <p:nvPr/>
        </p:nvSpPr>
        <p:spPr>
          <a:xfrm>
            <a:off x="5486400" y="1790700"/>
            <a:ext cx="2667000" cy="2547447"/>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latin typeface="Open Sans" panose="020B0606030504020204" pitchFamily="34" charset="0"/>
                <a:ea typeface="Open Sans" panose="020B0606030504020204" pitchFamily="34" charset="0"/>
                <a:cs typeface="Open Sans" panose="020B0606030504020204" pitchFamily="34" charset="0"/>
              </a:rPr>
              <a:t>Notification </a:t>
            </a:r>
            <a:r>
              <a:rPr lang="fr-FR" dirty="0" err="1">
                <a:solidFill>
                  <a:schemeClr val="tx1"/>
                </a:solidFill>
                <a:latin typeface="Open Sans" panose="020B0606030504020204" pitchFamily="34" charset="0"/>
                <a:ea typeface="Open Sans" panose="020B0606030504020204" pitchFamily="34" charset="0"/>
                <a:cs typeface="Open Sans" panose="020B0606030504020204" pitchFamily="34" charset="0"/>
              </a:rPr>
              <a:t>Systems</a:t>
            </a:r>
            <a:r>
              <a:rPr lang="fr-FR" dirty="0">
                <a:solidFill>
                  <a:schemeClr val="tx1"/>
                </a:solidFill>
                <a:latin typeface="Open Sans" panose="020B0606030504020204" pitchFamily="34" charset="0"/>
                <a:ea typeface="Open Sans" panose="020B0606030504020204" pitchFamily="34" charset="0"/>
                <a:cs typeface="Open Sans" panose="020B0606030504020204" pitchFamily="34" charset="0"/>
              </a:rPr>
              <a:t> → constant </a:t>
            </a:r>
            <a:r>
              <a:rPr lang="fr-FR" dirty="0" err="1">
                <a:solidFill>
                  <a:schemeClr val="tx1"/>
                </a:solidFill>
                <a:latin typeface="Open Sans" panose="020B0606030504020204" pitchFamily="34" charset="0"/>
                <a:ea typeface="Open Sans" panose="020B0606030504020204" pitchFamily="34" charset="0"/>
                <a:cs typeface="Open Sans" panose="020B0606030504020204" pitchFamily="34" charset="0"/>
              </a:rPr>
              <a:t>alerts</a:t>
            </a:r>
            <a:r>
              <a:rPr lang="fr-FR" dirty="0">
                <a:solidFill>
                  <a:schemeClr val="tx1"/>
                </a:solidFill>
                <a:latin typeface="Open Sans" panose="020B0606030504020204" pitchFamily="34" charset="0"/>
                <a:ea typeface="Open Sans" panose="020B0606030504020204" pitchFamily="34" charset="0"/>
                <a:cs typeface="Open Sans" panose="020B0606030504020204" pitchFamily="34" charset="0"/>
              </a:rPr>
              <a:t> → attention fragmentation</a:t>
            </a:r>
            <a:endParaRPr lang="LID4096"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Oval 11">
            <a:extLst>
              <a:ext uri="{FF2B5EF4-FFF2-40B4-BE49-F238E27FC236}">
                <a16:creationId xmlns:a16="http://schemas.microsoft.com/office/drawing/2014/main" id="{8A322DA9-89C1-8664-6B83-969B6F1E206A}"/>
              </a:ext>
            </a:extLst>
          </p:cNvPr>
          <p:cNvSpPr/>
          <p:nvPr/>
        </p:nvSpPr>
        <p:spPr>
          <a:xfrm>
            <a:off x="1143000" y="3162300"/>
            <a:ext cx="2819400" cy="2895600"/>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Open Sans" panose="020B0606030504020204" pitchFamily="34" charset="0"/>
                <a:ea typeface="Open Sans" panose="020B0606030504020204" pitchFamily="34" charset="0"/>
                <a:cs typeface="Open Sans" panose="020B0606030504020204" pitchFamily="34" charset="0"/>
              </a:rPr>
              <a:t>Social Media Platforms → endless feeds → addictive usage</a:t>
            </a:r>
            <a:endParaRPr lang="LID4096"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Oval 12">
            <a:extLst>
              <a:ext uri="{FF2B5EF4-FFF2-40B4-BE49-F238E27FC236}">
                <a16:creationId xmlns:a16="http://schemas.microsoft.com/office/drawing/2014/main" id="{AD2C8D5B-A55D-CAFD-97C9-2833B6E56751}"/>
              </a:ext>
            </a:extLst>
          </p:cNvPr>
          <p:cNvSpPr/>
          <p:nvPr/>
        </p:nvSpPr>
        <p:spPr>
          <a:xfrm>
            <a:off x="1981200" y="7277101"/>
            <a:ext cx="2679516" cy="2590799"/>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App Ecosystems → multitasking → cognitive overload</a:t>
            </a:r>
            <a:endParaRPr lang="LID4096"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Oval 13">
            <a:extLst>
              <a:ext uri="{FF2B5EF4-FFF2-40B4-BE49-F238E27FC236}">
                <a16:creationId xmlns:a16="http://schemas.microsoft.com/office/drawing/2014/main" id="{F596F984-EE06-7C03-6014-57055522D0AE}"/>
              </a:ext>
            </a:extLst>
          </p:cNvPr>
          <p:cNvSpPr/>
          <p:nvPr/>
        </p:nvSpPr>
        <p:spPr>
          <a:xfrm>
            <a:off x="6400800" y="7429500"/>
            <a:ext cx="2667000" cy="2590799"/>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Open Sans" panose="020B0606030504020204" pitchFamily="34" charset="0"/>
                <a:ea typeface="Open Sans" panose="020B0606030504020204" pitchFamily="34" charset="0"/>
                <a:cs typeface="Open Sans" panose="020B0606030504020204" pitchFamily="34" charset="0"/>
              </a:rPr>
              <a:t>Work &amp; Academic Expectations → always reachable → pressure</a:t>
            </a:r>
            <a:endParaRPr lang="LID4096"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6" name="Straight Arrow Connector 15">
            <a:extLst>
              <a:ext uri="{FF2B5EF4-FFF2-40B4-BE49-F238E27FC236}">
                <a16:creationId xmlns:a16="http://schemas.microsoft.com/office/drawing/2014/main" id="{FA49774D-34F5-91BF-48FA-42439724EFAD}"/>
              </a:ext>
            </a:extLst>
          </p:cNvPr>
          <p:cNvCxnSpPr>
            <a:cxnSpLocks/>
          </p:cNvCxnSpPr>
          <p:nvPr/>
        </p:nvCxnSpPr>
        <p:spPr>
          <a:xfrm flipH="1">
            <a:off x="5899292" y="4272453"/>
            <a:ext cx="349108" cy="1023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F61BE6C-A077-8AFB-BE4C-0B8F48AF6C47}"/>
              </a:ext>
            </a:extLst>
          </p:cNvPr>
          <p:cNvCxnSpPr>
            <a:cxnSpLocks/>
          </p:cNvCxnSpPr>
          <p:nvPr/>
        </p:nvCxnSpPr>
        <p:spPr>
          <a:xfrm flipH="1">
            <a:off x="6705600" y="5753100"/>
            <a:ext cx="1752600" cy="502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195E80C-C1AC-FAEA-1C86-BCFD9F0012AC}"/>
              </a:ext>
            </a:extLst>
          </p:cNvPr>
          <p:cNvCxnSpPr>
            <a:cxnSpLocks/>
          </p:cNvCxnSpPr>
          <p:nvPr/>
        </p:nvCxnSpPr>
        <p:spPr>
          <a:xfrm flipH="1" flipV="1">
            <a:off x="6248400" y="6986960"/>
            <a:ext cx="762000" cy="899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8C0CB7D-CE63-CBD8-9A11-DA9817583B85}"/>
              </a:ext>
            </a:extLst>
          </p:cNvPr>
          <p:cNvCxnSpPr>
            <a:cxnSpLocks/>
          </p:cNvCxnSpPr>
          <p:nvPr/>
        </p:nvCxnSpPr>
        <p:spPr>
          <a:xfrm>
            <a:off x="3749746" y="5295900"/>
            <a:ext cx="1106355" cy="53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14BAD90-9379-BA27-4B17-C3233446D6D1}"/>
              </a:ext>
            </a:extLst>
          </p:cNvPr>
          <p:cNvCxnSpPr>
            <a:cxnSpLocks/>
            <a:stCxn id="13" idx="7"/>
            <a:endCxn id="9" idx="3"/>
          </p:cNvCxnSpPr>
          <p:nvPr/>
        </p:nvCxnSpPr>
        <p:spPr>
          <a:xfrm flipV="1">
            <a:off x="4268310" y="6986960"/>
            <a:ext cx="746230" cy="669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11D002C-0A76-146D-FB0D-4D06034F7EF5}"/>
              </a:ext>
            </a:extLst>
          </p:cNvPr>
          <p:cNvSpPr txBox="1"/>
          <p:nvPr/>
        </p:nvSpPr>
        <p:spPr>
          <a:xfrm>
            <a:off x="11277600" y="3804672"/>
            <a:ext cx="5867400" cy="4154984"/>
          </a:xfrm>
          <a:prstGeom prst="rect">
            <a:avLst/>
          </a:prstGeom>
          <a:noFill/>
        </p:spPr>
        <p:txBody>
          <a:bodyPr wrap="square" rtlCol="0">
            <a:spAutoFit/>
          </a:bodyPr>
          <a:lstStyle/>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Digital stress is not caused by one factor, but by an interconnected system of platforms, notifications, and data-driven technologies (</a:t>
            </a:r>
            <a:r>
              <a:rPr lang="en-US" sz="2400" dirty="0" err="1">
                <a:latin typeface="Open Sans" panose="020B0606030504020204" pitchFamily="34" charset="0"/>
                <a:ea typeface="Open Sans" panose="020B0606030504020204" pitchFamily="34" charset="0"/>
                <a:cs typeface="Open Sans" panose="020B0606030504020204" pitchFamily="34" charset="0"/>
              </a:rPr>
              <a:t>Grieva</a:t>
            </a:r>
            <a:r>
              <a:rPr lang="en-US" sz="2400" dirty="0">
                <a:latin typeface="Open Sans" panose="020B0606030504020204" pitchFamily="34" charset="0"/>
                <a:ea typeface="Open Sans" panose="020B0606030504020204" pitchFamily="34" charset="0"/>
                <a:cs typeface="Open Sans" panose="020B0606030504020204" pitchFamily="34" charset="0"/>
              </a:rPr>
              <a:t> et al., 2025</a:t>
            </a:r>
            <a:r>
              <a:rPr lang="en-GB" sz="2400" dirty="0">
                <a:latin typeface="Open Sans" panose="020B0606030504020204" pitchFamily="34" charset="0"/>
                <a:ea typeface="Open Sans" panose="020B0606030504020204" pitchFamily="34" charset="0"/>
                <a:cs typeface="Open Sans" panose="020B0606030504020204" pitchFamily="34" charset="0"/>
              </a:rPr>
              <a:t>).</a:t>
            </a:r>
          </a:p>
          <a:p>
            <a:pPr marL="342900" indent="-342900">
              <a:buFont typeface="Arial" panose="020B0604020202020204" pitchFamily="34" charset="0"/>
              <a:buChar char="•"/>
            </a:pPr>
            <a:endParaRPr lang="en-GB" sz="24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This environment creates an opportunity for a technology brand positioned around privacy, focus, and controlled communication.</a:t>
            </a:r>
          </a:p>
          <a:p>
            <a:pPr marL="342900" indent="-342900">
              <a:buFont typeface="Arial" panose="020B0604020202020204" pitchFamily="34" charset="0"/>
              <a:buChar char="•"/>
            </a:pPr>
            <a:endParaRPr lang="LID4096" sz="2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7456941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F8F39-6E39-4723-4130-D0D942A67A5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F39EA7C-3C49-1BBF-B40F-E093B916F1DD}"/>
              </a:ext>
            </a:extLst>
          </p:cNvPr>
          <p:cNvSpPr txBox="1"/>
          <p:nvPr/>
        </p:nvSpPr>
        <p:spPr>
          <a:xfrm>
            <a:off x="1028700" y="694517"/>
            <a:ext cx="16211305" cy="1182888"/>
          </a:xfrm>
          <a:prstGeom prst="rect">
            <a:avLst/>
          </a:prstGeom>
        </p:spPr>
        <p:txBody>
          <a:bodyPr lIns="0" tIns="0" rIns="0" bIns="0" rtlCol="0" anchor="t">
            <a:spAutoFit/>
          </a:bodyPr>
          <a:lstStyle/>
          <a:p>
            <a:pPr algn="ctr">
              <a:lnSpc>
                <a:spcPts val="9799"/>
              </a:lnSpc>
            </a:pPr>
            <a:r>
              <a:rPr lang="en-US" sz="7200" b="1" dirty="0">
                <a:latin typeface="Open Sans" panose="020B0606030504020204" pitchFamily="34" charset="0"/>
                <a:ea typeface="Open Sans" panose="020B0606030504020204" pitchFamily="34" charset="0"/>
                <a:cs typeface="Open Sans" panose="020B0606030504020204" pitchFamily="34" charset="0"/>
              </a:rPr>
              <a:t>Daily Digital Interaction Journey</a:t>
            </a:r>
            <a:endParaRPr lang="en-US" sz="6999" b="1"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Montserrat Bold"/>
            </a:endParaRPr>
          </a:p>
        </p:txBody>
      </p:sp>
      <p:sp>
        <p:nvSpPr>
          <p:cNvPr id="5" name="Freeform 3">
            <a:extLst>
              <a:ext uri="{FF2B5EF4-FFF2-40B4-BE49-F238E27FC236}">
                <a16:creationId xmlns:a16="http://schemas.microsoft.com/office/drawing/2014/main" id="{7CB4AE49-37D1-DECD-6768-E2E49F626921}"/>
              </a:ext>
            </a:extLst>
          </p:cNvPr>
          <p:cNvSpPr/>
          <p:nvPr/>
        </p:nvSpPr>
        <p:spPr>
          <a:xfrm>
            <a:off x="15697200" y="8578660"/>
            <a:ext cx="2590800" cy="1708340"/>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graphicFrame>
        <p:nvGraphicFramePr>
          <p:cNvPr id="6" name="Table 5">
            <a:extLst>
              <a:ext uri="{FF2B5EF4-FFF2-40B4-BE49-F238E27FC236}">
                <a16:creationId xmlns:a16="http://schemas.microsoft.com/office/drawing/2014/main" id="{C8E9E61D-3946-31C3-3568-696D3CE928FB}"/>
              </a:ext>
            </a:extLst>
          </p:cNvPr>
          <p:cNvGraphicFramePr>
            <a:graphicFrameLocks noGrp="1"/>
          </p:cNvGraphicFramePr>
          <p:nvPr>
            <p:extLst>
              <p:ext uri="{D42A27DB-BD31-4B8C-83A1-F6EECF244321}">
                <p14:modId xmlns:p14="http://schemas.microsoft.com/office/powerpoint/2010/main" val="4053688734"/>
              </p:ext>
            </p:extLst>
          </p:nvPr>
        </p:nvGraphicFramePr>
        <p:xfrm>
          <a:off x="1524000" y="2171700"/>
          <a:ext cx="15240000" cy="6112665"/>
        </p:xfrm>
        <a:graphic>
          <a:graphicData uri="http://schemas.openxmlformats.org/drawingml/2006/table">
            <a:tbl>
              <a:tblPr>
                <a:tableStyleId>{08FB837D-C827-4EFA-A057-4D05807E0F7C}</a:tableStyleId>
              </a:tblPr>
              <a:tblGrid>
                <a:gridCol w="3048000">
                  <a:extLst>
                    <a:ext uri="{9D8B030D-6E8A-4147-A177-3AD203B41FA5}">
                      <a16:colId xmlns:a16="http://schemas.microsoft.com/office/drawing/2014/main" val="2948227888"/>
                    </a:ext>
                  </a:extLst>
                </a:gridCol>
                <a:gridCol w="3048000">
                  <a:extLst>
                    <a:ext uri="{9D8B030D-6E8A-4147-A177-3AD203B41FA5}">
                      <a16:colId xmlns:a16="http://schemas.microsoft.com/office/drawing/2014/main" val="2272778805"/>
                    </a:ext>
                  </a:extLst>
                </a:gridCol>
                <a:gridCol w="3048000">
                  <a:extLst>
                    <a:ext uri="{9D8B030D-6E8A-4147-A177-3AD203B41FA5}">
                      <a16:colId xmlns:a16="http://schemas.microsoft.com/office/drawing/2014/main" val="824991024"/>
                    </a:ext>
                  </a:extLst>
                </a:gridCol>
                <a:gridCol w="3048000">
                  <a:extLst>
                    <a:ext uri="{9D8B030D-6E8A-4147-A177-3AD203B41FA5}">
                      <a16:colId xmlns:a16="http://schemas.microsoft.com/office/drawing/2014/main" val="222566429"/>
                    </a:ext>
                  </a:extLst>
                </a:gridCol>
                <a:gridCol w="3048000">
                  <a:extLst>
                    <a:ext uri="{9D8B030D-6E8A-4147-A177-3AD203B41FA5}">
                      <a16:colId xmlns:a16="http://schemas.microsoft.com/office/drawing/2014/main" val="1137446041"/>
                    </a:ext>
                  </a:extLst>
                </a:gridCol>
              </a:tblGrid>
              <a:tr h="528029">
                <a:tc>
                  <a:txBody>
                    <a:bodyPr/>
                    <a:lstStyle/>
                    <a:p>
                      <a:pPr>
                        <a:buNone/>
                      </a:pPr>
                      <a:r>
                        <a:rPr lang="en-US" sz="2400" b="1">
                          <a:latin typeface="Open Sans" panose="020B0606030504020204" pitchFamily="34" charset="0"/>
                          <a:ea typeface="Open Sans" panose="020B0606030504020204" pitchFamily="34" charset="0"/>
                          <a:cs typeface="Open Sans" panose="020B0606030504020204" pitchFamily="34" charset="0"/>
                        </a:rPr>
                        <a:t>Phase</a:t>
                      </a:r>
                    </a:p>
                  </a:txBody>
                  <a:tcPr marL="75433" marR="75433" marT="37716" marB="37716" anchor="ctr"/>
                </a:tc>
                <a:tc>
                  <a:txBody>
                    <a:bodyPr/>
                    <a:lstStyle/>
                    <a:p>
                      <a:pPr>
                        <a:buNone/>
                      </a:pPr>
                      <a:r>
                        <a:rPr lang="en-US" sz="2400" b="1">
                          <a:latin typeface="Open Sans" panose="020B0606030504020204" pitchFamily="34" charset="0"/>
                          <a:ea typeface="Open Sans" panose="020B0606030504020204" pitchFamily="34" charset="0"/>
                          <a:cs typeface="Open Sans" panose="020B0606030504020204" pitchFamily="34" charset="0"/>
                        </a:rPr>
                        <a:t>User Activity</a:t>
                      </a:r>
                    </a:p>
                  </a:txBody>
                  <a:tcPr marL="75433" marR="75433" marT="37716" marB="37716" anchor="ctr"/>
                </a:tc>
                <a:tc>
                  <a:txBody>
                    <a:bodyPr/>
                    <a:lstStyle/>
                    <a:p>
                      <a:pPr>
                        <a:buNone/>
                      </a:pPr>
                      <a:r>
                        <a:rPr lang="en-US" sz="2400" b="1" dirty="0">
                          <a:latin typeface="Open Sans" panose="020B0606030504020204" pitchFamily="34" charset="0"/>
                          <a:ea typeface="Open Sans" panose="020B0606030504020204" pitchFamily="34" charset="0"/>
                          <a:cs typeface="Open Sans" panose="020B0606030504020204" pitchFamily="34" charset="0"/>
                        </a:rPr>
                        <a:t>Cognitive State</a:t>
                      </a:r>
                    </a:p>
                  </a:txBody>
                  <a:tcPr marL="75433" marR="75433" marT="37716" marB="37716" anchor="ctr"/>
                </a:tc>
                <a:tc>
                  <a:txBody>
                    <a:bodyPr/>
                    <a:lstStyle/>
                    <a:p>
                      <a:pPr>
                        <a:buNone/>
                      </a:pPr>
                      <a:r>
                        <a:rPr lang="en-US" sz="2400" b="1" dirty="0">
                          <a:latin typeface="Open Sans" panose="020B0606030504020204" pitchFamily="34" charset="0"/>
                          <a:ea typeface="Open Sans" panose="020B0606030504020204" pitchFamily="34" charset="0"/>
                          <a:cs typeface="Open Sans" panose="020B0606030504020204" pitchFamily="34" charset="0"/>
                        </a:rPr>
                        <a:t>System Influence</a:t>
                      </a:r>
                    </a:p>
                  </a:txBody>
                  <a:tcPr marL="75433" marR="75433" marT="37716" marB="37716" anchor="ctr"/>
                </a:tc>
                <a:tc>
                  <a:txBody>
                    <a:bodyPr/>
                    <a:lstStyle/>
                    <a:p>
                      <a:pPr>
                        <a:buNone/>
                      </a:pPr>
                      <a:r>
                        <a:rPr lang="en-US" sz="2400" b="1" dirty="0">
                          <a:latin typeface="Open Sans" panose="020B0606030504020204" pitchFamily="34" charset="0"/>
                          <a:ea typeface="Open Sans" panose="020B0606030504020204" pitchFamily="34" charset="0"/>
                          <a:cs typeface="Open Sans" panose="020B0606030504020204" pitchFamily="34" charset="0"/>
                        </a:rPr>
                        <a:t>Opportunity Insight</a:t>
                      </a:r>
                    </a:p>
                  </a:txBody>
                  <a:tcPr marL="75433" marR="75433" marT="37716" marB="37716" anchor="ctr"/>
                </a:tc>
                <a:extLst>
                  <a:ext uri="{0D108BD9-81ED-4DB2-BD59-A6C34878D82A}">
                    <a16:rowId xmlns:a16="http://schemas.microsoft.com/office/drawing/2014/main" val="2520567929"/>
                  </a:ext>
                </a:extLst>
              </a:tr>
              <a:tr h="980625">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Morning</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Checks phone immediately</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Alert but distracted</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Notifications &amp; feeds</a:t>
                      </a:r>
                    </a:p>
                  </a:txBody>
                  <a:tcPr marL="75433" marR="75433" marT="37716" marB="37716" anchor="ctr"/>
                </a:tc>
                <a:tc>
                  <a:txBody>
                    <a:bodyPr/>
                    <a:lstStyle/>
                    <a:p>
                      <a:pPr>
                        <a:buNone/>
                      </a:pPr>
                      <a:r>
                        <a:rPr lang="en-GB" sz="2400">
                          <a:latin typeface="Open Sans" panose="020B0606030504020204" pitchFamily="34" charset="0"/>
                          <a:ea typeface="Open Sans" panose="020B0606030504020204" pitchFamily="34" charset="0"/>
                          <a:cs typeface="Open Sans" panose="020B0606030504020204" pitchFamily="34" charset="0"/>
                        </a:rPr>
                        <a:t>Need for controlled notification intake</a:t>
                      </a:r>
                    </a:p>
                  </a:txBody>
                  <a:tcPr marL="75433" marR="75433" marT="37716" marB="37716" anchor="ctr"/>
                </a:tc>
                <a:extLst>
                  <a:ext uri="{0D108BD9-81ED-4DB2-BD59-A6C34878D82A}">
                    <a16:rowId xmlns:a16="http://schemas.microsoft.com/office/drawing/2014/main" val="1832381873"/>
                  </a:ext>
                </a:extLst>
              </a:tr>
              <a:tr h="754327">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Midday</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Work/study communication</a:t>
                      </a:r>
                    </a:p>
                  </a:txBody>
                  <a:tcPr marL="75433" marR="75433" marT="37716" marB="3771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anose="020B0606030504020204" pitchFamily="34" charset="0"/>
                          <a:ea typeface="Open Sans" panose="020B0606030504020204" pitchFamily="34" charset="0"/>
                          <a:cs typeface="Open Sans" panose="020B0606030504020204" pitchFamily="34" charset="0"/>
                        </a:rPr>
                        <a:t>Fragmented focus </a:t>
                      </a:r>
                      <a:r>
                        <a:rPr lang="en-US" sz="2400" dirty="0">
                          <a:solidFill>
                            <a:srgbClr val="E01A72"/>
                          </a:solidFill>
                          <a:latin typeface="Open Sans"/>
                          <a:ea typeface="Open Sans"/>
                          <a:cs typeface="Open Sans"/>
                          <a:sym typeface="Open Sans"/>
                        </a:rPr>
                        <a:t>(Reuters, 2025)</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App multitasking</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Opportunity for focus-oriented interface</a:t>
                      </a:r>
                    </a:p>
                  </a:txBody>
                  <a:tcPr marL="75433" marR="75433" marT="37716" marB="37716" anchor="ctr"/>
                </a:tc>
                <a:extLst>
                  <a:ext uri="{0D108BD9-81ED-4DB2-BD59-A6C34878D82A}">
                    <a16:rowId xmlns:a16="http://schemas.microsoft.com/office/drawing/2014/main" val="3495244973"/>
                  </a:ext>
                </a:extLst>
              </a:tr>
              <a:tr h="754327">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Afternoon</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Passive scrolling</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Reduced productivity</a:t>
                      </a:r>
                    </a:p>
                  </a:txBody>
                  <a:tcPr marL="75433" marR="75433" marT="37716" marB="37716" anchor="ctr"/>
                </a:tc>
                <a:tc>
                  <a:txBody>
                    <a:bodyPr/>
                    <a:lstStyle/>
                    <a:p>
                      <a:pPr>
                        <a:buNone/>
                      </a:pPr>
                      <a:r>
                        <a:rPr lang="en-US" sz="2400" dirty="0">
                          <a:latin typeface="Open Sans" panose="020B0606030504020204" pitchFamily="34" charset="0"/>
                          <a:ea typeface="Open Sans" panose="020B0606030504020204" pitchFamily="34" charset="0"/>
                          <a:cs typeface="Open Sans" panose="020B0606030504020204" pitchFamily="34" charset="0"/>
                        </a:rPr>
                        <a:t>Algorithmic loops</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Need for intentional-use design</a:t>
                      </a:r>
                    </a:p>
                  </a:txBody>
                  <a:tcPr marL="75433" marR="75433" marT="37716" marB="37716" anchor="ctr"/>
                </a:tc>
                <a:extLst>
                  <a:ext uri="{0D108BD9-81ED-4DB2-BD59-A6C34878D82A}">
                    <a16:rowId xmlns:a16="http://schemas.microsoft.com/office/drawing/2014/main" val="2354843376"/>
                  </a:ext>
                </a:extLst>
              </a:tr>
              <a:tr h="754327">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Evening</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Messaging &amp; streaming</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Mental fatigue</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Continuous connectivity</a:t>
                      </a:r>
                    </a:p>
                  </a:txBody>
                  <a:tcPr marL="75433" marR="75433" marT="37716" marB="37716" anchor="ctr"/>
                </a:tc>
                <a:tc>
                  <a:txBody>
                    <a:bodyPr/>
                    <a:lstStyle/>
                    <a:p>
                      <a:pPr>
                        <a:buNone/>
                      </a:pPr>
                      <a:r>
                        <a:rPr lang="en-GB" sz="2400" dirty="0">
                          <a:latin typeface="Open Sans" panose="020B0606030504020204" pitchFamily="34" charset="0"/>
                          <a:ea typeface="Open Sans" panose="020B0606030504020204" pitchFamily="34" charset="0"/>
                          <a:cs typeface="Open Sans" panose="020B0606030504020204" pitchFamily="34" charset="0"/>
                        </a:rPr>
                        <a:t>Need for digital boundary features</a:t>
                      </a:r>
                    </a:p>
                  </a:txBody>
                  <a:tcPr marL="75433" marR="75433" marT="37716" marB="37716" anchor="ctr"/>
                </a:tc>
                <a:extLst>
                  <a:ext uri="{0D108BD9-81ED-4DB2-BD59-A6C34878D82A}">
                    <a16:rowId xmlns:a16="http://schemas.microsoft.com/office/drawing/2014/main" val="3945633853"/>
                  </a:ext>
                </a:extLst>
              </a:tr>
              <a:tr h="754327">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Night</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Late scrolling</a:t>
                      </a:r>
                    </a:p>
                  </a:txBody>
                  <a:tcPr marL="75433" marR="75433" marT="37716" marB="37716" anchor="ctr"/>
                </a:tc>
                <a:tc>
                  <a:txBody>
                    <a:bodyPr/>
                    <a:lstStyle/>
                    <a:p>
                      <a:pPr>
                        <a:buNone/>
                      </a:pPr>
                      <a:r>
                        <a:rPr lang="en-US" sz="2400" dirty="0">
                          <a:latin typeface="Open Sans" panose="020B0606030504020204" pitchFamily="34" charset="0"/>
                          <a:ea typeface="Open Sans" panose="020B0606030504020204" pitchFamily="34" charset="0"/>
                          <a:cs typeface="Open Sans" panose="020B0606030504020204" pitchFamily="34" charset="0"/>
                        </a:rPr>
                        <a:t>Overstimulated, guilty</a:t>
                      </a:r>
                    </a:p>
                  </a:txBody>
                  <a:tcPr marL="75433" marR="75433" marT="37716" marB="37716" anchor="ctr"/>
                </a:tc>
                <a:tc>
                  <a:txBody>
                    <a:bodyPr/>
                    <a:lstStyle/>
                    <a:p>
                      <a:pPr>
                        <a:buNone/>
                      </a:pPr>
                      <a:r>
                        <a:rPr lang="en-US" sz="2400">
                          <a:latin typeface="Open Sans" panose="020B0606030504020204" pitchFamily="34" charset="0"/>
                          <a:ea typeface="Open Sans" panose="020B0606030504020204" pitchFamily="34" charset="0"/>
                          <a:cs typeface="Open Sans" panose="020B0606030504020204" pitchFamily="34" charset="0"/>
                        </a:rPr>
                        <a:t>Infinite feeds</a:t>
                      </a:r>
                    </a:p>
                  </a:txBody>
                  <a:tcPr marL="75433" marR="75433" marT="37716" marB="37716" anchor="ctr"/>
                </a:tc>
                <a:tc>
                  <a:txBody>
                    <a:bodyPr/>
                    <a:lstStyle/>
                    <a:p>
                      <a:pPr>
                        <a:buNone/>
                      </a:pPr>
                      <a:r>
                        <a:rPr lang="en-US" sz="2400" dirty="0">
                          <a:latin typeface="Open Sans" panose="020B0606030504020204" pitchFamily="34" charset="0"/>
                          <a:ea typeface="Open Sans" panose="020B0606030504020204" pitchFamily="34" charset="0"/>
                          <a:cs typeface="Open Sans" panose="020B0606030504020204" pitchFamily="34" charset="0"/>
                        </a:rPr>
                        <a:t>Need for distraction-free modes</a:t>
                      </a:r>
                    </a:p>
                  </a:txBody>
                  <a:tcPr marL="75433" marR="75433" marT="37716" marB="37716" anchor="ctr"/>
                </a:tc>
                <a:extLst>
                  <a:ext uri="{0D108BD9-81ED-4DB2-BD59-A6C34878D82A}">
                    <a16:rowId xmlns:a16="http://schemas.microsoft.com/office/drawing/2014/main" val="2372239085"/>
                  </a:ext>
                </a:extLst>
              </a:tr>
            </a:tbl>
          </a:graphicData>
        </a:graphic>
      </p:graphicFrame>
      <p:sp>
        <p:nvSpPr>
          <p:cNvPr id="8" name="TextBox 7">
            <a:extLst>
              <a:ext uri="{FF2B5EF4-FFF2-40B4-BE49-F238E27FC236}">
                <a16:creationId xmlns:a16="http://schemas.microsoft.com/office/drawing/2014/main" id="{AAEF4A91-2C87-8D39-312D-A26C65619759}"/>
              </a:ext>
            </a:extLst>
          </p:cNvPr>
          <p:cNvSpPr txBox="1"/>
          <p:nvPr/>
        </p:nvSpPr>
        <p:spPr>
          <a:xfrm>
            <a:off x="1447800" y="8842057"/>
            <a:ext cx="14173200" cy="492443"/>
          </a:xfrm>
          <a:prstGeom prst="rect">
            <a:avLst/>
          </a:prstGeom>
          <a:noFill/>
        </p:spPr>
        <p:txBody>
          <a:bodyPr wrap="square">
            <a:spAutoFit/>
          </a:bodyPr>
          <a:lstStyle/>
          <a:p>
            <a:pPr>
              <a:buNone/>
            </a:pPr>
            <a:r>
              <a:rPr lang="en-GB" sz="2600" dirty="0">
                <a:latin typeface="Open Sans" panose="020B0606030504020204" pitchFamily="34" charset="0"/>
                <a:ea typeface="Open Sans" panose="020B0606030504020204" pitchFamily="34" charset="0"/>
                <a:cs typeface="Open Sans" panose="020B0606030504020204" pitchFamily="34" charset="0"/>
              </a:rPr>
              <a:t>Cognitive overload accumulates through the day due to engagement-driven system design.</a:t>
            </a:r>
          </a:p>
        </p:txBody>
      </p:sp>
    </p:spTree>
    <p:extLst>
      <p:ext uri="{BB962C8B-B14F-4D97-AF65-F5344CB8AC3E}">
        <p14:creationId xmlns:p14="http://schemas.microsoft.com/office/powerpoint/2010/main" val="4204882936"/>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AC50F-85DC-B5EC-60E7-E9FD5D0615A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91CDC91-A303-FF89-5406-3D3A50B9D834}"/>
              </a:ext>
            </a:extLst>
          </p:cNvPr>
          <p:cNvSpPr txBox="1"/>
          <p:nvPr/>
        </p:nvSpPr>
        <p:spPr>
          <a:xfrm>
            <a:off x="1028700" y="419100"/>
            <a:ext cx="16649700" cy="1170705"/>
          </a:xfrm>
          <a:prstGeom prst="rect">
            <a:avLst/>
          </a:prstGeom>
        </p:spPr>
        <p:txBody>
          <a:bodyPr wrap="square" lIns="0" tIns="0" rIns="0" bIns="0" rtlCol="0" anchor="t">
            <a:spAutoFit/>
          </a:bodyPr>
          <a:lstStyle/>
          <a:p>
            <a:pPr algn="ctr">
              <a:lnSpc>
                <a:spcPts val="9799"/>
              </a:lnSpc>
            </a:pPr>
            <a:r>
              <a:rPr lang="en-GB" sz="7200" b="1" dirty="0">
                <a:latin typeface="Montserrat" panose="00000500000000000000" pitchFamily="2" charset="0"/>
              </a:rPr>
              <a:t>USER PAIN AND NEEDS ANALYSIS</a:t>
            </a:r>
            <a:endParaRPr lang="en-US" sz="6999" b="1" dirty="0">
              <a:solidFill>
                <a:srgbClr val="000000"/>
              </a:solidFill>
              <a:latin typeface="Montserrat" panose="00000500000000000000" pitchFamily="2" charset="0"/>
              <a:ea typeface="Montserrat Bold"/>
              <a:cs typeface="Montserrat Bold"/>
              <a:sym typeface="Montserrat Bold"/>
            </a:endParaRPr>
          </a:p>
        </p:txBody>
      </p:sp>
      <p:sp>
        <p:nvSpPr>
          <p:cNvPr id="4" name="TextBox 4">
            <a:extLst>
              <a:ext uri="{FF2B5EF4-FFF2-40B4-BE49-F238E27FC236}">
                <a16:creationId xmlns:a16="http://schemas.microsoft.com/office/drawing/2014/main" id="{974FEAE8-611A-4B5B-83F3-42C312089C0B}"/>
              </a:ext>
            </a:extLst>
          </p:cNvPr>
          <p:cNvSpPr txBox="1"/>
          <p:nvPr/>
        </p:nvSpPr>
        <p:spPr>
          <a:xfrm>
            <a:off x="1143000" y="7388304"/>
            <a:ext cx="16230600" cy="861774"/>
          </a:xfrm>
          <a:prstGeom prst="rect">
            <a:avLst/>
          </a:prstGeom>
        </p:spPr>
        <p:txBody>
          <a:bodyPr lIns="0" tIns="0" rIns="0" bIns="0" rtlCol="0" anchor="t">
            <a:spAutoFit/>
          </a:bodyPr>
          <a:lstStyle/>
          <a:p>
            <a:pPr marL="571500" indent="-5715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User needs are shifting from feature abundance to intentional, controlled technology use (</a:t>
            </a:r>
            <a:r>
              <a:rPr lang="en-US" sz="2800" dirty="0">
                <a:latin typeface="Open Sans" panose="020B0606030504020204" pitchFamily="34" charset="0"/>
                <a:ea typeface="Open Sans" panose="020B0606030504020204" pitchFamily="34" charset="0"/>
                <a:cs typeface="Open Sans" panose="020B0606030504020204" pitchFamily="34" charset="0"/>
              </a:rPr>
              <a:t>Sexton et al., 2022</a:t>
            </a:r>
            <a:r>
              <a:rPr lang="en-GB" sz="2800" dirty="0">
                <a:latin typeface="Open Sans" panose="020B0606030504020204" pitchFamily="34" charset="0"/>
                <a:ea typeface="Open Sans" panose="020B0606030504020204" pitchFamily="34" charset="0"/>
                <a:cs typeface="Open Sans" panose="020B0606030504020204" pitchFamily="34" charset="0"/>
              </a:rPr>
              <a:t>).</a:t>
            </a:r>
          </a:p>
        </p:txBody>
      </p:sp>
      <p:sp>
        <p:nvSpPr>
          <p:cNvPr id="5" name="Freeform 3">
            <a:extLst>
              <a:ext uri="{FF2B5EF4-FFF2-40B4-BE49-F238E27FC236}">
                <a16:creationId xmlns:a16="http://schemas.microsoft.com/office/drawing/2014/main" id="{0896BF67-67B3-599E-006D-DD0F495BFE8F}"/>
              </a:ext>
            </a:extLst>
          </p:cNvPr>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sp>
        <p:nvSpPr>
          <p:cNvPr id="6" name="Rectangle 5">
            <a:extLst>
              <a:ext uri="{FF2B5EF4-FFF2-40B4-BE49-F238E27FC236}">
                <a16:creationId xmlns:a16="http://schemas.microsoft.com/office/drawing/2014/main" id="{B91218EC-1D1A-A332-CB00-99F16313EEA6}"/>
              </a:ext>
            </a:extLst>
          </p:cNvPr>
          <p:cNvSpPr/>
          <p:nvPr/>
        </p:nvSpPr>
        <p:spPr>
          <a:xfrm>
            <a:off x="1462418" y="1877403"/>
            <a:ext cx="4648200" cy="37994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latin typeface="Open Sans" panose="020B0606030504020204" pitchFamily="34" charset="0"/>
                <a:ea typeface="Open Sans" panose="020B0606030504020204" pitchFamily="34" charset="0"/>
                <a:cs typeface="Open Sans" panose="020B0606030504020204" pitchFamily="34" charset="0"/>
              </a:rPr>
              <a:t>Functional Needs</a:t>
            </a: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Fewer distractions</a:t>
            </a:r>
          </a:p>
          <a:p>
            <a:pPr marL="342900" indent="-3429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Simpler device interaction</a:t>
            </a:r>
          </a:p>
          <a:p>
            <a:pPr marL="342900" indent="-34290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Transparent privacy controls</a:t>
            </a:r>
          </a:p>
        </p:txBody>
      </p:sp>
      <p:sp>
        <p:nvSpPr>
          <p:cNvPr id="9" name="Rectangle 8">
            <a:extLst>
              <a:ext uri="{FF2B5EF4-FFF2-40B4-BE49-F238E27FC236}">
                <a16:creationId xmlns:a16="http://schemas.microsoft.com/office/drawing/2014/main" id="{F5C0F9EC-C725-CEB6-8CAB-7A7673449585}"/>
              </a:ext>
            </a:extLst>
          </p:cNvPr>
          <p:cNvSpPr/>
          <p:nvPr/>
        </p:nvSpPr>
        <p:spPr>
          <a:xfrm>
            <a:off x="6858000" y="3238500"/>
            <a:ext cx="3810000" cy="341849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2800" b="1" dirty="0">
                <a:latin typeface="Open Sans" panose="020B0606030504020204" pitchFamily="34" charset="0"/>
                <a:ea typeface="Open Sans" panose="020B0606030504020204" pitchFamily="34" charset="0"/>
                <a:cs typeface="Open Sans" panose="020B0606030504020204" pitchFamily="34" charset="0"/>
              </a:rPr>
              <a:t>Emotional Needs</a:t>
            </a:r>
          </a:p>
          <a:p>
            <a:pPr algn="just"/>
            <a:endParaRPr lang="en-GB"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lgn="just">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Reduced anxiety</a:t>
            </a:r>
          </a:p>
          <a:p>
            <a:pPr marL="457200" indent="-457200" algn="just">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Feeling in control</a:t>
            </a:r>
          </a:p>
          <a:p>
            <a:pPr marL="457200" indent="-457200" algn="just">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Mental calm </a:t>
            </a:r>
            <a:r>
              <a:rPr lang="en-US" sz="2800" dirty="0">
                <a:solidFill>
                  <a:srgbClr val="E01A72"/>
                </a:solidFill>
                <a:latin typeface="Open Sans"/>
                <a:ea typeface="Open Sans"/>
                <a:cs typeface="Open Sans"/>
                <a:sym typeface="Open Sans"/>
              </a:rPr>
              <a:t>(Reuters, 2025)</a:t>
            </a:r>
          </a:p>
          <a:p>
            <a:pPr marL="457200" indent="-457200" algn="just">
              <a:buFont typeface="Arial" panose="020B0604020202020204" pitchFamily="34" charset="0"/>
              <a:buChar char="•"/>
            </a:pPr>
            <a:endParaRPr lang="en-GB"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22AEB2C7-810B-2CCF-11DA-BACF4A446E50}"/>
              </a:ext>
            </a:extLst>
          </p:cNvPr>
          <p:cNvSpPr/>
          <p:nvPr/>
        </p:nvSpPr>
        <p:spPr>
          <a:xfrm>
            <a:off x="12177383" y="1877405"/>
            <a:ext cx="4648199" cy="37994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latin typeface="Open Sans" panose="020B0606030504020204" pitchFamily="34" charset="0"/>
                <a:ea typeface="Open Sans" panose="020B0606030504020204" pitchFamily="34" charset="0"/>
                <a:cs typeface="Open Sans" panose="020B0606030504020204" pitchFamily="34" charset="0"/>
              </a:rPr>
              <a:t>Privacy Needs</a:t>
            </a:r>
          </a:p>
          <a:p>
            <a:endParaRPr lang="en-GB"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Limited data tracking</a:t>
            </a:r>
          </a:p>
          <a:p>
            <a:pPr marL="457200" indent="-4572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Secure communication</a:t>
            </a:r>
          </a:p>
          <a:p>
            <a:pPr marL="457200" indent="-457200">
              <a:buFont typeface="Arial" panose="020B0604020202020204" pitchFamily="34" charset="0"/>
              <a:buChar char="•"/>
            </a:pPr>
            <a:r>
              <a:rPr lang="en-GB" sz="2800" dirty="0">
                <a:latin typeface="Open Sans" panose="020B0606030504020204" pitchFamily="34" charset="0"/>
                <a:ea typeface="Open Sans" panose="020B0606030504020204" pitchFamily="34" charset="0"/>
                <a:cs typeface="Open Sans" panose="020B0606030504020204" pitchFamily="34" charset="0"/>
              </a:rPr>
              <a:t>Clear permission management </a:t>
            </a:r>
          </a:p>
        </p:txBody>
      </p:sp>
    </p:spTree>
    <p:extLst>
      <p:ext uri="{BB962C8B-B14F-4D97-AF65-F5344CB8AC3E}">
        <p14:creationId xmlns:p14="http://schemas.microsoft.com/office/powerpoint/2010/main" val="2343336886"/>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EEF8E-8597-7AA1-0498-4C55A964D22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7AC9A0C-6C93-17AB-740E-878F4436DC2B}"/>
              </a:ext>
            </a:extLst>
          </p:cNvPr>
          <p:cNvSpPr txBox="1"/>
          <p:nvPr/>
        </p:nvSpPr>
        <p:spPr>
          <a:xfrm>
            <a:off x="1028700" y="-69410"/>
            <a:ext cx="16211305" cy="2389437"/>
          </a:xfrm>
          <a:prstGeom prst="rect">
            <a:avLst/>
          </a:prstGeom>
        </p:spPr>
        <p:txBody>
          <a:bodyPr lIns="0" tIns="0" rIns="0" bIns="0" rtlCol="0" anchor="t">
            <a:spAutoFit/>
          </a:bodyPr>
          <a:lstStyle/>
          <a:p>
            <a:pPr algn="ctr">
              <a:lnSpc>
                <a:spcPts val="9799"/>
              </a:lnSpc>
            </a:pPr>
            <a:r>
              <a:rPr lang="en-GB" sz="6500" b="1" dirty="0">
                <a:latin typeface="Montserrat" panose="00000500000000000000" pitchFamily="2" charset="0"/>
                <a:ea typeface="Malgun Gothic" panose="020B0503020000020004" pitchFamily="34" charset="-127"/>
              </a:rPr>
              <a:t>Gap Between Current Smartphone Systems and User Expectations</a:t>
            </a:r>
            <a:endParaRPr lang="en-US" sz="6500" b="1" dirty="0">
              <a:solidFill>
                <a:srgbClr val="000000"/>
              </a:solidFill>
              <a:latin typeface="Montserrat" panose="00000500000000000000" pitchFamily="2" charset="0"/>
              <a:ea typeface="Malgun Gothic" panose="020B0503020000020004" pitchFamily="34" charset="-127"/>
              <a:cs typeface="Montserrat Bold"/>
              <a:sym typeface="Montserrat Bold"/>
            </a:endParaRPr>
          </a:p>
        </p:txBody>
      </p:sp>
      <p:sp>
        <p:nvSpPr>
          <p:cNvPr id="4" name="TextBox 4">
            <a:extLst>
              <a:ext uri="{FF2B5EF4-FFF2-40B4-BE49-F238E27FC236}">
                <a16:creationId xmlns:a16="http://schemas.microsoft.com/office/drawing/2014/main" id="{D2C0745E-D158-E6DA-1DD1-83E9EAFAA86E}"/>
              </a:ext>
            </a:extLst>
          </p:cNvPr>
          <p:cNvSpPr txBox="1"/>
          <p:nvPr/>
        </p:nvSpPr>
        <p:spPr>
          <a:xfrm>
            <a:off x="1028700" y="7194709"/>
            <a:ext cx="16230600" cy="2215991"/>
          </a:xfrm>
          <a:prstGeom prst="rect">
            <a:avLst/>
          </a:prstGeom>
        </p:spPr>
        <p:txBody>
          <a:bodyPr lIns="0" tIns="0" rIns="0" bIns="0" rtlCol="0" anchor="t">
            <a:spAutoFit/>
          </a:bodyPr>
          <a:lstStyle/>
          <a:p>
            <a:pPr marL="571500" indent="-571500">
              <a:buFont typeface="Arial" panose="020B0604020202020204" pitchFamily="34" charset="0"/>
              <a:buChar char="•"/>
            </a:pPr>
            <a:r>
              <a:rPr lang="en-GB" sz="3600" dirty="0"/>
              <a:t>There is a structural gap between dominant smartphone logic and growing demand for digital wellbeing (</a:t>
            </a:r>
            <a:r>
              <a:rPr lang="en-US" sz="2800" dirty="0">
                <a:latin typeface="Open Sans" panose="020B0606030504020204" pitchFamily="34" charset="0"/>
                <a:ea typeface="Open Sans" panose="020B0606030504020204" pitchFamily="34" charset="0"/>
                <a:cs typeface="Open Sans" panose="020B0606030504020204" pitchFamily="34" charset="0"/>
              </a:rPr>
              <a:t>Shin, 2025</a:t>
            </a:r>
            <a:r>
              <a:rPr lang="en-GB" sz="3600" dirty="0"/>
              <a:t>).</a:t>
            </a:r>
          </a:p>
          <a:p>
            <a:pPr marL="571500" indent="-571500">
              <a:buFont typeface="Arial" panose="020B0604020202020204" pitchFamily="34" charset="0"/>
              <a:buChar char="•"/>
            </a:pPr>
            <a:r>
              <a:rPr lang="en-GB" sz="3600" dirty="0"/>
              <a:t>BlackBerry’s legacy in secure, purposeful communication aligns with this unmet need.</a:t>
            </a:r>
          </a:p>
        </p:txBody>
      </p:sp>
      <p:graphicFrame>
        <p:nvGraphicFramePr>
          <p:cNvPr id="6" name="Table 5">
            <a:extLst>
              <a:ext uri="{FF2B5EF4-FFF2-40B4-BE49-F238E27FC236}">
                <a16:creationId xmlns:a16="http://schemas.microsoft.com/office/drawing/2014/main" id="{9DB652B2-AF34-A410-8D29-F144151BE2A5}"/>
              </a:ext>
            </a:extLst>
          </p:cNvPr>
          <p:cNvGraphicFramePr>
            <a:graphicFrameLocks noGrp="1"/>
          </p:cNvGraphicFramePr>
          <p:nvPr>
            <p:extLst>
              <p:ext uri="{D42A27DB-BD31-4B8C-83A1-F6EECF244321}">
                <p14:modId xmlns:p14="http://schemas.microsoft.com/office/powerpoint/2010/main" val="3883266087"/>
              </p:ext>
            </p:extLst>
          </p:nvPr>
        </p:nvGraphicFramePr>
        <p:xfrm>
          <a:off x="3048000" y="2803368"/>
          <a:ext cx="12573000" cy="4198010"/>
        </p:xfrm>
        <a:graphic>
          <a:graphicData uri="http://schemas.openxmlformats.org/drawingml/2006/table">
            <a:tbl>
              <a:tblPr>
                <a:tableStyleId>{08FB837D-C827-4EFA-A057-4D05807E0F7C}</a:tableStyleId>
              </a:tblPr>
              <a:tblGrid>
                <a:gridCol w="6286500">
                  <a:extLst>
                    <a:ext uri="{9D8B030D-6E8A-4147-A177-3AD203B41FA5}">
                      <a16:colId xmlns:a16="http://schemas.microsoft.com/office/drawing/2014/main" val="2691249696"/>
                    </a:ext>
                  </a:extLst>
                </a:gridCol>
                <a:gridCol w="6286500">
                  <a:extLst>
                    <a:ext uri="{9D8B030D-6E8A-4147-A177-3AD203B41FA5}">
                      <a16:colId xmlns:a16="http://schemas.microsoft.com/office/drawing/2014/main" val="1579053434"/>
                    </a:ext>
                  </a:extLst>
                </a:gridCol>
              </a:tblGrid>
              <a:tr h="656722">
                <a:tc>
                  <a:txBody>
                    <a:bodyPr/>
                    <a:lstStyle/>
                    <a:p>
                      <a:pPr>
                        <a:buNone/>
                      </a:pPr>
                      <a:r>
                        <a:rPr lang="en-US" sz="2600" b="1">
                          <a:latin typeface="Open Sans" panose="020B0606030504020204" pitchFamily="34" charset="0"/>
                          <a:ea typeface="Open Sans" panose="020B0606030504020204" pitchFamily="34" charset="0"/>
                          <a:cs typeface="Open Sans" panose="020B0606030504020204" pitchFamily="34" charset="0"/>
                        </a:rPr>
                        <a:t>Current Smartphone Design</a:t>
                      </a:r>
                    </a:p>
                  </a:txBody>
                  <a:tcPr anchor="ctr"/>
                </a:tc>
                <a:tc>
                  <a:txBody>
                    <a:bodyPr/>
                    <a:lstStyle/>
                    <a:p>
                      <a:pPr>
                        <a:buNone/>
                      </a:pPr>
                      <a:r>
                        <a:rPr lang="en-US" sz="2600" b="1" dirty="0">
                          <a:latin typeface="Open Sans" panose="020B0606030504020204" pitchFamily="34" charset="0"/>
                          <a:ea typeface="Open Sans" panose="020B0606030504020204" pitchFamily="34" charset="0"/>
                          <a:cs typeface="Open Sans" panose="020B0606030504020204" pitchFamily="34" charset="0"/>
                        </a:rPr>
                        <a:t>Emerging User Expectation</a:t>
                      </a:r>
                    </a:p>
                  </a:txBody>
                  <a:tcPr anchor="ctr"/>
                </a:tc>
                <a:extLst>
                  <a:ext uri="{0D108BD9-81ED-4DB2-BD59-A6C34878D82A}">
                    <a16:rowId xmlns:a16="http://schemas.microsoft.com/office/drawing/2014/main" val="2258719457"/>
                  </a:ext>
                </a:extLst>
              </a:tr>
              <a:tr h="656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600" dirty="0">
                          <a:latin typeface="Open Sans" panose="020B0606030504020204" pitchFamily="34" charset="0"/>
                          <a:ea typeface="Open Sans" panose="020B0606030504020204" pitchFamily="34" charset="0"/>
                          <a:cs typeface="Open Sans" panose="020B0606030504020204" pitchFamily="34" charset="0"/>
                        </a:rPr>
                        <a:t>Engagement-driven </a:t>
                      </a:r>
                      <a:r>
                        <a:rPr lang="en-US" sz="2800" dirty="0">
                          <a:solidFill>
                            <a:srgbClr val="E01A72"/>
                          </a:solidFill>
                          <a:latin typeface="Open Sans"/>
                          <a:ea typeface="Open Sans"/>
                          <a:cs typeface="Open Sans"/>
                          <a:sym typeface="Open Sans"/>
                        </a:rPr>
                        <a:t>(Reuters, 2025)</a:t>
                      </a:r>
                    </a:p>
                    <a:p>
                      <a:pPr>
                        <a:buNone/>
                      </a:pPr>
                      <a:endParaRPr lang="en-US" sz="2600" dirty="0">
                        <a:latin typeface="Open Sans" panose="020B0606030504020204" pitchFamily="34" charset="0"/>
                        <a:ea typeface="Open Sans" panose="020B0606030504020204" pitchFamily="34" charset="0"/>
                        <a:cs typeface="Open Sans" panose="020B0606030504020204" pitchFamily="34" charset="0"/>
                      </a:endParaRPr>
                    </a:p>
                  </a:txBody>
                  <a:tcPr anchor="ctr"/>
                </a:tc>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Focus-driven</a:t>
                      </a:r>
                    </a:p>
                  </a:txBody>
                  <a:tcPr anchor="ctr"/>
                </a:tc>
                <a:extLst>
                  <a:ext uri="{0D108BD9-81ED-4DB2-BD59-A6C34878D82A}">
                    <a16:rowId xmlns:a16="http://schemas.microsoft.com/office/drawing/2014/main" val="759033211"/>
                  </a:ext>
                </a:extLst>
              </a:tr>
              <a:tr h="656722">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Data monetization</a:t>
                      </a:r>
                    </a:p>
                  </a:txBody>
                  <a:tcPr anchor="ctr"/>
                </a:tc>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Privacy-first</a:t>
                      </a:r>
                    </a:p>
                  </a:txBody>
                  <a:tcPr anchor="ctr"/>
                </a:tc>
                <a:extLst>
                  <a:ext uri="{0D108BD9-81ED-4DB2-BD59-A6C34878D82A}">
                    <a16:rowId xmlns:a16="http://schemas.microsoft.com/office/drawing/2014/main" val="751278911"/>
                  </a:ext>
                </a:extLst>
              </a:tr>
              <a:tr h="656722">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Infinite scrolling</a:t>
                      </a:r>
                    </a:p>
                  </a:txBody>
                  <a:tcPr anchor="ctr"/>
                </a:tc>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Intentional usage</a:t>
                      </a:r>
                    </a:p>
                  </a:txBody>
                  <a:tcPr anchor="ctr"/>
                </a:tc>
                <a:extLst>
                  <a:ext uri="{0D108BD9-81ED-4DB2-BD59-A6C34878D82A}">
                    <a16:rowId xmlns:a16="http://schemas.microsoft.com/office/drawing/2014/main" val="1098198452"/>
                  </a:ext>
                </a:extLst>
              </a:tr>
              <a:tr h="656722">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Constant alerts</a:t>
                      </a:r>
                    </a:p>
                  </a:txBody>
                  <a:tcPr anchor="ctr"/>
                </a:tc>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Controlled attention</a:t>
                      </a:r>
                    </a:p>
                  </a:txBody>
                  <a:tcPr anchor="ctr"/>
                </a:tc>
                <a:extLst>
                  <a:ext uri="{0D108BD9-81ED-4DB2-BD59-A6C34878D82A}">
                    <a16:rowId xmlns:a16="http://schemas.microsoft.com/office/drawing/2014/main" val="1849378515"/>
                  </a:ext>
                </a:extLst>
              </a:tr>
              <a:tr h="656722">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App overload</a:t>
                      </a:r>
                    </a:p>
                  </a:txBody>
                  <a:tcPr anchor="ctr"/>
                </a:tc>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Simplified ecosystem</a:t>
                      </a:r>
                    </a:p>
                  </a:txBody>
                  <a:tcPr anchor="ctr"/>
                </a:tc>
                <a:extLst>
                  <a:ext uri="{0D108BD9-81ED-4DB2-BD59-A6C34878D82A}">
                    <a16:rowId xmlns:a16="http://schemas.microsoft.com/office/drawing/2014/main" val="4245233905"/>
                  </a:ext>
                </a:extLst>
              </a:tr>
            </a:tbl>
          </a:graphicData>
        </a:graphic>
      </p:graphicFrame>
    </p:spTree>
    <p:extLst>
      <p:ext uri="{BB962C8B-B14F-4D97-AF65-F5344CB8AC3E}">
        <p14:creationId xmlns:p14="http://schemas.microsoft.com/office/powerpoint/2010/main" val="422233171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83BAE-8598-3A04-6E1B-E8444420C55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A9ECB2E-81A1-D17D-8DAC-FF31D5DCFC17}"/>
              </a:ext>
            </a:extLst>
          </p:cNvPr>
          <p:cNvSpPr txBox="1"/>
          <p:nvPr/>
        </p:nvSpPr>
        <p:spPr>
          <a:xfrm>
            <a:off x="1028700" y="38100"/>
            <a:ext cx="16211305" cy="2405274"/>
          </a:xfrm>
          <a:prstGeom prst="rect">
            <a:avLst/>
          </a:prstGeom>
        </p:spPr>
        <p:txBody>
          <a:bodyPr lIns="0" tIns="0" rIns="0" bIns="0" rtlCol="0" anchor="t">
            <a:spAutoFit/>
          </a:bodyPr>
          <a:lstStyle/>
          <a:p>
            <a:pPr algn="ctr">
              <a:lnSpc>
                <a:spcPts val="9799"/>
              </a:lnSpc>
            </a:pPr>
            <a:r>
              <a:rPr lang="en-GB" sz="6500" b="1" dirty="0">
                <a:latin typeface="Montserrat" panose="00000500000000000000" pitchFamily="2" charset="0"/>
                <a:ea typeface="Open Sans" panose="020B0606030504020204" pitchFamily="34" charset="0"/>
                <a:cs typeface="Open Sans" panose="020B0606030504020204" pitchFamily="34" charset="0"/>
              </a:rPr>
              <a:t>ALIGNMENT OF BLACKBERRY STRENGTHS WITH EMERGING NEEDS</a:t>
            </a:r>
            <a:endParaRPr lang="en-US" sz="6500" b="1" dirty="0">
              <a:solidFill>
                <a:srgbClr val="000000"/>
              </a:solidFill>
              <a:latin typeface="Montserrat" panose="00000500000000000000" pitchFamily="2" charset="0"/>
              <a:ea typeface="Open Sans" panose="020B0606030504020204" pitchFamily="34" charset="0"/>
              <a:cs typeface="Open Sans" panose="020B0606030504020204" pitchFamily="34" charset="0"/>
              <a:sym typeface="Montserrat Bold"/>
            </a:endParaRPr>
          </a:p>
        </p:txBody>
      </p:sp>
      <p:sp>
        <p:nvSpPr>
          <p:cNvPr id="4" name="TextBox 4">
            <a:extLst>
              <a:ext uri="{FF2B5EF4-FFF2-40B4-BE49-F238E27FC236}">
                <a16:creationId xmlns:a16="http://schemas.microsoft.com/office/drawing/2014/main" id="{46F634C5-907D-5AED-B946-D059BD23C782}"/>
              </a:ext>
            </a:extLst>
          </p:cNvPr>
          <p:cNvSpPr txBox="1"/>
          <p:nvPr/>
        </p:nvSpPr>
        <p:spPr>
          <a:xfrm>
            <a:off x="1524000" y="8164564"/>
            <a:ext cx="13677900" cy="1169936"/>
          </a:xfrm>
          <a:prstGeom prst="rect">
            <a:avLst/>
          </a:prstGeom>
        </p:spPr>
        <p:txBody>
          <a:bodyPr wrap="square" lIns="0" tIns="0" rIns="0" bIns="0" rtlCol="0" anchor="t">
            <a:spAutoFit/>
          </a:bodyPr>
          <a:lstStyle/>
          <a:p>
            <a:pPr>
              <a:lnSpc>
                <a:spcPts val="4759"/>
              </a:lnSpc>
            </a:pPr>
            <a:r>
              <a:rPr lang="en-GB" sz="2800" b="1" dirty="0">
                <a:latin typeface="Open Sans" panose="020B0606030504020204" pitchFamily="34" charset="0"/>
                <a:ea typeface="Open Sans" panose="020B0606030504020204" pitchFamily="34" charset="0"/>
                <a:cs typeface="Open Sans" panose="020B0606030504020204" pitchFamily="34" charset="0"/>
              </a:rPr>
              <a:t>Insight: </a:t>
            </a:r>
            <a:r>
              <a:rPr lang="en-GB" sz="2800" dirty="0">
                <a:latin typeface="Open Sans" panose="020B0606030504020204" pitchFamily="34" charset="0"/>
                <a:ea typeface="Open Sans" panose="020B0606030504020204" pitchFamily="34" charset="0"/>
                <a:cs typeface="Open Sans" panose="020B0606030504020204" pitchFamily="34" charset="0"/>
              </a:rPr>
              <a:t>BlackBerry’s historical strengths directly match the identified opportunity space (</a:t>
            </a:r>
            <a:r>
              <a:rPr lang="en-US" sz="2800" dirty="0" err="1">
                <a:latin typeface="Open Sans" panose="020B0606030504020204" pitchFamily="34" charset="0"/>
                <a:ea typeface="Open Sans" panose="020B0606030504020204" pitchFamily="34" charset="0"/>
                <a:cs typeface="Open Sans" panose="020B0606030504020204" pitchFamily="34" charset="0"/>
              </a:rPr>
              <a:t>Massenon</a:t>
            </a:r>
            <a:r>
              <a:rPr lang="en-US" sz="2800" dirty="0">
                <a:latin typeface="Open Sans" panose="020B0606030504020204" pitchFamily="34" charset="0"/>
                <a:ea typeface="Open Sans" panose="020B0606030504020204" pitchFamily="34" charset="0"/>
                <a:cs typeface="Open Sans" panose="020B0606030504020204" pitchFamily="34" charset="0"/>
              </a:rPr>
              <a:t> et al., 2024</a:t>
            </a:r>
            <a:r>
              <a:rPr lang="en-GB" sz="2800" dirty="0">
                <a:latin typeface="Open Sans" panose="020B0606030504020204" pitchFamily="34" charset="0"/>
                <a:ea typeface="Open Sans" panose="020B0606030504020204" pitchFamily="34" charset="0"/>
                <a:cs typeface="Open Sans" panose="020B0606030504020204" pitchFamily="34" charset="0"/>
              </a:rPr>
              <a:t>).</a:t>
            </a:r>
            <a:endParaRPr lang="en-US"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5" name="Freeform 3">
            <a:extLst>
              <a:ext uri="{FF2B5EF4-FFF2-40B4-BE49-F238E27FC236}">
                <a16:creationId xmlns:a16="http://schemas.microsoft.com/office/drawing/2014/main" id="{404341A9-B1ED-DFC2-C6EF-73ABA1D8F0ED}"/>
              </a:ext>
            </a:extLst>
          </p:cNvPr>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graphicFrame>
        <p:nvGraphicFramePr>
          <p:cNvPr id="6" name="Table 5">
            <a:extLst>
              <a:ext uri="{FF2B5EF4-FFF2-40B4-BE49-F238E27FC236}">
                <a16:creationId xmlns:a16="http://schemas.microsoft.com/office/drawing/2014/main" id="{4D2A8556-096E-EFDA-E12C-CC0123FDFE5D}"/>
              </a:ext>
            </a:extLst>
          </p:cNvPr>
          <p:cNvGraphicFramePr>
            <a:graphicFrameLocks noGrp="1"/>
          </p:cNvGraphicFramePr>
          <p:nvPr>
            <p:extLst>
              <p:ext uri="{D42A27DB-BD31-4B8C-83A1-F6EECF244321}">
                <p14:modId xmlns:p14="http://schemas.microsoft.com/office/powerpoint/2010/main" val="3765380313"/>
              </p:ext>
            </p:extLst>
          </p:nvPr>
        </p:nvGraphicFramePr>
        <p:xfrm>
          <a:off x="2095500" y="3220375"/>
          <a:ext cx="13982700" cy="3980525"/>
        </p:xfrm>
        <a:graphic>
          <a:graphicData uri="http://schemas.openxmlformats.org/drawingml/2006/table">
            <a:tbl>
              <a:tblPr>
                <a:tableStyleId>{08FB837D-C827-4EFA-A057-4D05807E0F7C}</a:tableStyleId>
              </a:tblPr>
              <a:tblGrid>
                <a:gridCol w="6991350">
                  <a:extLst>
                    <a:ext uri="{9D8B030D-6E8A-4147-A177-3AD203B41FA5}">
                      <a16:colId xmlns:a16="http://schemas.microsoft.com/office/drawing/2014/main" val="874871747"/>
                    </a:ext>
                  </a:extLst>
                </a:gridCol>
                <a:gridCol w="6991350">
                  <a:extLst>
                    <a:ext uri="{9D8B030D-6E8A-4147-A177-3AD203B41FA5}">
                      <a16:colId xmlns:a16="http://schemas.microsoft.com/office/drawing/2014/main" val="767341441"/>
                    </a:ext>
                  </a:extLst>
                </a:gridCol>
              </a:tblGrid>
              <a:tr h="796105">
                <a:tc>
                  <a:txBody>
                    <a:bodyPr/>
                    <a:lstStyle/>
                    <a:p>
                      <a:pPr>
                        <a:buNone/>
                      </a:pPr>
                      <a:r>
                        <a:rPr lang="en-US" sz="2600" b="1" dirty="0">
                          <a:latin typeface="Open Sans" panose="020B0606030504020204" pitchFamily="34" charset="0"/>
                          <a:ea typeface="Open Sans" panose="020B0606030504020204" pitchFamily="34" charset="0"/>
                          <a:cs typeface="Open Sans" panose="020B0606030504020204" pitchFamily="34" charset="0"/>
                        </a:rPr>
                        <a:t>BlackBerry Capability</a:t>
                      </a:r>
                    </a:p>
                  </a:txBody>
                  <a:tcPr anchor="ctr"/>
                </a:tc>
                <a:tc>
                  <a:txBody>
                    <a:bodyPr/>
                    <a:lstStyle/>
                    <a:p>
                      <a:pPr>
                        <a:buNone/>
                      </a:pPr>
                      <a:r>
                        <a:rPr lang="en-US" sz="2600" b="1" dirty="0">
                          <a:latin typeface="Open Sans" panose="020B0606030504020204" pitchFamily="34" charset="0"/>
                          <a:ea typeface="Open Sans" panose="020B0606030504020204" pitchFamily="34" charset="0"/>
                          <a:cs typeface="Open Sans" panose="020B0606030504020204" pitchFamily="34" charset="0"/>
                        </a:rPr>
                        <a:t>Related User Demand</a:t>
                      </a:r>
                    </a:p>
                  </a:txBody>
                  <a:tcPr anchor="ctr"/>
                </a:tc>
                <a:extLst>
                  <a:ext uri="{0D108BD9-81ED-4DB2-BD59-A6C34878D82A}">
                    <a16:rowId xmlns:a16="http://schemas.microsoft.com/office/drawing/2014/main" val="2086653587"/>
                  </a:ext>
                </a:extLst>
              </a:tr>
              <a:tr h="796105">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Security expertise</a:t>
                      </a:r>
                    </a:p>
                  </a:txBody>
                  <a:tcPr anchor="ctr"/>
                </a:tc>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Privacy protection</a:t>
                      </a:r>
                    </a:p>
                  </a:txBody>
                  <a:tcPr anchor="ctr"/>
                </a:tc>
                <a:extLst>
                  <a:ext uri="{0D108BD9-81ED-4DB2-BD59-A6C34878D82A}">
                    <a16:rowId xmlns:a16="http://schemas.microsoft.com/office/drawing/2014/main" val="1875105054"/>
                  </a:ext>
                </a:extLst>
              </a:tr>
              <a:tr h="796105">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Trusted brand heritage</a:t>
                      </a:r>
                    </a:p>
                  </a:txBody>
                  <a:tcPr anchor="ctr"/>
                </a:tc>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Confidence in device integrity</a:t>
                      </a:r>
                    </a:p>
                  </a:txBody>
                  <a:tcPr anchor="ctr"/>
                </a:tc>
                <a:extLst>
                  <a:ext uri="{0D108BD9-81ED-4DB2-BD59-A6C34878D82A}">
                    <a16:rowId xmlns:a16="http://schemas.microsoft.com/office/drawing/2014/main" val="1887512424"/>
                  </a:ext>
                </a:extLst>
              </a:tr>
              <a:tr h="796105">
                <a:tc>
                  <a:txBody>
                    <a:bodyPr/>
                    <a:lstStyle/>
                    <a:p>
                      <a:pPr>
                        <a:buNone/>
                      </a:pPr>
                      <a:r>
                        <a:rPr lang="en-US" sz="2600">
                          <a:latin typeface="Open Sans" panose="020B0606030504020204" pitchFamily="34" charset="0"/>
                          <a:ea typeface="Open Sans" panose="020B0606030504020204" pitchFamily="34" charset="0"/>
                          <a:cs typeface="Open Sans" panose="020B0606030504020204" pitchFamily="34" charset="0"/>
                        </a:rPr>
                        <a:t>Experience in communication tools</a:t>
                      </a:r>
                    </a:p>
                  </a:txBody>
                  <a:tcPr anchor="ctr"/>
                </a:tc>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Purposeful connectivity</a:t>
                      </a:r>
                    </a:p>
                  </a:txBody>
                  <a:tcPr anchor="ctr"/>
                </a:tc>
                <a:extLst>
                  <a:ext uri="{0D108BD9-81ED-4DB2-BD59-A6C34878D82A}">
                    <a16:rowId xmlns:a16="http://schemas.microsoft.com/office/drawing/2014/main" val="3207810670"/>
                  </a:ext>
                </a:extLst>
              </a:tr>
              <a:tr h="796105">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Enterprise software background</a:t>
                      </a:r>
                    </a:p>
                  </a:txBody>
                  <a:tcPr anchor="ctr"/>
                </a:tc>
                <a:tc>
                  <a:txBody>
                    <a:bodyPr/>
                    <a:lstStyle/>
                    <a:p>
                      <a:pPr>
                        <a:buNone/>
                      </a:pPr>
                      <a:r>
                        <a:rPr lang="en-US" sz="2600" dirty="0">
                          <a:latin typeface="Open Sans" panose="020B0606030504020204" pitchFamily="34" charset="0"/>
                          <a:ea typeface="Open Sans" panose="020B0606030504020204" pitchFamily="34" charset="0"/>
                          <a:cs typeface="Open Sans" panose="020B0606030504020204" pitchFamily="34" charset="0"/>
                        </a:rPr>
                        <a:t>Controlled system architecture</a:t>
                      </a:r>
                    </a:p>
                  </a:txBody>
                  <a:tcPr anchor="ctr"/>
                </a:tc>
                <a:extLst>
                  <a:ext uri="{0D108BD9-81ED-4DB2-BD59-A6C34878D82A}">
                    <a16:rowId xmlns:a16="http://schemas.microsoft.com/office/drawing/2014/main" val="2854349450"/>
                  </a:ext>
                </a:extLst>
              </a:tr>
            </a:tbl>
          </a:graphicData>
        </a:graphic>
      </p:graphicFrame>
    </p:spTree>
    <p:extLst>
      <p:ext uri="{BB962C8B-B14F-4D97-AF65-F5344CB8AC3E}">
        <p14:creationId xmlns:p14="http://schemas.microsoft.com/office/powerpoint/2010/main" val="3116394427"/>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2DA0A-C921-5DDB-01CA-AB7C5773FB8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2F95511-6B83-D326-3336-F7A48BFAD8AE}"/>
              </a:ext>
            </a:extLst>
          </p:cNvPr>
          <p:cNvSpPr txBox="1"/>
          <p:nvPr/>
        </p:nvSpPr>
        <p:spPr>
          <a:xfrm>
            <a:off x="304800" y="565980"/>
            <a:ext cx="17678400" cy="1148520"/>
          </a:xfrm>
          <a:prstGeom prst="rect">
            <a:avLst/>
          </a:prstGeom>
        </p:spPr>
        <p:txBody>
          <a:bodyPr wrap="square" lIns="0" tIns="0" rIns="0" bIns="0" rtlCol="0" anchor="t">
            <a:spAutoFit/>
          </a:bodyPr>
          <a:lstStyle/>
          <a:p>
            <a:pPr algn="ctr">
              <a:lnSpc>
                <a:spcPts val="9799"/>
              </a:lnSpc>
            </a:pPr>
            <a:r>
              <a:rPr lang="en-US" sz="6500" b="1" dirty="0">
                <a:latin typeface="Montserrat" panose="00000500000000000000" pitchFamily="2" charset="0"/>
              </a:rPr>
              <a:t>STRATEGIC POSITION OF BLACKBERRY</a:t>
            </a:r>
            <a:endParaRPr lang="en-US" sz="6500" b="1" dirty="0">
              <a:solidFill>
                <a:srgbClr val="000000"/>
              </a:solidFill>
              <a:latin typeface="Montserrat" panose="00000500000000000000" pitchFamily="2" charset="0"/>
              <a:ea typeface="Montserrat Bold"/>
              <a:cs typeface="Montserrat Bold"/>
              <a:sym typeface="Montserrat Bold"/>
            </a:endParaRPr>
          </a:p>
        </p:txBody>
      </p:sp>
      <p:sp>
        <p:nvSpPr>
          <p:cNvPr id="5" name="Freeform 3">
            <a:extLst>
              <a:ext uri="{FF2B5EF4-FFF2-40B4-BE49-F238E27FC236}">
                <a16:creationId xmlns:a16="http://schemas.microsoft.com/office/drawing/2014/main" id="{46378018-CA29-D816-645F-C0CDECE06B5B}"/>
              </a:ext>
            </a:extLst>
          </p:cNvPr>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pic>
        <p:nvPicPr>
          <p:cNvPr id="5122" name="Picture 2" descr="3 Easy Steps to Create a SWOT Analysis - BNI">
            <a:extLst>
              <a:ext uri="{FF2B5EF4-FFF2-40B4-BE49-F238E27FC236}">
                <a16:creationId xmlns:a16="http://schemas.microsoft.com/office/drawing/2014/main" id="{32ADBD6A-AD78-9480-7FBE-F19AA2C626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31" t="8758" r="7033" b="9776"/>
          <a:stretch>
            <a:fillRect/>
          </a:stretch>
        </p:blipFill>
        <p:spPr bwMode="auto">
          <a:xfrm>
            <a:off x="3505200" y="2019300"/>
            <a:ext cx="11049000" cy="66294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B213E5E-2C29-5C7E-433F-A4B30D8BF3C2}"/>
              </a:ext>
            </a:extLst>
          </p:cNvPr>
          <p:cNvSpPr txBox="1"/>
          <p:nvPr/>
        </p:nvSpPr>
        <p:spPr>
          <a:xfrm>
            <a:off x="4026084" y="3086100"/>
            <a:ext cx="3641036" cy="1292662"/>
          </a:xfrm>
          <a:prstGeom prst="rect">
            <a:avLst/>
          </a:prstGeom>
          <a:noFill/>
        </p:spPr>
        <p:txBody>
          <a:bodyPr wrap="square" rtlCol="0">
            <a:spAutoFit/>
          </a:bodyPr>
          <a:lstStyle/>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Security reputation</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Brand trust</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Software expertise</a:t>
            </a:r>
            <a:endParaRPr lang="LID4096" sz="2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CBAAE32A-D5E7-E4B5-ADC9-BD6D23DC5DA5}"/>
              </a:ext>
            </a:extLst>
          </p:cNvPr>
          <p:cNvSpPr txBox="1"/>
          <p:nvPr/>
        </p:nvSpPr>
        <p:spPr>
          <a:xfrm>
            <a:off x="10731684" y="2911376"/>
            <a:ext cx="4203516"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Reduced consumer presence</a:t>
            </a:r>
          </a:p>
          <a:p>
            <a:pPr marL="285750" indent="-285750">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Outdated brand perception</a:t>
            </a:r>
          </a:p>
          <a:p>
            <a:pPr marL="285750" indent="-285750">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Limited hardware ecosystem</a:t>
            </a:r>
            <a:endParaRPr lang="LID4096" sz="24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C07C24C4-C899-1E13-0A04-86582D04818E}"/>
              </a:ext>
            </a:extLst>
          </p:cNvPr>
          <p:cNvSpPr txBox="1"/>
          <p:nvPr/>
        </p:nvSpPr>
        <p:spPr>
          <a:xfrm>
            <a:off x="3873684" y="6574929"/>
            <a:ext cx="4038600" cy="1692771"/>
          </a:xfrm>
          <a:prstGeom prst="rect">
            <a:avLst/>
          </a:prstGeom>
          <a:noFill/>
        </p:spPr>
        <p:txBody>
          <a:bodyPr wrap="square" rtlCol="0">
            <a:spAutoFit/>
          </a:bodyPr>
          <a:lstStyle/>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Privacy concerns rising</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Digital wellbeing trend</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Desire for minimal tech </a:t>
            </a:r>
            <a:endParaRPr lang="LID4096" sz="26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CA4B97C1-14BB-1304-F208-ACE1F52C1D80}"/>
              </a:ext>
            </a:extLst>
          </p:cNvPr>
          <p:cNvSpPr txBox="1"/>
          <p:nvPr/>
        </p:nvSpPr>
        <p:spPr>
          <a:xfrm>
            <a:off x="10058400" y="6186514"/>
            <a:ext cx="4203516" cy="2092881"/>
          </a:xfrm>
          <a:prstGeom prst="rect">
            <a:avLst/>
          </a:prstGeom>
          <a:noFill/>
        </p:spPr>
        <p:txBody>
          <a:bodyPr wrap="square" rtlCol="0">
            <a:spAutoFit/>
          </a:bodyPr>
          <a:lstStyle/>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Dominance of Apple &amp; Google</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Rapid innovation cycles</a:t>
            </a:r>
          </a:p>
          <a:p>
            <a:pPr marL="285750" indent="-28575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Competitive ecosystems</a:t>
            </a:r>
          </a:p>
          <a:p>
            <a:r>
              <a:rPr lang="en-US" sz="2600" dirty="0">
                <a:latin typeface="Open Sans" panose="020B0606030504020204" pitchFamily="34" charset="0"/>
                <a:ea typeface="Open Sans" panose="020B0606030504020204" pitchFamily="34" charset="0"/>
                <a:cs typeface="Open Sans" panose="020B0606030504020204" pitchFamily="34" charset="0"/>
              </a:rPr>
              <a:t>(</a:t>
            </a:r>
            <a:r>
              <a:rPr lang="en-US" sz="2600" dirty="0" err="1">
                <a:latin typeface="Open Sans" panose="020B0606030504020204" pitchFamily="34" charset="0"/>
                <a:ea typeface="Open Sans" panose="020B0606030504020204" pitchFamily="34" charset="0"/>
                <a:cs typeface="Open Sans" panose="020B0606030504020204" pitchFamily="34" charset="0"/>
              </a:rPr>
              <a:t>statista</a:t>
            </a:r>
            <a:r>
              <a:rPr lang="en-US" sz="2600" dirty="0">
                <a:latin typeface="Open Sans" panose="020B0606030504020204" pitchFamily="34" charset="0"/>
                <a:ea typeface="Open Sans" panose="020B0606030504020204" pitchFamily="34" charset="0"/>
                <a:cs typeface="Open Sans" panose="020B0606030504020204" pitchFamily="34" charset="0"/>
              </a:rPr>
              <a:t>, 2025)</a:t>
            </a:r>
            <a:endParaRPr lang="LID4096" sz="2600" dirty="0">
              <a:latin typeface="Open Sans" panose="020B0606030504020204" pitchFamily="34" charset="0"/>
              <a:ea typeface="Open Sans" panose="020B0606030504020204" pitchFamily="34" charset="0"/>
              <a:cs typeface="Open Sans" panose="020B0606030504020204" pitchFamily="34" charset="0"/>
            </a:endParaRPr>
          </a:p>
        </p:txBody>
      </p:sp>
      <p:pic>
        <p:nvPicPr>
          <p:cNvPr id="5124" name="Picture 4" descr="Swot analysis Detailed Straight Lineal color icon | Freepik">
            <a:extLst>
              <a:ext uri="{FF2B5EF4-FFF2-40B4-BE49-F238E27FC236}">
                <a16:creationId xmlns:a16="http://schemas.microsoft.com/office/drawing/2014/main" id="{984E60A1-E06B-F720-7DE9-9FC1ABBAD3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88259" y="1960908"/>
            <a:ext cx="2250383" cy="22503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Swot analysis Detailed Straight Lineal color icon | Freepik">
            <a:extLst>
              <a:ext uri="{FF2B5EF4-FFF2-40B4-BE49-F238E27FC236}">
                <a16:creationId xmlns:a16="http://schemas.microsoft.com/office/drawing/2014/main" id="{66037097-6D15-FBD7-686F-05E104DA51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017" y="5143500"/>
            <a:ext cx="2250383" cy="2250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575234"/>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70BCE-B84D-A425-EECE-A616E9D7A5D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055481A-1E1C-E9ED-7FFA-66D2177C3E1D}"/>
              </a:ext>
            </a:extLst>
          </p:cNvPr>
          <p:cNvSpPr txBox="1"/>
          <p:nvPr/>
        </p:nvSpPr>
        <p:spPr>
          <a:xfrm>
            <a:off x="1028700" y="419100"/>
            <a:ext cx="16211305" cy="1182888"/>
          </a:xfrm>
          <a:prstGeom prst="rect">
            <a:avLst/>
          </a:prstGeom>
        </p:spPr>
        <p:txBody>
          <a:bodyPr lIns="0" tIns="0" rIns="0" bIns="0" rtlCol="0" anchor="t">
            <a:spAutoFit/>
          </a:bodyPr>
          <a:lstStyle/>
          <a:p>
            <a:pPr algn="ctr">
              <a:lnSpc>
                <a:spcPts val="9799"/>
              </a:lnSpc>
            </a:pPr>
            <a:r>
              <a:rPr lang="en-US" sz="7200" b="1" dirty="0">
                <a:latin typeface="Montserrat" panose="00000500000000000000" pitchFamily="2" charset="0"/>
              </a:rPr>
              <a:t>CORE VALUE PROPOSITION</a:t>
            </a:r>
            <a:endParaRPr lang="en-US" sz="6999" b="1" dirty="0">
              <a:solidFill>
                <a:srgbClr val="000000"/>
              </a:solidFill>
              <a:latin typeface="Montserrat" panose="00000500000000000000" pitchFamily="2" charset="0"/>
              <a:ea typeface="Montserrat Bold"/>
              <a:cs typeface="Montserrat Bold"/>
              <a:sym typeface="Montserrat Bold"/>
            </a:endParaRPr>
          </a:p>
        </p:txBody>
      </p:sp>
      <p:sp>
        <p:nvSpPr>
          <p:cNvPr id="5" name="Freeform 3">
            <a:extLst>
              <a:ext uri="{FF2B5EF4-FFF2-40B4-BE49-F238E27FC236}">
                <a16:creationId xmlns:a16="http://schemas.microsoft.com/office/drawing/2014/main" id="{EB496B93-8AD3-694A-9B4E-4AAAB2FB6151}"/>
              </a:ext>
            </a:extLst>
          </p:cNvPr>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sp>
        <p:nvSpPr>
          <p:cNvPr id="9" name="Oval 8">
            <a:extLst>
              <a:ext uri="{FF2B5EF4-FFF2-40B4-BE49-F238E27FC236}">
                <a16:creationId xmlns:a16="http://schemas.microsoft.com/office/drawing/2014/main" id="{31E46A1F-46B1-CD77-5F23-AD057A263795}"/>
              </a:ext>
            </a:extLst>
          </p:cNvPr>
          <p:cNvSpPr/>
          <p:nvPr/>
        </p:nvSpPr>
        <p:spPr>
          <a:xfrm>
            <a:off x="4495800" y="5295900"/>
            <a:ext cx="2222316" cy="2133600"/>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Open Sans" panose="020B0606030504020204" pitchFamily="34" charset="0"/>
                <a:ea typeface="Open Sans" panose="020B0606030504020204" pitchFamily="34" charset="0"/>
                <a:cs typeface="Open Sans" panose="020B0606030504020204" pitchFamily="34" charset="0"/>
              </a:rPr>
              <a:t>Security Meets Simplicity</a:t>
            </a:r>
          </a:p>
        </p:txBody>
      </p:sp>
      <p:sp>
        <p:nvSpPr>
          <p:cNvPr id="10" name="Oval 9">
            <a:extLst>
              <a:ext uri="{FF2B5EF4-FFF2-40B4-BE49-F238E27FC236}">
                <a16:creationId xmlns:a16="http://schemas.microsoft.com/office/drawing/2014/main" id="{3CE6F703-1A64-15E1-43CC-B5C1A2F2D577}"/>
              </a:ext>
            </a:extLst>
          </p:cNvPr>
          <p:cNvSpPr/>
          <p:nvPr/>
        </p:nvSpPr>
        <p:spPr>
          <a:xfrm>
            <a:off x="8305800" y="4305300"/>
            <a:ext cx="2819400" cy="2895600"/>
          </a:xfrm>
          <a:prstGeom prst="ellipse">
            <a:avLst/>
          </a:prstGeom>
          <a:solidFill>
            <a:schemeClr val="accent6">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tx1"/>
                </a:solidFill>
                <a:latin typeface="Open Sans" panose="020B0606030504020204" pitchFamily="34" charset="0"/>
                <a:ea typeface="Open Sans" panose="020B0606030504020204" pitchFamily="34" charset="0"/>
                <a:cs typeface="Open Sans" panose="020B0606030504020204" pitchFamily="34" charset="0"/>
              </a:rPr>
              <a:t>Distraction-free modes</a:t>
            </a:r>
            <a:endParaRPr lang="LID4096" sz="2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Oval 10">
            <a:extLst>
              <a:ext uri="{FF2B5EF4-FFF2-40B4-BE49-F238E27FC236}">
                <a16:creationId xmlns:a16="http://schemas.microsoft.com/office/drawing/2014/main" id="{BA410C98-0B60-3025-913E-EDD2E765CFC2}"/>
              </a:ext>
            </a:extLst>
          </p:cNvPr>
          <p:cNvSpPr/>
          <p:nvPr/>
        </p:nvSpPr>
        <p:spPr>
          <a:xfrm>
            <a:off x="5486400" y="1790700"/>
            <a:ext cx="2667000" cy="2547447"/>
          </a:xfrm>
          <a:prstGeom prst="ellipse">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tx1"/>
                </a:solidFill>
                <a:latin typeface="Open Sans" panose="020B0606030504020204" pitchFamily="34" charset="0"/>
                <a:ea typeface="Open Sans" panose="020B0606030504020204" pitchFamily="34" charset="0"/>
                <a:cs typeface="Open Sans" panose="020B0606030504020204" pitchFamily="34" charset="0"/>
              </a:rPr>
              <a:t>Privacy dashboard</a:t>
            </a:r>
            <a:endParaRPr lang="LID4096" sz="2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Oval 11">
            <a:extLst>
              <a:ext uri="{FF2B5EF4-FFF2-40B4-BE49-F238E27FC236}">
                <a16:creationId xmlns:a16="http://schemas.microsoft.com/office/drawing/2014/main" id="{9358C527-CAE1-521D-5A19-8FCE5962F0EA}"/>
              </a:ext>
            </a:extLst>
          </p:cNvPr>
          <p:cNvSpPr/>
          <p:nvPr/>
        </p:nvSpPr>
        <p:spPr>
          <a:xfrm>
            <a:off x="1143000" y="3162300"/>
            <a:ext cx="2819400" cy="2895600"/>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tx1"/>
                </a:solidFill>
                <a:latin typeface="Open Sans" panose="020B0606030504020204" pitchFamily="34" charset="0"/>
                <a:ea typeface="Open Sans" panose="020B0606030504020204" pitchFamily="34" charset="0"/>
                <a:cs typeface="Open Sans" panose="020B0606030504020204" pitchFamily="34" charset="0"/>
              </a:rPr>
              <a:t>Optional physical keyboard</a:t>
            </a:r>
            <a:endParaRPr lang="LID4096" sz="2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Oval 12">
            <a:extLst>
              <a:ext uri="{FF2B5EF4-FFF2-40B4-BE49-F238E27FC236}">
                <a16:creationId xmlns:a16="http://schemas.microsoft.com/office/drawing/2014/main" id="{E59FA5E0-3398-3E1E-F9BB-F0236A62F7D0}"/>
              </a:ext>
            </a:extLst>
          </p:cNvPr>
          <p:cNvSpPr/>
          <p:nvPr/>
        </p:nvSpPr>
        <p:spPr>
          <a:xfrm>
            <a:off x="1981200" y="7277101"/>
            <a:ext cx="2679516" cy="2590799"/>
          </a:xfrm>
          <a:prstGeom prst="ellipse">
            <a:avLst/>
          </a:prstGeom>
          <a:solidFill>
            <a:schemeClr val="accent5">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tx1"/>
                </a:solidFill>
                <a:latin typeface="Open Sans" panose="020B0606030504020204" pitchFamily="34" charset="0"/>
                <a:ea typeface="Open Sans" panose="020B0606030504020204" pitchFamily="34" charset="0"/>
                <a:cs typeface="Open Sans" panose="020B0606030504020204" pitchFamily="34" charset="0"/>
              </a:rPr>
              <a:t>Secure operating system</a:t>
            </a:r>
            <a:endParaRPr lang="LID4096" sz="2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Oval 13">
            <a:extLst>
              <a:ext uri="{FF2B5EF4-FFF2-40B4-BE49-F238E27FC236}">
                <a16:creationId xmlns:a16="http://schemas.microsoft.com/office/drawing/2014/main" id="{B22CB4CB-A962-142A-CAC5-C58668AA593E}"/>
              </a:ext>
            </a:extLst>
          </p:cNvPr>
          <p:cNvSpPr/>
          <p:nvPr/>
        </p:nvSpPr>
        <p:spPr>
          <a:xfrm>
            <a:off x="6400800" y="7429500"/>
            <a:ext cx="2667000" cy="2590799"/>
          </a:xfrm>
          <a:prstGeom prst="ellipse">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tx1"/>
                </a:solidFill>
                <a:latin typeface="Open Sans" panose="020B0606030504020204" pitchFamily="34" charset="0"/>
                <a:ea typeface="Open Sans" panose="020B0606030504020204" pitchFamily="34" charset="0"/>
                <a:cs typeface="Open Sans" panose="020B0606030504020204" pitchFamily="34" charset="0"/>
              </a:rPr>
              <a:t>Minimalist interface</a:t>
            </a:r>
            <a:endParaRPr lang="LID4096" sz="2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6" name="Straight Arrow Connector 15">
            <a:extLst>
              <a:ext uri="{FF2B5EF4-FFF2-40B4-BE49-F238E27FC236}">
                <a16:creationId xmlns:a16="http://schemas.microsoft.com/office/drawing/2014/main" id="{5ACB88B8-DB13-0D4B-1A9B-E3B7E7D8F20F}"/>
              </a:ext>
            </a:extLst>
          </p:cNvPr>
          <p:cNvCxnSpPr>
            <a:cxnSpLocks/>
          </p:cNvCxnSpPr>
          <p:nvPr/>
        </p:nvCxnSpPr>
        <p:spPr>
          <a:xfrm flipH="1">
            <a:off x="5899292" y="4272453"/>
            <a:ext cx="349108" cy="1023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BC2E16D-7DB9-91E7-0592-A3C5E26435EE}"/>
              </a:ext>
            </a:extLst>
          </p:cNvPr>
          <p:cNvCxnSpPr>
            <a:cxnSpLocks/>
          </p:cNvCxnSpPr>
          <p:nvPr/>
        </p:nvCxnSpPr>
        <p:spPr>
          <a:xfrm flipH="1">
            <a:off x="6705600" y="5753100"/>
            <a:ext cx="1752600" cy="502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656CDAC-AA1C-4EE6-221D-CF525D646A27}"/>
              </a:ext>
            </a:extLst>
          </p:cNvPr>
          <p:cNvCxnSpPr>
            <a:cxnSpLocks/>
            <a:endCxn id="9" idx="5"/>
          </p:cNvCxnSpPr>
          <p:nvPr/>
        </p:nvCxnSpPr>
        <p:spPr>
          <a:xfrm flipH="1" flipV="1">
            <a:off x="6392665" y="7117042"/>
            <a:ext cx="617735" cy="769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D1ACC52-7229-8ADF-3243-3602E9AF396D}"/>
              </a:ext>
            </a:extLst>
          </p:cNvPr>
          <p:cNvCxnSpPr>
            <a:cxnSpLocks/>
          </p:cNvCxnSpPr>
          <p:nvPr/>
        </p:nvCxnSpPr>
        <p:spPr>
          <a:xfrm>
            <a:off x="3749746" y="5295900"/>
            <a:ext cx="91097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1993BB9-869C-8556-7083-D35F0EDFB226}"/>
              </a:ext>
            </a:extLst>
          </p:cNvPr>
          <p:cNvCxnSpPr>
            <a:cxnSpLocks/>
            <a:stCxn id="13" idx="7"/>
            <a:endCxn id="9" idx="3"/>
          </p:cNvCxnSpPr>
          <p:nvPr/>
        </p:nvCxnSpPr>
        <p:spPr>
          <a:xfrm flipV="1">
            <a:off x="4268310" y="7117042"/>
            <a:ext cx="552941" cy="539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1ED3C05-E844-E6C5-8110-E00067F6CD5D}"/>
              </a:ext>
            </a:extLst>
          </p:cNvPr>
          <p:cNvSpPr txBox="1"/>
          <p:nvPr/>
        </p:nvSpPr>
        <p:spPr>
          <a:xfrm>
            <a:off x="11506200" y="6170593"/>
            <a:ext cx="6477000" cy="954107"/>
          </a:xfrm>
          <a:prstGeom prst="rect">
            <a:avLst/>
          </a:prstGeom>
          <a:noFill/>
        </p:spPr>
        <p:txBody>
          <a:bodyPr wrap="square" rtlCol="0">
            <a:spAutoFit/>
          </a:bodyPr>
          <a:lstStyle/>
          <a:p>
            <a:r>
              <a:rPr lang="en-US" sz="2800" b="1" dirty="0">
                <a:latin typeface="Open Sans" panose="020B0606030504020204" pitchFamily="34" charset="0"/>
                <a:ea typeface="Open Sans" panose="020B0606030504020204" pitchFamily="34" charset="0"/>
                <a:cs typeface="Open Sans" panose="020B0606030504020204" pitchFamily="34" charset="0"/>
              </a:rPr>
              <a:t>User Outcome:</a:t>
            </a:r>
          </a:p>
          <a:p>
            <a:r>
              <a:rPr lang="en-US" sz="2800" dirty="0">
                <a:latin typeface="Open Sans" panose="020B0606030504020204" pitchFamily="34" charset="0"/>
                <a:ea typeface="Open Sans" panose="020B0606030504020204" pitchFamily="34" charset="0"/>
                <a:cs typeface="Open Sans" panose="020B0606030504020204" pitchFamily="34" charset="0"/>
              </a:rPr>
              <a:t>Focus • Control • Trust • Mental Calm</a:t>
            </a:r>
            <a:endParaRPr lang="LID4096" sz="2800" dirty="0">
              <a:latin typeface="Open Sans" panose="020B0606030504020204" pitchFamily="34" charset="0"/>
              <a:ea typeface="Open Sans" panose="020B0606030504020204" pitchFamily="34" charset="0"/>
              <a:cs typeface="Open Sans" panose="020B0606030504020204" pitchFamily="34" charset="0"/>
            </a:endParaRPr>
          </a:p>
        </p:txBody>
      </p:sp>
      <p:pic>
        <p:nvPicPr>
          <p:cNvPr id="6149" name="Picture 5" descr="Core value - Free marketing icons">
            <a:extLst>
              <a:ext uri="{FF2B5EF4-FFF2-40B4-BE49-F238E27FC236}">
                <a16:creationId xmlns:a16="http://schemas.microsoft.com/office/drawing/2014/main" id="{E6720F5E-F308-5D9E-B7A3-DA73F82D82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20600" y="1848744"/>
            <a:ext cx="3447156" cy="344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599246"/>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4AE7F-6619-6E82-DBE1-065D25BD457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FFA4571-A8BF-350C-FC2B-78C7AB447786}"/>
              </a:ext>
            </a:extLst>
          </p:cNvPr>
          <p:cNvSpPr txBox="1"/>
          <p:nvPr/>
        </p:nvSpPr>
        <p:spPr>
          <a:xfrm>
            <a:off x="457200" y="694517"/>
            <a:ext cx="17678400" cy="1077218"/>
          </a:xfrm>
          <a:prstGeom prst="rect">
            <a:avLst/>
          </a:prstGeom>
        </p:spPr>
        <p:txBody>
          <a:bodyPr wrap="square" lIns="0" tIns="0" rIns="0" bIns="0" rtlCol="0" anchor="t">
            <a:spAutoFit/>
          </a:bodyPr>
          <a:lstStyle/>
          <a:p>
            <a:r>
              <a:rPr lang="en-US" sz="7000" b="1" dirty="0">
                <a:latin typeface="Montserrat" panose="00000500000000000000" pitchFamily="2" charset="0"/>
              </a:rPr>
              <a:t>User-Centered Experience Ecosystem</a:t>
            </a:r>
          </a:p>
        </p:txBody>
      </p:sp>
      <p:sp>
        <p:nvSpPr>
          <p:cNvPr id="4" name="TextBox 4">
            <a:extLst>
              <a:ext uri="{FF2B5EF4-FFF2-40B4-BE49-F238E27FC236}">
                <a16:creationId xmlns:a16="http://schemas.microsoft.com/office/drawing/2014/main" id="{3AC68DAA-BE6A-02F1-2D17-39488E9B38DC}"/>
              </a:ext>
            </a:extLst>
          </p:cNvPr>
          <p:cNvSpPr txBox="1"/>
          <p:nvPr/>
        </p:nvSpPr>
        <p:spPr>
          <a:xfrm>
            <a:off x="9448800" y="3079832"/>
            <a:ext cx="8140895" cy="4883068"/>
          </a:xfrm>
          <a:prstGeom prst="rect">
            <a:avLst/>
          </a:prstGeom>
        </p:spPr>
        <p:txBody>
          <a:bodyPr wrap="square" lIns="0" tIns="0" rIns="0" bIns="0" rtlCol="0" anchor="t">
            <a:spAutoFit/>
          </a:bodyPr>
          <a:lstStyle/>
          <a:p>
            <a:pPr algn="just">
              <a:lnSpc>
                <a:spcPts val="4759"/>
              </a:lnSpc>
            </a:pPr>
            <a:r>
              <a:rPr lang="en-GB" sz="3399" dirty="0">
                <a:solidFill>
                  <a:srgbClr val="000000"/>
                </a:solidFill>
                <a:latin typeface="Open Sans"/>
                <a:ea typeface="Open Sans"/>
                <a:cs typeface="Open Sans"/>
                <a:sym typeface="Open Sans"/>
              </a:rPr>
              <a:t>This ecosystem model will be used to show how the redesign BlackBerry experience can run in the key life situations. Rather than forcing attention, the system helps in focused work and controlled data use, deliberate social interaction, and enhancement of digital wellbeing.</a:t>
            </a:r>
            <a:endParaRPr lang="en-US" sz="3399" dirty="0">
              <a:solidFill>
                <a:srgbClr val="000000"/>
              </a:solidFill>
              <a:latin typeface="Open Sans"/>
              <a:ea typeface="Open Sans"/>
              <a:cs typeface="Open Sans"/>
              <a:sym typeface="Open Sans"/>
            </a:endParaRPr>
          </a:p>
        </p:txBody>
      </p:sp>
      <p:sp>
        <p:nvSpPr>
          <p:cNvPr id="5" name="Freeform 3">
            <a:extLst>
              <a:ext uri="{FF2B5EF4-FFF2-40B4-BE49-F238E27FC236}">
                <a16:creationId xmlns:a16="http://schemas.microsoft.com/office/drawing/2014/main" id="{27E10850-332F-3C67-DCDF-C804FCFAB794}"/>
              </a:ext>
            </a:extLst>
          </p:cNvPr>
          <p:cNvSpPr/>
          <p:nvPr/>
        </p:nvSpPr>
        <p:spPr>
          <a:xfrm>
            <a:off x="15100116"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pic>
        <p:nvPicPr>
          <p:cNvPr id="7" name="Picture 6">
            <a:extLst>
              <a:ext uri="{FF2B5EF4-FFF2-40B4-BE49-F238E27FC236}">
                <a16:creationId xmlns:a16="http://schemas.microsoft.com/office/drawing/2014/main" id="{9311B4E4-00A6-6B62-FE55-1FC8D398AED5}"/>
              </a:ext>
            </a:extLst>
          </p:cNvPr>
          <p:cNvPicPr>
            <a:picLocks noChangeAspect="1"/>
          </p:cNvPicPr>
          <p:nvPr/>
        </p:nvPicPr>
        <p:blipFill>
          <a:blip r:embed="rId3">
            <a:extLst>
              <a:ext uri="{28A0092B-C50C-407E-A947-70E740481C1C}">
                <a14:useLocalDpi xmlns:a14="http://schemas.microsoft.com/office/drawing/2010/main" val="0"/>
              </a:ext>
            </a:extLst>
          </a:blip>
          <a:srcRect l="7142" t="7960" r="6761" b="10800"/>
          <a:stretch>
            <a:fillRect/>
          </a:stretch>
        </p:blipFill>
        <p:spPr>
          <a:xfrm>
            <a:off x="774505" y="1863469"/>
            <a:ext cx="8140895" cy="7959530"/>
          </a:xfrm>
          <a:prstGeom prst="rect">
            <a:avLst/>
          </a:prstGeom>
        </p:spPr>
      </p:pic>
      <p:pic>
        <p:nvPicPr>
          <p:cNvPr id="9218" name="Picture 2" descr="User centered Icon - Free PNG &amp; SVG 1800135 - Noun Project">
            <a:extLst>
              <a:ext uri="{FF2B5EF4-FFF2-40B4-BE49-F238E27FC236}">
                <a16:creationId xmlns:a16="http://schemas.microsoft.com/office/drawing/2014/main" id="{3EF82B60-03D0-FBBE-0CEC-27165B26CD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11000" y="8318497"/>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80651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429EA-B2A7-1A63-A2F6-04BDBED05F9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CE1E125-0B60-247F-1593-93495F49C2F5}"/>
              </a:ext>
            </a:extLst>
          </p:cNvPr>
          <p:cNvSpPr txBox="1"/>
          <p:nvPr/>
        </p:nvSpPr>
        <p:spPr>
          <a:xfrm>
            <a:off x="1028700" y="342900"/>
            <a:ext cx="16211305" cy="2439642"/>
          </a:xfrm>
          <a:prstGeom prst="rect">
            <a:avLst/>
          </a:prstGeom>
        </p:spPr>
        <p:txBody>
          <a:bodyPr lIns="0" tIns="0" rIns="0" bIns="0" rtlCol="0" anchor="t">
            <a:spAutoFit/>
          </a:bodyPr>
          <a:lstStyle/>
          <a:p>
            <a:pPr algn="ctr">
              <a:lnSpc>
                <a:spcPts val="9799"/>
              </a:lnSpc>
            </a:pPr>
            <a:r>
              <a:rPr lang="en-US" sz="7200" b="1" dirty="0">
                <a:latin typeface="Montserrat" panose="00000500000000000000" pitchFamily="2" charset="0"/>
                <a:ea typeface="Open Sans" panose="020B0606030504020204" pitchFamily="34" charset="0"/>
                <a:cs typeface="Open Sans" panose="020B0606030504020204" pitchFamily="34" charset="0"/>
              </a:rPr>
              <a:t>ENVISIONED FUTURE STATE BY </a:t>
            </a:r>
            <a:r>
              <a:rPr lang="en-US" sz="7200" b="1" dirty="0">
                <a:latin typeface="Montserrat" panose="00000500000000000000" pitchFamily="2" charset="0"/>
              </a:rPr>
              <a:t>BlackBerry</a:t>
            </a:r>
            <a:endParaRPr lang="en-US" sz="6999" b="1" dirty="0">
              <a:solidFill>
                <a:srgbClr val="000000"/>
              </a:solidFill>
              <a:latin typeface="Montserrat" panose="00000500000000000000" pitchFamily="2" charset="0"/>
              <a:ea typeface="Open Sans" panose="020B0606030504020204" pitchFamily="34" charset="0"/>
              <a:cs typeface="Open Sans" panose="020B0606030504020204" pitchFamily="34" charset="0"/>
              <a:sym typeface="Montserrat Bold"/>
            </a:endParaRPr>
          </a:p>
        </p:txBody>
      </p:sp>
      <p:sp>
        <p:nvSpPr>
          <p:cNvPr id="3" name="TextBox 3">
            <a:extLst>
              <a:ext uri="{FF2B5EF4-FFF2-40B4-BE49-F238E27FC236}">
                <a16:creationId xmlns:a16="http://schemas.microsoft.com/office/drawing/2014/main" id="{8B0E2631-A5A9-517A-883D-FF598422D5EF}"/>
              </a:ext>
            </a:extLst>
          </p:cNvPr>
          <p:cNvSpPr txBox="1"/>
          <p:nvPr/>
        </p:nvSpPr>
        <p:spPr>
          <a:xfrm>
            <a:off x="8610600" y="3037986"/>
            <a:ext cx="8991600" cy="5770939"/>
          </a:xfrm>
          <a:prstGeom prst="rect">
            <a:avLst/>
          </a:prstGeom>
        </p:spPr>
        <p:txBody>
          <a:bodyPr wrap="square" lIns="0" tIns="0" rIns="0" bIns="0" rtlCol="0" anchor="t">
            <a:spAutoFit/>
          </a:bodyPr>
          <a:lstStyle/>
          <a:p>
            <a:pPr marL="571500" indent="-571500">
              <a:lnSpc>
                <a:spcPct val="200000"/>
              </a:lnSpc>
              <a:buFont typeface="Arial" panose="020B0604020202020204" pitchFamily="34" charset="0"/>
              <a:buChar char="•"/>
            </a:pPr>
            <a:r>
              <a:rPr lang="en-GB" sz="3200" dirty="0">
                <a:latin typeface="Open Sans" panose="020B0606030504020204" pitchFamily="34" charset="0"/>
                <a:ea typeface="Open Sans" panose="020B0606030504020204" pitchFamily="34" charset="0"/>
                <a:cs typeface="Open Sans" panose="020B0606030504020204" pitchFamily="34" charset="0"/>
              </a:rPr>
              <a:t>Technology supports focus rather than interrupts it (</a:t>
            </a:r>
            <a:r>
              <a:rPr lang="en-US" sz="3200" dirty="0">
                <a:latin typeface="Open Sans" panose="020B0606030504020204" pitchFamily="34" charset="0"/>
                <a:ea typeface="Open Sans" panose="020B0606030504020204" pitchFamily="34" charset="0"/>
                <a:cs typeface="Open Sans" panose="020B0606030504020204" pitchFamily="34" charset="0"/>
              </a:rPr>
              <a:t>George et al., 2023</a:t>
            </a:r>
            <a:r>
              <a:rPr lang="en-GB" sz="3200" dirty="0">
                <a:latin typeface="Open Sans" panose="020B0606030504020204" pitchFamily="34" charset="0"/>
                <a:ea typeface="Open Sans" panose="020B0606030504020204" pitchFamily="34" charset="0"/>
                <a:cs typeface="Open Sans" panose="020B0606030504020204" pitchFamily="34" charset="0"/>
              </a:rPr>
              <a:t>)</a:t>
            </a:r>
          </a:p>
          <a:p>
            <a:pPr marL="571500" indent="-571500">
              <a:lnSpc>
                <a:spcPct val="200000"/>
              </a:lnSpc>
              <a:buFont typeface="Arial" panose="020B0604020202020204" pitchFamily="34" charset="0"/>
              <a:buChar char="•"/>
            </a:pPr>
            <a:r>
              <a:rPr lang="en-GB" sz="3200" dirty="0">
                <a:latin typeface="Open Sans" panose="020B0606030504020204" pitchFamily="34" charset="0"/>
                <a:ea typeface="Open Sans" panose="020B0606030504020204" pitchFamily="34" charset="0"/>
                <a:cs typeface="Open Sans" panose="020B0606030504020204" pitchFamily="34" charset="0"/>
              </a:rPr>
              <a:t>Privacy is integrated, not optional</a:t>
            </a:r>
          </a:p>
          <a:p>
            <a:pPr marL="571500" indent="-571500">
              <a:lnSpc>
                <a:spcPct val="200000"/>
              </a:lnSpc>
              <a:buFont typeface="Arial" panose="020B0604020202020204" pitchFamily="34" charset="0"/>
              <a:buChar char="•"/>
            </a:pPr>
            <a:r>
              <a:rPr lang="en-GB" sz="3200" dirty="0">
                <a:latin typeface="Open Sans" panose="020B0606030504020204" pitchFamily="34" charset="0"/>
                <a:ea typeface="Open Sans" panose="020B0606030504020204" pitchFamily="34" charset="0"/>
                <a:cs typeface="Open Sans" panose="020B0606030504020204" pitchFamily="34" charset="0"/>
              </a:rPr>
              <a:t>Devices encourage intentional use</a:t>
            </a:r>
          </a:p>
          <a:p>
            <a:pPr marL="571500" indent="-571500">
              <a:lnSpc>
                <a:spcPct val="200000"/>
              </a:lnSpc>
              <a:buFont typeface="Arial" panose="020B0604020202020204" pitchFamily="34" charset="0"/>
              <a:buChar char="•"/>
            </a:pPr>
            <a:r>
              <a:rPr lang="en-GB" sz="3200" dirty="0">
                <a:latin typeface="Open Sans" panose="020B0606030504020204" pitchFamily="34" charset="0"/>
                <a:ea typeface="Open Sans" panose="020B0606030504020204" pitchFamily="34" charset="0"/>
                <a:cs typeface="Open Sans" panose="020B0606030504020204" pitchFamily="34" charset="0"/>
              </a:rPr>
              <a:t>Users experience reduced digital stress (</a:t>
            </a:r>
            <a:r>
              <a:rPr lang="en-US" sz="3200" dirty="0" err="1">
                <a:latin typeface="Open Sans" panose="020B0606030504020204" pitchFamily="34" charset="0"/>
                <a:ea typeface="Open Sans" panose="020B0606030504020204" pitchFamily="34" charset="0"/>
                <a:cs typeface="Open Sans" panose="020B0606030504020204" pitchFamily="34" charset="0"/>
              </a:rPr>
              <a:t>Godliauskas</a:t>
            </a:r>
            <a:r>
              <a:rPr lang="en-US" sz="3200" dirty="0">
                <a:latin typeface="Open Sans" panose="020B0606030504020204" pitchFamily="34" charset="0"/>
                <a:ea typeface="Open Sans" panose="020B0606030504020204" pitchFamily="34" charset="0"/>
                <a:cs typeface="Open Sans" panose="020B0606030504020204" pitchFamily="34" charset="0"/>
              </a:rPr>
              <a:t>, &amp; </a:t>
            </a:r>
            <a:r>
              <a:rPr lang="en-US" sz="3200" dirty="0" err="1">
                <a:latin typeface="Open Sans" panose="020B0606030504020204" pitchFamily="34" charset="0"/>
                <a:ea typeface="Open Sans" panose="020B0606030504020204" pitchFamily="34" charset="0"/>
                <a:cs typeface="Open Sans" panose="020B0606030504020204" pitchFamily="34" charset="0"/>
              </a:rPr>
              <a:t>Šmite</a:t>
            </a:r>
            <a:r>
              <a:rPr lang="en-US" sz="3200" dirty="0">
                <a:latin typeface="Open Sans" panose="020B0606030504020204" pitchFamily="34" charset="0"/>
                <a:ea typeface="Open Sans" panose="020B0606030504020204" pitchFamily="34" charset="0"/>
                <a:cs typeface="Open Sans" panose="020B0606030504020204" pitchFamily="34" charset="0"/>
              </a:rPr>
              <a:t>, 2025</a:t>
            </a:r>
            <a:r>
              <a:rPr lang="en-GB" sz="3200" dirty="0">
                <a:latin typeface="Open Sans" panose="020B0606030504020204" pitchFamily="34" charset="0"/>
                <a:ea typeface="Open Sans" panose="020B0606030504020204" pitchFamily="34" charset="0"/>
                <a:cs typeface="Open Sans" panose="020B0606030504020204" pitchFamily="34" charset="0"/>
              </a:rPr>
              <a:t>)</a:t>
            </a:r>
          </a:p>
        </p:txBody>
      </p:sp>
      <p:sp>
        <p:nvSpPr>
          <p:cNvPr id="5" name="Freeform 3">
            <a:extLst>
              <a:ext uri="{FF2B5EF4-FFF2-40B4-BE49-F238E27FC236}">
                <a16:creationId xmlns:a16="http://schemas.microsoft.com/office/drawing/2014/main" id="{767EED5A-6077-89ED-9E35-2B95392297EB}"/>
              </a:ext>
            </a:extLst>
          </p:cNvPr>
          <p:cNvSpPr/>
          <p:nvPr/>
        </p:nvSpPr>
        <p:spPr>
          <a:xfrm>
            <a:off x="15468600" y="8753475"/>
            <a:ext cx="2819400" cy="1533525"/>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2"/>
            <a:stretch>
              <a:fillRect t="-20266" b="-21392"/>
            </a:stretch>
          </a:blipFill>
        </p:spPr>
      </p:sp>
      <p:pic>
        <p:nvPicPr>
          <p:cNvPr id="7172" name="Picture 4" descr="5,568 Looking To Future Business Stock Photos - Free &amp; Royalty-Free Stock  Photos from Dreamstime">
            <a:extLst>
              <a:ext uri="{FF2B5EF4-FFF2-40B4-BE49-F238E27FC236}">
                <a16:creationId xmlns:a16="http://schemas.microsoft.com/office/drawing/2014/main" id="{80847512-476E-306F-29FB-11EDBE0D1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857500"/>
            <a:ext cx="7086600" cy="589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692095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905000" y="3162300"/>
            <a:ext cx="14512357" cy="5081904"/>
          </a:xfrm>
          <a:prstGeom prst="rect">
            <a:avLst/>
          </a:prstGeom>
        </p:spPr>
        <p:txBody>
          <a:bodyPr wrap="square" lIns="0" tIns="0" rIns="0" bIns="0" rtlCol="0" anchor="t">
            <a:spAutoFit/>
          </a:bodyPr>
          <a:lstStyle/>
          <a:p>
            <a:pPr marL="367029" lvl="1" algn="just">
              <a:lnSpc>
                <a:spcPct val="200000"/>
              </a:lnSpc>
            </a:pPr>
            <a:r>
              <a:rPr lang="en-GB" sz="3399" dirty="0">
                <a:solidFill>
                  <a:srgbClr val="000000"/>
                </a:solidFill>
                <a:latin typeface="Open Sans"/>
                <a:ea typeface="Open Sans"/>
                <a:cs typeface="Open Sans"/>
                <a:sym typeface="Open Sans"/>
              </a:rPr>
              <a:t>The analysis shows that BlackBerry has a chance of repositioning as a privacy and digital wellbeing brand. As part of its security legacy and concentrated on simplified and controlled experience with technology, BlackBerry can respond to unmet user demands within the existing smartphone ecosystem.</a:t>
            </a:r>
            <a:endParaRPr lang="en-US" sz="3399" dirty="0">
              <a:solidFill>
                <a:srgbClr val="000000"/>
              </a:solidFill>
              <a:latin typeface="Open Sans"/>
              <a:ea typeface="Open Sans"/>
              <a:cs typeface="Open Sans"/>
              <a:sym typeface="Open Sans"/>
            </a:endParaRPr>
          </a:p>
        </p:txBody>
      </p:sp>
      <p:sp>
        <p:nvSpPr>
          <p:cNvPr id="5" name="TextBox 5"/>
          <p:cNvSpPr txBox="1"/>
          <p:nvPr/>
        </p:nvSpPr>
        <p:spPr>
          <a:xfrm>
            <a:off x="2569860" y="501486"/>
            <a:ext cx="12517740" cy="2154436"/>
          </a:xfrm>
          <a:prstGeom prst="rect">
            <a:avLst/>
          </a:prstGeom>
        </p:spPr>
        <p:txBody>
          <a:bodyPr lIns="0" tIns="0" rIns="0" bIns="0" rtlCol="0" anchor="t">
            <a:spAutoFit/>
          </a:bodyPr>
          <a:lstStyle/>
          <a:p>
            <a:pPr algn="ctr"/>
            <a:r>
              <a:rPr lang="en-US" sz="7000" b="1" dirty="0">
                <a:latin typeface="Montserrat" panose="00000500000000000000" pitchFamily="2" charset="0"/>
              </a:rPr>
              <a:t>Reinvention Direction for BlackBerry</a:t>
            </a:r>
            <a:endParaRPr lang="en-US" sz="7000" b="1" dirty="0">
              <a:solidFill>
                <a:srgbClr val="000000"/>
              </a:solidFill>
              <a:latin typeface="Montserrat" panose="00000500000000000000" pitchFamily="2" charset="0"/>
              <a:ea typeface="Montserrat Bold"/>
              <a:cs typeface="Montserrat Bold"/>
              <a:sym typeface="Montserrat Bold"/>
            </a:endParaRPr>
          </a:p>
        </p:txBody>
      </p:sp>
      <p:pic>
        <p:nvPicPr>
          <p:cNvPr id="8194" name="Picture 2" descr="New technologies - Free technology icons">
            <a:extLst>
              <a:ext uri="{FF2B5EF4-FFF2-40B4-BE49-F238E27FC236}">
                <a16:creationId xmlns:a16="http://schemas.microsoft.com/office/drawing/2014/main" id="{00EF68E8-9717-D607-403D-8B3FB84D1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20270" y="7086600"/>
            <a:ext cx="3200400" cy="3200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25917-7722-8619-82DA-E204E00F562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74621D-34FD-0E06-1135-DE2007CB127A}"/>
              </a:ext>
            </a:extLst>
          </p:cNvPr>
          <p:cNvSpPr/>
          <p:nvPr/>
        </p:nvSpPr>
        <p:spPr>
          <a:xfrm>
            <a:off x="716741" y="3578372"/>
            <a:ext cx="3130255" cy="3130255"/>
          </a:xfrm>
          <a:custGeom>
            <a:avLst/>
            <a:gdLst/>
            <a:ahLst/>
            <a:cxnLst/>
            <a:rect l="l" t="t" r="r" b="b"/>
            <a:pathLst>
              <a:path w="3130255" h="3130255">
                <a:moveTo>
                  <a:pt x="0" y="0"/>
                </a:moveTo>
                <a:lnTo>
                  <a:pt x="3130256" y="0"/>
                </a:lnTo>
                <a:lnTo>
                  <a:pt x="3130256" y="3130256"/>
                </a:lnTo>
                <a:lnTo>
                  <a:pt x="0" y="3130256"/>
                </a:lnTo>
                <a:lnTo>
                  <a:pt x="0" y="0"/>
                </a:lnTo>
                <a:close/>
              </a:path>
            </a:pathLst>
          </a:custGeom>
          <a:blipFill>
            <a:blip r:embed="rId2"/>
            <a:stretch>
              <a:fillRect/>
            </a:stretch>
          </a:blipFill>
        </p:spPr>
      </p:sp>
      <p:sp>
        <p:nvSpPr>
          <p:cNvPr id="3" name="TextBox 3">
            <a:extLst>
              <a:ext uri="{FF2B5EF4-FFF2-40B4-BE49-F238E27FC236}">
                <a16:creationId xmlns:a16="http://schemas.microsoft.com/office/drawing/2014/main" id="{66069014-876C-1C37-4840-11B289753ED4}"/>
              </a:ext>
            </a:extLst>
          </p:cNvPr>
          <p:cNvSpPr txBox="1"/>
          <p:nvPr/>
        </p:nvSpPr>
        <p:spPr>
          <a:xfrm>
            <a:off x="4151051" y="3732168"/>
            <a:ext cx="12266306" cy="4180840"/>
          </a:xfrm>
          <a:prstGeom prst="rect">
            <a:avLst/>
          </a:prstGeom>
        </p:spPr>
        <p:txBody>
          <a:bodyPr lIns="0" tIns="0" rIns="0" bIns="0" rtlCol="0" anchor="t">
            <a:spAutoFit/>
          </a:bodyPr>
          <a:lstStyle/>
          <a:p>
            <a:pPr marL="734058" lvl="1" indent="-367029" algn="just">
              <a:lnSpc>
                <a:spcPts val="4759"/>
              </a:lnSpc>
              <a:buFont typeface="Arial"/>
              <a:buChar char="•"/>
            </a:pPr>
            <a:r>
              <a:rPr lang="en-US" sz="3399" dirty="0">
                <a:solidFill>
                  <a:srgbClr val="000000"/>
                </a:solidFill>
                <a:latin typeface="Open Sans"/>
                <a:ea typeface="Open Sans"/>
                <a:cs typeface="Open Sans"/>
                <a:sym typeface="Open Sans"/>
              </a:rPr>
              <a:t>Develop a privacy-focused lifestyle device</a:t>
            </a:r>
          </a:p>
          <a:p>
            <a:pPr marL="734058" lvl="1" indent="-367029" algn="just">
              <a:lnSpc>
                <a:spcPts val="4759"/>
              </a:lnSpc>
              <a:buFont typeface="Arial"/>
              <a:buChar char="•"/>
            </a:pPr>
            <a:r>
              <a:rPr lang="en-US" sz="3399" dirty="0">
                <a:solidFill>
                  <a:srgbClr val="000000"/>
                </a:solidFill>
                <a:latin typeface="Open Sans"/>
                <a:ea typeface="Open Sans"/>
                <a:cs typeface="Open Sans"/>
                <a:sym typeface="Open Sans"/>
              </a:rPr>
              <a:t>Emphasize security, focus, and minimalism</a:t>
            </a:r>
          </a:p>
          <a:p>
            <a:pPr marL="734058" lvl="1" indent="-367029" algn="just">
              <a:lnSpc>
                <a:spcPts val="4759"/>
              </a:lnSpc>
              <a:buFont typeface="Arial"/>
              <a:buChar char="•"/>
            </a:pPr>
            <a:r>
              <a:rPr lang="en-US" sz="3399" dirty="0">
                <a:solidFill>
                  <a:srgbClr val="000000"/>
                </a:solidFill>
                <a:latin typeface="Open Sans"/>
                <a:ea typeface="Open Sans"/>
                <a:cs typeface="Open Sans"/>
                <a:sym typeface="Open Sans"/>
              </a:rPr>
              <a:t>Conduct user research on digital fatigue </a:t>
            </a:r>
            <a:r>
              <a:rPr lang="en-US" sz="3399" dirty="0">
                <a:solidFill>
                  <a:srgbClr val="E01A72"/>
                </a:solidFill>
                <a:latin typeface="Open Sans"/>
                <a:ea typeface="Open Sans"/>
                <a:cs typeface="Open Sans"/>
                <a:sym typeface="Open Sans"/>
              </a:rPr>
              <a:t>(Reuters, 2025)</a:t>
            </a:r>
          </a:p>
          <a:p>
            <a:pPr marL="734058" lvl="1" indent="-367029" algn="just">
              <a:lnSpc>
                <a:spcPts val="4759"/>
              </a:lnSpc>
              <a:buFont typeface="Arial"/>
              <a:buChar char="•"/>
            </a:pPr>
            <a:r>
              <a:rPr lang="en-US" sz="3399">
                <a:solidFill>
                  <a:srgbClr val="000000"/>
                </a:solidFill>
                <a:latin typeface="Open Sans"/>
                <a:ea typeface="Open Sans"/>
                <a:cs typeface="Open Sans"/>
                <a:sym typeface="Open Sans"/>
              </a:rPr>
              <a:t>Prototype features: physical keyboard option, privacy dashboard, distraction-free modes </a:t>
            </a:r>
            <a:r>
              <a:rPr lang="en-US" sz="3399">
                <a:solidFill>
                  <a:srgbClr val="E01A72"/>
                </a:solidFill>
                <a:latin typeface="Open Sans"/>
                <a:ea typeface="Open Sans"/>
                <a:cs typeface="Open Sans"/>
                <a:sym typeface="Open Sans"/>
              </a:rPr>
              <a:t>(</a:t>
            </a:r>
            <a:r>
              <a:rPr lang="en-US" sz="3399" dirty="0" err="1">
                <a:solidFill>
                  <a:srgbClr val="E01A72"/>
                </a:solidFill>
                <a:latin typeface="Open Sans"/>
                <a:ea typeface="Open Sans"/>
                <a:cs typeface="Open Sans"/>
                <a:sym typeface="Open Sans"/>
              </a:rPr>
              <a:t>SunStar</a:t>
            </a:r>
            <a:r>
              <a:rPr lang="en-US" sz="3399" dirty="0">
                <a:solidFill>
                  <a:srgbClr val="E01A72"/>
                </a:solidFill>
                <a:latin typeface="Open Sans"/>
                <a:ea typeface="Open Sans"/>
                <a:cs typeface="Open Sans"/>
                <a:sym typeface="Open Sans"/>
              </a:rPr>
              <a:t>, 2024)</a:t>
            </a:r>
          </a:p>
          <a:p>
            <a:pPr marL="734058" lvl="1" indent="-367029" algn="just">
              <a:lnSpc>
                <a:spcPts val="4759"/>
              </a:lnSpc>
              <a:buFont typeface="Arial"/>
              <a:buChar char="•"/>
            </a:pPr>
            <a:r>
              <a:rPr lang="en-US" sz="3399" dirty="0">
                <a:solidFill>
                  <a:srgbClr val="000000"/>
                </a:solidFill>
                <a:latin typeface="Open Sans"/>
                <a:ea typeface="Open Sans"/>
                <a:cs typeface="Open Sans"/>
                <a:sym typeface="Open Sans"/>
              </a:rPr>
              <a:t>Positioning theme: Security Meets Simplicity</a:t>
            </a:r>
          </a:p>
          <a:p>
            <a:pPr algn="just">
              <a:lnSpc>
                <a:spcPts val="4759"/>
              </a:lnSpc>
            </a:pPr>
            <a:endParaRPr lang="en-US" sz="3399" dirty="0">
              <a:solidFill>
                <a:srgbClr val="000000"/>
              </a:solidFill>
              <a:latin typeface="Open Sans"/>
              <a:ea typeface="Open Sans"/>
              <a:cs typeface="Open Sans"/>
              <a:sym typeface="Open Sans"/>
            </a:endParaRPr>
          </a:p>
        </p:txBody>
      </p:sp>
      <p:sp>
        <p:nvSpPr>
          <p:cNvPr id="4" name="Freeform 4">
            <a:extLst>
              <a:ext uri="{FF2B5EF4-FFF2-40B4-BE49-F238E27FC236}">
                <a16:creationId xmlns:a16="http://schemas.microsoft.com/office/drawing/2014/main" id="{AE0801E2-10FE-DD53-F3BE-75562AA4BC15}"/>
              </a:ext>
            </a:extLst>
          </p:cNvPr>
          <p:cNvSpPr/>
          <p:nvPr/>
        </p:nvSpPr>
        <p:spPr>
          <a:xfrm>
            <a:off x="14731212" y="6378891"/>
            <a:ext cx="3372289" cy="3372289"/>
          </a:xfrm>
          <a:custGeom>
            <a:avLst/>
            <a:gdLst/>
            <a:ahLst/>
            <a:cxnLst/>
            <a:rect l="l" t="t" r="r" b="b"/>
            <a:pathLst>
              <a:path w="3372289" h="3372289">
                <a:moveTo>
                  <a:pt x="0" y="0"/>
                </a:moveTo>
                <a:lnTo>
                  <a:pt x="3372289" y="0"/>
                </a:lnTo>
                <a:lnTo>
                  <a:pt x="3372289" y="3372289"/>
                </a:lnTo>
                <a:lnTo>
                  <a:pt x="0" y="3372289"/>
                </a:lnTo>
                <a:lnTo>
                  <a:pt x="0" y="0"/>
                </a:lnTo>
                <a:close/>
              </a:path>
            </a:pathLst>
          </a:custGeom>
          <a:blipFill>
            <a:blip r:embed="rId3"/>
            <a:stretch>
              <a:fillRect/>
            </a:stretch>
          </a:blipFill>
        </p:spPr>
      </p:sp>
      <p:sp>
        <p:nvSpPr>
          <p:cNvPr id="5" name="TextBox 5">
            <a:extLst>
              <a:ext uri="{FF2B5EF4-FFF2-40B4-BE49-F238E27FC236}">
                <a16:creationId xmlns:a16="http://schemas.microsoft.com/office/drawing/2014/main" id="{5C01EE86-84B0-F5A6-7DB8-06210649E653}"/>
              </a:ext>
            </a:extLst>
          </p:cNvPr>
          <p:cNvSpPr txBox="1"/>
          <p:nvPr/>
        </p:nvSpPr>
        <p:spPr>
          <a:xfrm>
            <a:off x="1923650" y="1405158"/>
            <a:ext cx="12517740" cy="1641984"/>
          </a:xfrm>
          <a:prstGeom prst="rect">
            <a:avLst/>
          </a:prstGeom>
        </p:spPr>
        <p:txBody>
          <a:bodyPr lIns="0" tIns="0" rIns="0" bIns="0" rtlCol="0" anchor="t">
            <a:spAutoFit/>
          </a:bodyPr>
          <a:lstStyle/>
          <a:p>
            <a:pPr algn="ctr">
              <a:lnSpc>
                <a:spcPts val="13446"/>
              </a:lnSpc>
            </a:pPr>
            <a:r>
              <a:rPr lang="en-US" sz="9604" b="1">
                <a:solidFill>
                  <a:srgbClr val="000000"/>
                </a:solidFill>
                <a:latin typeface="Montserrat Bold"/>
                <a:ea typeface="Montserrat Bold"/>
                <a:cs typeface="Montserrat Bold"/>
                <a:sym typeface="Montserrat Bold"/>
              </a:rPr>
              <a:t>DRAFT APPROACH</a:t>
            </a:r>
          </a:p>
        </p:txBody>
      </p:sp>
    </p:spTree>
    <p:extLst>
      <p:ext uri="{BB962C8B-B14F-4D97-AF65-F5344CB8AC3E}">
        <p14:creationId xmlns:p14="http://schemas.microsoft.com/office/powerpoint/2010/main" val="2824603685"/>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a:off x="-1269145" y="-4136884"/>
            <a:ext cx="5987226" cy="5998131"/>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002168" flipH="1" flipV="1">
            <a:off x="14525671" y="7922790"/>
            <a:ext cx="5710596" cy="5720998"/>
          </a:xfrm>
          <a:custGeom>
            <a:avLst/>
            <a:gdLst/>
            <a:ahLst/>
            <a:cxnLst/>
            <a:rect l="l" t="t" r="r" b="b"/>
            <a:pathLst>
              <a:path w="5710596" h="5720998">
                <a:moveTo>
                  <a:pt x="5710596" y="5720998"/>
                </a:moveTo>
                <a:lnTo>
                  <a:pt x="0" y="5720998"/>
                </a:lnTo>
                <a:lnTo>
                  <a:pt x="0" y="0"/>
                </a:lnTo>
                <a:lnTo>
                  <a:pt x="5710596" y="0"/>
                </a:lnTo>
                <a:lnTo>
                  <a:pt x="5710596" y="5720998"/>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925341" y="-190500"/>
            <a:ext cx="10009291" cy="1542282"/>
          </a:xfrm>
          <a:prstGeom prst="rect">
            <a:avLst/>
          </a:prstGeom>
        </p:spPr>
        <p:txBody>
          <a:bodyPr lIns="0" tIns="0" rIns="0" bIns="0" rtlCol="0" anchor="t">
            <a:spAutoFit/>
          </a:bodyPr>
          <a:lstStyle/>
          <a:p>
            <a:pPr algn="ctr">
              <a:lnSpc>
                <a:spcPts val="13446"/>
              </a:lnSpc>
            </a:pPr>
            <a:r>
              <a:rPr lang="en-US" sz="8000" b="1" dirty="0">
                <a:solidFill>
                  <a:srgbClr val="000000"/>
                </a:solidFill>
                <a:latin typeface="Montserrat Bold"/>
                <a:ea typeface="Montserrat Bold"/>
                <a:cs typeface="Montserrat Bold"/>
                <a:sym typeface="Montserrat Bold"/>
              </a:rPr>
              <a:t>REFERENCES</a:t>
            </a:r>
          </a:p>
        </p:txBody>
      </p:sp>
      <p:sp>
        <p:nvSpPr>
          <p:cNvPr id="5" name="TextBox 5"/>
          <p:cNvSpPr txBox="1"/>
          <p:nvPr/>
        </p:nvSpPr>
        <p:spPr>
          <a:xfrm>
            <a:off x="249299" y="1146252"/>
            <a:ext cx="17789401" cy="8682505"/>
          </a:xfrm>
          <a:prstGeom prst="rect">
            <a:avLst/>
          </a:prstGeom>
        </p:spPr>
        <p:txBody>
          <a:bodyPr wrap="square" lIns="0" tIns="0" rIns="0" bIns="0" rtlCol="0" anchor="t">
            <a:spAutoFit/>
          </a:bodyPr>
          <a:lstStyle/>
          <a:p>
            <a:pPr marL="690881" lvl="1" indent="-345440" algn="just">
              <a:lnSpc>
                <a:spcPct val="150000"/>
              </a:lnSpc>
              <a:buFont typeface="Arial"/>
              <a:buChar char="•"/>
            </a:pP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Statista. (2026). BlackBerry – statistics &amp; facts. Statista. </a:t>
            </a: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hlinkClick r:id="rId6"/>
              </a:rPr>
              <a:t>https://www.statista.com/topics/5316</a:t>
            </a:r>
            <a:endPar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US"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SunStar</a:t>
            </a: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(2024). Dissecting the rise, fall of BlackBerry. </a:t>
            </a: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hlinkClick r:id="rId7"/>
              </a:rPr>
              <a:t>https://www.sunstar.com.ph/cebu/lifestyle/dissecting-the-rise-fall-of-blackberry</a:t>
            </a:r>
            <a:endPar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GB" dirty="0">
                <a:latin typeface="Open Sans" panose="020B0606030504020204" pitchFamily="34" charset="0"/>
                <a:ea typeface="Open Sans" panose="020B0606030504020204" pitchFamily="34" charset="0"/>
                <a:cs typeface="Open Sans" panose="020B0606030504020204" pitchFamily="34" charset="0"/>
              </a:rPr>
              <a:t>George, A. S., George, A. H., &amp; Baskar, T. (2023). The death of </a:t>
            </a:r>
            <a:r>
              <a:rPr lang="en-GB" dirty="0" err="1">
                <a:latin typeface="Open Sans" panose="020B0606030504020204" pitchFamily="34" charset="0"/>
                <a:ea typeface="Open Sans" panose="020B0606030504020204" pitchFamily="34" charset="0"/>
                <a:cs typeface="Open Sans" panose="020B0606030504020204" pitchFamily="34" charset="0"/>
              </a:rPr>
              <a:t>analog</a:t>
            </a:r>
            <a:r>
              <a:rPr lang="en-GB" dirty="0">
                <a:latin typeface="Open Sans" panose="020B0606030504020204" pitchFamily="34" charset="0"/>
                <a:ea typeface="Open Sans" panose="020B0606030504020204" pitchFamily="34" charset="0"/>
                <a:cs typeface="Open Sans" panose="020B0606030504020204" pitchFamily="34" charset="0"/>
              </a:rPr>
              <a:t>: Assessing the Impacts of ubiquitous mobile technology. </a:t>
            </a:r>
            <a:r>
              <a:rPr lang="en-GB" i="1" dirty="0">
                <a:latin typeface="Open Sans" panose="020B0606030504020204" pitchFamily="34" charset="0"/>
                <a:ea typeface="Open Sans" panose="020B0606030504020204" pitchFamily="34" charset="0"/>
                <a:cs typeface="Open Sans" panose="020B0606030504020204" pitchFamily="34" charset="0"/>
              </a:rPr>
              <a:t>Partners Universal Innovative Research Publication</a:t>
            </a:r>
            <a:r>
              <a:rPr lang="en-GB" dirty="0">
                <a:latin typeface="Open Sans" panose="020B0606030504020204" pitchFamily="34" charset="0"/>
                <a:ea typeface="Open Sans" panose="020B0606030504020204" pitchFamily="34" charset="0"/>
                <a:cs typeface="Open Sans" panose="020B0606030504020204" pitchFamily="34" charset="0"/>
              </a:rPr>
              <a:t>, </a:t>
            </a:r>
            <a:r>
              <a:rPr lang="en-GB" i="1" dirty="0">
                <a:latin typeface="Open Sans" panose="020B0606030504020204" pitchFamily="34" charset="0"/>
                <a:ea typeface="Open Sans" panose="020B0606030504020204" pitchFamily="34" charset="0"/>
                <a:cs typeface="Open Sans" panose="020B0606030504020204" pitchFamily="34" charset="0"/>
              </a:rPr>
              <a:t>1</a:t>
            </a:r>
            <a:r>
              <a:rPr lang="en-GB" dirty="0">
                <a:latin typeface="Open Sans" panose="020B0606030504020204" pitchFamily="34" charset="0"/>
                <a:ea typeface="Open Sans" panose="020B0606030504020204" pitchFamily="34" charset="0"/>
                <a:cs typeface="Open Sans" panose="020B0606030504020204" pitchFamily="34" charset="0"/>
              </a:rPr>
              <a:t>(2), 15-33. </a:t>
            </a:r>
            <a:r>
              <a:rPr lang="en-GB" dirty="0">
                <a:latin typeface="Open Sans" panose="020B0606030504020204" pitchFamily="34" charset="0"/>
                <a:ea typeface="Open Sans" panose="020B0606030504020204" pitchFamily="34" charset="0"/>
                <a:cs typeface="Open Sans" panose="020B0606030504020204" pitchFamily="34" charset="0"/>
                <a:hlinkClick r:id="rId8"/>
              </a:rPr>
              <a:t>http://www.puirp.com/index.php/research/article/view/17</a:t>
            </a:r>
            <a:endPar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Reuters. (2025, April 2). BlackBerry forecasts lower annual revenue due to weak demand for cybersecurity services. </a:t>
            </a: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hlinkClick r:id="rId9"/>
              </a:rPr>
              <a:t>https://www.reuters.com/technology/blackberry-forecasts-lower-annual-revenue-due-weak-demand-cybersecurity-services-2025-04-02/</a:t>
            </a:r>
            <a:endPar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Youssef, M. H., &amp; Haj Youssef, M. (2013). Strategic tensions within the smartphones industry: the case of BlackBerry. VISTAS: Education, Economy and Community, 3, 125-141. </a:t>
            </a: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hlinkClick r:id="rId10"/>
              </a:rPr>
              <a:t>https://westminsterresearch.westminster.ac.uk/item/967yy/strategic-tensions-within-the-smartphones-industry-the-case-of-blackberry</a:t>
            </a:r>
            <a:endPar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GB" dirty="0"/>
              <a:t>Sexton, V., Dale, J., Bryce, C., Barry, J., Sellers, E., &amp; Atherton, H. (2022). Service use, clinical outcomes and user experience associated with urgent care services that use telephone-based digital triage: a systematic review. </a:t>
            </a:r>
            <a:r>
              <a:rPr lang="en-GB" i="1" dirty="0"/>
              <a:t>BMJ open</a:t>
            </a:r>
            <a:r>
              <a:rPr lang="en-GB" dirty="0"/>
              <a:t>, </a:t>
            </a:r>
            <a:r>
              <a:rPr lang="en-GB" i="1" dirty="0"/>
              <a:t>12</a:t>
            </a:r>
            <a:r>
              <a:rPr lang="en-GB" dirty="0"/>
              <a:t>(1), e051569. </a:t>
            </a:r>
            <a:r>
              <a:rPr lang="en-GB" dirty="0">
                <a:hlinkClick r:id="rId11"/>
              </a:rPr>
              <a:t>https://bmjopen.bmj.com/content/12/1/e051569.abstract</a:t>
            </a:r>
            <a:endPar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690881" lvl="1" indent="-345440" algn="just">
              <a:lnSpc>
                <a:spcPct val="150000"/>
              </a:lnSpc>
              <a:buFont typeface="Arial"/>
              <a:buChar char="•"/>
            </a:pPr>
            <a:r>
              <a:rPr lang="en-GB" dirty="0" err="1">
                <a:latin typeface="Open Sans" panose="020B0606030504020204" pitchFamily="34" charset="0"/>
                <a:ea typeface="Open Sans" panose="020B0606030504020204" pitchFamily="34" charset="0"/>
                <a:cs typeface="Open Sans" panose="020B0606030504020204" pitchFamily="34" charset="0"/>
              </a:rPr>
              <a:t>Grieva</a:t>
            </a:r>
            <a:r>
              <a:rPr lang="en-GB" dirty="0">
                <a:latin typeface="Open Sans" panose="020B0606030504020204" pitchFamily="34" charset="0"/>
                <a:ea typeface="Open Sans" panose="020B0606030504020204" pitchFamily="34" charset="0"/>
                <a:cs typeface="Open Sans" panose="020B0606030504020204" pitchFamily="34" charset="0"/>
              </a:rPr>
              <a:t>, O., </a:t>
            </a:r>
            <a:r>
              <a:rPr lang="en-GB" dirty="0" err="1">
                <a:latin typeface="Open Sans" panose="020B0606030504020204" pitchFamily="34" charset="0"/>
                <a:ea typeface="Open Sans" panose="020B0606030504020204" pitchFamily="34" charset="0"/>
                <a:cs typeface="Open Sans" panose="020B0606030504020204" pitchFamily="34" charset="0"/>
              </a:rPr>
              <a:t>Guadamillas</a:t>
            </a:r>
            <a:r>
              <a:rPr lang="en-GB" dirty="0">
                <a:latin typeface="Open Sans" panose="020B0606030504020204" pitchFamily="34" charset="0"/>
                <a:ea typeface="Open Sans" panose="020B0606030504020204" pitchFamily="34" charset="0"/>
                <a:cs typeface="Open Sans" panose="020B0606030504020204" pitchFamily="34" charset="0"/>
              </a:rPr>
              <a:t>, F., Donate, M. J., &amp; </a:t>
            </a:r>
            <a:r>
              <a:rPr lang="en-GB" dirty="0" err="1">
                <a:latin typeface="Open Sans" panose="020B0606030504020204" pitchFamily="34" charset="0"/>
                <a:ea typeface="Open Sans" panose="020B0606030504020204" pitchFamily="34" charset="0"/>
                <a:cs typeface="Open Sans" panose="020B0606030504020204" pitchFamily="34" charset="0"/>
              </a:rPr>
              <a:t>Appio</a:t>
            </a:r>
            <a:r>
              <a:rPr lang="en-GB" dirty="0">
                <a:latin typeface="Open Sans" panose="020B0606030504020204" pitchFamily="34" charset="0"/>
                <a:ea typeface="Open Sans" panose="020B0606030504020204" pitchFamily="34" charset="0"/>
                <a:cs typeface="Open Sans" panose="020B0606030504020204" pitchFamily="34" charset="0"/>
              </a:rPr>
              <a:t>, F. P. (2025). The digital, knowledge and innovation nexus: mapping synergies and charting a research agenda. </a:t>
            </a:r>
            <a:r>
              <a:rPr lang="en-GB" i="1" dirty="0">
                <a:latin typeface="Open Sans" panose="020B0606030504020204" pitchFamily="34" charset="0"/>
                <a:ea typeface="Open Sans" panose="020B0606030504020204" pitchFamily="34" charset="0"/>
                <a:cs typeface="Open Sans" panose="020B0606030504020204" pitchFamily="34" charset="0"/>
              </a:rPr>
              <a:t>Journal of Knowledge Management</a:t>
            </a:r>
            <a:r>
              <a:rPr lang="en-GB" dirty="0">
                <a:latin typeface="Open Sans" panose="020B0606030504020204" pitchFamily="34" charset="0"/>
                <a:ea typeface="Open Sans" panose="020B0606030504020204" pitchFamily="34" charset="0"/>
                <a:cs typeface="Open Sans" panose="020B0606030504020204" pitchFamily="34" charset="0"/>
              </a:rPr>
              <a:t>, 1-42. </a:t>
            </a:r>
            <a:r>
              <a:rPr lang="en-GB" dirty="0">
                <a:latin typeface="Open Sans" panose="020B0606030504020204" pitchFamily="34" charset="0"/>
                <a:ea typeface="Open Sans" panose="020B0606030504020204" pitchFamily="34" charset="0"/>
                <a:cs typeface="Open Sans" panose="020B0606030504020204" pitchFamily="34" charset="0"/>
                <a:hlinkClick r:id="rId12"/>
              </a:rPr>
              <a:t>https://www.emerald.com/jkm/article/doi/10.1108/JKM-03-2025-0425/1308888</a:t>
            </a:r>
            <a:endParaRPr lang="en-GB" dirty="0">
              <a:latin typeface="Open Sans" panose="020B0606030504020204" pitchFamily="34" charset="0"/>
              <a:ea typeface="Open Sans" panose="020B0606030504020204" pitchFamily="34" charset="0"/>
              <a:cs typeface="Open Sans" panose="020B0606030504020204" pitchFamily="34" charset="0"/>
            </a:endParaRPr>
          </a:p>
          <a:p>
            <a:pPr marL="690881" lvl="1" indent="-345440" algn="just">
              <a:lnSpc>
                <a:spcPct val="150000"/>
              </a:lnSpc>
              <a:buFont typeface="Arial"/>
              <a:buChar char="•"/>
            </a:pP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Statista. (2025). BlackBerry revenue worldwide from 2004 to 2024 (in million U.S. dollars). Statista. </a:t>
            </a:r>
            <a:r>
              <a:rPr lang="en-US" u="sng"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hlinkClick r:id="rId13" tooltip="https://www.statista.com/statistics/266240/blackberry-revenue/?utm_source=chatgpt.com"/>
              </a:rPr>
              <a:t>https://www.statista.com/statistics/266240/blackberry-revenue/</a:t>
            </a:r>
            <a:r>
              <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a:t>
            </a:r>
          </a:p>
          <a:p>
            <a:pPr marL="690881" lvl="1" indent="-345440" algn="just">
              <a:lnSpc>
                <a:spcPct val="150000"/>
              </a:lnSpc>
              <a:buFont typeface="Arial"/>
              <a:buChar char="•"/>
            </a:pPr>
            <a:r>
              <a:rPr lang="en-US" dirty="0" err="1"/>
              <a:t>Massenon</a:t>
            </a:r>
            <a:r>
              <a:rPr lang="en-US" dirty="0"/>
              <a:t>, R., Gambo, I., </a:t>
            </a:r>
            <a:r>
              <a:rPr lang="en-US" dirty="0" err="1"/>
              <a:t>Ogundokun</a:t>
            </a:r>
            <a:r>
              <a:rPr lang="en-US" dirty="0"/>
              <a:t>, R. O., </a:t>
            </a:r>
            <a:r>
              <a:rPr lang="en-US" dirty="0" err="1"/>
              <a:t>Ogundepo</a:t>
            </a:r>
            <a:r>
              <a:rPr lang="en-US" dirty="0"/>
              <a:t>, E. A., Srivastava, S., Agarwal, S., &amp; Pak, W. (2024). Mobile app review analysis for crowdsourcing of software requirements: a mapping study of automated and semi-automated tools. </a:t>
            </a:r>
            <a:r>
              <a:rPr lang="en-US" i="1" dirty="0" err="1"/>
              <a:t>PeerJ</a:t>
            </a:r>
            <a:r>
              <a:rPr lang="en-US" i="1" dirty="0"/>
              <a:t> Computer Science</a:t>
            </a:r>
            <a:r>
              <a:rPr lang="en-US" dirty="0"/>
              <a:t>, </a:t>
            </a:r>
            <a:r>
              <a:rPr lang="en-US" i="1" dirty="0"/>
              <a:t>10</a:t>
            </a:r>
            <a:r>
              <a:rPr lang="en-US" dirty="0"/>
              <a:t>, e2401. </a:t>
            </a:r>
            <a:r>
              <a:rPr lang="en-US" dirty="0">
                <a:hlinkClick r:id="rId14"/>
              </a:rPr>
              <a:t>https://peerj.com/articles/cs-2401/</a:t>
            </a:r>
            <a:endParaRPr lang="en-US" dirty="0"/>
          </a:p>
          <a:p>
            <a:pPr marL="690881" lvl="1" indent="-345440" algn="just">
              <a:lnSpc>
                <a:spcPct val="150000"/>
              </a:lnSpc>
              <a:buFont typeface="Arial"/>
              <a:buChar char="•"/>
            </a:pPr>
            <a:r>
              <a:rPr lang="en-GB" dirty="0"/>
              <a:t>Shin, Y. (2025). Toward human-</a:t>
            </a:r>
            <a:r>
              <a:rPr lang="en-GB" dirty="0" err="1"/>
              <a:t>centered</a:t>
            </a:r>
            <a:r>
              <a:rPr lang="en-GB" dirty="0"/>
              <a:t> artificial intelligence for users’ digital well-being: Systematic review, synthesis, and future directions. </a:t>
            </a:r>
            <a:r>
              <a:rPr lang="en-GB" i="1" dirty="0"/>
              <a:t>JMIR Human Factors</a:t>
            </a:r>
            <a:r>
              <a:rPr lang="en-GB" dirty="0"/>
              <a:t>, </a:t>
            </a:r>
            <a:r>
              <a:rPr lang="en-GB" i="1" dirty="0"/>
              <a:t>12</a:t>
            </a:r>
            <a:r>
              <a:rPr lang="en-GB" dirty="0"/>
              <a:t>(1), e69533. </a:t>
            </a:r>
            <a:r>
              <a:rPr lang="en-GB" dirty="0">
                <a:hlinkClick r:id="rId15"/>
              </a:rPr>
              <a:t>https://humanfactors.jmir.org/2025/1/e69533/</a:t>
            </a:r>
            <a:endParaRPr lang="en-GB" dirty="0"/>
          </a:p>
          <a:p>
            <a:pPr marL="690881" lvl="1" indent="-345440" algn="just">
              <a:lnSpc>
                <a:spcPct val="150000"/>
              </a:lnSpc>
              <a:buFont typeface="Arial"/>
              <a:buChar char="•"/>
            </a:pPr>
            <a:r>
              <a:rPr lang="en-GB" dirty="0" err="1"/>
              <a:t>Godliauskas</a:t>
            </a:r>
            <a:r>
              <a:rPr lang="en-GB" dirty="0"/>
              <a:t>, P., &amp; </a:t>
            </a:r>
            <a:r>
              <a:rPr lang="en-GB" dirty="0" err="1"/>
              <a:t>Šmite</a:t>
            </a:r>
            <a:r>
              <a:rPr lang="en-GB" dirty="0"/>
              <a:t>, D. (2025). The well-being of software engineers: a systematic literature review and a theory. </a:t>
            </a:r>
            <a:r>
              <a:rPr lang="en-GB" i="1" dirty="0"/>
              <a:t>Empirical Software Engineering</a:t>
            </a:r>
            <a:r>
              <a:rPr lang="en-GB" dirty="0"/>
              <a:t>, </a:t>
            </a:r>
            <a:r>
              <a:rPr lang="en-GB" i="1" dirty="0"/>
              <a:t>30</a:t>
            </a:r>
            <a:r>
              <a:rPr lang="en-GB" dirty="0"/>
              <a:t>(1), 35. </a:t>
            </a:r>
            <a:r>
              <a:rPr lang="en-GB" dirty="0">
                <a:hlinkClick r:id="rId16"/>
              </a:rPr>
              <a:t>https://link.springer.com/article/10.1007/s10664-024-10543-8</a:t>
            </a:r>
            <a:endParaRPr lang="en-GB" dirty="0"/>
          </a:p>
          <a:p>
            <a:pPr marL="690881" lvl="1" indent="-345440" algn="just">
              <a:lnSpc>
                <a:spcPct val="150000"/>
              </a:lnSpc>
              <a:buFont typeface="Arial"/>
              <a:buChar char="•"/>
            </a:pP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02168">
            <a:off x="-1222246" y="-3356253"/>
            <a:ext cx="5987226" cy="5998131"/>
          </a:xfrm>
          <a:custGeom>
            <a:avLst/>
            <a:gdLst/>
            <a:ahLst/>
            <a:cxnLst/>
            <a:rect l="l" t="t" r="r" b="b"/>
            <a:pathLst>
              <a:path w="5987226" h="5998131">
                <a:moveTo>
                  <a:pt x="0" y="0"/>
                </a:moveTo>
                <a:lnTo>
                  <a:pt x="5987225" y="0"/>
                </a:lnTo>
                <a:lnTo>
                  <a:pt x="5987225" y="5998131"/>
                </a:lnTo>
                <a:lnTo>
                  <a:pt x="0" y="599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002168" flipH="1" flipV="1">
            <a:off x="14265687" y="7630834"/>
            <a:ext cx="5987226" cy="5998131"/>
          </a:xfrm>
          <a:custGeom>
            <a:avLst/>
            <a:gdLst/>
            <a:ahLst/>
            <a:cxnLst/>
            <a:rect l="l" t="t" r="r" b="b"/>
            <a:pathLst>
              <a:path w="5987226" h="5998131">
                <a:moveTo>
                  <a:pt x="5987226" y="5998132"/>
                </a:moveTo>
                <a:lnTo>
                  <a:pt x="0" y="5998132"/>
                </a:lnTo>
                <a:lnTo>
                  <a:pt x="0" y="0"/>
                </a:lnTo>
                <a:lnTo>
                  <a:pt x="5987226" y="0"/>
                </a:lnTo>
                <a:lnTo>
                  <a:pt x="5987226" y="599813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916139" y="2392946"/>
            <a:ext cx="13018493" cy="2130613"/>
          </a:xfrm>
          <a:prstGeom prst="rect">
            <a:avLst/>
          </a:prstGeom>
        </p:spPr>
        <p:txBody>
          <a:bodyPr lIns="0" tIns="0" rIns="0" bIns="0" rtlCol="0" anchor="t">
            <a:spAutoFit/>
          </a:bodyPr>
          <a:lstStyle/>
          <a:p>
            <a:pPr algn="ctr">
              <a:lnSpc>
                <a:spcPts val="17489"/>
              </a:lnSpc>
            </a:pPr>
            <a:r>
              <a:rPr lang="en-US" sz="12492" b="1">
                <a:solidFill>
                  <a:srgbClr val="000000"/>
                </a:solidFill>
                <a:latin typeface="Anantason Bold"/>
                <a:ea typeface="Anantason Bold"/>
                <a:cs typeface="Anantason Bold"/>
                <a:sym typeface="Anantason Bold"/>
              </a:rPr>
              <a:t>THANK </a:t>
            </a:r>
            <a:r>
              <a:rPr lang="en-US" sz="12492" b="1">
                <a:solidFill>
                  <a:srgbClr val="E01A72"/>
                </a:solidFill>
                <a:latin typeface="Anantason Bold"/>
                <a:ea typeface="Anantason Bold"/>
                <a:cs typeface="Anantason Bold"/>
                <a:sym typeface="Anantason Bold"/>
              </a:rPr>
              <a:t>YOU</a:t>
            </a:r>
          </a:p>
        </p:txBody>
      </p:sp>
      <p:sp>
        <p:nvSpPr>
          <p:cNvPr id="5" name="Freeform 5"/>
          <p:cNvSpPr/>
          <p:nvPr/>
        </p:nvSpPr>
        <p:spPr>
          <a:xfrm>
            <a:off x="15100116" y="0"/>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6"/>
            <a:stretch>
              <a:fillRect t="-20266" b="-21392"/>
            </a:stretch>
          </a:blipFill>
        </p:spPr>
      </p:sp>
      <p:sp>
        <p:nvSpPr>
          <p:cNvPr id="6" name="Freeform 6"/>
          <p:cNvSpPr/>
          <p:nvPr/>
        </p:nvSpPr>
        <p:spPr>
          <a:xfrm>
            <a:off x="0" y="8036617"/>
            <a:ext cx="3187884" cy="2250383"/>
          </a:xfrm>
          <a:custGeom>
            <a:avLst/>
            <a:gdLst/>
            <a:ahLst/>
            <a:cxnLst/>
            <a:rect l="l" t="t" r="r" b="b"/>
            <a:pathLst>
              <a:path w="3187884" h="2250383">
                <a:moveTo>
                  <a:pt x="0" y="0"/>
                </a:moveTo>
                <a:lnTo>
                  <a:pt x="3187884" y="0"/>
                </a:lnTo>
                <a:lnTo>
                  <a:pt x="3187884" y="2250383"/>
                </a:lnTo>
                <a:lnTo>
                  <a:pt x="0" y="2250383"/>
                </a:lnTo>
                <a:lnTo>
                  <a:pt x="0" y="0"/>
                </a:lnTo>
                <a:close/>
              </a:path>
            </a:pathLst>
          </a:custGeom>
          <a:blipFill>
            <a:blip r:embed="rId6"/>
            <a:stretch>
              <a:fillRect t="-20266" b="-21392"/>
            </a:stretch>
          </a:blipFill>
        </p:spPr>
      </p:sp>
      <p:sp>
        <p:nvSpPr>
          <p:cNvPr id="7" name="Freeform 7"/>
          <p:cNvSpPr/>
          <p:nvPr/>
        </p:nvSpPr>
        <p:spPr>
          <a:xfrm>
            <a:off x="4990749" y="6352032"/>
            <a:ext cx="11703309" cy="2007773"/>
          </a:xfrm>
          <a:custGeom>
            <a:avLst/>
            <a:gdLst/>
            <a:ahLst/>
            <a:cxnLst/>
            <a:rect l="l" t="t" r="r" b="b"/>
            <a:pathLst>
              <a:path w="11703309" h="2007773">
                <a:moveTo>
                  <a:pt x="0" y="0"/>
                </a:moveTo>
                <a:lnTo>
                  <a:pt x="11703309" y="0"/>
                </a:lnTo>
                <a:lnTo>
                  <a:pt x="11703309" y="2007773"/>
                </a:lnTo>
                <a:lnTo>
                  <a:pt x="0" y="2007773"/>
                </a:lnTo>
                <a:lnTo>
                  <a:pt x="0" y="0"/>
                </a:lnTo>
                <a:close/>
              </a:path>
            </a:pathLst>
          </a:custGeom>
          <a:blipFill>
            <a:blip r:embed="rId7">
              <a:alphaModFix amt="23000"/>
            </a:blip>
            <a:stretch>
              <a:fillRect t="-232113" b="-250786"/>
            </a:stretch>
          </a:blipFill>
        </p:spPr>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278</TotalTime>
  <Words>1626</Words>
  <Application>Microsoft Office PowerPoint</Application>
  <PresentationFormat>Custom</PresentationFormat>
  <Paragraphs>174</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Open Sans</vt:lpstr>
      <vt:lpstr>Anantason Bold</vt:lpstr>
      <vt:lpstr>Montserrat</vt:lpstr>
      <vt:lpstr>Open Sans Italics</vt:lpstr>
      <vt:lpstr>Open Sans Bold</vt:lpstr>
      <vt:lpstr>Calibri</vt:lpstr>
      <vt:lpstr>Arial</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Reinvigorating BlackBerry</dc:title>
  <dc:creator>ADMIN</dc:creator>
  <cp:lastModifiedBy>kelvin mwangi</cp:lastModifiedBy>
  <cp:revision>48</cp:revision>
  <dcterms:created xsi:type="dcterms:W3CDTF">2006-08-16T00:00:00Z</dcterms:created>
  <dcterms:modified xsi:type="dcterms:W3CDTF">2026-01-30T12:29:44Z</dcterms:modified>
  <dc:identifier>DAG-DxLp_L8</dc:identifier>
</cp:coreProperties>
</file>