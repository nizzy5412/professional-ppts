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1" r:id="rId6"/>
    <p:sldId id="262" r:id="rId7"/>
    <p:sldId id="263" r:id="rId8"/>
    <p:sldId id="264" r:id="rId9"/>
  </p:sldIdLst>
  <p:sldSz cx="18288000" cy="10287000"/>
  <p:notesSz cx="6858000" cy="9144000"/>
  <p:embeddedFontLst>
    <p:embeddedFont>
      <p:font typeface="Circe" panose="020B0604020202020204" charset="0"/>
      <p:regular r:id="rId10"/>
    </p:embeddedFont>
    <p:embeddedFont>
      <p:font typeface="Circe Bold" panose="020B0604020202020204" charset="0"/>
      <p:regular r:id="rId11"/>
    </p:embeddedFont>
    <p:embeddedFont>
      <p:font typeface="DM Sans" pitchFamily="2" charset="0"/>
      <p:regular r:id="rId12"/>
    </p:embeddedFont>
    <p:embeddedFont>
      <p:font typeface="DM Sans Bold" charset="0"/>
      <p:regular r:id="rId13"/>
    </p:embeddedFont>
    <p:embeddedFont>
      <p:font typeface="Feeling Passionate" panose="020B0604020202020204" charset="0"/>
      <p:regular r:id="rId14"/>
    </p:embeddedFont>
    <p:embeddedFont>
      <p:font typeface="Migra Extra-Light" panose="020B0604020202020204" charset="0"/>
      <p:regular r:id="rId15"/>
    </p:embeddedFont>
    <p:embeddedFont>
      <p:font typeface="TT Commons Pro Expanded" panose="020B0604020202020204" charset="0"/>
      <p:regular r:id="rId16"/>
    </p:embeddedFont>
    <p:embeddedFont>
      <p:font typeface="TT Commons Pro Expanded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8" d="100"/>
          <a:sy n="48" d="100"/>
        </p:scale>
        <p:origin x="63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9.pn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hyperlink" Target="https://www.researchgate.net/publication/380721702_An_Examination_of_Huawei's_Strategic_Decisions_Balancing_Tensions_For_Sustainable_Growth" TargetMode="External"/><Relationship Id="rId2" Type="http://schemas.openxmlformats.org/officeDocument/2006/relationships/hyperlink" Target="https://cuestionesdefisioterapia.com/index.php/es/article/view/3430" TargetMode="External"/><Relationship Id="rId1" Type="http://schemas.openxmlformats.org/officeDocument/2006/relationships/slideLayout" Target="../slideLayouts/slideLayout7.xml"/><Relationship Id="rId6" Type="http://schemas.openxmlformats.org/officeDocument/2006/relationships/hyperlink" Target="https://link.springer.com/article/10.1186/s40991-022-00074-0" TargetMode="External"/><Relationship Id="rId5" Type="http://schemas.openxmlformats.org/officeDocument/2006/relationships/hyperlink" Target="https://www.huawei.com/minisite/annual-report-download/annual_report_2024_en.pdf" TargetMode="External"/><Relationship Id="rId4" Type="http://schemas.openxmlformats.org/officeDocument/2006/relationships/hyperlink" Target="https://real.mtak.hu/166436/1/14-33.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711695" y="-234987"/>
            <a:ext cx="10438564" cy="4460747"/>
          </a:xfrm>
          <a:custGeom>
            <a:avLst/>
            <a:gdLst/>
            <a:ahLst/>
            <a:cxnLst/>
            <a:rect l="l" t="t" r="r" b="b"/>
            <a:pathLst>
              <a:path w="10438564" h="4460747">
                <a:moveTo>
                  <a:pt x="0" y="0"/>
                </a:moveTo>
                <a:lnTo>
                  <a:pt x="10438564" y="0"/>
                </a:lnTo>
                <a:lnTo>
                  <a:pt x="10438564" y="4460746"/>
                </a:lnTo>
                <a:lnTo>
                  <a:pt x="0" y="4460746"/>
                </a:lnTo>
                <a:lnTo>
                  <a:pt x="0" y="0"/>
                </a:lnTo>
                <a:close/>
              </a:path>
            </a:pathLst>
          </a:custGeom>
          <a:blipFill>
            <a:blip r:embed="rId2"/>
            <a:stretch>
              <a:fillRect/>
            </a:stretch>
          </a:blipFill>
        </p:spPr>
      </p:sp>
      <p:sp>
        <p:nvSpPr>
          <p:cNvPr id="5" name="Freeform 5"/>
          <p:cNvSpPr/>
          <p:nvPr/>
        </p:nvSpPr>
        <p:spPr>
          <a:xfrm flipH="1">
            <a:off x="1352233" y="7032706"/>
            <a:ext cx="16749272" cy="4550728"/>
          </a:xfrm>
          <a:custGeom>
            <a:avLst/>
            <a:gdLst/>
            <a:ahLst/>
            <a:cxnLst/>
            <a:rect l="l" t="t" r="r" b="b"/>
            <a:pathLst>
              <a:path w="16749272" h="6176306">
                <a:moveTo>
                  <a:pt x="16749272" y="0"/>
                </a:moveTo>
                <a:lnTo>
                  <a:pt x="0" y="0"/>
                </a:lnTo>
                <a:lnTo>
                  <a:pt x="0" y="6176306"/>
                </a:lnTo>
                <a:lnTo>
                  <a:pt x="16749272" y="6176306"/>
                </a:lnTo>
                <a:lnTo>
                  <a:pt x="16749272" y="0"/>
                </a:lnTo>
                <a:close/>
              </a:path>
            </a:pathLst>
          </a:custGeom>
          <a:blipFill>
            <a:blip r:embed="rId3"/>
            <a:stretch>
              <a:fillRect l="-5597" t="-64277" b="-42263"/>
            </a:stretch>
          </a:blipFill>
          <a:ln cap="sq">
            <a:noFill/>
            <a:prstDash val="solid"/>
            <a:miter/>
          </a:ln>
        </p:spPr>
      </p:sp>
      <p:sp>
        <p:nvSpPr>
          <p:cNvPr id="6" name="Freeform 6"/>
          <p:cNvSpPr/>
          <p:nvPr/>
        </p:nvSpPr>
        <p:spPr>
          <a:xfrm flipH="1">
            <a:off x="-235699" y="384496"/>
            <a:ext cx="11674189" cy="2592320"/>
          </a:xfrm>
          <a:custGeom>
            <a:avLst/>
            <a:gdLst/>
            <a:ahLst/>
            <a:cxnLst/>
            <a:rect l="l" t="t" r="r" b="b"/>
            <a:pathLst>
              <a:path w="11674189" h="2592320">
                <a:moveTo>
                  <a:pt x="11674188" y="0"/>
                </a:moveTo>
                <a:lnTo>
                  <a:pt x="0" y="0"/>
                </a:lnTo>
                <a:lnTo>
                  <a:pt x="0" y="2592319"/>
                </a:lnTo>
                <a:lnTo>
                  <a:pt x="11674188" y="2592319"/>
                </a:lnTo>
                <a:lnTo>
                  <a:pt x="11674188" y="0"/>
                </a:lnTo>
                <a:close/>
              </a:path>
            </a:pathLst>
          </a:custGeom>
          <a:blipFill>
            <a:blip r:embed="rId4"/>
            <a:stretch>
              <a:fillRect t="-7418" b="-7418"/>
            </a:stretch>
          </a:blipFill>
        </p:spPr>
      </p:sp>
      <p:sp>
        <p:nvSpPr>
          <p:cNvPr id="7" name="Freeform 7"/>
          <p:cNvSpPr/>
          <p:nvPr/>
        </p:nvSpPr>
        <p:spPr>
          <a:xfrm>
            <a:off x="12385083" y="8232887"/>
            <a:ext cx="2487687" cy="497537"/>
          </a:xfrm>
          <a:custGeom>
            <a:avLst/>
            <a:gdLst/>
            <a:ahLst/>
            <a:cxnLst/>
            <a:rect l="l" t="t" r="r" b="b"/>
            <a:pathLst>
              <a:path w="2487687" h="497537">
                <a:moveTo>
                  <a:pt x="0" y="0"/>
                </a:moveTo>
                <a:lnTo>
                  <a:pt x="2487687" y="0"/>
                </a:lnTo>
                <a:lnTo>
                  <a:pt x="2487687" y="497537"/>
                </a:lnTo>
                <a:lnTo>
                  <a:pt x="0" y="4975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667000" y="7416414"/>
            <a:ext cx="14475950" cy="4587794"/>
          </a:xfrm>
          <a:prstGeom prst="rect">
            <a:avLst/>
          </a:prstGeom>
        </p:spPr>
        <p:txBody>
          <a:bodyPr lIns="0" tIns="0" rIns="0" bIns="0" rtlCol="0" anchor="t">
            <a:spAutoFit/>
          </a:bodyPr>
          <a:lstStyle/>
          <a:p>
            <a:pPr algn="ctr">
              <a:lnSpc>
                <a:spcPts val="4536"/>
              </a:lnSpc>
            </a:pPr>
            <a:r>
              <a:rPr lang="en-US" sz="3000" b="1" dirty="0">
                <a:solidFill>
                  <a:srgbClr val="000000"/>
                </a:solidFill>
                <a:latin typeface="Circe Bold"/>
                <a:ea typeface="Circe Bold"/>
                <a:cs typeface="Circe Bold"/>
                <a:sym typeface="Circe Bold"/>
              </a:rPr>
              <a:t>Notes:</a:t>
            </a:r>
          </a:p>
          <a:p>
            <a:pPr algn="ctr">
              <a:lnSpc>
                <a:spcPts val="4536"/>
              </a:lnSpc>
            </a:pPr>
            <a:r>
              <a:rPr lang="en-US" sz="3000" u="none" strike="noStrike" dirty="0">
                <a:solidFill>
                  <a:srgbClr val="000000"/>
                </a:solidFill>
                <a:latin typeface="Circe"/>
                <a:ea typeface="Circe"/>
                <a:cs typeface="Circe"/>
                <a:sym typeface="Circe"/>
              </a:rPr>
              <a:t>In this reflection, I used Gibbs Reflective Cycle (1988) to revisit what I got to know in the module and when writing my essay on Huawei's strategic planning approach to enter the European market. It discusses how I applied management functions and tools of strategy like PESTLE, SWOT, and Porter's Five Forces and how the experience helped me put into better perspective my research, analytical, and reflective skills in approaching management issues more efficiently.</a:t>
            </a:r>
          </a:p>
          <a:p>
            <a:pPr marL="0" lvl="1" indent="0" algn="ctr">
              <a:lnSpc>
                <a:spcPts val="4536"/>
              </a:lnSpc>
            </a:pPr>
            <a:endParaRPr lang="en-US" sz="3000" u="none" strike="noStrike" dirty="0">
              <a:solidFill>
                <a:srgbClr val="000000"/>
              </a:solidFill>
              <a:latin typeface="Circe"/>
              <a:ea typeface="Circe"/>
              <a:cs typeface="Circe"/>
              <a:sym typeface="Circe"/>
            </a:endParaRPr>
          </a:p>
        </p:txBody>
      </p:sp>
      <p:sp>
        <p:nvSpPr>
          <p:cNvPr id="9" name="TextBox 9"/>
          <p:cNvSpPr txBox="1"/>
          <p:nvPr/>
        </p:nvSpPr>
        <p:spPr>
          <a:xfrm>
            <a:off x="-235701" y="392779"/>
            <a:ext cx="11674189" cy="2586990"/>
          </a:xfrm>
          <a:prstGeom prst="rect">
            <a:avLst/>
          </a:prstGeom>
        </p:spPr>
        <p:txBody>
          <a:bodyPr wrap="square" lIns="0" tIns="0" rIns="0" bIns="0" rtlCol="0" anchor="t">
            <a:spAutoFit/>
          </a:bodyPr>
          <a:lstStyle/>
          <a:p>
            <a:pPr>
              <a:spcBef>
                <a:spcPct val="0"/>
              </a:spcBef>
            </a:pPr>
            <a:r>
              <a:rPr lang="en-US" sz="5000" b="1" dirty="0">
                <a:solidFill>
                  <a:srgbClr val="000000"/>
                </a:solidFill>
                <a:latin typeface="Migra Extra-Light"/>
                <a:ea typeface="Migra Extra-Light"/>
                <a:cs typeface="Migra Extra-Light"/>
                <a:sym typeface="Migra Extra-Light"/>
              </a:rPr>
              <a:t>Reflective Presentation on Huawei’s Strategic Planning and Personal Learning</a:t>
            </a:r>
            <a:endParaRPr lang="en-US" sz="5000" b="1" dirty="0">
              <a:solidFill>
                <a:srgbClr val="000000"/>
              </a:solidFill>
              <a:latin typeface="Feeling Passionate"/>
              <a:ea typeface="Feeling Passionate"/>
              <a:cs typeface="Feeling Passionate"/>
              <a:sym typeface="Feeling Passionate"/>
            </a:endParaRPr>
          </a:p>
          <a:p>
            <a:pPr marL="0" lvl="0" indent="0" algn="l">
              <a:lnSpc>
                <a:spcPct val="150000"/>
              </a:lnSpc>
              <a:spcBef>
                <a:spcPct val="0"/>
              </a:spcBef>
            </a:pPr>
            <a:r>
              <a:rPr lang="en-US" sz="5000" dirty="0">
                <a:solidFill>
                  <a:srgbClr val="000000"/>
                </a:solidFill>
                <a:latin typeface="Feeling Passionate"/>
                <a:ea typeface="Feeling Passionate"/>
                <a:cs typeface="Feeling Passionate"/>
                <a:sym typeface="Feeling Passionate"/>
              </a:rPr>
              <a:t>Intr</a:t>
            </a:r>
            <a:r>
              <a:rPr lang="en-US" sz="5000" u="none" strike="noStrike" dirty="0">
                <a:solidFill>
                  <a:srgbClr val="000000"/>
                </a:solidFill>
                <a:latin typeface="Feeling Passionate"/>
                <a:ea typeface="Feeling Passionate"/>
                <a:cs typeface="Feeling Passionate"/>
                <a:sym typeface="Feeling Passionate"/>
              </a:rPr>
              <a:t>oduction &amp; Purpose</a:t>
            </a:r>
          </a:p>
        </p:txBody>
      </p:sp>
      <p:sp>
        <p:nvSpPr>
          <p:cNvPr id="10" name="TextBox 10"/>
          <p:cNvSpPr txBox="1"/>
          <p:nvPr/>
        </p:nvSpPr>
        <p:spPr>
          <a:xfrm>
            <a:off x="261725" y="2919665"/>
            <a:ext cx="10940025" cy="3909695"/>
          </a:xfrm>
          <a:prstGeom prst="rect">
            <a:avLst/>
          </a:prstGeom>
        </p:spPr>
        <p:txBody>
          <a:bodyPr lIns="0" tIns="0" rIns="0" bIns="0" rtlCol="0" anchor="t">
            <a:spAutoFit/>
          </a:bodyPr>
          <a:lstStyle/>
          <a:p>
            <a:pPr marL="690881" lvl="1" indent="-345440" algn="l">
              <a:lnSpc>
                <a:spcPts val="4480"/>
              </a:lnSpc>
              <a:buFont typeface="Arial"/>
              <a:buChar char="•"/>
            </a:pPr>
            <a:r>
              <a:rPr lang="en-US" sz="3200" b="1" dirty="0">
                <a:solidFill>
                  <a:srgbClr val="000000"/>
                </a:solidFill>
                <a:latin typeface="Circe Bold"/>
                <a:ea typeface="Circe Bold"/>
                <a:cs typeface="Circe Bold"/>
                <a:sym typeface="Circe Bold"/>
              </a:rPr>
              <a:t>Purpose</a:t>
            </a:r>
            <a:r>
              <a:rPr lang="en-US" sz="3200" dirty="0">
                <a:solidFill>
                  <a:srgbClr val="000000"/>
                </a:solidFill>
                <a:latin typeface="Circe"/>
                <a:ea typeface="Circe"/>
                <a:cs typeface="Circe"/>
                <a:sym typeface="Circe"/>
              </a:rPr>
              <a:t>: To reflect on learning from Assessment 1 (Huawei essay).</a:t>
            </a:r>
          </a:p>
          <a:p>
            <a:pPr marL="690881" lvl="1" indent="-345440" algn="l">
              <a:lnSpc>
                <a:spcPts val="4480"/>
              </a:lnSpc>
              <a:buFont typeface="Arial"/>
              <a:buChar char="•"/>
            </a:pPr>
            <a:r>
              <a:rPr lang="en-US" sz="3200" b="1" dirty="0">
                <a:solidFill>
                  <a:srgbClr val="000000"/>
                </a:solidFill>
                <a:latin typeface="Circe Bold"/>
                <a:ea typeface="Circe Bold"/>
                <a:cs typeface="Circe Bold"/>
                <a:sym typeface="Circe Bold"/>
              </a:rPr>
              <a:t>Framework:</a:t>
            </a:r>
            <a:r>
              <a:rPr lang="en-US" sz="3200" dirty="0">
                <a:solidFill>
                  <a:srgbClr val="000000"/>
                </a:solidFill>
                <a:latin typeface="Circe"/>
                <a:ea typeface="Circe"/>
                <a:cs typeface="Circe"/>
                <a:sym typeface="Circe"/>
              </a:rPr>
              <a:t> Gibbs’ Reflective Cycle (1988).</a:t>
            </a:r>
          </a:p>
          <a:p>
            <a:pPr marL="690881" lvl="1" indent="-345440" algn="l">
              <a:lnSpc>
                <a:spcPts val="4480"/>
              </a:lnSpc>
              <a:buFont typeface="Arial"/>
              <a:buChar char="•"/>
            </a:pPr>
            <a:r>
              <a:rPr lang="en-US" sz="3200" b="1" dirty="0">
                <a:solidFill>
                  <a:srgbClr val="000000"/>
                </a:solidFill>
                <a:latin typeface="Circe Bold"/>
                <a:ea typeface="Circe Bold"/>
                <a:cs typeface="Circe Bold"/>
                <a:sym typeface="Circe Bold"/>
              </a:rPr>
              <a:t>Focus: </a:t>
            </a:r>
            <a:r>
              <a:rPr lang="en-US" sz="3200" dirty="0">
                <a:solidFill>
                  <a:srgbClr val="000000"/>
                </a:solidFill>
                <a:latin typeface="Circe"/>
                <a:ea typeface="Circe"/>
                <a:cs typeface="Circe"/>
                <a:sym typeface="Circe"/>
              </a:rPr>
              <a:t>Understanding management functions &amp; strategy tools.</a:t>
            </a:r>
          </a:p>
          <a:p>
            <a:pPr marL="690881" lvl="1" indent="-345440" algn="l">
              <a:lnSpc>
                <a:spcPts val="4480"/>
              </a:lnSpc>
              <a:buFont typeface="Arial"/>
              <a:buChar char="•"/>
            </a:pPr>
            <a:r>
              <a:rPr lang="en-US" sz="3200" b="1" dirty="0">
                <a:solidFill>
                  <a:srgbClr val="000000"/>
                </a:solidFill>
                <a:latin typeface="Circe Bold"/>
                <a:ea typeface="Circe Bold"/>
                <a:cs typeface="Circe Bold"/>
                <a:sym typeface="Circe Bold"/>
              </a:rPr>
              <a:t>Goal: </a:t>
            </a:r>
            <a:r>
              <a:rPr lang="en-US" sz="3200" dirty="0">
                <a:solidFill>
                  <a:srgbClr val="000000"/>
                </a:solidFill>
                <a:latin typeface="Circe"/>
                <a:ea typeface="Circe"/>
                <a:cs typeface="Circe"/>
                <a:sym typeface="Circe"/>
              </a:rPr>
              <a:t>Demonstrate personal and professional development.</a:t>
            </a:r>
          </a:p>
        </p:txBody>
      </p:sp>
      <p:pic>
        <p:nvPicPr>
          <p:cNvPr id="1026" name="Picture 2" descr="chart, histogram">
            <a:extLst>
              <a:ext uri="{FF2B5EF4-FFF2-40B4-BE49-F238E27FC236}">
                <a16:creationId xmlns:a16="http://schemas.microsoft.com/office/drawing/2014/main" id="{6FACB029-AF4F-AFF7-B728-19175B913D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72800" y="540615"/>
            <a:ext cx="7696200" cy="5364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218687" y="3695700"/>
            <a:ext cx="8465373" cy="8305800"/>
          </a:xfrm>
          <a:custGeom>
            <a:avLst/>
            <a:gdLst/>
            <a:ahLst/>
            <a:cxnLst/>
            <a:rect l="l" t="t" r="r" b="b"/>
            <a:pathLst>
              <a:path w="8101874" h="8222050">
                <a:moveTo>
                  <a:pt x="0" y="0"/>
                </a:moveTo>
                <a:lnTo>
                  <a:pt x="8101874" y="0"/>
                </a:lnTo>
                <a:lnTo>
                  <a:pt x="8101874" y="8222049"/>
                </a:lnTo>
                <a:lnTo>
                  <a:pt x="0" y="82220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5209" y="129876"/>
            <a:ext cx="3249065" cy="2388438"/>
          </a:xfrm>
          <a:custGeom>
            <a:avLst/>
            <a:gdLst/>
            <a:ahLst/>
            <a:cxnLst/>
            <a:rect l="l" t="t" r="r" b="b"/>
            <a:pathLst>
              <a:path w="3249065" h="2388438">
                <a:moveTo>
                  <a:pt x="0" y="0"/>
                </a:moveTo>
                <a:lnTo>
                  <a:pt x="3249065" y="0"/>
                </a:lnTo>
                <a:lnTo>
                  <a:pt x="3249065" y="2388437"/>
                </a:lnTo>
                <a:lnTo>
                  <a:pt x="0" y="23884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565247" y="2782351"/>
            <a:ext cx="9722753" cy="4987700"/>
          </a:xfrm>
          <a:custGeom>
            <a:avLst/>
            <a:gdLst/>
            <a:ahLst/>
            <a:cxnLst/>
            <a:rect l="l" t="t" r="r" b="b"/>
            <a:pathLst>
              <a:path w="10300985" h="4647149">
                <a:moveTo>
                  <a:pt x="0" y="0"/>
                </a:moveTo>
                <a:lnTo>
                  <a:pt x="10300984" y="0"/>
                </a:lnTo>
                <a:lnTo>
                  <a:pt x="10300984" y="4647149"/>
                </a:lnTo>
                <a:lnTo>
                  <a:pt x="0" y="46471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46653">
            <a:off x="11026815" y="713465"/>
            <a:ext cx="2897383" cy="1713078"/>
          </a:xfrm>
          <a:custGeom>
            <a:avLst/>
            <a:gdLst/>
            <a:ahLst/>
            <a:cxnLst/>
            <a:rect l="l" t="t" r="r" b="b"/>
            <a:pathLst>
              <a:path w="2897383" h="1713078">
                <a:moveTo>
                  <a:pt x="0" y="0"/>
                </a:moveTo>
                <a:lnTo>
                  <a:pt x="2897383" y="0"/>
                </a:lnTo>
                <a:lnTo>
                  <a:pt x="2897383" y="1713078"/>
                </a:lnTo>
                <a:lnTo>
                  <a:pt x="0" y="1713078"/>
                </a:lnTo>
                <a:lnTo>
                  <a:pt x="0" y="0"/>
                </a:lnTo>
                <a:close/>
              </a:path>
            </a:pathLst>
          </a:custGeom>
          <a:blipFill>
            <a:blip r:embed="rId8"/>
            <a:stretch>
              <a:fillRect/>
            </a:stretch>
          </a:blipFill>
        </p:spPr>
      </p:sp>
      <p:sp>
        <p:nvSpPr>
          <p:cNvPr id="6" name="Freeform 6"/>
          <p:cNvSpPr/>
          <p:nvPr/>
        </p:nvSpPr>
        <p:spPr>
          <a:xfrm>
            <a:off x="11884290" y="2788176"/>
            <a:ext cx="591216" cy="583692"/>
          </a:xfrm>
          <a:custGeom>
            <a:avLst/>
            <a:gdLst/>
            <a:ahLst/>
            <a:cxnLst/>
            <a:rect l="l" t="t" r="r" b="b"/>
            <a:pathLst>
              <a:path w="591216" h="583692">
                <a:moveTo>
                  <a:pt x="0" y="0"/>
                </a:moveTo>
                <a:lnTo>
                  <a:pt x="591217" y="0"/>
                </a:lnTo>
                <a:lnTo>
                  <a:pt x="591217" y="583692"/>
                </a:lnTo>
                <a:lnTo>
                  <a:pt x="0" y="5836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10348731" y="4693626"/>
            <a:ext cx="5778062" cy="5778062"/>
          </a:xfrm>
          <a:custGeom>
            <a:avLst/>
            <a:gdLst/>
            <a:ahLst/>
            <a:cxnLst/>
            <a:rect l="l" t="t" r="r" b="b"/>
            <a:pathLst>
              <a:path w="5778062" h="5778062">
                <a:moveTo>
                  <a:pt x="0" y="0"/>
                </a:moveTo>
                <a:lnTo>
                  <a:pt x="5778063" y="0"/>
                </a:lnTo>
                <a:lnTo>
                  <a:pt x="5778063" y="5778062"/>
                </a:lnTo>
                <a:lnTo>
                  <a:pt x="0" y="5778062"/>
                </a:lnTo>
                <a:lnTo>
                  <a:pt x="0" y="0"/>
                </a:lnTo>
                <a:close/>
              </a:path>
            </a:pathLst>
          </a:custGeom>
          <a:blipFill>
            <a:blip r:embed="rId11"/>
            <a:stretch>
              <a:fillRect/>
            </a:stretch>
          </a:blipFill>
        </p:spPr>
      </p:sp>
      <p:sp>
        <p:nvSpPr>
          <p:cNvPr id="8" name="TextBox 8"/>
          <p:cNvSpPr txBox="1"/>
          <p:nvPr/>
        </p:nvSpPr>
        <p:spPr>
          <a:xfrm>
            <a:off x="1503437" y="852940"/>
            <a:ext cx="14087464" cy="2599238"/>
          </a:xfrm>
          <a:prstGeom prst="rect">
            <a:avLst/>
          </a:prstGeom>
        </p:spPr>
        <p:txBody>
          <a:bodyPr wrap="square" lIns="0" tIns="0" rIns="0" bIns="0" rtlCol="0" anchor="t">
            <a:spAutoFit/>
          </a:bodyPr>
          <a:lstStyle/>
          <a:p>
            <a:pPr marL="0" lvl="0" indent="0" algn="ctr">
              <a:lnSpc>
                <a:spcPts val="10199"/>
              </a:lnSpc>
              <a:spcBef>
                <a:spcPct val="0"/>
              </a:spcBef>
            </a:pPr>
            <a:r>
              <a:rPr lang="en-US" sz="8499" b="1" dirty="0">
                <a:solidFill>
                  <a:srgbClr val="000000"/>
                </a:solidFill>
                <a:latin typeface="Feeling Passionate"/>
                <a:ea typeface="Feeling Passionate"/>
                <a:cs typeface="Feeling Passionate"/>
                <a:sym typeface="Feeling Passionate"/>
              </a:rPr>
              <a:t> Learning from Assessment 1</a:t>
            </a:r>
          </a:p>
        </p:txBody>
      </p:sp>
      <p:sp>
        <p:nvSpPr>
          <p:cNvPr id="9" name="TextBox 9"/>
          <p:cNvSpPr txBox="1"/>
          <p:nvPr/>
        </p:nvSpPr>
        <p:spPr>
          <a:xfrm>
            <a:off x="2378276" y="4702418"/>
            <a:ext cx="4584125" cy="638175"/>
          </a:xfrm>
          <a:prstGeom prst="rect">
            <a:avLst/>
          </a:prstGeom>
        </p:spPr>
        <p:txBody>
          <a:bodyPr lIns="0" tIns="0" rIns="0" bIns="0" rtlCol="0" anchor="t">
            <a:spAutoFit/>
          </a:bodyPr>
          <a:lstStyle/>
          <a:p>
            <a:pPr marL="0" lvl="0" indent="0" algn="ctr">
              <a:lnSpc>
                <a:spcPts val="5042"/>
              </a:lnSpc>
              <a:spcBef>
                <a:spcPct val="0"/>
              </a:spcBef>
            </a:pPr>
            <a:r>
              <a:rPr lang="en-US" sz="4201" dirty="0">
                <a:solidFill>
                  <a:srgbClr val="000000"/>
                </a:solidFill>
                <a:latin typeface="Feeling Passionate"/>
                <a:ea typeface="Feeling Passionate"/>
                <a:cs typeface="Feeling Passionate"/>
                <a:sym typeface="Feeling Passionate"/>
              </a:rPr>
              <a:t>Notes</a:t>
            </a:r>
          </a:p>
        </p:txBody>
      </p:sp>
      <p:sp>
        <p:nvSpPr>
          <p:cNvPr id="10" name="TextBox 10"/>
          <p:cNvSpPr txBox="1"/>
          <p:nvPr/>
        </p:nvSpPr>
        <p:spPr>
          <a:xfrm>
            <a:off x="604823" y="5309870"/>
            <a:ext cx="7639408" cy="6501780"/>
          </a:xfrm>
          <a:prstGeom prst="rect">
            <a:avLst/>
          </a:prstGeom>
        </p:spPr>
        <p:txBody>
          <a:bodyPr wrap="square" lIns="0" tIns="0" rIns="0" bIns="0" rtlCol="0" anchor="t">
            <a:spAutoFit/>
          </a:bodyPr>
          <a:lstStyle/>
          <a:p>
            <a:pPr marL="0" lvl="1" indent="0" algn="ctr">
              <a:lnSpc>
                <a:spcPts val="3919"/>
              </a:lnSpc>
              <a:spcBef>
                <a:spcPct val="0"/>
              </a:spcBef>
            </a:pPr>
            <a:r>
              <a:rPr lang="en-US" sz="3000" dirty="0">
                <a:solidFill>
                  <a:srgbClr val="000000"/>
                </a:solidFill>
                <a:latin typeface="Circe"/>
                <a:ea typeface="Circe"/>
                <a:cs typeface="Circe"/>
                <a:sym typeface="Circe"/>
              </a:rPr>
              <a:t>Researching Huawei, I got to k</a:t>
            </a:r>
            <a:r>
              <a:rPr lang="en-US" sz="3000" u="none" strike="noStrike" dirty="0">
                <a:solidFill>
                  <a:srgbClr val="000000"/>
                </a:solidFill>
                <a:latin typeface="Circe"/>
                <a:ea typeface="Circe"/>
                <a:cs typeface="Circe"/>
                <a:sym typeface="Circe"/>
              </a:rPr>
              <a:t>now how global companies can adjust to the local environment using </a:t>
            </a:r>
            <a:r>
              <a:rPr lang="en-US" sz="3000" u="none" strike="noStrike" dirty="0" err="1">
                <a:solidFill>
                  <a:srgbClr val="000000"/>
                </a:solidFill>
                <a:latin typeface="Circe"/>
                <a:ea typeface="Circe"/>
                <a:cs typeface="Circe"/>
                <a:sym typeface="Circe"/>
              </a:rPr>
              <a:t>localisation</a:t>
            </a:r>
            <a:r>
              <a:rPr lang="en-US" sz="3000" u="none" strike="noStrike" dirty="0">
                <a:solidFill>
                  <a:srgbClr val="000000"/>
                </a:solidFill>
                <a:latin typeface="Circe"/>
                <a:ea typeface="Circe"/>
                <a:cs typeface="Circe"/>
                <a:sym typeface="Circe"/>
              </a:rPr>
              <a:t> and innovation. Initially, it was rather challenging to combine the frameworks, and the review of open-access research helped me to learn more. Huan and </a:t>
            </a:r>
            <a:r>
              <a:rPr lang="en-US" sz="3000" u="none" strike="noStrike" dirty="0" err="1">
                <a:solidFill>
                  <a:srgbClr val="000000"/>
                </a:solidFill>
                <a:latin typeface="Circe"/>
                <a:ea typeface="Circe"/>
                <a:cs typeface="Circe"/>
                <a:sym typeface="Circe"/>
              </a:rPr>
              <a:t>Midhunchakkaravarthy</a:t>
            </a:r>
            <a:r>
              <a:rPr lang="en-US" sz="3000" u="none" strike="noStrike" dirty="0">
                <a:solidFill>
                  <a:srgbClr val="000000"/>
                </a:solidFill>
                <a:latin typeface="Circe"/>
                <a:ea typeface="Circe"/>
                <a:cs typeface="Circe"/>
                <a:sym typeface="Circe"/>
              </a:rPr>
              <a:t> (2024, p. 1) describe how the Chinese companies move to other countries worldwide to “boost profitability and avoid local competition,” demonstrating how the strategic objectives relate theory to practice and enhance the planning and </a:t>
            </a:r>
            <a:r>
              <a:rPr lang="en-US" sz="3000" u="none" strike="noStrike" dirty="0" err="1">
                <a:solidFill>
                  <a:srgbClr val="000000"/>
                </a:solidFill>
                <a:latin typeface="Circe"/>
                <a:ea typeface="Circe"/>
                <a:cs typeface="Circe"/>
                <a:sym typeface="Circe"/>
              </a:rPr>
              <a:t>organising</a:t>
            </a:r>
            <a:r>
              <a:rPr lang="en-US" sz="3000" u="none" strike="noStrike" dirty="0">
                <a:solidFill>
                  <a:srgbClr val="000000"/>
                </a:solidFill>
                <a:latin typeface="Circe"/>
                <a:ea typeface="Circe"/>
                <a:cs typeface="Circe"/>
                <a:sym typeface="Circe"/>
              </a:rPr>
              <a:t> capabilities.</a:t>
            </a:r>
          </a:p>
        </p:txBody>
      </p:sp>
      <p:sp>
        <p:nvSpPr>
          <p:cNvPr id="11" name="TextBox 11"/>
          <p:cNvSpPr txBox="1"/>
          <p:nvPr/>
        </p:nvSpPr>
        <p:spPr>
          <a:xfrm>
            <a:off x="9005076" y="2978976"/>
            <a:ext cx="8465373" cy="4791075"/>
          </a:xfrm>
          <a:prstGeom prst="rect">
            <a:avLst/>
          </a:prstGeom>
        </p:spPr>
        <p:txBody>
          <a:bodyPr lIns="0" tIns="0" rIns="0" bIns="0" rtlCol="0" anchor="t">
            <a:spAutoFit/>
          </a:bodyPr>
          <a:lstStyle/>
          <a:p>
            <a:pPr algn="l">
              <a:lnSpc>
                <a:spcPts val="4200"/>
              </a:lnSpc>
            </a:pPr>
            <a:r>
              <a:rPr lang="en-US" sz="3000" b="1" dirty="0">
                <a:solidFill>
                  <a:srgbClr val="000000"/>
                </a:solidFill>
                <a:latin typeface="Circe Bold"/>
                <a:ea typeface="Circe Bold"/>
                <a:cs typeface="Circe Bold"/>
                <a:sym typeface="Circe Bold"/>
              </a:rPr>
              <a:t>Key Takeaways</a:t>
            </a:r>
          </a:p>
          <a:p>
            <a:pPr marL="647700" lvl="1" indent="-323850" algn="l">
              <a:lnSpc>
                <a:spcPts val="4200"/>
              </a:lnSpc>
              <a:spcBef>
                <a:spcPct val="0"/>
              </a:spcBef>
              <a:buFont typeface="Arial"/>
              <a:buChar char="•"/>
            </a:pPr>
            <a:r>
              <a:rPr lang="en-US" sz="3000" dirty="0">
                <a:solidFill>
                  <a:srgbClr val="000000"/>
                </a:solidFill>
                <a:latin typeface="Circe"/>
                <a:ea typeface="Circe"/>
                <a:cs typeface="Circe"/>
                <a:sym typeface="Circe"/>
              </a:rPr>
              <a:t>Gain</a:t>
            </a:r>
            <a:r>
              <a:rPr lang="en-US" sz="3000" u="none" strike="noStrike" dirty="0">
                <a:solidFill>
                  <a:srgbClr val="000000"/>
                </a:solidFill>
                <a:latin typeface="Circe"/>
                <a:ea typeface="Circe"/>
                <a:cs typeface="Circe"/>
                <a:sym typeface="Circe"/>
              </a:rPr>
              <a:t>ed insights on global strategy and leadership.</a:t>
            </a:r>
          </a:p>
          <a:p>
            <a:pPr marL="647700" lvl="1" indent="-323850" algn="l">
              <a:lnSpc>
                <a:spcPts val="4200"/>
              </a:lnSpc>
              <a:spcBef>
                <a:spcPct val="0"/>
              </a:spcBef>
              <a:buFont typeface="Arial"/>
              <a:buChar char="•"/>
            </a:pPr>
            <a:r>
              <a:rPr lang="en-US" sz="3000" u="none" strike="noStrike" dirty="0">
                <a:solidFill>
                  <a:srgbClr val="000000"/>
                </a:solidFill>
                <a:latin typeface="Circe"/>
                <a:ea typeface="Circe"/>
                <a:cs typeface="Circe"/>
                <a:sym typeface="Circe"/>
              </a:rPr>
              <a:t>Understood Huawei’s adaptability via </a:t>
            </a:r>
            <a:r>
              <a:rPr lang="en-US" sz="3000" u="none" strike="noStrike" dirty="0" err="1">
                <a:solidFill>
                  <a:srgbClr val="000000"/>
                </a:solidFill>
                <a:latin typeface="Circe"/>
                <a:ea typeface="Circe"/>
                <a:cs typeface="Circe"/>
                <a:sym typeface="Circe"/>
              </a:rPr>
              <a:t>localisation</a:t>
            </a:r>
            <a:r>
              <a:rPr lang="en-US" sz="3000" u="none" strike="noStrike" dirty="0">
                <a:solidFill>
                  <a:srgbClr val="000000"/>
                </a:solidFill>
                <a:latin typeface="Circe"/>
                <a:ea typeface="Circe"/>
                <a:cs typeface="Circe"/>
                <a:sym typeface="Circe"/>
              </a:rPr>
              <a:t>.</a:t>
            </a:r>
          </a:p>
          <a:p>
            <a:pPr marL="647700" lvl="1" indent="-323850" algn="l">
              <a:lnSpc>
                <a:spcPts val="4200"/>
              </a:lnSpc>
              <a:spcBef>
                <a:spcPct val="0"/>
              </a:spcBef>
              <a:buFont typeface="Arial"/>
              <a:buChar char="•"/>
            </a:pPr>
            <a:r>
              <a:rPr lang="en-US" sz="3000" u="none" strike="noStrike" dirty="0">
                <a:solidFill>
                  <a:srgbClr val="000000"/>
                </a:solidFill>
                <a:latin typeface="Circe"/>
                <a:ea typeface="Circe"/>
                <a:cs typeface="Circe"/>
                <a:sym typeface="Circe"/>
              </a:rPr>
              <a:t>Faced difficulty applying multiple models.</a:t>
            </a:r>
          </a:p>
          <a:p>
            <a:pPr marL="647700" lvl="1" indent="-323850" algn="l">
              <a:lnSpc>
                <a:spcPts val="4200"/>
              </a:lnSpc>
              <a:spcBef>
                <a:spcPct val="0"/>
              </a:spcBef>
              <a:buFont typeface="Arial"/>
              <a:buChar char="•"/>
            </a:pPr>
            <a:r>
              <a:rPr lang="en-US" sz="3000" u="none" strike="noStrike" dirty="0">
                <a:solidFill>
                  <a:srgbClr val="000000"/>
                </a:solidFill>
                <a:latin typeface="Circe"/>
                <a:ea typeface="Circe"/>
                <a:cs typeface="Circe"/>
                <a:sym typeface="Circe"/>
              </a:rPr>
              <a:t>Overcame this through structured research and reflection.</a:t>
            </a:r>
          </a:p>
          <a:p>
            <a:pPr marL="0" lvl="1" indent="0" algn="l">
              <a:lnSpc>
                <a:spcPts val="4200"/>
              </a:lnSpc>
              <a:spcBef>
                <a:spcPct val="0"/>
              </a:spcBef>
            </a:pPr>
            <a:endParaRPr lang="en-US" sz="3000" u="none" strike="noStrike" dirty="0">
              <a:solidFill>
                <a:srgbClr val="000000"/>
              </a:solidFill>
              <a:latin typeface="Circe"/>
              <a:ea typeface="Circe"/>
              <a:cs typeface="Circe"/>
              <a:sym typeface="Circe"/>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6797652" y="1908091"/>
            <a:ext cx="3664555" cy="961390"/>
          </a:xfrm>
          <a:custGeom>
            <a:avLst/>
            <a:gdLst/>
            <a:ahLst/>
            <a:cxnLst/>
            <a:rect l="l" t="t" r="r" b="b"/>
            <a:pathLst>
              <a:path w="3664555" h="1082674">
                <a:moveTo>
                  <a:pt x="0" y="0"/>
                </a:moveTo>
                <a:lnTo>
                  <a:pt x="3664555" y="0"/>
                </a:lnTo>
                <a:lnTo>
                  <a:pt x="3664555" y="1082674"/>
                </a:lnTo>
                <a:lnTo>
                  <a:pt x="0" y="10826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12673626" y="-1285500"/>
            <a:ext cx="2004424" cy="5399121"/>
          </a:xfrm>
          <a:custGeom>
            <a:avLst/>
            <a:gdLst/>
            <a:ahLst/>
            <a:cxnLst/>
            <a:rect l="l" t="t" r="r" b="b"/>
            <a:pathLst>
              <a:path w="2004424" h="5399121">
                <a:moveTo>
                  <a:pt x="0" y="0"/>
                </a:moveTo>
                <a:lnTo>
                  <a:pt x="2004424" y="0"/>
                </a:lnTo>
                <a:lnTo>
                  <a:pt x="2004424" y="5399122"/>
                </a:lnTo>
                <a:lnTo>
                  <a:pt x="0" y="5399122"/>
                </a:lnTo>
                <a:lnTo>
                  <a:pt x="0" y="0"/>
                </a:lnTo>
                <a:close/>
              </a:path>
            </a:pathLst>
          </a:custGeom>
          <a:blipFill>
            <a:blip r:embed="rId4"/>
            <a:stretch>
              <a:fillRect/>
            </a:stretch>
          </a:blipFill>
        </p:spPr>
      </p:sp>
      <p:sp>
        <p:nvSpPr>
          <p:cNvPr id="6" name="TextBox 6"/>
          <p:cNvSpPr txBox="1"/>
          <p:nvPr/>
        </p:nvSpPr>
        <p:spPr>
          <a:xfrm>
            <a:off x="0" y="748581"/>
            <a:ext cx="17708465" cy="1159510"/>
          </a:xfrm>
          <a:prstGeom prst="rect">
            <a:avLst/>
          </a:prstGeom>
        </p:spPr>
        <p:txBody>
          <a:bodyPr lIns="0" tIns="0" rIns="0" bIns="0" rtlCol="0" anchor="t">
            <a:spAutoFit/>
          </a:bodyPr>
          <a:lstStyle/>
          <a:p>
            <a:pPr marL="0" lvl="0" indent="0" algn="ctr">
              <a:lnSpc>
                <a:spcPts val="9620"/>
              </a:lnSpc>
              <a:spcBef>
                <a:spcPct val="0"/>
              </a:spcBef>
            </a:pPr>
            <a:r>
              <a:rPr lang="en-US" sz="6500" dirty="0">
                <a:solidFill>
                  <a:srgbClr val="000000"/>
                </a:solidFill>
                <a:latin typeface="Feeling Passionate"/>
                <a:ea typeface="Feeling Passionate"/>
                <a:cs typeface="Feeling Passionate"/>
                <a:sym typeface="Feeling Passionate"/>
              </a:rPr>
              <a:t>U</a:t>
            </a:r>
            <a:r>
              <a:rPr lang="en-US" sz="6500" u="none" strike="noStrike" dirty="0">
                <a:solidFill>
                  <a:srgbClr val="000000"/>
                </a:solidFill>
                <a:latin typeface="Feeling Passionate"/>
                <a:ea typeface="Feeling Passionate"/>
                <a:cs typeface="Feeling Passionate"/>
                <a:sym typeface="Feeling Passionate"/>
              </a:rPr>
              <a:t>nderstanding Management Functions (PLOC)</a:t>
            </a:r>
          </a:p>
        </p:txBody>
      </p:sp>
      <p:sp>
        <p:nvSpPr>
          <p:cNvPr id="7" name="TextBox 7"/>
          <p:cNvSpPr txBox="1"/>
          <p:nvPr/>
        </p:nvSpPr>
        <p:spPr>
          <a:xfrm>
            <a:off x="565591" y="2761615"/>
            <a:ext cx="5135585" cy="6391275"/>
          </a:xfrm>
          <a:prstGeom prst="rect">
            <a:avLst/>
          </a:prstGeom>
        </p:spPr>
        <p:txBody>
          <a:bodyPr lIns="0" tIns="0" rIns="0" bIns="0" rtlCol="0" anchor="t">
            <a:spAutoFit/>
          </a:bodyPr>
          <a:lstStyle/>
          <a:p>
            <a:pPr marL="647700" lvl="1" indent="-323850" algn="l">
              <a:lnSpc>
                <a:spcPts val="4200"/>
              </a:lnSpc>
              <a:buFont typeface="Arial"/>
              <a:buChar char="•"/>
            </a:pPr>
            <a:r>
              <a:rPr lang="en-US" sz="3000" dirty="0">
                <a:solidFill>
                  <a:srgbClr val="000000"/>
                </a:solidFill>
                <a:latin typeface="Circe"/>
                <a:ea typeface="Circe"/>
                <a:cs typeface="Circe"/>
                <a:sym typeface="Circe"/>
              </a:rPr>
              <a:t>Planning: Anticipating regulatory and market uncertainty.</a:t>
            </a:r>
          </a:p>
          <a:p>
            <a:pPr marL="647700" lvl="1" indent="-323850" algn="l">
              <a:lnSpc>
                <a:spcPts val="4200"/>
              </a:lnSpc>
              <a:buFont typeface="Arial"/>
              <a:buChar char="•"/>
            </a:pPr>
            <a:r>
              <a:rPr lang="en-US" sz="3000" dirty="0">
                <a:solidFill>
                  <a:srgbClr val="000000"/>
                </a:solidFill>
                <a:latin typeface="Circe"/>
                <a:ea typeface="Circe"/>
                <a:cs typeface="Circe"/>
                <a:sym typeface="Circe"/>
              </a:rPr>
              <a:t>Leading: Transfo</a:t>
            </a:r>
            <a:r>
              <a:rPr lang="en-US" sz="3000" u="none" dirty="0">
                <a:solidFill>
                  <a:srgbClr val="000000"/>
                </a:solidFill>
                <a:latin typeface="Circe"/>
                <a:ea typeface="Circe"/>
                <a:cs typeface="Circe"/>
                <a:sym typeface="Circe"/>
              </a:rPr>
              <a:t>r</a:t>
            </a:r>
            <a:r>
              <a:rPr lang="en-US" sz="3000" dirty="0">
                <a:solidFill>
                  <a:srgbClr val="000000"/>
                </a:solidFill>
                <a:latin typeface="Circe"/>
                <a:ea typeface="Circe"/>
                <a:cs typeface="Circe"/>
                <a:sym typeface="Circe"/>
              </a:rPr>
              <a:t>m</a:t>
            </a:r>
            <a:r>
              <a:rPr lang="en-US" sz="3000" u="none" dirty="0">
                <a:solidFill>
                  <a:srgbClr val="000000"/>
                </a:solidFill>
                <a:latin typeface="Circe"/>
                <a:ea typeface="Circe"/>
                <a:cs typeface="Circe"/>
                <a:sym typeface="Circe"/>
              </a:rPr>
              <a:t>ati</a:t>
            </a:r>
            <a:r>
              <a:rPr lang="en-US" sz="3000" dirty="0">
                <a:solidFill>
                  <a:srgbClr val="000000"/>
                </a:solidFill>
                <a:latin typeface="Circe"/>
                <a:ea typeface="Circe"/>
                <a:cs typeface="Circe"/>
                <a:sym typeface="Circe"/>
              </a:rPr>
              <a:t>onal leadership drives innovation.</a:t>
            </a:r>
          </a:p>
          <a:p>
            <a:pPr marL="647700" lvl="1" indent="-323850" algn="l">
              <a:lnSpc>
                <a:spcPts val="4200"/>
              </a:lnSpc>
              <a:buFont typeface="Arial"/>
              <a:buChar char="•"/>
            </a:pPr>
            <a:r>
              <a:rPr lang="en-US" sz="3000" dirty="0" err="1">
                <a:solidFill>
                  <a:srgbClr val="000000"/>
                </a:solidFill>
                <a:latin typeface="Circe"/>
                <a:ea typeface="Circe"/>
                <a:cs typeface="Circe"/>
                <a:sym typeface="Circe"/>
              </a:rPr>
              <a:t>Organising</a:t>
            </a:r>
            <a:r>
              <a:rPr lang="en-US" sz="3000" dirty="0">
                <a:solidFill>
                  <a:srgbClr val="000000"/>
                </a:solidFill>
                <a:latin typeface="Circe"/>
                <a:ea typeface="Circe"/>
                <a:cs typeface="Circe"/>
                <a:sym typeface="Circe"/>
              </a:rPr>
              <a:t>: Aligning R&amp;D, supply chains, and talent.</a:t>
            </a:r>
          </a:p>
          <a:p>
            <a:pPr marL="647700" lvl="1" indent="-323850" algn="l">
              <a:lnSpc>
                <a:spcPts val="4200"/>
              </a:lnSpc>
              <a:buFont typeface="Arial"/>
              <a:buChar char="•"/>
            </a:pPr>
            <a:r>
              <a:rPr lang="en-US" sz="3000" dirty="0">
                <a:solidFill>
                  <a:srgbClr val="000000"/>
                </a:solidFill>
                <a:latin typeface="Circe"/>
                <a:ea typeface="Circe"/>
                <a:cs typeface="Circe"/>
                <a:sym typeface="Circe"/>
              </a:rPr>
              <a:t>Controlling: Evaluating compliance and sustainability goals.</a:t>
            </a:r>
          </a:p>
          <a:p>
            <a:pPr algn="l">
              <a:lnSpc>
                <a:spcPts val="4200"/>
              </a:lnSpc>
            </a:pPr>
            <a:endParaRPr lang="en-US" sz="3000" dirty="0">
              <a:solidFill>
                <a:srgbClr val="000000"/>
              </a:solidFill>
              <a:latin typeface="Circe"/>
              <a:ea typeface="Circe"/>
              <a:cs typeface="Circe"/>
              <a:sym typeface="Circe"/>
            </a:endParaRPr>
          </a:p>
        </p:txBody>
      </p:sp>
      <p:sp>
        <p:nvSpPr>
          <p:cNvPr id="9" name="TextBox 9"/>
          <p:cNvSpPr txBox="1"/>
          <p:nvPr/>
        </p:nvSpPr>
        <p:spPr>
          <a:xfrm>
            <a:off x="6283581" y="2266315"/>
            <a:ext cx="5141301" cy="495300"/>
          </a:xfrm>
          <a:prstGeom prst="rect">
            <a:avLst/>
          </a:prstGeom>
        </p:spPr>
        <p:txBody>
          <a:bodyPr lIns="0" tIns="0" rIns="0" bIns="0" rtlCol="0" anchor="t">
            <a:spAutoFit/>
          </a:bodyPr>
          <a:lstStyle/>
          <a:p>
            <a:pPr marL="0" lvl="0" indent="0" algn="ctr">
              <a:lnSpc>
                <a:spcPts val="3900"/>
              </a:lnSpc>
              <a:spcBef>
                <a:spcPct val="0"/>
              </a:spcBef>
            </a:pPr>
            <a:r>
              <a:rPr lang="en-US" sz="3000" b="1" dirty="0">
                <a:solidFill>
                  <a:srgbClr val="000000"/>
                </a:solidFill>
                <a:latin typeface="Circe Bold"/>
                <a:ea typeface="Circe Bold"/>
                <a:cs typeface="Circe Bold"/>
                <a:sym typeface="Circe Bold"/>
              </a:rPr>
              <a:t>Notes</a:t>
            </a:r>
          </a:p>
        </p:txBody>
      </p:sp>
      <p:pic>
        <p:nvPicPr>
          <p:cNvPr id="2050" name="Picture 2" descr="📌As you already know, the P-O-L-C framework starts with “planning.” You  might also know that planning is related to, but not synonymous with,  strategic management. Strategic management reflects what… | CHONG KAI">
            <a:extLst>
              <a:ext uri="{FF2B5EF4-FFF2-40B4-BE49-F238E27FC236}">
                <a16:creationId xmlns:a16="http://schemas.microsoft.com/office/drawing/2014/main" id="{A8DEB5DB-0D06-0510-682F-D0F88247AA0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000" t="26869" r="8000" b="4608"/>
          <a:stretch>
            <a:fillRect/>
          </a:stretch>
        </p:blipFill>
        <p:spPr bwMode="auto">
          <a:xfrm>
            <a:off x="9333682" y="6515100"/>
            <a:ext cx="6794077" cy="395627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1977DAA-6B27-35AE-8F15-E8EBD2A4FBC9}"/>
              </a:ext>
            </a:extLst>
          </p:cNvPr>
          <p:cNvSpPr txBox="1"/>
          <p:nvPr/>
        </p:nvSpPr>
        <p:spPr>
          <a:xfrm>
            <a:off x="6019800" y="2788008"/>
            <a:ext cx="12039600" cy="3824124"/>
          </a:xfrm>
          <a:prstGeom prst="rect">
            <a:avLst/>
          </a:prstGeom>
          <a:noFill/>
        </p:spPr>
        <p:txBody>
          <a:bodyPr wrap="square">
            <a:spAutoFit/>
          </a:bodyPr>
          <a:lstStyle/>
          <a:p>
            <a:pPr algn="l">
              <a:lnSpc>
                <a:spcPts val="4200"/>
              </a:lnSpc>
            </a:pPr>
            <a:r>
              <a:rPr lang="en-US" sz="2500" dirty="0">
                <a:solidFill>
                  <a:srgbClr val="000000"/>
                </a:solidFill>
                <a:latin typeface="Circe"/>
                <a:ea typeface="Circe"/>
                <a:cs typeface="Circe"/>
                <a:sym typeface="Circe"/>
              </a:rPr>
              <a:t>I was able to </a:t>
            </a:r>
            <a:r>
              <a:rPr lang="en-US" sz="2500" dirty="0" err="1">
                <a:solidFill>
                  <a:srgbClr val="000000"/>
                </a:solidFill>
                <a:latin typeface="Circe"/>
                <a:ea typeface="Circe"/>
                <a:cs typeface="Circe"/>
                <a:sym typeface="Circe"/>
              </a:rPr>
              <a:t>realise</a:t>
            </a:r>
            <a:r>
              <a:rPr lang="en-US" sz="2500" dirty="0">
                <a:solidFill>
                  <a:srgbClr val="000000"/>
                </a:solidFill>
                <a:latin typeface="Circe"/>
                <a:ea typeface="Circe"/>
                <a:cs typeface="Circe"/>
                <a:sym typeface="Circe"/>
              </a:rPr>
              <a:t> that planning plays a crucial role in the development of strategic direction. Based on the works of Adriaans et al. (2025, p. 1-3), I got to know </a:t>
            </a:r>
            <a:r>
              <a:rPr lang="en-US" sz="2500" u="none" dirty="0">
                <a:solidFill>
                  <a:srgbClr val="000000"/>
                </a:solidFill>
                <a:latin typeface="Circe"/>
                <a:ea typeface="Circe"/>
                <a:cs typeface="Circe"/>
                <a:sym typeface="Circe"/>
              </a:rPr>
              <a:t>t</a:t>
            </a:r>
            <a:r>
              <a:rPr lang="en-US" sz="2500" dirty="0">
                <a:solidFill>
                  <a:srgbClr val="000000"/>
                </a:solidFill>
                <a:latin typeface="Circe"/>
                <a:ea typeface="Circe"/>
                <a:cs typeface="Circe"/>
                <a:sym typeface="Circe"/>
              </a:rPr>
              <a:t>h</a:t>
            </a:r>
            <a:r>
              <a:rPr lang="en-US" sz="2500" u="none" dirty="0">
                <a:solidFill>
                  <a:srgbClr val="000000"/>
                </a:solidFill>
                <a:latin typeface="Circe"/>
                <a:ea typeface="Circe"/>
                <a:cs typeface="Circe"/>
                <a:sym typeface="Circe"/>
              </a:rPr>
              <a:t>e</a:t>
            </a:r>
            <a:r>
              <a:rPr lang="en-US" sz="2500" dirty="0">
                <a:solidFill>
                  <a:srgbClr val="000000"/>
                </a:solidFill>
                <a:latin typeface="Circe"/>
                <a:ea typeface="Circe"/>
                <a:cs typeface="Circe"/>
                <a:sym typeface="Circe"/>
              </a:rPr>
              <a:t> way Hu</a:t>
            </a:r>
            <a:r>
              <a:rPr lang="en-US" sz="2500" u="none" dirty="0">
                <a:solidFill>
                  <a:srgbClr val="000000"/>
                </a:solidFill>
                <a:latin typeface="Circe"/>
                <a:ea typeface="Circe"/>
                <a:cs typeface="Circe"/>
                <a:sym typeface="Circe"/>
              </a:rPr>
              <a:t>a</a:t>
            </a:r>
            <a:r>
              <a:rPr lang="en-US" sz="2500" dirty="0">
                <a:solidFill>
                  <a:srgbClr val="000000"/>
                </a:solidFill>
                <a:latin typeface="Circe"/>
                <a:ea typeface="Circe"/>
                <a:cs typeface="Circe"/>
                <a:sym typeface="Circe"/>
              </a:rPr>
              <a:t>we</a:t>
            </a:r>
            <a:r>
              <a:rPr lang="en-US" sz="2500" u="none" dirty="0">
                <a:solidFill>
                  <a:srgbClr val="000000"/>
                </a:solidFill>
                <a:latin typeface="Circe"/>
                <a:ea typeface="Circe"/>
                <a:cs typeface="Circe"/>
                <a:sym typeface="Circe"/>
              </a:rPr>
              <a:t>i</a:t>
            </a:r>
            <a:r>
              <a:rPr lang="en-US" sz="2500" dirty="0">
                <a:solidFill>
                  <a:srgbClr val="000000"/>
                </a:solidFill>
                <a:latin typeface="Circe"/>
                <a:ea typeface="Circe"/>
                <a:cs typeface="Circe"/>
                <a:sym typeface="Circe"/>
              </a:rPr>
              <a:t> addr</a:t>
            </a:r>
            <a:r>
              <a:rPr lang="en-US" sz="2500" u="none" dirty="0">
                <a:solidFill>
                  <a:srgbClr val="000000"/>
                </a:solidFill>
                <a:latin typeface="Circe"/>
                <a:ea typeface="Circe"/>
                <a:cs typeface="Circe"/>
                <a:sym typeface="Circe"/>
              </a:rPr>
              <a:t>e</a:t>
            </a:r>
            <a:r>
              <a:rPr lang="en-US" sz="2500" dirty="0">
                <a:solidFill>
                  <a:srgbClr val="000000"/>
                </a:solidFill>
                <a:latin typeface="Circe"/>
                <a:ea typeface="Circe"/>
                <a:cs typeface="Circe"/>
                <a:sym typeface="Circe"/>
              </a:rPr>
              <a:t>sses paradoxes and makes strategic choices to reach its targets. This </a:t>
            </a:r>
            <a:r>
              <a:rPr lang="en-US" sz="2500" dirty="0" err="1">
                <a:solidFill>
                  <a:srgbClr val="000000"/>
                </a:solidFill>
                <a:latin typeface="Circe"/>
                <a:ea typeface="Circe"/>
                <a:cs typeface="Circe"/>
                <a:sym typeface="Circe"/>
              </a:rPr>
              <a:t>realisation</a:t>
            </a:r>
            <a:r>
              <a:rPr lang="en-US" sz="2500" dirty="0">
                <a:solidFill>
                  <a:srgbClr val="000000"/>
                </a:solidFill>
                <a:latin typeface="Circe"/>
                <a:ea typeface="Circe"/>
                <a:cs typeface="Circe"/>
                <a:sym typeface="Circe"/>
              </a:rPr>
              <a:t> also </a:t>
            </a:r>
            <a:r>
              <a:rPr lang="en-US" sz="2500" dirty="0" err="1">
                <a:solidFill>
                  <a:srgbClr val="000000"/>
                </a:solidFill>
                <a:latin typeface="Circe"/>
                <a:ea typeface="Circe"/>
                <a:cs typeface="Circe"/>
                <a:sym typeface="Circe"/>
              </a:rPr>
              <a:t>emphasised</a:t>
            </a:r>
            <a:r>
              <a:rPr lang="en-US" sz="2500" dirty="0">
                <a:solidFill>
                  <a:srgbClr val="000000"/>
                </a:solidFill>
                <a:latin typeface="Circe"/>
                <a:ea typeface="Circe"/>
                <a:cs typeface="Circe"/>
                <a:sym typeface="Circe"/>
              </a:rPr>
              <a:t> that effective planning must balance tensions between strategy, process, and context and be flexible. It further affirmed that planning, flexibility, and well-coordinated planning are what can make the long-term </a:t>
            </a:r>
            <a:r>
              <a:rPr lang="en-US" sz="2500" dirty="0" err="1">
                <a:solidFill>
                  <a:srgbClr val="000000"/>
                </a:solidFill>
                <a:latin typeface="Circe"/>
                <a:ea typeface="Circe"/>
                <a:cs typeface="Circe"/>
                <a:sym typeface="Circe"/>
              </a:rPr>
              <a:t>organisational</a:t>
            </a:r>
            <a:r>
              <a:rPr lang="en-US" sz="2500" dirty="0">
                <a:solidFill>
                  <a:srgbClr val="000000"/>
                </a:solidFill>
                <a:latin typeface="Circe"/>
                <a:ea typeface="Circe"/>
                <a:cs typeface="Circe"/>
                <a:sym typeface="Circe"/>
              </a:rPr>
              <a:t> vision and sustainability.</a:t>
            </a:r>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6818790" y="651960"/>
            <a:ext cx="7302208" cy="1222084"/>
          </a:xfrm>
          <a:custGeom>
            <a:avLst/>
            <a:gdLst/>
            <a:ahLst/>
            <a:cxnLst/>
            <a:rect l="l" t="t" r="r" b="b"/>
            <a:pathLst>
              <a:path w="7302208" h="1222084">
                <a:moveTo>
                  <a:pt x="0" y="0"/>
                </a:moveTo>
                <a:lnTo>
                  <a:pt x="7302208" y="0"/>
                </a:lnTo>
                <a:lnTo>
                  <a:pt x="7302208" y="1222084"/>
                </a:lnTo>
                <a:lnTo>
                  <a:pt x="0" y="1222084"/>
                </a:lnTo>
                <a:lnTo>
                  <a:pt x="0" y="0"/>
                </a:lnTo>
                <a:close/>
              </a:path>
            </a:pathLst>
          </a:custGeom>
          <a:blipFill>
            <a:blip r:embed="rId2"/>
            <a:stretch>
              <a:fillRect t="-68010" b="-68010"/>
            </a:stretch>
          </a:blipFill>
        </p:spPr>
      </p:sp>
      <p:sp>
        <p:nvSpPr>
          <p:cNvPr id="3" name="Freeform 3"/>
          <p:cNvSpPr/>
          <p:nvPr/>
        </p:nvSpPr>
        <p:spPr>
          <a:xfrm>
            <a:off x="400467" y="4851971"/>
            <a:ext cx="17557404" cy="7752315"/>
          </a:xfrm>
          <a:custGeom>
            <a:avLst/>
            <a:gdLst/>
            <a:ahLst/>
            <a:cxnLst/>
            <a:rect l="l" t="t" r="r" b="b"/>
            <a:pathLst>
              <a:path w="17557404" h="7168008">
                <a:moveTo>
                  <a:pt x="0" y="0"/>
                </a:moveTo>
                <a:lnTo>
                  <a:pt x="17557404" y="0"/>
                </a:lnTo>
                <a:lnTo>
                  <a:pt x="17557404" y="7168009"/>
                </a:lnTo>
                <a:lnTo>
                  <a:pt x="0" y="7168009"/>
                </a:lnTo>
                <a:lnTo>
                  <a:pt x="0" y="0"/>
                </a:lnTo>
                <a:close/>
              </a:path>
            </a:pathLst>
          </a:custGeom>
          <a:blipFill>
            <a:blip r:embed="rId3"/>
            <a:stretch>
              <a:fillRect t="-57654" b="-19008"/>
            </a:stretch>
          </a:blipFill>
          <a:ln cap="sq">
            <a:noFill/>
            <a:prstDash val="solid"/>
            <a:miter/>
          </a:ln>
        </p:spPr>
      </p:sp>
      <p:sp>
        <p:nvSpPr>
          <p:cNvPr id="4" name="Freeform 4"/>
          <p:cNvSpPr/>
          <p:nvPr/>
        </p:nvSpPr>
        <p:spPr>
          <a:xfrm rot="-7132650">
            <a:off x="15949888" y="7850391"/>
            <a:ext cx="2845297" cy="3904352"/>
          </a:xfrm>
          <a:custGeom>
            <a:avLst/>
            <a:gdLst/>
            <a:ahLst/>
            <a:cxnLst/>
            <a:rect l="l" t="t" r="r" b="b"/>
            <a:pathLst>
              <a:path w="2845297" h="3904352">
                <a:moveTo>
                  <a:pt x="0" y="0"/>
                </a:moveTo>
                <a:lnTo>
                  <a:pt x="2845297" y="0"/>
                </a:lnTo>
                <a:lnTo>
                  <a:pt x="2845297" y="3904352"/>
                </a:lnTo>
                <a:lnTo>
                  <a:pt x="0" y="3904352"/>
                </a:lnTo>
                <a:lnTo>
                  <a:pt x="0" y="0"/>
                </a:lnTo>
                <a:close/>
              </a:path>
            </a:pathLst>
          </a:custGeom>
          <a:blipFill>
            <a:blip r:embed="rId4"/>
            <a:stretch>
              <a:fillRect/>
            </a:stretch>
          </a:blipFill>
          <a:ln cap="sq">
            <a:noFill/>
            <a:prstDash val="solid"/>
            <a:miter/>
          </a:ln>
        </p:spPr>
      </p:sp>
      <p:sp>
        <p:nvSpPr>
          <p:cNvPr id="5" name="Freeform 5"/>
          <p:cNvSpPr/>
          <p:nvPr/>
        </p:nvSpPr>
        <p:spPr>
          <a:xfrm rot="-270570">
            <a:off x="2629116" y="8546235"/>
            <a:ext cx="2863806" cy="1145522"/>
          </a:xfrm>
          <a:custGeom>
            <a:avLst/>
            <a:gdLst/>
            <a:ahLst/>
            <a:cxnLst/>
            <a:rect l="l" t="t" r="r" b="b"/>
            <a:pathLst>
              <a:path w="2863806" h="1145522">
                <a:moveTo>
                  <a:pt x="0" y="0"/>
                </a:moveTo>
                <a:lnTo>
                  <a:pt x="2863806" y="0"/>
                </a:lnTo>
                <a:lnTo>
                  <a:pt x="2863806" y="1145523"/>
                </a:lnTo>
                <a:lnTo>
                  <a:pt x="0" y="11455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0800000">
            <a:off x="13196885" y="4851971"/>
            <a:ext cx="3025971" cy="363117"/>
          </a:xfrm>
          <a:custGeom>
            <a:avLst/>
            <a:gdLst/>
            <a:ahLst/>
            <a:cxnLst/>
            <a:rect l="l" t="t" r="r" b="b"/>
            <a:pathLst>
              <a:path w="3025971" h="363117">
                <a:moveTo>
                  <a:pt x="0" y="0"/>
                </a:moveTo>
                <a:lnTo>
                  <a:pt x="3025971" y="0"/>
                </a:lnTo>
                <a:lnTo>
                  <a:pt x="3025971" y="363117"/>
                </a:lnTo>
                <a:lnTo>
                  <a:pt x="0" y="36311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8" name="TextBox 8"/>
          <p:cNvSpPr txBox="1"/>
          <p:nvPr/>
        </p:nvSpPr>
        <p:spPr>
          <a:xfrm>
            <a:off x="1581267" y="5613070"/>
            <a:ext cx="16341435" cy="6773729"/>
          </a:xfrm>
          <a:prstGeom prst="rect">
            <a:avLst/>
          </a:prstGeom>
        </p:spPr>
        <p:txBody>
          <a:bodyPr lIns="0" tIns="0" rIns="0" bIns="0" rtlCol="0" anchor="t">
            <a:spAutoFit/>
          </a:bodyPr>
          <a:lstStyle/>
          <a:p>
            <a:pPr algn="l">
              <a:lnSpc>
                <a:spcPts val="6769"/>
              </a:lnSpc>
            </a:pPr>
            <a:r>
              <a:rPr lang="en-US" sz="3525" dirty="0">
                <a:solidFill>
                  <a:srgbClr val="000000"/>
                </a:solidFill>
                <a:latin typeface="Feeling Passionate"/>
                <a:ea typeface="Feeling Passionate"/>
                <a:cs typeface="Feeling Passionate"/>
                <a:sym typeface="Feeling Passionate"/>
              </a:rPr>
              <a:t>The use of strategic tools enhanced my thinking. The PESTLE model demonstrated how the political and economic situation influenced the strategy of Huawei, and SWOT demonstrated its strong innovational features and issues with trust. According to Jin and Yin (2020, p. 1139), Huawei “uses low prices and strong promotional efforts to quickly occupy the market,” reflecting cost leadership. When combined with Porter's Five Forces, this helped me in understanding competitive advantage better.</a:t>
            </a:r>
          </a:p>
          <a:p>
            <a:pPr marL="0" lvl="0" indent="0" algn="l">
              <a:lnSpc>
                <a:spcPts val="6769"/>
              </a:lnSpc>
            </a:pPr>
            <a:endParaRPr lang="en-US" sz="3525" dirty="0">
              <a:solidFill>
                <a:srgbClr val="000000"/>
              </a:solidFill>
              <a:latin typeface="Feeling Passionate"/>
              <a:ea typeface="Feeling Passionate"/>
              <a:cs typeface="Feeling Passionate"/>
              <a:sym typeface="Feeling Passionate"/>
            </a:endParaRPr>
          </a:p>
        </p:txBody>
      </p:sp>
      <p:sp>
        <p:nvSpPr>
          <p:cNvPr id="9" name="TextBox 9"/>
          <p:cNvSpPr txBox="1"/>
          <p:nvPr/>
        </p:nvSpPr>
        <p:spPr>
          <a:xfrm>
            <a:off x="-69901" y="92523"/>
            <a:ext cx="12423339" cy="1218219"/>
          </a:xfrm>
          <a:prstGeom prst="rect">
            <a:avLst/>
          </a:prstGeom>
        </p:spPr>
        <p:txBody>
          <a:bodyPr wrap="square" lIns="0" tIns="0" rIns="0" bIns="0" rtlCol="0" anchor="t">
            <a:spAutoFit/>
          </a:bodyPr>
          <a:lstStyle/>
          <a:p>
            <a:pPr marL="0" lvl="0" indent="0" algn="l">
              <a:lnSpc>
                <a:spcPts val="10199"/>
              </a:lnSpc>
              <a:spcBef>
                <a:spcPct val="0"/>
              </a:spcBef>
            </a:pPr>
            <a:r>
              <a:rPr lang="en-US" sz="6500" dirty="0">
                <a:solidFill>
                  <a:srgbClr val="000000"/>
                </a:solidFill>
                <a:latin typeface="Feeling Passionate"/>
                <a:ea typeface="Feeling Passionate"/>
                <a:cs typeface="Feeling Passionate"/>
                <a:sym typeface="Feeling Passionate"/>
              </a:rPr>
              <a:t>Applying Strategic Tools</a:t>
            </a:r>
          </a:p>
        </p:txBody>
      </p:sp>
      <p:sp>
        <p:nvSpPr>
          <p:cNvPr id="10" name="TextBox 10"/>
          <p:cNvSpPr txBox="1"/>
          <p:nvPr/>
        </p:nvSpPr>
        <p:spPr>
          <a:xfrm>
            <a:off x="897802" y="1535160"/>
            <a:ext cx="10487934" cy="3808735"/>
          </a:xfrm>
          <a:prstGeom prst="rect">
            <a:avLst/>
          </a:prstGeom>
        </p:spPr>
        <p:txBody>
          <a:bodyPr wrap="square" lIns="0" tIns="0" rIns="0" bIns="0" rtlCol="0" anchor="t">
            <a:spAutoFit/>
          </a:bodyPr>
          <a:lstStyle/>
          <a:p>
            <a:pPr marL="647700" lvl="1" indent="-323850" algn="just">
              <a:lnSpc>
                <a:spcPts val="3300"/>
              </a:lnSpc>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PESTLE: </a:t>
            </a:r>
            <a:r>
              <a:rPr lang="en-US" sz="3000" dirty="0">
                <a:solidFill>
                  <a:srgbClr val="000000"/>
                </a:solidFill>
                <a:latin typeface="TT Commons Pro Expanded"/>
                <a:ea typeface="TT Commons Pro Expanded"/>
                <a:cs typeface="TT Commons Pro Expanded"/>
                <a:sym typeface="TT Commons Pro Expanded"/>
              </a:rPr>
              <a:t>Political and legal pressures dominate.</a:t>
            </a:r>
          </a:p>
          <a:p>
            <a:pPr marL="647700" lvl="1" indent="-323850" algn="just">
              <a:lnSpc>
                <a:spcPts val="3300"/>
              </a:lnSpc>
              <a:spcBef>
                <a:spcPct val="0"/>
              </a:spcBef>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SWOT: </a:t>
            </a:r>
            <a:r>
              <a:rPr lang="en-US" sz="3000" dirty="0">
                <a:solidFill>
                  <a:srgbClr val="000000"/>
                </a:solidFill>
                <a:latin typeface="TT Commons Pro Expanded"/>
                <a:ea typeface="TT Commons Pro Expanded"/>
                <a:cs typeface="TT Commons Pro Expanded"/>
                <a:sym typeface="TT Commons Pro Expanded"/>
              </a:rPr>
              <a:t>Strength in 5G innovation; weakness in trust.</a:t>
            </a:r>
          </a:p>
          <a:p>
            <a:pPr marL="647700" lvl="1" indent="-323850" algn="just">
              <a:lnSpc>
                <a:spcPts val="3300"/>
              </a:lnSpc>
              <a:spcBef>
                <a:spcPct val="0"/>
              </a:spcBef>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Porter’s Five Forces: </a:t>
            </a:r>
            <a:r>
              <a:rPr lang="en-US" sz="3000" dirty="0">
                <a:solidFill>
                  <a:srgbClr val="000000"/>
                </a:solidFill>
                <a:latin typeface="TT Commons Pro Expanded"/>
                <a:ea typeface="TT Commons Pro Expanded"/>
                <a:cs typeface="TT Commons Pro Expanded"/>
                <a:sym typeface="TT Commons Pro Expanded"/>
              </a:rPr>
              <a:t>High competition and entry barriers</a:t>
            </a:r>
            <a:r>
              <a:rPr lang="en-US" sz="3000" b="1" dirty="0">
                <a:solidFill>
                  <a:srgbClr val="000000"/>
                </a:solidFill>
                <a:latin typeface="TT Commons Pro Expanded Bold"/>
                <a:ea typeface="TT Commons Pro Expanded Bold"/>
                <a:cs typeface="TT Commons Pro Expanded Bold"/>
                <a:sym typeface="TT Commons Pro Expanded Bold"/>
              </a:rPr>
              <a:t>.</a:t>
            </a:r>
          </a:p>
          <a:p>
            <a:pPr marL="647700" lvl="1" indent="-323850" algn="just">
              <a:lnSpc>
                <a:spcPts val="3300"/>
              </a:lnSpc>
              <a:spcBef>
                <a:spcPct val="0"/>
              </a:spcBef>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Value Chain: </a:t>
            </a:r>
            <a:r>
              <a:rPr lang="en-US" sz="3000" dirty="0">
                <a:solidFill>
                  <a:srgbClr val="000000"/>
                </a:solidFill>
                <a:latin typeface="TT Commons Pro Expanded"/>
                <a:ea typeface="TT Commons Pro Expanded"/>
                <a:cs typeface="TT Commons Pro Expanded"/>
                <a:sym typeface="TT Commons Pro Expanded"/>
              </a:rPr>
              <a:t>R&amp;D and logistics are key strengths.</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Tools revealed strategic opportunities and ethical challenges</a:t>
            </a:r>
            <a:r>
              <a:rPr lang="en-US" sz="3000" b="1" dirty="0">
                <a:solidFill>
                  <a:srgbClr val="000000"/>
                </a:solidFill>
                <a:latin typeface="TT Commons Pro Expanded Bold"/>
                <a:ea typeface="TT Commons Pro Expanded Bold"/>
                <a:cs typeface="TT Commons Pro Expanded Bold"/>
                <a:sym typeface="TT Commons Pro Expanded Bold"/>
              </a:rPr>
              <a:t>.</a:t>
            </a:r>
          </a:p>
          <a:p>
            <a:pPr algn="just">
              <a:lnSpc>
                <a:spcPts val="3300"/>
              </a:lnSpc>
              <a:spcBef>
                <a:spcPct val="0"/>
              </a:spcBef>
            </a:pPr>
            <a:endParaRPr lang="en-US" sz="3000" b="1" dirty="0">
              <a:solidFill>
                <a:srgbClr val="000000"/>
              </a:solidFill>
              <a:latin typeface="TT Commons Pro Expanded Bold"/>
              <a:ea typeface="TT Commons Pro Expanded Bold"/>
              <a:cs typeface="TT Commons Pro Expanded Bold"/>
              <a:sym typeface="TT Commons Pro Expanded Bold"/>
            </a:endParaRPr>
          </a:p>
        </p:txBody>
      </p:sp>
      <p:sp>
        <p:nvSpPr>
          <p:cNvPr id="11" name="TextBox 11"/>
          <p:cNvSpPr txBox="1"/>
          <p:nvPr/>
        </p:nvSpPr>
        <p:spPr>
          <a:xfrm>
            <a:off x="2839140" y="5162550"/>
            <a:ext cx="1221879" cy="438150"/>
          </a:xfrm>
          <a:prstGeom prst="rect">
            <a:avLst/>
          </a:prstGeom>
        </p:spPr>
        <p:txBody>
          <a:bodyPr lIns="0" tIns="0" rIns="0" bIns="0" rtlCol="0" anchor="t">
            <a:spAutoFit/>
          </a:bodyPr>
          <a:lstStyle/>
          <a:p>
            <a:pPr algn="ctr">
              <a:lnSpc>
                <a:spcPts val="3300"/>
              </a:lnSpc>
              <a:spcBef>
                <a:spcPct val="0"/>
              </a:spcBef>
            </a:pPr>
            <a:r>
              <a:rPr lang="en-US" sz="3000" b="1">
                <a:solidFill>
                  <a:srgbClr val="000000"/>
                </a:solidFill>
                <a:latin typeface="TT Commons Pro Expanded Bold"/>
                <a:ea typeface="TT Commons Pro Expanded Bold"/>
                <a:cs typeface="TT Commons Pro Expanded Bold"/>
                <a:sym typeface="TT Commons Pro Expanded Bold"/>
              </a:rPr>
              <a:t>Notes</a:t>
            </a:r>
          </a:p>
        </p:txBody>
      </p:sp>
      <p:pic>
        <p:nvPicPr>
          <p:cNvPr id="13" name="Picture 12">
            <a:extLst>
              <a:ext uri="{FF2B5EF4-FFF2-40B4-BE49-F238E27FC236}">
                <a16:creationId xmlns:a16="http://schemas.microsoft.com/office/drawing/2014/main" id="{B3D92EA8-C8FD-AF9D-0B96-8D2101273D99}"/>
              </a:ext>
            </a:extLst>
          </p:cNvPr>
          <p:cNvPicPr>
            <a:picLocks noChangeAspect="1"/>
          </p:cNvPicPr>
          <p:nvPr/>
        </p:nvPicPr>
        <p:blipFill>
          <a:blip r:embed="rId9"/>
          <a:stretch>
            <a:fillRect/>
          </a:stretch>
        </p:blipFill>
        <p:spPr>
          <a:xfrm>
            <a:off x="11658600" y="300311"/>
            <a:ext cx="7193828" cy="428002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711695" y="-234987"/>
            <a:ext cx="10438564" cy="4460747"/>
          </a:xfrm>
          <a:custGeom>
            <a:avLst/>
            <a:gdLst/>
            <a:ahLst/>
            <a:cxnLst/>
            <a:rect l="l" t="t" r="r" b="b"/>
            <a:pathLst>
              <a:path w="10438564" h="4460747">
                <a:moveTo>
                  <a:pt x="0" y="0"/>
                </a:moveTo>
                <a:lnTo>
                  <a:pt x="10438564" y="0"/>
                </a:lnTo>
                <a:lnTo>
                  <a:pt x="10438564" y="4460746"/>
                </a:lnTo>
                <a:lnTo>
                  <a:pt x="0" y="4460746"/>
                </a:lnTo>
                <a:lnTo>
                  <a:pt x="0" y="0"/>
                </a:lnTo>
                <a:close/>
              </a:path>
            </a:pathLst>
          </a:custGeom>
          <a:blipFill>
            <a:blip r:embed="rId2"/>
            <a:stretch>
              <a:fillRect/>
            </a:stretch>
          </a:blipFill>
        </p:spPr>
      </p:sp>
      <p:grpSp>
        <p:nvGrpSpPr>
          <p:cNvPr id="3" name="Group 3"/>
          <p:cNvGrpSpPr/>
          <p:nvPr/>
        </p:nvGrpSpPr>
        <p:grpSpPr>
          <a:xfrm>
            <a:off x="11438489" y="0"/>
            <a:ext cx="6849511" cy="6066380"/>
            <a:chOff x="0" y="0"/>
            <a:chExt cx="9132681" cy="8088507"/>
          </a:xfrm>
        </p:grpSpPr>
        <p:pic>
          <p:nvPicPr>
            <p:cNvPr id="4" name="Picture 4"/>
            <p:cNvPicPr>
              <a:picLocks noChangeAspect="1"/>
            </p:cNvPicPr>
            <p:nvPr/>
          </p:nvPicPr>
          <p:blipFill>
            <a:blip r:embed="rId3"/>
            <a:srcRect l="3636" r="3636"/>
            <a:stretch>
              <a:fillRect/>
            </a:stretch>
          </p:blipFill>
          <p:spPr>
            <a:xfrm>
              <a:off x="0" y="0"/>
              <a:ext cx="9132681" cy="8088507"/>
            </a:xfrm>
            <a:prstGeom prst="rect">
              <a:avLst/>
            </a:prstGeom>
          </p:spPr>
        </p:pic>
      </p:grpSp>
      <p:sp>
        <p:nvSpPr>
          <p:cNvPr id="5" name="Freeform 5"/>
          <p:cNvSpPr/>
          <p:nvPr/>
        </p:nvSpPr>
        <p:spPr>
          <a:xfrm flipH="1">
            <a:off x="775140" y="6447380"/>
            <a:ext cx="17512859" cy="5020720"/>
          </a:xfrm>
          <a:custGeom>
            <a:avLst/>
            <a:gdLst/>
            <a:ahLst/>
            <a:cxnLst/>
            <a:rect l="l" t="t" r="r" b="b"/>
            <a:pathLst>
              <a:path w="17512859" h="6176306">
                <a:moveTo>
                  <a:pt x="17512859" y="0"/>
                </a:moveTo>
                <a:lnTo>
                  <a:pt x="0" y="0"/>
                </a:lnTo>
                <a:lnTo>
                  <a:pt x="0" y="6176306"/>
                </a:lnTo>
                <a:lnTo>
                  <a:pt x="17512859" y="6176306"/>
                </a:lnTo>
                <a:lnTo>
                  <a:pt x="17512859" y="0"/>
                </a:lnTo>
                <a:close/>
              </a:path>
            </a:pathLst>
          </a:custGeom>
          <a:blipFill>
            <a:blip r:embed="rId4"/>
            <a:stretch>
              <a:fillRect l="-5597" t="-69487" b="-46469"/>
            </a:stretch>
          </a:blipFill>
          <a:ln cap="sq">
            <a:noFill/>
            <a:prstDash val="solid"/>
            <a:miter/>
          </a:ln>
        </p:spPr>
      </p:sp>
      <p:sp>
        <p:nvSpPr>
          <p:cNvPr id="6" name="Freeform 6"/>
          <p:cNvSpPr/>
          <p:nvPr/>
        </p:nvSpPr>
        <p:spPr>
          <a:xfrm flipH="1">
            <a:off x="-235699" y="384496"/>
            <a:ext cx="11674189" cy="2592320"/>
          </a:xfrm>
          <a:custGeom>
            <a:avLst/>
            <a:gdLst/>
            <a:ahLst/>
            <a:cxnLst/>
            <a:rect l="l" t="t" r="r" b="b"/>
            <a:pathLst>
              <a:path w="11674189" h="2592320">
                <a:moveTo>
                  <a:pt x="11674188" y="0"/>
                </a:moveTo>
                <a:lnTo>
                  <a:pt x="0" y="0"/>
                </a:lnTo>
                <a:lnTo>
                  <a:pt x="0" y="2592319"/>
                </a:lnTo>
                <a:lnTo>
                  <a:pt x="11674188" y="2592319"/>
                </a:lnTo>
                <a:lnTo>
                  <a:pt x="11674188" y="0"/>
                </a:lnTo>
                <a:close/>
              </a:path>
            </a:pathLst>
          </a:custGeom>
          <a:blipFill>
            <a:blip r:embed="rId5"/>
            <a:stretch>
              <a:fillRect t="-7418" b="-7418"/>
            </a:stretch>
          </a:blipFill>
        </p:spPr>
      </p:sp>
      <p:sp>
        <p:nvSpPr>
          <p:cNvPr id="7" name="Freeform 7"/>
          <p:cNvSpPr/>
          <p:nvPr/>
        </p:nvSpPr>
        <p:spPr>
          <a:xfrm>
            <a:off x="12385083" y="8232887"/>
            <a:ext cx="2487687" cy="497537"/>
          </a:xfrm>
          <a:custGeom>
            <a:avLst/>
            <a:gdLst/>
            <a:ahLst/>
            <a:cxnLst/>
            <a:rect l="l" t="t" r="r" b="b"/>
            <a:pathLst>
              <a:path w="2487687" h="497537">
                <a:moveTo>
                  <a:pt x="0" y="0"/>
                </a:moveTo>
                <a:lnTo>
                  <a:pt x="2487687" y="0"/>
                </a:lnTo>
                <a:lnTo>
                  <a:pt x="2487687" y="497537"/>
                </a:lnTo>
                <a:lnTo>
                  <a:pt x="0" y="4975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0" y="8073903"/>
            <a:ext cx="2213097" cy="2213097"/>
          </a:xfrm>
          <a:custGeom>
            <a:avLst/>
            <a:gdLst/>
            <a:ahLst/>
            <a:cxnLst/>
            <a:rect l="l" t="t" r="r" b="b"/>
            <a:pathLst>
              <a:path w="2213097" h="2213097">
                <a:moveTo>
                  <a:pt x="0" y="0"/>
                </a:moveTo>
                <a:lnTo>
                  <a:pt x="2213097" y="0"/>
                </a:lnTo>
                <a:lnTo>
                  <a:pt x="2213097" y="2213097"/>
                </a:lnTo>
                <a:lnTo>
                  <a:pt x="0" y="2213097"/>
                </a:lnTo>
                <a:lnTo>
                  <a:pt x="0" y="0"/>
                </a:lnTo>
                <a:close/>
              </a:path>
            </a:pathLst>
          </a:custGeom>
          <a:blipFill>
            <a:blip r:embed="rId8"/>
            <a:stretch>
              <a:fillRect/>
            </a:stretch>
          </a:blipFill>
        </p:spPr>
      </p:sp>
      <p:sp>
        <p:nvSpPr>
          <p:cNvPr id="9" name="TextBox 9"/>
          <p:cNvSpPr txBox="1"/>
          <p:nvPr/>
        </p:nvSpPr>
        <p:spPr>
          <a:xfrm>
            <a:off x="1784813" y="6405586"/>
            <a:ext cx="16091230" cy="4478274"/>
          </a:xfrm>
          <a:prstGeom prst="rect">
            <a:avLst/>
          </a:prstGeom>
        </p:spPr>
        <p:txBody>
          <a:bodyPr lIns="0" tIns="0" rIns="0" bIns="0" rtlCol="0" anchor="t">
            <a:spAutoFit/>
          </a:bodyPr>
          <a:lstStyle/>
          <a:p>
            <a:pPr algn="ctr">
              <a:lnSpc>
                <a:spcPts val="5102"/>
              </a:lnSpc>
            </a:pPr>
            <a:r>
              <a:rPr lang="en-US" sz="2700" b="1" dirty="0">
                <a:solidFill>
                  <a:srgbClr val="000000"/>
                </a:solidFill>
                <a:latin typeface="Circe Bold"/>
                <a:ea typeface="Circe Bold"/>
                <a:cs typeface="Circe Bold"/>
                <a:sym typeface="Circe Bold"/>
              </a:rPr>
              <a:t>Notes:</a:t>
            </a:r>
          </a:p>
          <a:p>
            <a:pPr algn="ctr">
              <a:lnSpc>
                <a:spcPts val="5102"/>
              </a:lnSpc>
            </a:pPr>
            <a:r>
              <a:rPr lang="en-US" sz="3000" u="none" strike="noStrike" dirty="0">
                <a:solidFill>
                  <a:srgbClr val="000000"/>
                </a:solidFill>
                <a:latin typeface="Circe"/>
                <a:ea typeface="Circe"/>
                <a:cs typeface="Circe"/>
                <a:sym typeface="Circe"/>
              </a:rPr>
              <a:t>In the course of the process, my writing and research skills have enhanced. I was taught to be </a:t>
            </a:r>
            <a:r>
              <a:rPr lang="en-US" sz="3000" u="none" strike="noStrike" dirty="0" err="1">
                <a:solidFill>
                  <a:srgbClr val="000000"/>
                </a:solidFill>
                <a:latin typeface="Circe"/>
                <a:ea typeface="Circe"/>
                <a:cs typeface="Circe"/>
                <a:sym typeface="Circe"/>
              </a:rPr>
              <a:t>sceptical</a:t>
            </a:r>
            <a:r>
              <a:rPr lang="en-US" sz="3000" u="none" strike="noStrike" dirty="0">
                <a:solidFill>
                  <a:srgbClr val="000000"/>
                </a:solidFill>
                <a:latin typeface="Circe"/>
                <a:ea typeface="Circe"/>
                <a:cs typeface="Circe"/>
                <a:sym typeface="Circe"/>
              </a:rPr>
              <a:t> of assumptions and cross-reference theories. My analysis of corporate statements was reinforced by comparing the internal sources with independent reports (Huawei, 2024). Concise but precise writing developed discipline, and rumination facilitated the process of analysis into understanding and made me independent and more curious about management practice.</a:t>
            </a:r>
          </a:p>
          <a:p>
            <a:pPr marL="0" lvl="1" indent="0" algn="ctr">
              <a:lnSpc>
                <a:spcPts val="5102"/>
              </a:lnSpc>
            </a:pPr>
            <a:endParaRPr lang="en-US" sz="2700" u="none" strike="noStrike" dirty="0">
              <a:solidFill>
                <a:srgbClr val="000000"/>
              </a:solidFill>
              <a:latin typeface="Circe"/>
              <a:ea typeface="Circe"/>
              <a:cs typeface="Circe"/>
              <a:sym typeface="Circe"/>
            </a:endParaRPr>
          </a:p>
        </p:txBody>
      </p:sp>
      <p:sp>
        <p:nvSpPr>
          <p:cNvPr id="10" name="TextBox 10"/>
          <p:cNvSpPr txBox="1"/>
          <p:nvPr/>
        </p:nvSpPr>
        <p:spPr>
          <a:xfrm>
            <a:off x="261725" y="790575"/>
            <a:ext cx="11717952" cy="1542036"/>
          </a:xfrm>
          <a:prstGeom prst="rect">
            <a:avLst/>
          </a:prstGeom>
        </p:spPr>
        <p:txBody>
          <a:bodyPr lIns="0" tIns="0" rIns="0" bIns="0" rtlCol="0" anchor="t">
            <a:spAutoFit/>
          </a:bodyPr>
          <a:lstStyle/>
          <a:p>
            <a:pPr marL="0" lvl="0" indent="0" algn="l">
              <a:lnSpc>
                <a:spcPts val="12727"/>
              </a:lnSpc>
              <a:spcBef>
                <a:spcPct val="0"/>
              </a:spcBef>
            </a:pPr>
            <a:r>
              <a:rPr lang="en-US" sz="8599" dirty="0">
                <a:solidFill>
                  <a:srgbClr val="000000"/>
                </a:solidFill>
                <a:latin typeface="Feeling Passionate"/>
                <a:ea typeface="Feeling Passionate"/>
                <a:cs typeface="Feeling Passionate"/>
                <a:sym typeface="Feeling Passionate"/>
              </a:rPr>
              <a:t>Pers</a:t>
            </a:r>
            <a:r>
              <a:rPr lang="en-US" sz="8599" u="none" strike="noStrike" dirty="0">
                <a:solidFill>
                  <a:srgbClr val="000000"/>
                </a:solidFill>
                <a:latin typeface="Feeling Passionate"/>
                <a:ea typeface="Feeling Passionate"/>
                <a:cs typeface="Feeling Passionate"/>
                <a:sym typeface="Feeling Passionate"/>
              </a:rPr>
              <a:t>onal Development</a:t>
            </a:r>
          </a:p>
        </p:txBody>
      </p:sp>
      <p:sp>
        <p:nvSpPr>
          <p:cNvPr id="11" name="TextBox 11"/>
          <p:cNvSpPr txBox="1"/>
          <p:nvPr/>
        </p:nvSpPr>
        <p:spPr>
          <a:xfrm>
            <a:off x="498465" y="3301459"/>
            <a:ext cx="10940025" cy="222377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Circe"/>
                <a:ea typeface="Circe"/>
                <a:cs typeface="Circe"/>
                <a:sym typeface="Circe"/>
              </a:rPr>
              <a:t>Improved academic writing and referencing skills.</a:t>
            </a:r>
          </a:p>
          <a:p>
            <a:pPr marL="690881" lvl="1" indent="-345440" algn="l">
              <a:lnSpc>
                <a:spcPts val="4480"/>
              </a:lnSpc>
              <a:buFont typeface="Arial"/>
              <a:buChar char="•"/>
            </a:pPr>
            <a:r>
              <a:rPr lang="en-US" sz="3200">
                <a:solidFill>
                  <a:srgbClr val="000000"/>
                </a:solidFill>
                <a:latin typeface="Circe"/>
                <a:ea typeface="Circe"/>
                <a:cs typeface="Circe"/>
                <a:sym typeface="Circe"/>
              </a:rPr>
              <a:t>Gained confidence interpreting theories critically.</a:t>
            </a:r>
          </a:p>
          <a:p>
            <a:pPr marL="690881" lvl="1" indent="-345440" algn="l">
              <a:lnSpc>
                <a:spcPts val="4480"/>
              </a:lnSpc>
              <a:buFont typeface="Arial"/>
              <a:buChar char="•"/>
            </a:pPr>
            <a:r>
              <a:rPr lang="en-US" sz="3200">
                <a:solidFill>
                  <a:srgbClr val="000000"/>
                </a:solidFill>
                <a:latin typeface="Circe"/>
                <a:ea typeface="Circe"/>
                <a:cs typeface="Circe"/>
                <a:sym typeface="Circe"/>
              </a:rPr>
              <a:t>Enhanced ability to synthesise multiple frameworks.</a:t>
            </a:r>
          </a:p>
          <a:p>
            <a:pPr marL="690881" lvl="1" indent="-345440" algn="l">
              <a:lnSpc>
                <a:spcPts val="4480"/>
              </a:lnSpc>
              <a:buFont typeface="Arial"/>
              <a:buChar char="•"/>
            </a:pPr>
            <a:r>
              <a:rPr lang="en-US" sz="3200">
                <a:solidFill>
                  <a:srgbClr val="000000"/>
                </a:solidFill>
                <a:latin typeface="Circe"/>
                <a:ea typeface="Circe"/>
                <a:cs typeface="Circe"/>
                <a:sym typeface="Circe"/>
              </a:rPr>
              <a:t>Developed reflective and analytical thinking.</a:t>
            </a:r>
          </a:p>
        </p:txBody>
      </p:sp>
    </p:spTree>
  </p:cSld>
  <p:clrMapOvr>
    <a:masterClrMapping/>
  </p:clrMapOvr>
  <p:transition spd="slow">
    <p:comb/>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4404551" y="651960"/>
            <a:ext cx="7302208" cy="1222084"/>
          </a:xfrm>
          <a:custGeom>
            <a:avLst/>
            <a:gdLst/>
            <a:ahLst/>
            <a:cxnLst/>
            <a:rect l="l" t="t" r="r" b="b"/>
            <a:pathLst>
              <a:path w="7302208" h="1222084">
                <a:moveTo>
                  <a:pt x="0" y="0"/>
                </a:moveTo>
                <a:lnTo>
                  <a:pt x="7302208" y="0"/>
                </a:lnTo>
                <a:lnTo>
                  <a:pt x="7302208" y="1222084"/>
                </a:lnTo>
                <a:lnTo>
                  <a:pt x="0" y="1222084"/>
                </a:lnTo>
                <a:lnTo>
                  <a:pt x="0" y="0"/>
                </a:lnTo>
                <a:close/>
              </a:path>
            </a:pathLst>
          </a:custGeom>
          <a:blipFill>
            <a:blip r:embed="rId2"/>
            <a:stretch>
              <a:fillRect t="-68010" b="-68010"/>
            </a:stretch>
          </a:blipFill>
        </p:spPr>
      </p:sp>
      <p:sp>
        <p:nvSpPr>
          <p:cNvPr id="3" name="Freeform 3"/>
          <p:cNvSpPr/>
          <p:nvPr/>
        </p:nvSpPr>
        <p:spPr>
          <a:xfrm>
            <a:off x="365298" y="4634484"/>
            <a:ext cx="17557404" cy="7168008"/>
          </a:xfrm>
          <a:custGeom>
            <a:avLst/>
            <a:gdLst/>
            <a:ahLst/>
            <a:cxnLst/>
            <a:rect l="l" t="t" r="r" b="b"/>
            <a:pathLst>
              <a:path w="17557404" h="7168008">
                <a:moveTo>
                  <a:pt x="0" y="0"/>
                </a:moveTo>
                <a:lnTo>
                  <a:pt x="17557404" y="0"/>
                </a:lnTo>
                <a:lnTo>
                  <a:pt x="17557404" y="7168009"/>
                </a:lnTo>
                <a:lnTo>
                  <a:pt x="0" y="7168009"/>
                </a:lnTo>
                <a:lnTo>
                  <a:pt x="0" y="0"/>
                </a:lnTo>
                <a:close/>
              </a:path>
            </a:pathLst>
          </a:custGeom>
          <a:blipFill>
            <a:blip r:embed="rId3"/>
            <a:stretch>
              <a:fillRect t="-57654" b="-19008"/>
            </a:stretch>
          </a:blipFill>
          <a:ln cap="sq">
            <a:noFill/>
            <a:prstDash val="solid"/>
            <a:miter/>
          </a:ln>
        </p:spPr>
      </p:sp>
      <p:sp>
        <p:nvSpPr>
          <p:cNvPr id="4" name="Freeform 4"/>
          <p:cNvSpPr/>
          <p:nvPr/>
        </p:nvSpPr>
        <p:spPr>
          <a:xfrm rot="-7132650">
            <a:off x="15949888" y="7850391"/>
            <a:ext cx="2845297" cy="3904352"/>
          </a:xfrm>
          <a:custGeom>
            <a:avLst/>
            <a:gdLst/>
            <a:ahLst/>
            <a:cxnLst/>
            <a:rect l="l" t="t" r="r" b="b"/>
            <a:pathLst>
              <a:path w="2845297" h="3904352">
                <a:moveTo>
                  <a:pt x="0" y="0"/>
                </a:moveTo>
                <a:lnTo>
                  <a:pt x="2845297" y="0"/>
                </a:lnTo>
                <a:lnTo>
                  <a:pt x="2845297" y="3904352"/>
                </a:lnTo>
                <a:lnTo>
                  <a:pt x="0" y="3904352"/>
                </a:lnTo>
                <a:lnTo>
                  <a:pt x="0" y="0"/>
                </a:lnTo>
                <a:close/>
              </a:path>
            </a:pathLst>
          </a:custGeom>
          <a:blipFill>
            <a:blip r:embed="rId4"/>
            <a:stretch>
              <a:fillRect/>
            </a:stretch>
          </a:blipFill>
          <a:ln cap="sq">
            <a:noFill/>
            <a:prstDash val="solid"/>
            <a:miter/>
          </a:ln>
        </p:spPr>
      </p:sp>
      <p:sp>
        <p:nvSpPr>
          <p:cNvPr id="5" name="Freeform 5"/>
          <p:cNvSpPr/>
          <p:nvPr/>
        </p:nvSpPr>
        <p:spPr>
          <a:xfrm rot="-270570">
            <a:off x="2629116" y="8546235"/>
            <a:ext cx="2863806" cy="1145522"/>
          </a:xfrm>
          <a:custGeom>
            <a:avLst/>
            <a:gdLst/>
            <a:ahLst/>
            <a:cxnLst/>
            <a:rect l="l" t="t" r="r" b="b"/>
            <a:pathLst>
              <a:path w="2863806" h="1145522">
                <a:moveTo>
                  <a:pt x="0" y="0"/>
                </a:moveTo>
                <a:lnTo>
                  <a:pt x="2863806" y="0"/>
                </a:lnTo>
                <a:lnTo>
                  <a:pt x="2863806" y="1145523"/>
                </a:lnTo>
                <a:lnTo>
                  <a:pt x="0" y="11455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0800000">
            <a:off x="13196885" y="4851971"/>
            <a:ext cx="3025971" cy="363117"/>
          </a:xfrm>
          <a:custGeom>
            <a:avLst/>
            <a:gdLst/>
            <a:ahLst/>
            <a:cxnLst/>
            <a:rect l="l" t="t" r="r" b="b"/>
            <a:pathLst>
              <a:path w="3025971" h="363117">
                <a:moveTo>
                  <a:pt x="0" y="0"/>
                </a:moveTo>
                <a:lnTo>
                  <a:pt x="3025971" y="0"/>
                </a:lnTo>
                <a:lnTo>
                  <a:pt x="3025971" y="363117"/>
                </a:lnTo>
                <a:lnTo>
                  <a:pt x="0" y="36311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a:off x="14140165" y="469103"/>
            <a:ext cx="4165381" cy="4165381"/>
          </a:xfrm>
          <a:custGeom>
            <a:avLst/>
            <a:gdLst/>
            <a:ahLst/>
            <a:cxnLst/>
            <a:rect l="l" t="t" r="r" b="b"/>
            <a:pathLst>
              <a:path w="4165381" h="4165381">
                <a:moveTo>
                  <a:pt x="0" y="0"/>
                </a:moveTo>
                <a:lnTo>
                  <a:pt x="4165382" y="0"/>
                </a:lnTo>
                <a:lnTo>
                  <a:pt x="4165382" y="4165381"/>
                </a:lnTo>
                <a:lnTo>
                  <a:pt x="0" y="4165381"/>
                </a:lnTo>
                <a:lnTo>
                  <a:pt x="0" y="0"/>
                </a:lnTo>
                <a:close/>
              </a:path>
            </a:pathLst>
          </a:custGeom>
          <a:blipFill>
            <a:blip r:embed="rId9"/>
            <a:stretch>
              <a:fillRect/>
            </a:stretch>
          </a:blipFill>
        </p:spPr>
      </p:sp>
      <p:sp>
        <p:nvSpPr>
          <p:cNvPr id="8" name="TextBox 8"/>
          <p:cNvSpPr txBox="1"/>
          <p:nvPr/>
        </p:nvSpPr>
        <p:spPr>
          <a:xfrm>
            <a:off x="1581267" y="5613070"/>
            <a:ext cx="16341435" cy="6773729"/>
          </a:xfrm>
          <a:prstGeom prst="rect">
            <a:avLst/>
          </a:prstGeom>
        </p:spPr>
        <p:txBody>
          <a:bodyPr lIns="0" tIns="0" rIns="0" bIns="0" rtlCol="0" anchor="t">
            <a:spAutoFit/>
          </a:bodyPr>
          <a:lstStyle/>
          <a:p>
            <a:pPr algn="l">
              <a:lnSpc>
                <a:spcPts val="6769"/>
              </a:lnSpc>
            </a:pPr>
            <a:r>
              <a:rPr lang="en-US" sz="3525" dirty="0">
                <a:solidFill>
                  <a:srgbClr val="000000"/>
                </a:solidFill>
                <a:latin typeface="Feeling Passionate"/>
                <a:ea typeface="Feeling Passionate"/>
                <a:cs typeface="Feeling Passionate"/>
                <a:sym typeface="Feeling Passionate"/>
              </a:rPr>
              <a:t>I will use these skills in my future studies and career. I have now developed the approach of looking at challenges in management by examining the forces outside and marshalling internal strengths. I will focus on ethical and sustainable strategies with the help of such tools as SWOT and PESTLE. Carrera (2022, p. 2) states that corporate social responsibility assists to “restore continuity between business activities and their long-term effects,” and sustainable decision-making is achieved.</a:t>
            </a:r>
          </a:p>
          <a:p>
            <a:pPr marL="0" lvl="0" indent="0" algn="l">
              <a:lnSpc>
                <a:spcPts val="6769"/>
              </a:lnSpc>
            </a:pPr>
            <a:endParaRPr lang="en-US" sz="3525" dirty="0">
              <a:solidFill>
                <a:srgbClr val="000000"/>
              </a:solidFill>
              <a:latin typeface="Feeling Passionate"/>
              <a:ea typeface="Feeling Passionate"/>
              <a:cs typeface="Feeling Passionate"/>
              <a:sym typeface="Feeling Passionate"/>
            </a:endParaRPr>
          </a:p>
        </p:txBody>
      </p:sp>
      <p:sp>
        <p:nvSpPr>
          <p:cNvPr id="9" name="TextBox 9"/>
          <p:cNvSpPr txBox="1"/>
          <p:nvPr/>
        </p:nvSpPr>
        <p:spPr>
          <a:xfrm>
            <a:off x="1350202" y="597694"/>
            <a:ext cx="9165397" cy="1291187"/>
          </a:xfrm>
          <a:prstGeom prst="rect">
            <a:avLst/>
          </a:prstGeom>
        </p:spPr>
        <p:txBody>
          <a:bodyPr wrap="square" lIns="0" tIns="0" rIns="0" bIns="0" rtlCol="0" anchor="t">
            <a:spAutoFit/>
          </a:bodyPr>
          <a:lstStyle/>
          <a:p>
            <a:pPr marL="0" lvl="0" indent="0" algn="l">
              <a:lnSpc>
                <a:spcPts val="10199"/>
              </a:lnSpc>
              <a:spcBef>
                <a:spcPct val="0"/>
              </a:spcBef>
            </a:pPr>
            <a:r>
              <a:rPr lang="en-US" sz="8499" dirty="0">
                <a:solidFill>
                  <a:srgbClr val="000000"/>
                </a:solidFill>
                <a:latin typeface="Feeling Passionate"/>
                <a:ea typeface="Feeling Passionate"/>
                <a:cs typeface="Feeling Passionate"/>
                <a:sym typeface="Feeling Passionate"/>
              </a:rPr>
              <a:t>Future Application</a:t>
            </a:r>
          </a:p>
        </p:txBody>
      </p:sp>
      <p:sp>
        <p:nvSpPr>
          <p:cNvPr id="10" name="TextBox 10"/>
          <p:cNvSpPr txBox="1"/>
          <p:nvPr/>
        </p:nvSpPr>
        <p:spPr>
          <a:xfrm>
            <a:off x="1096868" y="2206514"/>
            <a:ext cx="13043297" cy="2114550"/>
          </a:xfrm>
          <a:prstGeom prst="rect">
            <a:avLst/>
          </a:prstGeom>
        </p:spPr>
        <p:txBody>
          <a:bodyPr lIns="0" tIns="0" rIns="0" bIns="0" rtlCol="0" anchor="t">
            <a:spAutoFit/>
          </a:bodyPr>
          <a:lstStyle/>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Use planning and critical analysis in subsequent modules.</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Evaluate complicated business issues using strategy frameworks.</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Be ethically conscious and evidence-based.</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Promote flexibility and lifelong learning.</a:t>
            </a:r>
          </a:p>
          <a:p>
            <a:pPr algn="just">
              <a:lnSpc>
                <a:spcPts val="3300"/>
              </a:lnSpc>
              <a:spcBef>
                <a:spcPct val="0"/>
              </a:spcBef>
            </a:pPr>
            <a:endParaRPr lang="en-US" sz="3000" dirty="0">
              <a:solidFill>
                <a:srgbClr val="000000"/>
              </a:solidFill>
              <a:latin typeface="TT Commons Pro Expanded"/>
              <a:ea typeface="TT Commons Pro Expanded"/>
              <a:cs typeface="TT Commons Pro Expanded"/>
              <a:sym typeface="TT Commons Pro Expanded"/>
            </a:endParaRPr>
          </a:p>
        </p:txBody>
      </p:sp>
      <p:sp>
        <p:nvSpPr>
          <p:cNvPr id="11" name="TextBox 11"/>
          <p:cNvSpPr txBox="1"/>
          <p:nvPr/>
        </p:nvSpPr>
        <p:spPr>
          <a:xfrm>
            <a:off x="2839140" y="5162550"/>
            <a:ext cx="1221879" cy="438150"/>
          </a:xfrm>
          <a:prstGeom prst="rect">
            <a:avLst/>
          </a:prstGeom>
        </p:spPr>
        <p:txBody>
          <a:bodyPr lIns="0" tIns="0" rIns="0" bIns="0" rtlCol="0" anchor="t">
            <a:spAutoFit/>
          </a:bodyPr>
          <a:lstStyle/>
          <a:p>
            <a:pPr algn="ctr">
              <a:lnSpc>
                <a:spcPts val="3300"/>
              </a:lnSpc>
              <a:spcBef>
                <a:spcPct val="0"/>
              </a:spcBef>
            </a:pPr>
            <a:r>
              <a:rPr lang="en-US" sz="3000" b="1">
                <a:solidFill>
                  <a:srgbClr val="000000"/>
                </a:solidFill>
                <a:latin typeface="TT Commons Pro Expanded Bold"/>
                <a:ea typeface="TT Commons Pro Expanded Bold"/>
                <a:cs typeface="TT Commons Pro Expanded Bold"/>
                <a:sym typeface="TT Commons Pro Expanded Bold"/>
              </a:rPr>
              <a:t>Notes</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pic>
          <p:nvPicPr>
            <p:cNvPr id="3" name="Picture 3"/>
            <p:cNvPicPr>
              <a:picLocks noChangeAspect="1"/>
            </p:cNvPicPr>
            <p:nvPr/>
          </p:nvPicPr>
          <p:blipFill>
            <a:blip r:embed="rId2">
              <a:alphaModFix amt="15000"/>
            </a:blip>
            <a:srcRect t="21874" b="21875"/>
            <a:stretch>
              <a:fillRect/>
            </a:stretch>
          </p:blipFill>
          <p:spPr>
            <a:xfrm>
              <a:off x="0" y="0"/>
              <a:ext cx="24384000" cy="13716000"/>
            </a:xfrm>
            <a:prstGeom prst="rect">
              <a:avLst/>
            </a:prstGeom>
          </p:spPr>
        </p:pic>
      </p:grpSp>
      <p:sp>
        <p:nvSpPr>
          <p:cNvPr id="4" name="Freeform 4"/>
          <p:cNvSpPr/>
          <p:nvPr/>
        </p:nvSpPr>
        <p:spPr>
          <a:xfrm>
            <a:off x="9745029" y="4712017"/>
            <a:ext cx="8542971" cy="5354540"/>
          </a:xfrm>
          <a:custGeom>
            <a:avLst/>
            <a:gdLst/>
            <a:ahLst/>
            <a:cxnLst/>
            <a:rect l="l" t="t" r="r" b="b"/>
            <a:pathLst>
              <a:path w="8542971" h="5354540">
                <a:moveTo>
                  <a:pt x="0" y="0"/>
                </a:moveTo>
                <a:lnTo>
                  <a:pt x="8542971" y="0"/>
                </a:lnTo>
                <a:lnTo>
                  <a:pt x="8542971" y="5354541"/>
                </a:lnTo>
                <a:lnTo>
                  <a:pt x="0" y="5354541"/>
                </a:lnTo>
                <a:lnTo>
                  <a:pt x="0" y="0"/>
                </a:lnTo>
                <a:close/>
              </a:path>
            </a:pathLst>
          </a:custGeom>
          <a:blipFill>
            <a:blip r:embed="rId3"/>
            <a:stretch>
              <a:fillRect l="-1388" t="-61616" r="-1388"/>
            </a:stretch>
          </a:blipFill>
        </p:spPr>
      </p:sp>
      <p:sp>
        <p:nvSpPr>
          <p:cNvPr id="5" name="Freeform 5"/>
          <p:cNvSpPr/>
          <p:nvPr/>
        </p:nvSpPr>
        <p:spPr>
          <a:xfrm>
            <a:off x="233365" y="259259"/>
            <a:ext cx="15274223" cy="1763209"/>
          </a:xfrm>
          <a:custGeom>
            <a:avLst/>
            <a:gdLst/>
            <a:ahLst/>
            <a:cxnLst/>
            <a:rect l="l" t="t" r="r" b="b"/>
            <a:pathLst>
              <a:path w="15274223" h="1763209">
                <a:moveTo>
                  <a:pt x="0" y="0"/>
                </a:moveTo>
                <a:lnTo>
                  <a:pt x="15274223" y="0"/>
                </a:lnTo>
                <a:lnTo>
                  <a:pt x="15274223" y="1763209"/>
                </a:lnTo>
                <a:lnTo>
                  <a:pt x="0" y="1763209"/>
                </a:lnTo>
                <a:lnTo>
                  <a:pt x="0" y="0"/>
                </a:lnTo>
                <a:close/>
              </a:path>
            </a:pathLst>
          </a:custGeom>
          <a:blipFill>
            <a:blip r:embed="rId4"/>
            <a:stretch>
              <a:fillRect l="-10565" t="-40206" b="-189037"/>
            </a:stretch>
          </a:blipFill>
        </p:spPr>
      </p:sp>
      <p:sp>
        <p:nvSpPr>
          <p:cNvPr id="6" name="Freeform 6"/>
          <p:cNvSpPr/>
          <p:nvPr/>
        </p:nvSpPr>
        <p:spPr>
          <a:xfrm>
            <a:off x="2695575" y="7651455"/>
            <a:ext cx="2567503" cy="2567503"/>
          </a:xfrm>
          <a:custGeom>
            <a:avLst/>
            <a:gdLst/>
            <a:ahLst/>
            <a:cxnLst/>
            <a:rect l="l" t="t" r="r" b="b"/>
            <a:pathLst>
              <a:path w="2567503" h="2567503">
                <a:moveTo>
                  <a:pt x="0" y="0"/>
                </a:moveTo>
                <a:lnTo>
                  <a:pt x="2567503" y="0"/>
                </a:lnTo>
                <a:lnTo>
                  <a:pt x="2567503" y="2567503"/>
                </a:lnTo>
                <a:lnTo>
                  <a:pt x="0" y="2567503"/>
                </a:lnTo>
                <a:lnTo>
                  <a:pt x="0" y="0"/>
                </a:lnTo>
                <a:close/>
              </a:path>
            </a:pathLst>
          </a:custGeom>
          <a:blipFill>
            <a:blip r:embed="rId5"/>
            <a:stretch>
              <a:fillRect/>
            </a:stretch>
          </a:blipFill>
        </p:spPr>
      </p:sp>
      <p:sp>
        <p:nvSpPr>
          <p:cNvPr id="7" name="Freeform 7"/>
          <p:cNvSpPr/>
          <p:nvPr/>
        </p:nvSpPr>
        <p:spPr>
          <a:xfrm>
            <a:off x="14635382" y="713324"/>
            <a:ext cx="3417668" cy="3417668"/>
          </a:xfrm>
          <a:custGeom>
            <a:avLst/>
            <a:gdLst/>
            <a:ahLst/>
            <a:cxnLst/>
            <a:rect l="l" t="t" r="r" b="b"/>
            <a:pathLst>
              <a:path w="3417668" h="3417668">
                <a:moveTo>
                  <a:pt x="0" y="0"/>
                </a:moveTo>
                <a:lnTo>
                  <a:pt x="3417668" y="0"/>
                </a:lnTo>
                <a:lnTo>
                  <a:pt x="3417668" y="3417669"/>
                </a:lnTo>
                <a:lnTo>
                  <a:pt x="0" y="3417669"/>
                </a:lnTo>
                <a:lnTo>
                  <a:pt x="0" y="0"/>
                </a:lnTo>
                <a:close/>
              </a:path>
            </a:pathLst>
          </a:custGeom>
          <a:blipFill>
            <a:blip r:embed="rId6"/>
            <a:stretch>
              <a:fillRect/>
            </a:stretch>
          </a:blipFill>
        </p:spPr>
      </p:sp>
      <p:sp>
        <p:nvSpPr>
          <p:cNvPr id="8" name="TextBox 8"/>
          <p:cNvSpPr txBox="1"/>
          <p:nvPr/>
        </p:nvSpPr>
        <p:spPr>
          <a:xfrm>
            <a:off x="391361" y="746118"/>
            <a:ext cx="14255744" cy="1276350"/>
          </a:xfrm>
          <a:prstGeom prst="rect">
            <a:avLst/>
          </a:prstGeom>
        </p:spPr>
        <p:txBody>
          <a:bodyPr lIns="0" tIns="0" rIns="0" bIns="0" rtlCol="0" anchor="t">
            <a:spAutoFit/>
          </a:bodyPr>
          <a:lstStyle/>
          <a:p>
            <a:pPr marL="0" lvl="0" indent="0" algn="l">
              <a:lnSpc>
                <a:spcPts val="10199"/>
              </a:lnSpc>
              <a:spcBef>
                <a:spcPct val="0"/>
              </a:spcBef>
            </a:pPr>
            <a:r>
              <a:rPr lang="en-US" sz="8499" u="none" strike="noStrike" dirty="0">
                <a:solidFill>
                  <a:srgbClr val="000000"/>
                </a:solidFill>
                <a:latin typeface="Feeling Passionate"/>
                <a:ea typeface="Feeling Passionate"/>
                <a:cs typeface="Feeling Passionate"/>
                <a:sym typeface="Feeling Passionate"/>
              </a:rPr>
              <a:t>Conclusion &amp; Key Takeaways</a:t>
            </a:r>
          </a:p>
        </p:txBody>
      </p:sp>
      <p:sp>
        <p:nvSpPr>
          <p:cNvPr id="9" name="TextBox 9"/>
          <p:cNvSpPr txBox="1"/>
          <p:nvPr/>
        </p:nvSpPr>
        <p:spPr>
          <a:xfrm>
            <a:off x="11636836" y="4216718"/>
            <a:ext cx="3870752" cy="495300"/>
          </a:xfrm>
          <a:prstGeom prst="rect">
            <a:avLst/>
          </a:prstGeom>
        </p:spPr>
        <p:txBody>
          <a:bodyPr lIns="0" tIns="0" rIns="0" bIns="0" rtlCol="0" anchor="t">
            <a:spAutoFit/>
          </a:bodyPr>
          <a:lstStyle/>
          <a:p>
            <a:pPr marL="0" lvl="0" indent="0" algn="ctr">
              <a:lnSpc>
                <a:spcPts val="3900"/>
              </a:lnSpc>
              <a:spcBef>
                <a:spcPct val="0"/>
              </a:spcBef>
            </a:pPr>
            <a:r>
              <a:rPr lang="en-US" sz="3000" b="1">
                <a:solidFill>
                  <a:srgbClr val="000000"/>
                </a:solidFill>
                <a:latin typeface="Circe Bold"/>
                <a:ea typeface="Circe Bold"/>
                <a:cs typeface="Circe Bold"/>
                <a:sym typeface="Circe Bold"/>
              </a:rPr>
              <a:t>Notes</a:t>
            </a:r>
          </a:p>
        </p:txBody>
      </p:sp>
      <p:sp>
        <p:nvSpPr>
          <p:cNvPr id="10" name="TextBox 10"/>
          <p:cNvSpPr txBox="1"/>
          <p:nvPr/>
        </p:nvSpPr>
        <p:spPr>
          <a:xfrm>
            <a:off x="9333867" y="4645342"/>
            <a:ext cx="8719183" cy="5324475"/>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irce"/>
                <a:ea typeface="Circe"/>
                <a:cs typeface="Circe"/>
                <a:sym typeface="Circe"/>
              </a:rPr>
              <a:t>As a reflection on the module, I can say that planning is the most crucial management ro</a:t>
            </a:r>
            <a:r>
              <a:rPr lang="en-US" sz="3000" u="none" strike="noStrike">
                <a:solidFill>
                  <a:srgbClr val="000000"/>
                </a:solidFill>
                <a:latin typeface="Circe"/>
                <a:ea typeface="Circe"/>
                <a:cs typeface="Circe"/>
                <a:sym typeface="Circe"/>
              </a:rPr>
              <a:t>le, particularly in uncertain global environments. The application of strategic tools helped me to combine evidence and judgement. I have not only grown in the area of academic knowledge, but also I have learnt to think in a certain way, be resilient, and be ethical. Constant reflection will also help me develop as a student and a manager who will make informed decisions in a sustainable manner.</a:t>
            </a:r>
          </a:p>
        </p:txBody>
      </p:sp>
      <p:sp>
        <p:nvSpPr>
          <p:cNvPr id="11" name="TextBox 11"/>
          <p:cNvSpPr txBox="1"/>
          <p:nvPr/>
        </p:nvSpPr>
        <p:spPr>
          <a:xfrm>
            <a:off x="1028700" y="2539428"/>
            <a:ext cx="9426225" cy="5559425"/>
          </a:xfrm>
          <a:prstGeom prst="rect">
            <a:avLst/>
          </a:prstGeom>
        </p:spPr>
        <p:txBody>
          <a:bodyPr lIns="0" tIns="0" rIns="0" bIns="0" rtlCol="0" anchor="t">
            <a:spAutoFit/>
          </a:bodyPr>
          <a:lstStyle/>
          <a:p>
            <a:pPr marL="755651" lvl="1" indent="-377825" algn="l">
              <a:lnSpc>
                <a:spcPts val="4900"/>
              </a:lnSpc>
              <a:buFont typeface="Arial"/>
              <a:buChar char="•"/>
            </a:pPr>
            <a:r>
              <a:rPr lang="en-US" sz="3500" b="1">
                <a:solidFill>
                  <a:srgbClr val="000000"/>
                </a:solidFill>
                <a:latin typeface="Circe Bold"/>
                <a:ea typeface="Circe Bold"/>
                <a:cs typeface="Circe Bold"/>
                <a:sym typeface="Circe Bold"/>
              </a:rPr>
              <a:t>The most inf</a:t>
            </a:r>
            <a:r>
              <a:rPr lang="en-US" sz="3500" b="1" u="none" strike="noStrike">
                <a:solidFill>
                  <a:srgbClr val="000000"/>
                </a:solidFill>
                <a:latin typeface="Circe Bold"/>
                <a:ea typeface="Circe Bold"/>
                <a:cs typeface="Circe Bold"/>
                <a:sym typeface="Circe Bold"/>
              </a:rPr>
              <a:t>luential management lens is planning.</a:t>
            </a:r>
          </a:p>
          <a:p>
            <a:pPr marL="755651" lvl="1" indent="-377825" algn="l">
              <a:lnSpc>
                <a:spcPts val="4900"/>
              </a:lnSpc>
              <a:buFont typeface="Arial"/>
              <a:buChar char="•"/>
            </a:pPr>
            <a:r>
              <a:rPr lang="en-US" sz="3500" b="1" u="none" strike="noStrike">
                <a:solidFill>
                  <a:srgbClr val="000000"/>
                </a:solidFill>
                <a:latin typeface="Circe Bold"/>
                <a:ea typeface="Circe Bold"/>
                <a:cs typeface="Circe Bold"/>
                <a:sym typeface="Circe Bold"/>
              </a:rPr>
              <a:t>Decision-making and perspective were enhanced using strategic tools.</a:t>
            </a:r>
          </a:p>
          <a:p>
            <a:pPr marL="755651" lvl="1" indent="-377825" algn="l">
              <a:lnSpc>
                <a:spcPts val="4900"/>
              </a:lnSpc>
              <a:buFont typeface="Arial"/>
              <a:buChar char="•"/>
            </a:pPr>
            <a:r>
              <a:rPr lang="en-US" sz="3500" b="1" u="none" strike="noStrike">
                <a:solidFill>
                  <a:srgbClr val="000000"/>
                </a:solidFill>
                <a:latin typeface="Circe Bold"/>
                <a:ea typeface="Circe Bold"/>
                <a:cs typeface="Circe Bold"/>
                <a:sym typeface="Circe Bold"/>
              </a:rPr>
              <a:t>The reflection enhanced knowledge of leadership and ethics.</a:t>
            </a:r>
          </a:p>
          <a:p>
            <a:pPr marL="755651" lvl="1" indent="-377825" algn="l">
              <a:lnSpc>
                <a:spcPts val="4900"/>
              </a:lnSpc>
              <a:buFont typeface="Arial"/>
              <a:buChar char="•"/>
            </a:pPr>
            <a:r>
              <a:rPr lang="en-US" sz="3500" b="1" u="none" strike="noStrike">
                <a:solidFill>
                  <a:srgbClr val="000000"/>
                </a:solidFill>
                <a:latin typeface="Circe Bold"/>
                <a:ea typeface="Circe Bold"/>
                <a:cs typeface="Circe Bold"/>
                <a:sym typeface="Circe Bold"/>
              </a:rPr>
              <a:t>Devoted to development and long-path learning.</a:t>
            </a:r>
          </a:p>
          <a:p>
            <a:pPr algn="l">
              <a:lnSpc>
                <a:spcPts val="4900"/>
              </a:lnSpc>
            </a:pPr>
            <a:endParaRPr lang="en-US" sz="3500" b="1" u="none" strike="noStrike">
              <a:solidFill>
                <a:srgbClr val="000000"/>
              </a:solidFill>
              <a:latin typeface="Circe Bold"/>
              <a:ea typeface="Circe Bold"/>
              <a:cs typeface="Circe Bold"/>
              <a:sym typeface="Circe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TextBox 2"/>
          <p:cNvSpPr txBox="1"/>
          <p:nvPr/>
        </p:nvSpPr>
        <p:spPr>
          <a:xfrm>
            <a:off x="1544744" y="309563"/>
            <a:ext cx="12916662" cy="1276350"/>
          </a:xfrm>
          <a:prstGeom prst="rect">
            <a:avLst/>
          </a:prstGeom>
        </p:spPr>
        <p:txBody>
          <a:bodyPr lIns="0" tIns="0" rIns="0" bIns="0" rtlCol="0" anchor="t">
            <a:spAutoFit/>
          </a:bodyPr>
          <a:lstStyle/>
          <a:p>
            <a:pPr marL="0" lvl="0" indent="0" algn="ctr">
              <a:lnSpc>
                <a:spcPts val="10199"/>
              </a:lnSpc>
              <a:spcBef>
                <a:spcPct val="0"/>
              </a:spcBef>
            </a:pPr>
            <a:r>
              <a:rPr lang="en-US" sz="8499">
                <a:solidFill>
                  <a:srgbClr val="000000"/>
                </a:solidFill>
                <a:latin typeface="Feeling Passionate"/>
                <a:ea typeface="Feeling Passionate"/>
                <a:cs typeface="Feeling Passionate"/>
                <a:sym typeface="Feeling Passionate"/>
              </a:rPr>
              <a:t>References</a:t>
            </a:r>
          </a:p>
        </p:txBody>
      </p:sp>
      <p:sp>
        <p:nvSpPr>
          <p:cNvPr id="3" name="TextBox 3"/>
          <p:cNvSpPr txBox="1"/>
          <p:nvPr/>
        </p:nvSpPr>
        <p:spPr>
          <a:xfrm>
            <a:off x="516839" y="1643063"/>
            <a:ext cx="17148122" cy="5539978"/>
          </a:xfrm>
          <a:prstGeom prst="rect">
            <a:avLst/>
          </a:prstGeom>
        </p:spPr>
        <p:txBody>
          <a:bodyPr lIns="0" tIns="0" rIns="0" bIns="0" rtlCol="0" anchor="t">
            <a:spAutoFit/>
          </a:bodyPr>
          <a:lstStyle/>
          <a:p>
            <a:pPr algn="l">
              <a:lnSpc>
                <a:spcPts val="3564"/>
              </a:lnSpc>
            </a:pPr>
            <a:r>
              <a:rPr lang="en-US" sz="2700" dirty="0">
                <a:solidFill>
                  <a:srgbClr val="000000"/>
                </a:solidFill>
                <a:latin typeface="Circe"/>
                <a:ea typeface="Circe"/>
                <a:cs typeface="Circe"/>
                <a:sym typeface="Circe"/>
              </a:rPr>
              <a:t>Huan, J. and </a:t>
            </a:r>
            <a:r>
              <a:rPr lang="en-US" sz="2700" dirty="0" err="1">
                <a:solidFill>
                  <a:srgbClr val="000000"/>
                </a:solidFill>
                <a:latin typeface="Circe"/>
                <a:ea typeface="Circe"/>
                <a:cs typeface="Circe"/>
                <a:sym typeface="Circe"/>
              </a:rPr>
              <a:t>Midhunchakkaravarthy</a:t>
            </a:r>
            <a:r>
              <a:rPr lang="en-US" sz="2700" dirty="0">
                <a:solidFill>
                  <a:srgbClr val="000000"/>
                </a:solidFill>
                <a:latin typeface="Circe"/>
                <a:ea typeface="Circe"/>
                <a:cs typeface="Circe"/>
                <a:sym typeface="Circe"/>
              </a:rPr>
              <a:t>, D. (2024) ‘Achievements in Technological Innovation’, </a:t>
            </a:r>
            <a:r>
              <a:rPr lang="en-US" sz="2700" dirty="0" err="1">
                <a:solidFill>
                  <a:srgbClr val="000000"/>
                </a:solidFill>
                <a:latin typeface="Circe"/>
                <a:ea typeface="Circe"/>
                <a:cs typeface="Circe"/>
                <a:sym typeface="Circe"/>
              </a:rPr>
              <a:t>Cuestiones</a:t>
            </a:r>
            <a:r>
              <a:rPr lang="en-US" sz="2700" dirty="0">
                <a:solidFill>
                  <a:srgbClr val="000000"/>
                </a:solidFill>
                <a:latin typeface="Circe"/>
                <a:ea typeface="Circe"/>
                <a:cs typeface="Circe"/>
                <a:sym typeface="Circe"/>
              </a:rPr>
              <a:t> de </a:t>
            </a:r>
            <a:r>
              <a:rPr lang="en-US" sz="2700" dirty="0" err="1">
                <a:solidFill>
                  <a:srgbClr val="000000"/>
                </a:solidFill>
                <a:latin typeface="Circe"/>
                <a:ea typeface="Circe"/>
                <a:cs typeface="Circe"/>
                <a:sym typeface="Circe"/>
              </a:rPr>
              <a:t>Fisioterapia</a:t>
            </a:r>
            <a:r>
              <a:rPr lang="en-US" sz="2700" dirty="0">
                <a:solidFill>
                  <a:srgbClr val="000000"/>
                </a:solidFill>
                <a:latin typeface="Circe"/>
                <a:ea typeface="Circe"/>
                <a:cs typeface="Circe"/>
                <a:sym typeface="Circe"/>
              </a:rPr>
              <a:t>, 53(3), </a:t>
            </a:r>
            <a:r>
              <a:rPr lang="en-US" sz="2700" dirty="0">
                <a:solidFill>
                  <a:srgbClr val="000000"/>
                </a:solidFill>
                <a:latin typeface="Circe"/>
                <a:ea typeface="Circe"/>
                <a:cs typeface="Circe"/>
                <a:sym typeface="Circe"/>
                <a:hlinkClick r:id="rId2"/>
              </a:rPr>
              <a:t>https://cuestionesdefisioterapia.com/index.php/es/article/view/3430</a:t>
            </a:r>
            <a:endParaRPr lang="en-US" sz="2700" dirty="0">
              <a:solidFill>
                <a:srgbClr val="000000"/>
              </a:solidFill>
              <a:latin typeface="Circe"/>
              <a:ea typeface="Circe"/>
              <a:cs typeface="Circe"/>
              <a:sym typeface="Circe"/>
            </a:endParaRPr>
          </a:p>
          <a:p>
            <a:pPr algn="l">
              <a:lnSpc>
                <a:spcPts val="3564"/>
              </a:lnSpc>
            </a:pPr>
            <a:r>
              <a:rPr lang="en-US" sz="2700" dirty="0">
                <a:solidFill>
                  <a:srgbClr val="000000"/>
                </a:solidFill>
                <a:latin typeface="Circe"/>
                <a:ea typeface="Circe"/>
                <a:cs typeface="Circe"/>
                <a:sym typeface="Circe"/>
              </a:rPr>
              <a:t>Adriaans, J. et al. (2025) An Examination of Huawei’s Strategic Decisions: Balancing Tensions for Sustainable Growth. </a:t>
            </a:r>
            <a:r>
              <a:rPr lang="en-US" sz="2700" dirty="0">
                <a:solidFill>
                  <a:srgbClr val="000000"/>
                </a:solidFill>
                <a:latin typeface="Circe"/>
                <a:ea typeface="Circe"/>
                <a:cs typeface="Circe"/>
                <a:sym typeface="Circe"/>
                <a:hlinkClick r:id="rId3"/>
              </a:rPr>
              <a:t>https://www.researchgate.net/publication/380721702_An_Examination_of_Huawei's_Strategic_Decisions_Balancing_Tensions_For_Sustainable_Growth</a:t>
            </a:r>
            <a:endParaRPr lang="en-US" sz="2700" dirty="0">
              <a:solidFill>
                <a:srgbClr val="000000"/>
              </a:solidFill>
              <a:latin typeface="Circe"/>
              <a:ea typeface="Circe"/>
              <a:cs typeface="Circe"/>
              <a:sym typeface="Circe"/>
            </a:endParaRPr>
          </a:p>
          <a:p>
            <a:pPr algn="l">
              <a:lnSpc>
                <a:spcPts val="3564"/>
              </a:lnSpc>
            </a:pPr>
            <a:r>
              <a:rPr lang="en-US" sz="2700" dirty="0">
                <a:solidFill>
                  <a:srgbClr val="000000"/>
                </a:solidFill>
                <a:latin typeface="Circe"/>
                <a:ea typeface="Circe"/>
                <a:cs typeface="Circe"/>
                <a:sym typeface="Circe"/>
              </a:rPr>
              <a:t>Jin, S. and Yin, J. (2020) ‘Research on marketing strategy of Huawei mobile phone in European market’, Academic Journal of Business &amp; Management, 2(5). </a:t>
            </a:r>
            <a:r>
              <a:rPr lang="en-US" sz="2700" dirty="0">
                <a:solidFill>
                  <a:srgbClr val="000000"/>
                </a:solidFill>
                <a:latin typeface="Circe"/>
                <a:ea typeface="Circe"/>
                <a:cs typeface="Circe"/>
                <a:sym typeface="Circe"/>
                <a:hlinkClick r:id="rId4"/>
              </a:rPr>
              <a:t>https://real.mtak.hu/166436/1/14-33.pdf</a:t>
            </a:r>
            <a:endParaRPr lang="en-US" sz="2700" dirty="0">
              <a:solidFill>
                <a:srgbClr val="000000"/>
              </a:solidFill>
              <a:latin typeface="Circe"/>
              <a:ea typeface="Circe"/>
              <a:cs typeface="Circe"/>
              <a:sym typeface="Circe"/>
            </a:endParaRPr>
          </a:p>
          <a:p>
            <a:pPr algn="l">
              <a:lnSpc>
                <a:spcPts val="3564"/>
              </a:lnSpc>
            </a:pPr>
            <a:r>
              <a:rPr lang="en-US" sz="2700" dirty="0">
                <a:solidFill>
                  <a:srgbClr val="000000"/>
                </a:solidFill>
                <a:latin typeface="Circe"/>
                <a:ea typeface="Circe"/>
                <a:cs typeface="Circe"/>
                <a:sym typeface="Circe"/>
              </a:rPr>
              <a:t>Huawei Technologies Co., Ltd. (2024) Annual Report 2024. Available at: </a:t>
            </a:r>
            <a:r>
              <a:rPr lang="en-US" sz="2700" u="sng" dirty="0">
                <a:solidFill>
                  <a:srgbClr val="000000"/>
                </a:solidFill>
                <a:latin typeface="Circe"/>
                <a:ea typeface="Circe"/>
                <a:cs typeface="Circe"/>
                <a:sym typeface="Circe"/>
                <a:hlinkClick r:id="rId5" tooltip="https://www.huawei.com/minisite/annual-report-download/annual_report_2024_en.pdf"/>
              </a:rPr>
              <a:t>https://www.huawei.com/minisite/annual-report-download/annual_report_2024_en.pdf</a:t>
            </a:r>
          </a:p>
          <a:p>
            <a:pPr algn="l">
              <a:lnSpc>
                <a:spcPts val="3564"/>
              </a:lnSpc>
            </a:pPr>
            <a:r>
              <a:rPr lang="en-US" sz="2700" dirty="0">
                <a:solidFill>
                  <a:srgbClr val="000000"/>
                </a:solidFill>
                <a:latin typeface="Circe"/>
                <a:ea typeface="Circe"/>
                <a:cs typeface="Circe"/>
                <a:sym typeface="Circe"/>
              </a:rPr>
              <a:t>Carrera, L. (2022) ‘Corporate social responsibility: A strategy for social and territorial sustainability’, International Journal of CSR, 7(1), p. 1148. Available at: </a:t>
            </a:r>
            <a:r>
              <a:rPr lang="en-US" sz="2700" u="sng" dirty="0">
                <a:solidFill>
                  <a:srgbClr val="000000"/>
                </a:solidFill>
                <a:latin typeface="Circe"/>
                <a:ea typeface="Circe"/>
                <a:cs typeface="Circe"/>
                <a:sym typeface="Circe"/>
                <a:hlinkClick r:id="rId6" tooltip="https://link.springer.com/article/10.1186/s40991-022-00074-0"/>
              </a:rPr>
              <a:t>https://link.springer.com/article/10.1186/s40991-022-00074-0</a:t>
            </a:r>
          </a:p>
          <a:p>
            <a:pPr marL="0" lvl="1" indent="0" algn="l">
              <a:lnSpc>
                <a:spcPts val="3564"/>
              </a:lnSpc>
            </a:pPr>
            <a:endParaRPr lang="en-US" sz="2700" u="sng" dirty="0">
              <a:solidFill>
                <a:srgbClr val="000000"/>
              </a:solidFill>
              <a:latin typeface="Circe"/>
              <a:ea typeface="Circe"/>
              <a:cs typeface="Circe"/>
              <a:sym typeface="Circe"/>
              <a:hlinkClick r:id="rId6" tooltip="https://link.springer.com/article/10.1186/s40991-022-00074-0"/>
            </a:endParaRPr>
          </a:p>
        </p:txBody>
      </p:sp>
      <p:sp>
        <p:nvSpPr>
          <p:cNvPr id="4" name="TextBox 4"/>
          <p:cNvSpPr txBox="1"/>
          <p:nvPr/>
        </p:nvSpPr>
        <p:spPr>
          <a:xfrm>
            <a:off x="516839" y="7302500"/>
            <a:ext cx="17148122" cy="2752725"/>
          </a:xfrm>
          <a:prstGeom prst="rect">
            <a:avLst/>
          </a:prstGeom>
        </p:spPr>
        <p:txBody>
          <a:bodyPr lIns="0" tIns="0" rIns="0" bIns="0" rtlCol="0" anchor="t">
            <a:spAutoFit/>
          </a:bodyPr>
          <a:lstStyle/>
          <a:p>
            <a:pPr algn="l">
              <a:lnSpc>
                <a:spcPts val="3600"/>
              </a:lnSpc>
            </a:pPr>
            <a:r>
              <a:rPr lang="en-US" sz="3000" b="1">
                <a:solidFill>
                  <a:srgbClr val="000000"/>
                </a:solidFill>
                <a:latin typeface="DM Sans Bold"/>
                <a:ea typeface="DM Sans Bold"/>
                <a:cs typeface="DM Sans Bold"/>
                <a:sym typeface="DM Sans Bold"/>
              </a:rPr>
              <a:t>AI Acknowledgement Statement</a:t>
            </a:r>
          </a:p>
          <a:p>
            <a:pPr algn="l">
              <a:lnSpc>
                <a:spcPts val="3600"/>
              </a:lnSpc>
              <a:spcBef>
                <a:spcPct val="0"/>
              </a:spcBef>
            </a:pPr>
            <a:r>
              <a:rPr lang="en-US" sz="3000">
                <a:solidFill>
                  <a:srgbClr val="000000"/>
                </a:solidFill>
                <a:latin typeface="DM Sans"/>
                <a:ea typeface="DM Sans"/>
                <a:cs typeface="DM Sans"/>
                <a:sym typeface="DM Sans"/>
              </a:rPr>
              <a:t>I have used ChatGPT to have a clearer understanding of what format and type of content I will use in the work. The prompt I have used include, which is the best format for the work and which structure is best to use for the ppt? Also i used grammarly correct spelling mistakes. What was generated from these prompts was used to guide me through formatting and styling the presentation slides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1193</Words>
  <Application>Microsoft Office PowerPoint</Application>
  <PresentationFormat>Custom</PresentationFormat>
  <Paragraphs>60</Paragraphs>
  <Slides>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Circe Bold</vt:lpstr>
      <vt:lpstr>Calibri</vt:lpstr>
      <vt:lpstr>Arial</vt:lpstr>
      <vt:lpstr>TT Commons Pro Expanded</vt:lpstr>
      <vt:lpstr>Feeling Passionate</vt:lpstr>
      <vt:lpstr>Migra Extra-Light</vt:lpstr>
      <vt:lpstr>DM Sans Bold</vt:lpstr>
      <vt:lpstr>Circe</vt:lpstr>
      <vt:lpstr>DM Sans</vt:lpstr>
      <vt:lpstr>TT Commons Pro Expanded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Modern Notebook Book Club Slides for College</dc:title>
  <cp:lastModifiedBy>kelvin mwangi</cp:lastModifiedBy>
  <cp:revision>11</cp:revision>
  <dcterms:created xsi:type="dcterms:W3CDTF">2006-08-16T00:00:00Z</dcterms:created>
  <dcterms:modified xsi:type="dcterms:W3CDTF">2025-11-30T22:49:20Z</dcterms:modified>
  <dc:identifier>DAG380CrB0A</dc:identifier>
</cp:coreProperties>
</file>