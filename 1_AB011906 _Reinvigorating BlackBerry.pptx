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6" r:id="rId9"/>
    <p:sldId id="267" r:id="rId10"/>
    <p:sldId id="268" r:id="rId11"/>
    <p:sldId id="270" r:id="rId12"/>
    <p:sldId id="269" r:id="rId13"/>
    <p:sldId id="271" r:id="rId14"/>
    <p:sldId id="276" r:id="rId15"/>
    <p:sldId id="272" r:id="rId16"/>
    <p:sldId id="278" r:id="rId17"/>
    <p:sldId id="273" r:id="rId18"/>
    <p:sldId id="277" r:id="rId19"/>
    <p:sldId id="274" r:id="rId20"/>
    <p:sldId id="263" r:id="rId21"/>
    <p:sldId id="275" r:id="rId22"/>
    <p:sldId id="264" r:id="rId23"/>
    <p:sldId id="265" r:id="rId24"/>
  </p:sldIdLst>
  <p:sldSz cx="18288000" cy="10287000"/>
  <p:notesSz cx="6858000" cy="9144000"/>
  <p:embeddedFontLst>
    <p:embeddedFont>
      <p:font typeface="Anantason Bold" panose="020B0604020202020204" charset="-34"/>
      <p:regular r:id="rId26"/>
    </p:embeddedFont>
    <p:embeddedFont>
      <p:font typeface="Montserrat" panose="00000500000000000000" pitchFamily="2" charset="0"/>
      <p:regular r:id="rId27"/>
      <p:bold r:id="rId28"/>
      <p:italic r:id="rId29"/>
      <p:boldItalic r:id="rId30"/>
    </p:embeddedFont>
    <p:embeddedFont>
      <p:font typeface="Montserrat Bold" panose="00000800000000000000" charset="0"/>
      <p:regular r:id="rId31"/>
    </p:embeddedFont>
    <p:embeddedFont>
      <p:font typeface="Open Sans" panose="020B0606030504020204" pitchFamily="34" charset="0"/>
      <p:regular r:id="rId32"/>
      <p:bold r:id="rId33"/>
      <p:italic r:id="rId34"/>
    </p:embeddedFont>
    <p:embeddedFont>
      <p:font typeface="Open Sans Bold" panose="020B0806030504020204" charset="0"/>
      <p:regular r:id="rId35"/>
    </p:embeddedFont>
    <p:embeddedFont>
      <p:font typeface="Open Sans Italics" panose="020B0604020202020204" charset="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8" d="100"/>
          <a:sy n="48" d="100"/>
        </p:scale>
        <p:origin x="636"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7717F-2931-4025-BBBA-A2D1D7024C74}" type="datetimeFigureOut">
              <a:rPr lang="LID4096" smtClean="0"/>
              <a:t>03/06/2026</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7DC035-0ECC-42FA-8F99-F641FA4C197B}" type="slidenum">
              <a:rPr lang="LID4096" smtClean="0"/>
              <a:t>‹#›</a:t>
            </a:fld>
            <a:endParaRPr lang="LID4096"/>
          </a:p>
        </p:txBody>
      </p:sp>
    </p:spTree>
    <p:extLst>
      <p:ext uri="{BB962C8B-B14F-4D97-AF65-F5344CB8AC3E}">
        <p14:creationId xmlns:p14="http://schemas.microsoft.com/office/powerpoint/2010/main" val="3422711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hyperlink" Target="http://www.puirp.com/index.php/research/article/view/17" TargetMode="External"/><Relationship Id="rId13" Type="http://schemas.openxmlformats.org/officeDocument/2006/relationships/hyperlink" Target="https://www.statista.com/statistics/266240/blackberry-revenue/?utm_source=chatgpt.com" TargetMode="External"/><Relationship Id="rId18" Type="http://schemas.openxmlformats.org/officeDocument/2006/relationships/hyperlink" Target="https://www.frontiersin.org/articles/10.3389/fpsyt.2025.1535631/full" TargetMode="External"/><Relationship Id="rId3" Type="http://schemas.openxmlformats.org/officeDocument/2006/relationships/image" Target="../media/image9.svg"/><Relationship Id="rId7" Type="http://schemas.openxmlformats.org/officeDocument/2006/relationships/hyperlink" Target="https://www.sunstar.com.ph/cebu/lifestyle/dissecting-the-rise-fall-of-blackberry" TargetMode="External"/><Relationship Id="rId12" Type="http://schemas.openxmlformats.org/officeDocument/2006/relationships/hyperlink" Target="https://www.emerald.com/jkm/article/doi/10.1108/JKM-03-2025-0425/1308888" TargetMode="External"/><Relationship Id="rId17" Type="http://schemas.openxmlformats.org/officeDocument/2006/relationships/hyperlink" Target="https://www.asurion.com/press-releases/americans-check-their-phones-96-times-a-day/" TargetMode="External"/><Relationship Id="rId2" Type="http://schemas.openxmlformats.org/officeDocument/2006/relationships/image" Target="../media/image8.png"/><Relationship Id="rId16" Type="http://schemas.openxmlformats.org/officeDocument/2006/relationships/hyperlink" Target="https://link.springer.com/article/10.1007/s10664-024-10543-8" TargetMode="External"/><Relationship Id="rId1" Type="http://schemas.openxmlformats.org/officeDocument/2006/relationships/slideLayout" Target="../slideLayouts/slideLayout7.xml"/><Relationship Id="rId6" Type="http://schemas.openxmlformats.org/officeDocument/2006/relationships/hyperlink" Target="https://www.statista.com/topics/5316" TargetMode="External"/><Relationship Id="rId11" Type="http://schemas.openxmlformats.org/officeDocument/2006/relationships/hyperlink" Target="https://bmjopen.bmj.com/content/12/1/e051569.abstract" TargetMode="External"/><Relationship Id="rId5" Type="http://schemas.openxmlformats.org/officeDocument/2006/relationships/image" Target="../media/image5.svg"/><Relationship Id="rId15" Type="http://schemas.openxmlformats.org/officeDocument/2006/relationships/hyperlink" Target="https://humanfactors.jmir.org/2025/1/e69533/" TargetMode="External"/><Relationship Id="rId10" Type="http://schemas.openxmlformats.org/officeDocument/2006/relationships/hyperlink" Target="https://westminsterresearch.westminster.ac.uk/item/967yy/strategic-tensions-within-the-smartphones-industry-the-case-of-blackberry" TargetMode="External"/><Relationship Id="rId19" Type="http://schemas.openxmlformats.org/officeDocument/2006/relationships/hyperlink" Target="https://pubmed.ncbi.nlm.nih.gov/41237171/" TargetMode="External"/><Relationship Id="rId4" Type="http://schemas.openxmlformats.org/officeDocument/2006/relationships/image" Target="../media/image4.png"/><Relationship Id="rId9" Type="http://schemas.openxmlformats.org/officeDocument/2006/relationships/hyperlink" Target="https://www.reuters.com/technology/blackberry-forecasts-lower-annual-revenue-due-weak-demand-cybersecurity-services-2025-04-02/" TargetMode="External"/><Relationship Id="rId14" Type="http://schemas.openxmlformats.org/officeDocument/2006/relationships/hyperlink" Target="https://peerj.com/articles/cs-2401/"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9.sv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64960"/>
            <a:ext cx="3187884" cy="2250383"/>
          </a:xfrm>
          <a:custGeom>
            <a:avLst/>
            <a:gdLst/>
            <a:ahLst/>
            <a:cxnLst/>
            <a:rect l="l" t="t" r="r" b="b"/>
            <a:pathLst>
              <a:path w="3187884" h="2250383">
                <a:moveTo>
                  <a:pt x="0" y="0"/>
                </a:moveTo>
                <a:lnTo>
                  <a:pt x="3187884" y="0"/>
                </a:lnTo>
                <a:lnTo>
                  <a:pt x="3187884" y="2250382"/>
                </a:lnTo>
                <a:lnTo>
                  <a:pt x="0" y="2250382"/>
                </a:lnTo>
                <a:lnTo>
                  <a:pt x="0" y="0"/>
                </a:lnTo>
                <a:close/>
              </a:path>
            </a:pathLst>
          </a:custGeom>
          <a:blipFill>
            <a:blip r:embed="rId2"/>
            <a:stretch>
              <a:fillRect t="-20266" b="-21392"/>
            </a:stretch>
          </a:blipFill>
        </p:spPr>
      </p:sp>
      <p:sp>
        <p:nvSpPr>
          <p:cNvPr id="3" name="Freeform 3"/>
          <p:cNvSpPr/>
          <p:nvPr/>
        </p:nvSpPr>
        <p:spPr>
          <a:xfrm>
            <a:off x="11924574" y="9258300"/>
            <a:ext cx="5778062" cy="991261"/>
          </a:xfrm>
          <a:custGeom>
            <a:avLst/>
            <a:gdLst/>
            <a:ahLst/>
            <a:cxnLst/>
            <a:rect l="l" t="t" r="r" b="b"/>
            <a:pathLst>
              <a:path w="5778062" h="991261">
                <a:moveTo>
                  <a:pt x="0" y="0"/>
                </a:moveTo>
                <a:lnTo>
                  <a:pt x="5778062" y="0"/>
                </a:lnTo>
                <a:lnTo>
                  <a:pt x="5778062" y="991261"/>
                </a:lnTo>
                <a:lnTo>
                  <a:pt x="0" y="991261"/>
                </a:lnTo>
                <a:lnTo>
                  <a:pt x="0" y="0"/>
                </a:lnTo>
                <a:close/>
              </a:path>
            </a:pathLst>
          </a:custGeom>
          <a:blipFill>
            <a:blip r:embed="rId3">
              <a:alphaModFix amt="31999"/>
            </a:blip>
            <a:stretch>
              <a:fillRect t="-232113" b="-250786"/>
            </a:stretch>
          </a:blipFill>
        </p:spPr>
      </p:sp>
      <p:sp>
        <p:nvSpPr>
          <p:cNvPr id="4" name="TextBox 4"/>
          <p:cNvSpPr txBox="1"/>
          <p:nvPr/>
        </p:nvSpPr>
        <p:spPr>
          <a:xfrm>
            <a:off x="1861949" y="2415343"/>
            <a:ext cx="15020184" cy="4359463"/>
          </a:xfrm>
          <a:prstGeom prst="rect">
            <a:avLst/>
          </a:prstGeom>
        </p:spPr>
        <p:txBody>
          <a:bodyPr lIns="0" tIns="0" rIns="0" bIns="0" rtlCol="0" anchor="t">
            <a:spAutoFit/>
          </a:bodyPr>
          <a:lstStyle/>
          <a:p>
            <a:pPr algn="ctr">
              <a:lnSpc>
                <a:spcPts val="17489"/>
              </a:lnSpc>
            </a:pPr>
            <a:r>
              <a:rPr lang="en-US" sz="12492" b="1" dirty="0">
                <a:solidFill>
                  <a:srgbClr val="000000"/>
                </a:solidFill>
                <a:latin typeface="Montserrat Bold"/>
                <a:ea typeface="Montserrat Bold"/>
                <a:cs typeface="Montserrat Bold"/>
                <a:sym typeface="Montserrat Bold"/>
              </a:rPr>
              <a:t>REINVIGORATING BLACKBERRY</a:t>
            </a:r>
          </a:p>
        </p:txBody>
      </p:sp>
      <p:sp>
        <p:nvSpPr>
          <p:cNvPr id="5" name="Freeform 5"/>
          <p:cNvSpPr/>
          <p:nvPr/>
        </p:nvSpPr>
        <p:spPr>
          <a:xfrm>
            <a:off x="15288191" y="164960"/>
            <a:ext cx="3187884" cy="2250383"/>
          </a:xfrm>
          <a:custGeom>
            <a:avLst/>
            <a:gdLst/>
            <a:ahLst/>
            <a:cxnLst/>
            <a:rect l="l" t="t" r="r" b="b"/>
            <a:pathLst>
              <a:path w="3187884" h="2250383">
                <a:moveTo>
                  <a:pt x="0" y="0"/>
                </a:moveTo>
                <a:lnTo>
                  <a:pt x="3187884" y="0"/>
                </a:lnTo>
                <a:lnTo>
                  <a:pt x="3187884" y="2250382"/>
                </a:lnTo>
                <a:lnTo>
                  <a:pt x="0" y="2250382"/>
                </a:lnTo>
                <a:lnTo>
                  <a:pt x="0" y="0"/>
                </a:lnTo>
                <a:close/>
              </a:path>
            </a:pathLst>
          </a:custGeom>
          <a:blipFill>
            <a:blip r:embed="rId2"/>
            <a:stretch>
              <a:fillRect t="-20266" b="-21392"/>
            </a:stretch>
          </a:blipFill>
        </p:spPr>
      </p:sp>
      <p:sp>
        <p:nvSpPr>
          <p:cNvPr id="6" name="Freeform 6"/>
          <p:cNvSpPr/>
          <p:nvPr/>
        </p:nvSpPr>
        <p:spPr>
          <a:xfrm>
            <a:off x="0" y="7645420"/>
            <a:ext cx="2641580" cy="2641580"/>
          </a:xfrm>
          <a:custGeom>
            <a:avLst/>
            <a:gdLst/>
            <a:ahLst/>
            <a:cxnLst/>
            <a:rect l="l" t="t" r="r" b="b"/>
            <a:pathLst>
              <a:path w="2641580" h="2641580">
                <a:moveTo>
                  <a:pt x="0" y="0"/>
                </a:moveTo>
                <a:lnTo>
                  <a:pt x="2641580" y="0"/>
                </a:lnTo>
                <a:lnTo>
                  <a:pt x="2641580" y="2641580"/>
                </a:lnTo>
                <a:lnTo>
                  <a:pt x="0" y="2641580"/>
                </a:lnTo>
                <a:lnTo>
                  <a:pt x="0" y="0"/>
                </a:lnTo>
                <a:close/>
              </a:path>
            </a:pathLst>
          </a:custGeom>
          <a:blipFill>
            <a:blip r:embed="rId4">
              <a:alphaModFix amt="13000"/>
            </a:blip>
            <a:stretch>
              <a:fillRect/>
            </a:stretch>
          </a:blipFill>
        </p:spPr>
      </p:sp>
      <p:sp>
        <p:nvSpPr>
          <p:cNvPr id="7" name="TextBox 7"/>
          <p:cNvSpPr txBox="1"/>
          <p:nvPr/>
        </p:nvSpPr>
        <p:spPr>
          <a:xfrm>
            <a:off x="2641580" y="6974425"/>
            <a:ext cx="8522150" cy="2784475"/>
          </a:xfrm>
          <a:prstGeom prst="rect">
            <a:avLst/>
          </a:prstGeom>
        </p:spPr>
        <p:txBody>
          <a:bodyPr lIns="0" tIns="0" rIns="0" bIns="0" rtlCol="0" anchor="t">
            <a:spAutoFit/>
          </a:bodyPr>
          <a:lstStyle/>
          <a:p>
            <a:pPr algn="l">
              <a:lnSpc>
                <a:spcPts val="5599"/>
              </a:lnSpc>
            </a:pPr>
            <a:r>
              <a:rPr lang="en-US" sz="3999" dirty="0">
                <a:solidFill>
                  <a:srgbClr val="000000"/>
                </a:solidFill>
                <a:latin typeface="Montserrat"/>
                <a:ea typeface="Montserrat"/>
                <a:cs typeface="Montserrat"/>
                <a:sym typeface="Montserrat"/>
              </a:rPr>
              <a:t>Student Names:</a:t>
            </a:r>
          </a:p>
          <a:p>
            <a:pPr algn="l">
              <a:lnSpc>
                <a:spcPts val="5599"/>
              </a:lnSpc>
            </a:pPr>
            <a:r>
              <a:rPr lang="en-US" sz="3999" dirty="0">
                <a:solidFill>
                  <a:srgbClr val="000000"/>
                </a:solidFill>
                <a:latin typeface="Montserrat"/>
                <a:ea typeface="Montserrat"/>
                <a:cs typeface="Montserrat"/>
                <a:sym typeface="Montserrat"/>
              </a:rPr>
              <a:t>Course Code:</a:t>
            </a:r>
          </a:p>
          <a:p>
            <a:pPr algn="l">
              <a:lnSpc>
                <a:spcPts val="5599"/>
              </a:lnSpc>
            </a:pPr>
            <a:r>
              <a:rPr lang="en-US" sz="3999" dirty="0">
                <a:solidFill>
                  <a:srgbClr val="000000"/>
                </a:solidFill>
                <a:latin typeface="Montserrat"/>
                <a:ea typeface="Montserrat"/>
                <a:cs typeface="Montserrat"/>
                <a:sym typeface="Montserrat"/>
              </a:rPr>
              <a:t>Instructor’s Name:</a:t>
            </a:r>
          </a:p>
          <a:p>
            <a:pPr algn="l">
              <a:lnSpc>
                <a:spcPts val="5599"/>
              </a:lnSpc>
            </a:pPr>
            <a:r>
              <a:rPr lang="en-US" sz="3999" dirty="0">
                <a:solidFill>
                  <a:srgbClr val="000000"/>
                </a:solidFill>
                <a:latin typeface="Montserrat"/>
                <a:ea typeface="Montserrat"/>
                <a:cs typeface="Montserrat"/>
                <a:sym typeface="Montserrat"/>
              </a:rPr>
              <a:t>Date:</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02168">
            <a:off x="-1652990" y="-3786997"/>
            <a:ext cx="5987226" cy="5998131"/>
          </a:xfrm>
          <a:custGeom>
            <a:avLst/>
            <a:gdLst/>
            <a:ahLst/>
            <a:cxnLst/>
            <a:rect l="l" t="t" r="r" b="b"/>
            <a:pathLst>
              <a:path w="5987226" h="5998131">
                <a:moveTo>
                  <a:pt x="0" y="0"/>
                </a:moveTo>
                <a:lnTo>
                  <a:pt x="5987226" y="0"/>
                </a:lnTo>
                <a:lnTo>
                  <a:pt x="5987226" y="5998131"/>
                </a:lnTo>
                <a:lnTo>
                  <a:pt x="0" y="5998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568407" y="554038"/>
            <a:ext cx="14266052" cy="854075"/>
          </a:xfrm>
          <a:prstGeom prst="rect">
            <a:avLst/>
          </a:prstGeom>
        </p:spPr>
        <p:txBody>
          <a:bodyPr lIns="0" tIns="0" rIns="0" bIns="0" rtlCol="0" anchor="t">
            <a:spAutoFit/>
          </a:bodyPr>
          <a:lstStyle/>
          <a:p>
            <a:pPr algn="ctr">
              <a:lnSpc>
                <a:spcPts val="7000"/>
              </a:lnSpc>
            </a:pPr>
            <a:r>
              <a:rPr lang="en-US" sz="5000" b="1" dirty="0">
                <a:solidFill>
                  <a:srgbClr val="000000"/>
                </a:solidFill>
                <a:latin typeface="Montserrat Bold"/>
                <a:ea typeface="Montserrat Bold"/>
                <a:cs typeface="Montserrat Bold"/>
                <a:sym typeface="Montserrat Bold"/>
              </a:rPr>
              <a:t>COLORS, FONTS, AND BRAND GUIDELINES</a:t>
            </a:r>
          </a:p>
        </p:txBody>
      </p:sp>
      <p:sp>
        <p:nvSpPr>
          <p:cNvPr id="4" name="TextBox 4"/>
          <p:cNvSpPr txBox="1"/>
          <p:nvPr/>
        </p:nvSpPr>
        <p:spPr>
          <a:xfrm>
            <a:off x="2677096" y="1740007"/>
            <a:ext cx="14048674" cy="7781290"/>
          </a:xfrm>
          <a:prstGeom prst="rect">
            <a:avLst/>
          </a:prstGeom>
        </p:spPr>
        <p:txBody>
          <a:bodyPr lIns="0" tIns="0" rIns="0" bIns="0" rtlCol="0" anchor="t">
            <a:spAutoFit/>
          </a:bodyPr>
          <a:lstStyle/>
          <a:p>
            <a:pPr algn="just">
              <a:lnSpc>
                <a:spcPts val="4759"/>
              </a:lnSpc>
            </a:pPr>
            <a:r>
              <a:rPr lang="en-US" sz="3399" dirty="0">
                <a:solidFill>
                  <a:srgbClr val="000000"/>
                </a:solidFill>
                <a:latin typeface="Open Sans"/>
                <a:ea typeface="Open Sans"/>
                <a:cs typeface="Open Sans"/>
                <a:sym typeface="Open Sans"/>
              </a:rPr>
              <a:t>Colors, Fonts, and Brand Guidelines</a:t>
            </a:r>
          </a:p>
          <a:p>
            <a:pPr marL="734058" lvl="1" indent="-367029" algn="just">
              <a:lnSpc>
                <a:spcPts val="4759"/>
              </a:lnSpc>
              <a:buFont typeface="Arial"/>
              <a:buChar char="•"/>
            </a:pPr>
            <a:r>
              <a:rPr lang="en-US" sz="3399" b="1" dirty="0">
                <a:solidFill>
                  <a:srgbClr val="000000"/>
                </a:solidFill>
                <a:latin typeface="Open Sans Bold"/>
                <a:ea typeface="Open Sans Bold"/>
                <a:cs typeface="Open Sans Bold"/>
                <a:sym typeface="Open Sans Bold"/>
              </a:rPr>
              <a:t>Primary Colors:</a:t>
            </a:r>
          </a:p>
          <a:p>
            <a:pPr marL="1468116" lvl="2" indent="-489372" algn="just">
              <a:lnSpc>
                <a:spcPts val="4759"/>
              </a:lnSpc>
              <a:buFont typeface="Arial"/>
              <a:buChar char="⚬"/>
            </a:pPr>
            <a:r>
              <a:rPr lang="en-US" sz="3399" dirty="0">
                <a:solidFill>
                  <a:srgbClr val="000000"/>
                </a:solidFill>
                <a:latin typeface="Open Sans"/>
                <a:ea typeface="Open Sans"/>
                <a:cs typeface="Open Sans"/>
                <a:sym typeface="Open Sans"/>
              </a:rPr>
              <a:t>Black </a:t>
            </a:r>
            <a:r>
              <a:rPr lang="en-US" sz="3399" dirty="0">
                <a:solidFill>
                  <a:srgbClr val="E01A72"/>
                </a:solidFill>
                <a:latin typeface="Open Sans"/>
                <a:ea typeface="Open Sans"/>
                <a:cs typeface="Open Sans"/>
                <a:sym typeface="Open Sans"/>
              </a:rPr>
              <a:t>(#000000)</a:t>
            </a:r>
            <a:r>
              <a:rPr lang="en-US" sz="3399" dirty="0">
                <a:solidFill>
                  <a:srgbClr val="000000"/>
                </a:solidFill>
                <a:latin typeface="Open Sans"/>
                <a:ea typeface="Open Sans"/>
                <a:cs typeface="Open Sans"/>
                <a:sym typeface="Open Sans"/>
              </a:rPr>
              <a:t> – Represents security and legacy heritage</a:t>
            </a:r>
          </a:p>
          <a:p>
            <a:pPr marL="1468116" lvl="2" indent="-489372" algn="just">
              <a:lnSpc>
                <a:spcPts val="4759"/>
              </a:lnSpc>
              <a:buFont typeface="Arial"/>
              <a:buChar char="⚬"/>
            </a:pPr>
            <a:r>
              <a:rPr lang="en-US" sz="3399" dirty="0">
                <a:solidFill>
                  <a:srgbClr val="000000"/>
                </a:solidFill>
                <a:latin typeface="Open Sans"/>
                <a:ea typeface="Open Sans"/>
                <a:cs typeface="Open Sans"/>
                <a:sym typeface="Open Sans"/>
              </a:rPr>
              <a:t>Magenta </a:t>
            </a:r>
            <a:r>
              <a:rPr lang="en-US" sz="3399" dirty="0">
                <a:solidFill>
                  <a:srgbClr val="E01A72"/>
                </a:solidFill>
                <a:latin typeface="Open Sans"/>
                <a:ea typeface="Open Sans"/>
                <a:cs typeface="Open Sans"/>
                <a:sym typeface="Open Sans"/>
              </a:rPr>
              <a:t>(#E01A72)</a:t>
            </a:r>
            <a:r>
              <a:rPr lang="en-US" sz="3399" dirty="0">
                <a:solidFill>
                  <a:srgbClr val="000000"/>
                </a:solidFill>
                <a:latin typeface="Open Sans"/>
                <a:ea typeface="Open Sans"/>
                <a:cs typeface="Open Sans"/>
                <a:sym typeface="Open Sans"/>
              </a:rPr>
              <a:t> – BlackBerry official accent</a:t>
            </a:r>
          </a:p>
          <a:p>
            <a:pPr marL="1468116" lvl="2" indent="-489372" algn="just">
              <a:lnSpc>
                <a:spcPts val="4759"/>
              </a:lnSpc>
              <a:buFont typeface="Arial"/>
              <a:buChar char="⚬"/>
            </a:pPr>
            <a:r>
              <a:rPr lang="en-US" sz="3399" dirty="0">
                <a:solidFill>
                  <a:srgbClr val="000000"/>
                </a:solidFill>
                <a:latin typeface="Open Sans"/>
                <a:ea typeface="Open Sans"/>
                <a:cs typeface="Open Sans"/>
                <a:sym typeface="Open Sans"/>
              </a:rPr>
              <a:t>White </a:t>
            </a:r>
            <a:r>
              <a:rPr lang="en-US" sz="3399" dirty="0">
                <a:solidFill>
                  <a:srgbClr val="E01A72"/>
                </a:solidFill>
                <a:latin typeface="Open Sans"/>
                <a:ea typeface="Open Sans"/>
                <a:cs typeface="Open Sans"/>
                <a:sym typeface="Open Sans"/>
              </a:rPr>
              <a:t>(#FFFFFF)</a:t>
            </a:r>
            <a:r>
              <a:rPr lang="en-US" sz="3399" dirty="0">
                <a:solidFill>
                  <a:srgbClr val="000000"/>
                </a:solidFill>
                <a:latin typeface="Open Sans"/>
                <a:ea typeface="Open Sans"/>
                <a:cs typeface="Open Sans"/>
                <a:sym typeface="Open Sans"/>
              </a:rPr>
              <a:t> – Clean and modern background</a:t>
            </a:r>
          </a:p>
          <a:p>
            <a:pPr marL="734058" lvl="1" indent="-367029" algn="just">
              <a:lnSpc>
                <a:spcPts val="4759"/>
              </a:lnSpc>
              <a:buFont typeface="Arial"/>
              <a:buChar char="•"/>
            </a:pPr>
            <a:r>
              <a:rPr lang="en-US" sz="3399" b="1" dirty="0">
                <a:solidFill>
                  <a:srgbClr val="000000"/>
                </a:solidFill>
                <a:latin typeface="Open Sans Bold"/>
                <a:ea typeface="Open Sans Bold"/>
                <a:cs typeface="Open Sans Bold"/>
                <a:sym typeface="Open Sans Bold"/>
              </a:rPr>
              <a:t>Fonts:</a:t>
            </a:r>
          </a:p>
          <a:p>
            <a:pPr marL="1468116" lvl="2" indent="-489372" algn="just">
              <a:lnSpc>
                <a:spcPts val="4759"/>
              </a:lnSpc>
              <a:buFont typeface="Arial"/>
              <a:buChar char="⚬"/>
            </a:pPr>
            <a:r>
              <a:rPr lang="en-US" sz="3399" dirty="0">
                <a:solidFill>
                  <a:srgbClr val="000000"/>
                </a:solidFill>
                <a:latin typeface="Open Sans"/>
                <a:ea typeface="Open Sans"/>
                <a:cs typeface="Open Sans"/>
                <a:sym typeface="Open Sans"/>
              </a:rPr>
              <a:t>Title &amp; Headings: Montserrat</a:t>
            </a:r>
          </a:p>
          <a:p>
            <a:pPr marL="1468116" lvl="2" indent="-489372" algn="just">
              <a:lnSpc>
                <a:spcPts val="4759"/>
              </a:lnSpc>
              <a:buFont typeface="Arial"/>
              <a:buChar char="⚬"/>
            </a:pPr>
            <a:r>
              <a:rPr lang="en-US" sz="3399" dirty="0">
                <a:solidFill>
                  <a:srgbClr val="000000"/>
                </a:solidFill>
                <a:latin typeface="Open Sans"/>
                <a:ea typeface="Open Sans"/>
                <a:cs typeface="Open Sans"/>
                <a:sym typeface="Open Sans"/>
              </a:rPr>
              <a:t>Body Text: Open Sans</a:t>
            </a:r>
          </a:p>
          <a:p>
            <a:pPr marL="1468116" lvl="2" indent="-489372" algn="just">
              <a:lnSpc>
                <a:spcPts val="4759"/>
              </a:lnSpc>
              <a:buFont typeface="Arial"/>
              <a:buChar char="⚬"/>
            </a:pPr>
            <a:r>
              <a:rPr lang="en-US" sz="3399" dirty="0">
                <a:solidFill>
                  <a:srgbClr val="000000"/>
                </a:solidFill>
                <a:latin typeface="Open Sans"/>
                <a:ea typeface="Open Sans"/>
                <a:cs typeface="Open Sans"/>
                <a:sym typeface="Open Sans"/>
              </a:rPr>
              <a:t>Consistency: Use bold for emphasis, avoid decorative fonts</a:t>
            </a:r>
          </a:p>
          <a:p>
            <a:pPr marL="734058" lvl="1" indent="-367029" algn="just">
              <a:lnSpc>
                <a:spcPts val="4759"/>
              </a:lnSpc>
              <a:buFont typeface="Arial"/>
              <a:buChar char="•"/>
            </a:pPr>
            <a:r>
              <a:rPr lang="en-US" sz="3399" b="1" dirty="0">
                <a:solidFill>
                  <a:srgbClr val="000000"/>
                </a:solidFill>
                <a:latin typeface="Open Sans Bold"/>
                <a:ea typeface="Open Sans Bold"/>
                <a:cs typeface="Open Sans Bold"/>
                <a:sym typeface="Open Sans Bold"/>
              </a:rPr>
              <a:t>Brand Guidelines:</a:t>
            </a:r>
          </a:p>
          <a:p>
            <a:pPr marL="1468116" lvl="2" indent="-489372" algn="just">
              <a:lnSpc>
                <a:spcPts val="4759"/>
              </a:lnSpc>
              <a:buFont typeface="Arial"/>
              <a:buChar char="⚬"/>
            </a:pPr>
            <a:r>
              <a:rPr lang="en-US" sz="3399" dirty="0">
                <a:solidFill>
                  <a:srgbClr val="000000"/>
                </a:solidFill>
                <a:latin typeface="Open Sans"/>
                <a:ea typeface="Open Sans"/>
                <a:cs typeface="Open Sans"/>
                <a:sym typeface="Open Sans"/>
              </a:rPr>
              <a:t>Minimal, balanced slides</a:t>
            </a:r>
          </a:p>
          <a:p>
            <a:pPr marL="1468116" lvl="2" indent="-489372" algn="just">
              <a:lnSpc>
                <a:spcPts val="4759"/>
              </a:lnSpc>
              <a:buFont typeface="Arial"/>
              <a:buChar char="⚬"/>
            </a:pPr>
            <a:r>
              <a:rPr lang="en-US" sz="3399" dirty="0">
                <a:solidFill>
                  <a:srgbClr val="000000"/>
                </a:solidFill>
                <a:latin typeface="Open Sans"/>
                <a:ea typeface="Open Sans"/>
                <a:cs typeface="Open Sans"/>
                <a:sym typeface="Open Sans"/>
              </a:rPr>
              <a:t>High-quality visuals</a:t>
            </a:r>
          </a:p>
          <a:p>
            <a:pPr marL="1468116" lvl="2" indent="-489372" algn="just">
              <a:lnSpc>
                <a:spcPts val="4759"/>
              </a:lnSpc>
              <a:buFont typeface="Arial"/>
              <a:buChar char="⚬"/>
            </a:pPr>
            <a:r>
              <a:rPr lang="en-US" sz="3399" dirty="0">
                <a:solidFill>
                  <a:srgbClr val="000000"/>
                </a:solidFill>
                <a:latin typeface="Open Sans"/>
                <a:ea typeface="Open Sans"/>
                <a:cs typeface="Open Sans"/>
                <a:sym typeface="Open Sans"/>
              </a:rPr>
              <a:t>Clear hierarchy of text</a:t>
            </a:r>
          </a:p>
        </p:txBody>
      </p:sp>
      <p:sp>
        <p:nvSpPr>
          <p:cNvPr id="5" name="Freeform 5"/>
          <p:cNvSpPr/>
          <p:nvPr/>
        </p:nvSpPr>
        <p:spPr>
          <a:xfrm rot="7488824">
            <a:off x="17178162" y="-1873476"/>
            <a:ext cx="3071030" cy="5804353"/>
          </a:xfrm>
          <a:custGeom>
            <a:avLst/>
            <a:gdLst/>
            <a:ahLst/>
            <a:cxnLst/>
            <a:rect l="l" t="t" r="r" b="b"/>
            <a:pathLst>
              <a:path w="3071030" h="5804353">
                <a:moveTo>
                  <a:pt x="0" y="0"/>
                </a:moveTo>
                <a:lnTo>
                  <a:pt x="3071030" y="0"/>
                </a:lnTo>
                <a:lnTo>
                  <a:pt x="3071030" y="5804352"/>
                </a:lnTo>
                <a:lnTo>
                  <a:pt x="0" y="58043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5100116" y="8036617"/>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6"/>
            <a:stretch>
              <a:fillRect t="-20266" b="-21392"/>
            </a:stretch>
          </a:blipFill>
        </p:spPr>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02168" flipH="1" flipV="1">
            <a:off x="12294454" y="6858930"/>
            <a:ext cx="5987226" cy="5998131"/>
          </a:xfrm>
          <a:custGeom>
            <a:avLst/>
            <a:gdLst/>
            <a:ahLst/>
            <a:cxnLst/>
            <a:rect l="l" t="t" r="r" b="b"/>
            <a:pathLst>
              <a:path w="5987226" h="5998131">
                <a:moveTo>
                  <a:pt x="5987226" y="5998132"/>
                </a:moveTo>
                <a:lnTo>
                  <a:pt x="0" y="5998132"/>
                </a:lnTo>
                <a:lnTo>
                  <a:pt x="0" y="0"/>
                </a:lnTo>
                <a:lnTo>
                  <a:pt x="5987226" y="0"/>
                </a:lnTo>
                <a:lnTo>
                  <a:pt x="5987226" y="599813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585649" y="190500"/>
            <a:ext cx="12942721" cy="1642110"/>
          </a:xfrm>
          <a:prstGeom prst="rect">
            <a:avLst/>
          </a:prstGeom>
        </p:spPr>
        <p:txBody>
          <a:bodyPr lIns="0" tIns="0" rIns="0" bIns="0" rtlCol="0" anchor="t">
            <a:spAutoFit/>
          </a:bodyPr>
          <a:lstStyle/>
          <a:p>
            <a:pPr algn="ctr">
              <a:lnSpc>
                <a:spcPts val="13439"/>
              </a:lnSpc>
            </a:pPr>
            <a:r>
              <a:rPr lang="en-US" sz="9600" b="1" dirty="0">
                <a:solidFill>
                  <a:srgbClr val="000000"/>
                </a:solidFill>
                <a:latin typeface="Montserrat" panose="00000500000000000000" pitchFamily="2" charset="0"/>
                <a:ea typeface="Montserrat Bold"/>
                <a:cs typeface="Montserrat Bold"/>
                <a:sym typeface="Montserrat Bold"/>
              </a:rPr>
              <a:t>TABLE OF CONTENT</a:t>
            </a:r>
          </a:p>
        </p:txBody>
      </p:sp>
      <p:sp>
        <p:nvSpPr>
          <p:cNvPr id="4" name="Freeform 4"/>
          <p:cNvSpPr/>
          <p:nvPr/>
        </p:nvSpPr>
        <p:spPr>
          <a:xfrm>
            <a:off x="510939" y="465446"/>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4"/>
            <a:stretch>
              <a:fillRect t="-20266" b="-21392"/>
            </a:stretch>
          </a:blipFill>
        </p:spPr>
      </p:sp>
      <p:sp>
        <p:nvSpPr>
          <p:cNvPr id="5" name="Freeform 5"/>
          <p:cNvSpPr/>
          <p:nvPr/>
        </p:nvSpPr>
        <p:spPr>
          <a:xfrm>
            <a:off x="0" y="3877562"/>
            <a:ext cx="5380738" cy="5380738"/>
          </a:xfrm>
          <a:custGeom>
            <a:avLst/>
            <a:gdLst/>
            <a:ahLst/>
            <a:cxnLst/>
            <a:rect l="l" t="t" r="r" b="b"/>
            <a:pathLst>
              <a:path w="5380738" h="5380738">
                <a:moveTo>
                  <a:pt x="0" y="0"/>
                </a:moveTo>
                <a:lnTo>
                  <a:pt x="5380738" y="0"/>
                </a:lnTo>
                <a:lnTo>
                  <a:pt x="5380738" y="5380738"/>
                </a:lnTo>
                <a:lnTo>
                  <a:pt x="0" y="5380738"/>
                </a:lnTo>
                <a:lnTo>
                  <a:pt x="0" y="0"/>
                </a:lnTo>
                <a:close/>
              </a:path>
            </a:pathLst>
          </a:custGeom>
          <a:blipFill>
            <a:blip r:embed="rId5"/>
            <a:stretch>
              <a:fillRect/>
            </a:stretch>
          </a:blipFill>
        </p:spPr>
      </p:sp>
      <p:sp>
        <p:nvSpPr>
          <p:cNvPr id="6" name="TextBox 6"/>
          <p:cNvSpPr txBox="1"/>
          <p:nvPr/>
        </p:nvSpPr>
        <p:spPr>
          <a:xfrm>
            <a:off x="5821492" y="1866479"/>
            <a:ext cx="8427908" cy="8001421"/>
          </a:xfrm>
          <a:prstGeom prst="rect">
            <a:avLst/>
          </a:prstGeom>
        </p:spPr>
        <p:txBody>
          <a:bodyPr lIns="0" tIns="0" rIns="0" bIns="0" rtlCol="0" anchor="t">
            <a:spAutoFit/>
          </a:bodyPr>
          <a:lstStyle/>
          <a:p>
            <a:pPr marL="863599" lvl="1" indent="-431800" algn="just">
              <a:buFont typeface="Arial"/>
              <a:buChar char="•"/>
            </a:pPr>
            <a:r>
              <a:rPr lang="en-US" sz="399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Project Brief</a:t>
            </a:r>
          </a:p>
          <a:p>
            <a:pPr marL="863599" lvl="1" indent="-431800" algn="just">
              <a:buFont typeface="Arial"/>
              <a:buChar char="•"/>
            </a:pPr>
            <a:r>
              <a:rPr lang="en-US" sz="399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Project Objective</a:t>
            </a:r>
          </a:p>
          <a:p>
            <a:pPr marL="863599" lvl="1" indent="-431800" algn="just">
              <a:buFont typeface="Arial"/>
              <a:buChar char="•"/>
            </a:pPr>
            <a:r>
              <a:rPr lang="en-US" sz="399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Goal</a:t>
            </a:r>
          </a:p>
          <a:p>
            <a:pPr marL="863599" lvl="1" indent="-431800" algn="just">
              <a:buFont typeface="Arial"/>
              <a:buChar char="•"/>
            </a:pPr>
            <a:r>
              <a:rPr lang="en-US" sz="399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Chosen Company + Hypothesis</a:t>
            </a:r>
          </a:p>
          <a:p>
            <a:pPr marL="863599" lvl="1" indent="-431800" algn="just">
              <a:buFont typeface="Arial"/>
              <a:buChar char="•"/>
            </a:pPr>
            <a:r>
              <a:rPr lang="en-US" sz="4000" dirty="0">
                <a:latin typeface="Open Sans" panose="020B0606030504020204" pitchFamily="34" charset="0"/>
                <a:ea typeface="Open Sans" panose="020B0606030504020204" pitchFamily="34" charset="0"/>
                <a:cs typeface="Open Sans" panose="020B0606030504020204" pitchFamily="34" charset="0"/>
              </a:rPr>
              <a:t>User Pain…</a:t>
            </a:r>
            <a:endParaRPr lang="en-US" sz="399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863599" lvl="1" indent="-431800" algn="just">
              <a:buFont typeface="Arial"/>
              <a:buChar char="•"/>
            </a:pPr>
            <a:r>
              <a:rPr lang="en-US" sz="4000" dirty="0">
                <a:latin typeface="Open Sans" panose="020B0606030504020204" pitchFamily="34" charset="0"/>
                <a:ea typeface="Open Sans" panose="020B0606030504020204" pitchFamily="34" charset="0"/>
                <a:cs typeface="Open Sans" panose="020B0606030504020204" pitchFamily="34" charset="0"/>
              </a:rPr>
              <a:t>Strategic Position</a:t>
            </a:r>
          </a:p>
          <a:p>
            <a:pPr marL="863599" lvl="1" indent="-431800" algn="just">
              <a:buFont typeface="Arial"/>
              <a:buChar char="•"/>
            </a:pPr>
            <a:r>
              <a:rPr lang="en-US" sz="4000" dirty="0">
                <a:latin typeface="Open Sans" panose="020B0606030504020204" pitchFamily="34" charset="0"/>
                <a:ea typeface="Open Sans" panose="020B0606030504020204" pitchFamily="34" charset="0"/>
                <a:cs typeface="Open Sans" panose="020B0606030504020204" pitchFamily="34" charset="0"/>
              </a:rPr>
              <a:t>Porter’s Five Forces</a:t>
            </a:r>
          </a:p>
          <a:p>
            <a:pPr marL="863599" lvl="1" indent="-431800" algn="just">
              <a:buFont typeface="Arial"/>
              <a:buChar char="•"/>
            </a:pPr>
            <a:r>
              <a:rPr lang="en-US" sz="4000" dirty="0">
                <a:latin typeface="Open Sans" panose="020B0606030504020204" pitchFamily="34" charset="0"/>
                <a:ea typeface="Open Sans" panose="020B0606030504020204" pitchFamily="34" charset="0"/>
                <a:cs typeface="Open Sans" panose="020B0606030504020204" pitchFamily="34" charset="0"/>
              </a:rPr>
              <a:t>Blue Ocean ERRC</a:t>
            </a:r>
          </a:p>
          <a:p>
            <a:pPr marL="863599" lvl="1" indent="-431800" algn="just">
              <a:buFont typeface="Arial"/>
              <a:buChar char="•"/>
            </a:pPr>
            <a:r>
              <a:rPr lang="en-US" sz="4000" dirty="0">
                <a:latin typeface="Open Sans" panose="020B0606030504020204" pitchFamily="34" charset="0"/>
                <a:ea typeface="Open Sans" panose="020B0606030504020204" pitchFamily="34" charset="0"/>
                <a:cs typeface="Open Sans" panose="020B0606030504020204" pitchFamily="34" charset="0"/>
              </a:rPr>
              <a:t>STP + TAM/SAM/SOM</a:t>
            </a:r>
          </a:p>
          <a:p>
            <a:pPr marL="863599" lvl="1" indent="-431800" algn="just">
              <a:buFont typeface="Arial"/>
              <a:buChar char="•"/>
            </a:pPr>
            <a:r>
              <a:rPr lang="en-US" sz="4000" dirty="0">
                <a:latin typeface="Open Sans" panose="020B0606030504020204" pitchFamily="34" charset="0"/>
                <a:ea typeface="Open Sans" panose="020B0606030504020204" pitchFamily="34" charset="0"/>
                <a:cs typeface="Open Sans" panose="020B0606030504020204" pitchFamily="34" charset="0"/>
              </a:rPr>
              <a:t>Core Value</a:t>
            </a:r>
          </a:p>
          <a:p>
            <a:pPr marL="863599" lvl="1" indent="-431800" algn="just">
              <a:buFont typeface="Arial"/>
              <a:buChar char="•"/>
            </a:pPr>
            <a:r>
              <a:rPr lang="en-US" sz="4000" dirty="0">
                <a:latin typeface="Open Sans" panose="020B0606030504020204" pitchFamily="34" charset="0"/>
                <a:ea typeface="Open Sans" panose="020B0606030504020204" pitchFamily="34" charset="0"/>
                <a:cs typeface="Open Sans" panose="020B0606030504020204" pitchFamily="34" charset="0"/>
              </a:rPr>
              <a:t>Future State</a:t>
            </a:r>
            <a:endParaRPr lang="en-US" sz="399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863599" lvl="1" indent="-431800" algn="just">
              <a:buFont typeface="Arial"/>
              <a:buChar char="•"/>
            </a:pPr>
            <a:r>
              <a:rPr lang="en-US" sz="399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Draft Approach</a:t>
            </a:r>
          </a:p>
          <a:p>
            <a:pPr marL="863599" lvl="1" indent="-431800" algn="just">
              <a:buFont typeface="Arial"/>
              <a:buChar char="•"/>
            </a:pPr>
            <a:r>
              <a:rPr lang="en-US" sz="399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References</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467055" y="-180975"/>
            <a:ext cx="10288007" cy="1641984"/>
          </a:xfrm>
          <a:prstGeom prst="rect">
            <a:avLst/>
          </a:prstGeom>
        </p:spPr>
        <p:txBody>
          <a:bodyPr lIns="0" tIns="0" rIns="0" bIns="0" rtlCol="0" anchor="t">
            <a:spAutoFit/>
          </a:bodyPr>
          <a:lstStyle/>
          <a:p>
            <a:pPr algn="ctr">
              <a:lnSpc>
                <a:spcPts val="13446"/>
              </a:lnSpc>
            </a:pPr>
            <a:r>
              <a:rPr lang="en-US" sz="9604" b="1" dirty="0">
                <a:solidFill>
                  <a:srgbClr val="000000"/>
                </a:solidFill>
                <a:latin typeface="Montserrat Bold"/>
                <a:ea typeface="Montserrat Bold"/>
                <a:cs typeface="Montserrat Bold"/>
                <a:sym typeface="Montserrat Bold"/>
              </a:rPr>
              <a:t>PROJECT BRIEF</a:t>
            </a:r>
          </a:p>
        </p:txBody>
      </p:sp>
      <p:sp>
        <p:nvSpPr>
          <p:cNvPr id="3" name="TextBox 3"/>
          <p:cNvSpPr txBox="1"/>
          <p:nvPr/>
        </p:nvSpPr>
        <p:spPr>
          <a:xfrm>
            <a:off x="274358" y="1163260"/>
            <a:ext cx="10365966" cy="8981440"/>
          </a:xfrm>
          <a:prstGeom prst="rect">
            <a:avLst/>
          </a:prstGeom>
        </p:spPr>
        <p:txBody>
          <a:bodyPr lIns="0" tIns="0" rIns="0" bIns="0" rtlCol="0" anchor="t">
            <a:spAutoFit/>
          </a:bodyPr>
          <a:lstStyle/>
          <a:p>
            <a:pPr algn="just">
              <a:lnSpc>
                <a:spcPts val="4759"/>
              </a:lnSpc>
            </a:pPr>
            <a:r>
              <a:rPr lang="en-US" sz="3399" dirty="0">
                <a:solidFill>
                  <a:srgbClr val="000000"/>
                </a:solidFill>
                <a:latin typeface="Open Sans"/>
                <a:ea typeface="Open Sans"/>
                <a:cs typeface="Open Sans"/>
                <a:sym typeface="Open Sans"/>
              </a:rPr>
              <a:t>BlackBerry used to be a leader in mobile communication technology, in which it controlled the smartphone market through secure messaging and physical keyboards. It had a massive market share around </a:t>
            </a:r>
            <a:r>
              <a:rPr lang="en-US" sz="3399" dirty="0">
                <a:solidFill>
                  <a:srgbClr val="E01A72"/>
                </a:solidFill>
                <a:latin typeface="Open Sans"/>
                <a:ea typeface="Open Sans"/>
                <a:cs typeface="Open Sans"/>
                <a:sym typeface="Open Sans"/>
              </a:rPr>
              <a:t>2011</a:t>
            </a:r>
            <a:r>
              <a:rPr lang="en-US" sz="3399" dirty="0">
                <a:solidFill>
                  <a:srgbClr val="000000"/>
                </a:solidFill>
                <a:latin typeface="Open Sans"/>
                <a:ea typeface="Open Sans"/>
                <a:cs typeface="Open Sans"/>
                <a:sym typeface="Open Sans"/>
              </a:rPr>
              <a:t>, and it could not adjust to touchscreen innovation and evolving consumer requirements (Statista, 2026). This made the market value and relevance of BlackBerry crash drastically. It no longer manufactures phones and has moved on to cybersecurity and software services, but its financial performance is poor in comparison to the peers. To stay alive and prosper, BlackBerry should be able to reinvent its brand and resonate with the current generation (</a:t>
            </a:r>
            <a:r>
              <a:rPr lang="en-US" sz="3399" dirty="0" err="1">
                <a:solidFill>
                  <a:srgbClr val="000000"/>
                </a:solidFill>
                <a:latin typeface="Open Sans"/>
                <a:ea typeface="Open Sans"/>
                <a:cs typeface="Open Sans"/>
                <a:sym typeface="Open Sans"/>
              </a:rPr>
              <a:t>SunStar</a:t>
            </a:r>
            <a:r>
              <a:rPr lang="en-US" sz="3399" dirty="0">
                <a:solidFill>
                  <a:srgbClr val="000000"/>
                </a:solidFill>
                <a:latin typeface="Open Sans"/>
                <a:ea typeface="Open Sans"/>
                <a:cs typeface="Open Sans"/>
                <a:sym typeface="Open Sans"/>
              </a:rPr>
              <a:t>, 2024).</a:t>
            </a:r>
          </a:p>
        </p:txBody>
      </p:sp>
      <p:sp>
        <p:nvSpPr>
          <p:cNvPr id="4" name="Freeform 4"/>
          <p:cNvSpPr/>
          <p:nvPr/>
        </p:nvSpPr>
        <p:spPr>
          <a:xfrm>
            <a:off x="10918109" y="2962694"/>
            <a:ext cx="7217864" cy="5449248"/>
          </a:xfrm>
          <a:custGeom>
            <a:avLst/>
            <a:gdLst/>
            <a:ahLst/>
            <a:cxnLst/>
            <a:rect l="l" t="t" r="r" b="b"/>
            <a:pathLst>
              <a:path w="7217864" h="5449248">
                <a:moveTo>
                  <a:pt x="0" y="0"/>
                </a:moveTo>
                <a:lnTo>
                  <a:pt x="7217864" y="0"/>
                </a:lnTo>
                <a:lnTo>
                  <a:pt x="7217864" y="5449248"/>
                </a:lnTo>
                <a:lnTo>
                  <a:pt x="0" y="5449248"/>
                </a:lnTo>
                <a:lnTo>
                  <a:pt x="0" y="0"/>
                </a:lnTo>
                <a:close/>
              </a:path>
            </a:pathLst>
          </a:custGeom>
          <a:blipFill>
            <a:blip r:embed="rId2"/>
            <a:stretch>
              <a:fillRect/>
            </a:stretch>
          </a:blipFill>
        </p:spPr>
      </p:sp>
      <p:sp>
        <p:nvSpPr>
          <p:cNvPr id="5" name="Freeform 5"/>
          <p:cNvSpPr/>
          <p:nvPr/>
        </p:nvSpPr>
        <p:spPr>
          <a:xfrm>
            <a:off x="14948089" y="145490"/>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3"/>
            <a:stretch>
              <a:fillRect t="-20266" b="-21392"/>
            </a:stretch>
          </a:blipFill>
        </p:spPr>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02168">
            <a:off x="-534114" y="-2384689"/>
            <a:ext cx="6164261" cy="4413791"/>
          </a:xfrm>
          <a:custGeom>
            <a:avLst/>
            <a:gdLst/>
            <a:ahLst/>
            <a:cxnLst/>
            <a:rect l="l" t="t" r="r" b="b"/>
            <a:pathLst>
              <a:path w="5987226" h="5998131">
                <a:moveTo>
                  <a:pt x="0" y="0"/>
                </a:moveTo>
                <a:lnTo>
                  <a:pt x="5987225" y="0"/>
                </a:lnTo>
                <a:lnTo>
                  <a:pt x="5987225" y="5998131"/>
                </a:lnTo>
                <a:lnTo>
                  <a:pt x="0" y="5998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100116" y="8036617"/>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4"/>
            <a:stretch>
              <a:fillRect t="-20266" b="-21392"/>
            </a:stretch>
          </a:blipFill>
        </p:spPr>
      </p:sp>
      <p:sp>
        <p:nvSpPr>
          <p:cNvPr id="4" name="Freeform 4"/>
          <p:cNvSpPr/>
          <p:nvPr/>
        </p:nvSpPr>
        <p:spPr>
          <a:xfrm>
            <a:off x="177365" y="2962694"/>
            <a:ext cx="2559194" cy="2559194"/>
          </a:xfrm>
          <a:custGeom>
            <a:avLst/>
            <a:gdLst/>
            <a:ahLst/>
            <a:cxnLst/>
            <a:rect l="l" t="t" r="r" b="b"/>
            <a:pathLst>
              <a:path w="2559194" h="2559194">
                <a:moveTo>
                  <a:pt x="0" y="0"/>
                </a:moveTo>
                <a:lnTo>
                  <a:pt x="2559195" y="0"/>
                </a:lnTo>
                <a:lnTo>
                  <a:pt x="2559195" y="2559194"/>
                </a:lnTo>
                <a:lnTo>
                  <a:pt x="0" y="2559194"/>
                </a:lnTo>
                <a:lnTo>
                  <a:pt x="0" y="0"/>
                </a:lnTo>
                <a:close/>
              </a:path>
            </a:pathLst>
          </a:custGeom>
          <a:blipFill>
            <a:blip r:embed="rId5"/>
            <a:stretch>
              <a:fillRect/>
            </a:stretch>
          </a:blipFill>
        </p:spPr>
      </p:sp>
      <p:sp>
        <p:nvSpPr>
          <p:cNvPr id="5" name="Freeform 5"/>
          <p:cNvSpPr/>
          <p:nvPr/>
        </p:nvSpPr>
        <p:spPr>
          <a:xfrm>
            <a:off x="16012036" y="4767829"/>
            <a:ext cx="1708832" cy="3268788"/>
          </a:xfrm>
          <a:custGeom>
            <a:avLst/>
            <a:gdLst/>
            <a:ahLst/>
            <a:cxnLst/>
            <a:rect l="l" t="t" r="r" b="b"/>
            <a:pathLst>
              <a:path w="1708832" h="3268788">
                <a:moveTo>
                  <a:pt x="0" y="0"/>
                </a:moveTo>
                <a:lnTo>
                  <a:pt x="1708831" y="0"/>
                </a:lnTo>
                <a:lnTo>
                  <a:pt x="1708831" y="3268788"/>
                </a:lnTo>
                <a:lnTo>
                  <a:pt x="0" y="3268788"/>
                </a:lnTo>
                <a:lnTo>
                  <a:pt x="0" y="0"/>
                </a:lnTo>
                <a:close/>
              </a:path>
            </a:pathLst>
          </a:custGeom>
          <a:blipFill>
            <a:blip r:embed="rId6"/>
            <a:stretch>
              <a:fillRect/>
            </a:stretch>
          </a:blipFill>
        </p:spPr>
      </p:sp>
      <p:sp>
        <p:nvSpPr>
          <p:cNvPr id="6" name="TextBox 6"/>
          <p:cNvSpPr txBox="1"/>
          <p:nvPr/>
        </p:nvSpPr>
        <p:spPr>
          <a:xfrm>
            <a:off x="2736560" y="1574088"/>
            <a:ext cx="13616480" cy="1641984"/>
          </a:xfrm>
          <a:prstGeom prst="rect">
            <a:avLst/>
          </a:prstGeom>
        </p:spPr>
        <p:txBody>
          <a:bodyPr lIns="0" tIns="0" rIns="0" bIns="0" rtlCol="0" anchor="t">
            <a:spAutoFit/>
          </a:bodyPr>
          <a:lstStyle/>
          <a:p>
            <a:pPr algn="ctr">
              <a:lnSpc>
                <a:spcPts val="13446"/>
              </a:lnSpc>
            </a:pPr>
            <a:r>
              <a:rPr lang="en-US" sz="9604" b="1" dirty="0">
                <a:solidFill>
                  <a:srgbClr val="000000"/>
                </a:solidFill>
                <a:latin typeface="Montserrat" panose="00000500000000000000" pitchFamily="2" charset="0"/>
                <a:ea typeface="Montserrat Bold"/>
                <a:cs typeface="Montserrat Bold"/>
                <a:sym typeface="Montserrat Bold"/>
              </a:rPr>
              <a:t>PROJECT OBJECTIVE</a:t>
            </a:r>
          </a:p>
        </p:txBody>
      </p:sp>
      <p:sp>
        <p:nvSpPr>
          <p:cNvPr id="7" name="TextBox 7"/>
          <p:cNvSpPr txBox="1"/>
          <p:nvPr/>
        </p:nvSpPr>
        <p:spPr>
          <a:xfrm>
            <a:off x="2841792" y="4278466"/>
            <a:ext cx="12604416" cy="4180840"/>
          </a:xfrm>
          <a:prstGeom prst="rect">
            <a:avLst/>
          </a:prstGeom>
        </p:spPr>
        <p:txBody>
          <a:bodyPr lIns="0" tIns="0" rIns="0" bIns="0" rtlCol="0" anchor="t">
            <a:spAutoFit/>
          </a:bodyPr>
          <a:lstStyle/>
          <a:p>
            <a:pPr algn="just">
              <a:lnSpc>
                <a:spcPts val="4759"/>
              </a:lnSpc>
            </a:pPr>
            <a:r>
              <a:rPr lang="en-US" sz="3399" dirty="0">
                <a:solidFill>
                  <a:srgbClr val="000000"/>
                </a:solidFill>
                <a:latin typeface="Open Sans"/>
                <a:ea typeface="Open Sans"/>
                <a:cs typeface="Open Sans"/>
                <a:sym typeface="Open Sans"/>
              </a:rPr>
              <a:t>To </a:t>
            </a:r>
            <a:r>
              <a:rPr lang="en-US" sz="3399" dirty="0" err="1">
                <a:solidFill>
                  <a:srgbClr val="000000"/>
                </a:solidFill>
                <a:latin typeface="Open Sans"/>
                <a:ea typeface="Open Sans"/>
                <a:cs typeface="Open Sans"/>
                <a:sym typeface="Open Sans"/>
              </a:rPr>
              <a:t>analyse</a:t>
            </a:r>
            <a:r>
              <a:rPr lang="en-US" sz="3399" dirty="0">
                <a:solidFill>
                  <a:srgbClr val="000000"/>
                </a:solidFill>
                <a:latin typeface="Open Sans"/>
                <a:ea typeface="Open Sans"/>
                <a:cs typeface="Open Sans"/>
                <a:sym typeface="Open Sans"/>
              </a:rPr>
              <a:t> the downfall of BlackBerry and find a new opportunity avenue that would fit into its strength. Our objective is to establish a </a:t>
            </a:r>
            <a:r>
              <a:rPr lang="en-US" sz="3399" dirty="0">
                <a:solidFill>
                  <a:srgbClr val="E01A72"/>
                </a:solidFill>
                <a:latin typeface="Open Sans"/>
                <a:ea typeface="Open Sans"/>
                <a:cs typeface="Open Sans"/>
                <a:sym typeface="Open Sans"/>
              </a:rPr>
              <a:t>reinvention </a:t>
            </a:r>
            <a:r>
              <a:rPr lang="en-US" sz="3399" dirty="0" err="1">
                <a:solidFill>
                  <a:srgbClr val="E01A72"/>
                </a:solidFill>
                <a:latin typeface="Open Sans"/>
                <a:ea typeface="Open Sans"/>
                <a:cs typeface="Open Sans"/>
                <a:sym typeface="Open Sans"/>
              </a:rPr>
              <a:t>programme</a:t>
            </a:r>
            <a:r>
              <a:rPr lang="en-US" sz="3399" dirty="0">
                <a:solidFill>
                  <a:srgbClr val="000000"/>
                </a:solidFill>
                <a:latin typeface="Open Sans"/>
                <a:ea typeface="Open Sans"/>
                <a:cs typeface="Open Sans"/>
                <a:sym typeface="Open Sans"/>
              </a:rPr>
              <a:t> that makes BlackBerry a new brand worth believing in once more, a brand that can be used by digital users but whose security background will be used to its advantage.</a:t>
            </a:r>
          </a:p>
          <a:p>
            <a:pPr algn="just">
              <a:lnSpc>
                <a:spcPts val="4759"/>
              </a:lnSpc>
            </a:pPr>
            <a:endParaRPr lang="en-US" sz="3399" dirty="0">
              <a:solidFill>
                <a:srgbClr val="000000"/>
              </a:solidFill>
              <a:latin typeface="Open Sans"/>
              <a:ea typeface="Open Sans"/>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02168" flipH="1" flipV="1">
            <a:off x="13490086" y="8170441"/>
            <a:ext cx="6156859" cy="4587541"/>
          </a:xfrm>
          <a:custGeom>
            <a:avLst/>
            <a:gdLst/>
            <a:ahLst/>
            <a:cxnLst/>
            <a:rect l="l" t="t" r="r" b="b"/>
            <a:pathLst>
              <a:path w="5987226" h="5998131">
                <a:moveTo>
                  <a:pt x="5987226" y="5998132"/>
                </a:moveTo>
                <a:lnTo>
                  <a:pt x="0" y="5998132"/>
                </a:lnTo>
                <a:lnTo>
                  <a:pt x="0" y="0"/>
                </a:lnTo>
                <a:lnTo>
                  <a:pt x="5987226" y="0"/>
                </a:lnTo>
                <a:lnTo>
                  <a:pt x="5987226" y="599813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426328" y="2963929"/>
            <a:ext cx="3713026" cy="3713026"/>
          </a:xfrm>
          <a:custGeom>
            <a:avLst/>
            <a:gdLst/>
            <a:ahLst/>
            <a:cxnLst/>
            <a:rect l="l" t="t" r="r" b="b"/>
            <a:pathLst>
              <a:path w="3713026" h="3713026">
                <a:moveTo>
                  <a:pt x="3713027" y="0"/>
                </a:moveTo>
                <a:lnTo>
                  <a:pt x="0" y="0"/>
                </a:lnTo>
                <a:lnTo>
                  <a:pt x="0" y="3713026"/>
                </a:lnTo>
                <a:lnTo>
                  <a:pt x="3713027" y="3713026"/>
                </a:lnTo>
                <a:lnTo>
                  <a:pt x="3713027" y="0"/>
                </a:lnTo>
                <a:close/>
              </a:path>
            </a:pathLst>
          </a:custGeom>
          <a:blipFill>
            <a:blip r:embed="rId4"/>
            <a:stretch>
              <a:fillRect/>
            </a:stretch>
          </a:blipFill>
        </p:spPr>
      </p:sp>
      <p:sp>
        <p:nvSpPr>
          <p:cNvPr id="4" name="TextBox 4"/>
          <p:cNvSpPr txBox="1"/>
          <p:nvPr/>
        </p:nvSpPr>
        <p:spPr>
          <a:xfrm>
            <a:off x="4139355" y="1478933"/>
            <a:ext cx="10009291" cy="1641984"/>
          </a:xfrm>
          <a:prstGeom prst="rect">
            <a:avLst/>
          </a:prstGeom>
        </p:spPr>
        <p:txBody>
          <a:bodyPr lIns="0" tIns="0" rIns="0" bIns="0" rtlCol="0" anchor="t">
            <a:spAutoFit/>
          </a:bodyPr>
          <a:lstStyle/>
          <a:p>
            <a:pPr algn="ctr">
              <a:lnSpc>
                <a:spcPts val="13446"/>
              </a:lnSpc>
            </a:pPr>
            <a:r>
              <a:rPr lang="en-US" sz="9604" b="1">
                <a:solidFill>
                  <a:srgbClr val="000000"/>
                </a:solidFill>
                <a:latin typeface="Montserrat Bold"/>
                <a:ea typeface="Montserrat Bold"/>
                <a:cs typeface="Montserrat Bold"/>
                <a:sym typeface="Montserrat Bold"/>
              </a:rPr>
              <a:t>GOAL</a:t>
            </a:r>
          </a:p>
        </p:txBody>
      </p:sp>
      <p:sp>
        <p:nvSpPr>
          <p:cNvPr id="5" name="TextBox 5"/>
          <p:cNvSpPr txBox="1"/>
          <p:nvPr/>
        </p:nvSpPr>
        <p:spPr>
          <a:xfrm>
            <a:off x="4616882" y="3866942"/>
            <a:ext cx="11763777" cy="3804285"/>
          </a:xfrm>
          <a:prstGeom prst="rect">
            <a:avLst/>
          </a:prstGeom>
        </p:spPr>
        <p:txBody>
          <a:bodyPr lIns="0" tIns="0" rIns="0" bIns="0" rtlCol="0" anchor="t">
            <a:spAutoFit/>
          </a:bodyPr>
          <a:lstStyle/>
          <a:p>
            <a:pPr algn="just">
              <a:lnSpc>
                <a:spcPts val="5040"/>
              </a:lnSpc>
            </a:pPr>
            <a:r>
              <a:rPr lang="en-US" sz="3600" dirty="0">
                <a:solidFill>
                  <a:srgbClr val="000000"/>
                </a:solidFill>
                <a:latin typeface="Open Sans"/>
                <a:ea typeface="Open Sans"/>
                <a:cs typeface="Open Sans"/>
                <a:sym typeface="Open Sans"/>
              </a:rPr>
              <a:t>The goal is to rebrand BlackBerry within the circumstances of </a:t>
            </a:r>
            <a:r>
              <a:rPr lang="en-US" sz="3600" i="1" dirty="0">
                <a:solidFill>
                  <a:srgbClr val="E01A72"/>
                </a:solidFill>
                <a:latin typeface="Open Sans Italics"/>
                <a:ea typeface="Open Sans Italics"/>
                <a:cs typeface="Open Sans Italics"/>
                <a:sym typeface="Open Sans Italics"/>
              </a:rPr>
              <a:t>mobile lifestyle</a:t>
            </a:r>
            <a:r>
              <a:rPr lang="en-US" sz="3600" dirty="0">
                <a:solidFill>
                  <a:srgbClr val="000000"/>
                </a:solidFill>
                <a:latin typeface="Open Sans"/>
                <a:ea typeface="Open Sans"/>
                <a:cs typeface="Open Sans"/>
                <a:sym typeface="Open Sans"/>
              </a:rPr>
              <a:t> and concentrate on privacy, control, and digital wellbeing. Users who are tired of being bombarded by data tracking, numerous notifications, and addictive app ecosystems will use the brand.</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694517"/>
            <a:ext cx="16211305" cy="1193800"/>
          </a:xfrm>
          <a:prstGeom prst="rect">
            <a:avLst/>
          </a:prstGeom>
        </p:spPr>
        <p:txBody>
          <a:bodyPr lIns="0" tIns="0" rIns="0" bIns="0" rtlCol="0" anchor="t">
            <a:spAutoFit/>
          </a:bodyPr>
          <a:lstStyle/>
          <a:p>
            <a:pPr algn="ctr">
              <a:lnSpc>
                <a:spcPts val="9799"/>
              </a:lnSpc>
            </a:pPr>
            <a:r>
              <a:rPr lang="en-US" sz="6999" b="1" dirty="0">
                <a:solidFill>
                  <a:srgbClr val="000000"/>
                </a:solidFill>
                <a:latin typeface="Montserrat Bold"/>
                <a:ea typeface="Montserrat Bold"/>
                <a:cs typeface="Montserrat Bold"/>
                <a:sym typeface="Montserrat Bold"/>
              </a:rPr>
              <a:t>CHOSEN COMPANY + HYPOTHESIS</a:t>
            </a:r>
          </a:p>
        </p:txBody>
      </p:sp>
      <p:sp>
        <p:nvSpPr>
          <p:cNvPr id="3" name="TextBox 3"/>
          <p:cNvSpPr txBox="1"/>
          <p:nvPr/>
        </p:nvSpPr>
        <p:spPr>
          <a:xfrm>
            <a:off x="1028700" y="2354115"/>
            <a:ext cx="16230600" cy="3036409"/>
          </a:xfrm>
          <a:prstGeom prst="rect">
            <a:avLst/>
          </a:prstGeom>
        </p:spPr>
        <p:txBody>
          <a:bodyPr lIns="0" tIns="0" rIns="0" bIns="0" rtlCol="0" anchor="t">
            <a:spAutoFit/>
          </a:bodyPr>
          <a:lstStyle/>
          <a:p>
            <a:pPr algn="just">
              <a:lnSpc>
                <a:spcPts val="4759"/>
              </a:lnSpc>
            </a:pPr>
            <a:r>
              <a:rPr lang="en-US" sz="3399" b="1" dirty="0">
                <a:solidFill>
                  <a:srgbClr val="000000"/>
                </a:solidFill>
                <a:latin typeface="Open Sans"/>
                <a:ea typeface="Open Sans"/>
                <a:cs typeface="Open Sans"/>
                <a:sym typeface="Open Sans"/>
              </a:rPr>
              <a:t>Company: </a:t>
            </a:r>
            <a:r>
              <a:rPr lang="en-US" sz="3399" dirty="0">
                <a:solidFill>
                  <a:srgbClr val="E01A72"/>
                </a:solidFill>
                <a:latin typeface="Open Sans"/>
                <a:ea typeface="Open Sans"/>
                <a:cs typeface="Open Sans"/>
                <a:sym typeface="Open Sans"/>
              </a:rPr>
              <a:t>BlackBerry Limited</a:t>
            </a:r>
          </a:p>
          <a:p>
            <a:pPr algn="just">
              <a:lnSpc>
                <a:spcPts val="4759"/>
              </a:lnSpc>
            </a:pPr>
            <a:r>
              <a:rPr lang="en-US" sz="3399" dirty="0">
                <a:solidFill>
                  <a:srgbClr val="000000"/>
                </a:solidFill>
                <a:latin typeface="Open Sans"/>
                <a:ea typeface="Open Sans"/>
                <a:cs typeface="Open Sans"/>
                <a:sym typeface="Open Sans"/>
              </a:rPr>
              <a:t>BlackBerry used to be a mobile phone empire but is currently specialized in enterprise and (connected device) software cybersecurity and software (Reuters, 2025). The recent revenue forecasts indicate its vulnerability and reduces demand in the traditional enterprise cybersecurity services (Statista, 2025).</a:t>
            </a:r>
          </a:p>
        </p:txBody>
      </p:sp>
      <p:sp>
        <p:nvSpPr>
          <p:cNvPr id="4" name="TextBox 4"/>
          <p:cNvSpPr txBox="1"/>
          <p:nvPr/>
        </p:nvSpPr>
        <p:spPr>
          <a:xfrm>
            <a:off x="1028700" y="5628700"/>
            <a:ext cx="16230600" cy="3651962"/>
          </a:xfrm>
          <a:prstGeom prst="rect">
            <a:avLst/>
          </a:prstGeom>
        </p:spPr>
        <p:txBody>
          <a:bodyPr lIns="0" tIns="0" rIns="0" bIns="0" rtlCol="0" anchor="t">
            <a:spAutoFit/>
          </a:bodyPr>
          <a:lstStyle/>
          <a:p>
            <a:pPr algn="just">
              <a:lnSpc>
                <a:spcPts val="4759"/>
              </a:lnSpc>
            </a:pPr>
            <a:r>
              <a:rPr lang="en-US" sz="3399" b="1" dirty="0">
                <a:solidFill>
                  <a:srgbClr val="000000"/>
                </a:solidFill>
                <a:latin typeface="Open Sans"/>
                <a:ea typeface="Open Sans"/>
                <a:cs typeface="Open Sans"/>
                <a:sym typeface="Open Sans"/>
              </a:rPr>
              <a:t>Hypothesis:</a:t>
            </a:r>
          </a:p>
          <a:p>
            <a:pPr algn="just">
              <a:lnSpc>
                <a:spcPts val="4759"/>
              </a:lnSpc>
            </a:pPr>
            <a:r>
              <a:rPr lang="en-GB" sz="3600" dirty="0">
                <a:latin typeface="Open Sans" panose="020B0606030504020204" pitchFamily="34" charset="0"/>
                <a:ea typeface="Open Sans" panose="020B0606030504020204" pitchFamily="34" charset="0"/>
                <a:cs typeface="Open Sans" panose="020B0606030504020204" pitchFamily="34" charset="0"/>
              </a:rPr>
              <a:t>If BlackBerry introduces a privacy-focused, minimal mobile device aimed at digitally fatigued professionals and students, it will be able to build a defensible niche segment and create recurring revenues due to the built-in hardware and subscription services </a:t>
            </a:r>
            <a:r>
              <a:rPr lang="en-US" sz="339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(Youssef Haj Youssef, 2013).</a:t>
            </a:r>
          </a:p>
          <a:p>
            <a:pPr algn="just">
              <a:lnSpc>
                <a:spcPts val="4759"/>
              </a:lnSpc>
            </a:pPr>
            <a:endParaRPr lang="en-US" sz="3399" dirty="0">
              <a:solidFill>
                <a:srgbClr val="000000"/>
              </a:solidFill>
              <a:latin typeface="Open Sans"/>
              <a:ea typeface="Open Sans"/>
              <a:cs typeface="Open Sans"/>
              <a:sym typeface="Open Sans"/>
            </a:endParaRPr>
          </a:p>
        </p:txBody>
      </p:sp>
      <p:sp>
        <p:nvSpPr>
          <p:cNvPr id="5" name="Freeform 3">
            <a:extLst>
              <a:ext uri="{FF2B5EF4-FFF2-40B4-BE49-F238E27FC236}">
                <a16:creationId xmlns:a16="http://schemas.microsoft.com/office/drawing/2014/main" id="{81C892F7-64DA-B9BA-7B5B-12EC54768F6E}"/>
              </a:ext>
            </a:extLst>
          </p:cNvPr>
          <p:cNvSpPr/>
          <p:nvPr/>
        </p:nvSpPr>
        <p:spPr>
          <a:xfrm>
            <a:off x="15100116" y="8036617"/>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EE927-62D2-77E2-CB04-DF0F773805C5}"/>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8A5F235-65B5-F94E-90FE-E46292C0A415}"/>
              </a:ext>
            </a:extLst>
          </p:cNvPr>
          <p:cNvSpPr txBox="1"/>
          <p:nvPr/>
        </p:nvSpPr>
        <p:spPr>
          <a:xfrm>
            <a:off x="76200" y="419100"/>
            <a:ext cx="17907000" cy="1170705"/>
          </a:xfrm>
          <a:prstGeom prst="rect">
            <a:avLst/>
          </a:prstGeom>
        </p:spPr>
        <p:txBody>
          <a:bodyPr wrap="square" lIns="0" tIns="0" rIns="0" bIns="0" rtlCol="0" anchor="t">
            <a:spAutoFit/>
          </a:bodyPr>
          <a:lstStyle/>
          <a:p>
            <a:pPr algn="ctr">
              <a:lnSpc>
                <a:spcPts val="9799"/>
              </a:lnSpc>
            </a:pPr>
            <a:r>
              <a:rPr lang="en-US" sz="7200" b="1" dirty="0">
                <a:latin typeface="Montserrat" panose="00000500000000000000" pitchFamily="2" charset="0"/>
              </a:rPr>
              <a:t>The Modern Digital Stress Ecosystem</a:t>
            </a:r>
            <a:endParaRPr lang="en-US" sz="6999" b="1" dirty="0">
              <a:solidFill>
                <a:srgbClr val="000000"/>
              </a:solidFill>
              <a:latin typeface="Montserrat" panose="00000500000000000000" pitchFamily="2" charset="0"/>
              <a:ea typeface="Montserrat Bold"/>
              <a:cs typeface="Montserrat Bold"/>
              <a:sym typeface="Montserrat Bold"/>
            </a:endParaRPr>
          </a:p>
        </p:txBody>
      </p:sp>
      <p:sp>
        <p:nvSpPr>
          <p:cNvPr id="5" name="Freeform 3">
            <a:extLst>
              <a:ext uri="{FF2B5EF4-FFF2-40B4-BE49-F238E27FC236}">
                <a16:creationId xmlns:a16="http://schemas.microsoft.com/office/drawing/2014/main" id="{2C819FD3-28CF-02ED-7DB2-CDA284DFD652}"/>
              </a:ext>
            </a:extLst>
          </p:cNvPr>
          <p:cNvSpPr/>
          <p:nvPr/>
        </p:nvSpPr>
        <p:spPr>
          <a:xfrm>
            <a:off x="15849600" y="9182100"/>
            <a:ext cx="2438400" cy="1104900"/>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sp>
        <p:nvSpPr>
          <p:cNvPr id="9" name="Oval 8">
            <a:extLst>
              <a:ext uri="{FF2B5EF4-FFF2-40B4-BE49-F238E27FC236}">
                <a16:creationId xmlns:a16="http://schemas.microsoft.com/office/drawing/2014/main" id="{2D5E8F74-1BC1-CAEF-B36A-17A0D953564E}"/>
              </a:ext>
            </a:extLst>
          </p:cNvPr>
          <p:cNvSpPr/>
          <p:nvPr/>
        </p:nvSpPr>
        <p:spPr>
          <a:xfrm>
            <a:off x="4724400" y="5295900"/>
            <a:ext cx="1981200" cy="1981200"/>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Modern Smartphone User </a:t>
            </a:r>
            <a:endParaRPr lang="LID4096" dirty="0"/>
          </a:p>
        </p:txBody>
      </p:sp>
      <p:sp>
        <p:nvSpPr>
          <p:cNvPr id="10" name="Oval 9">
            <a:extLst>
              <a:ext uri="{FF2B5EF4-FFF2-40B4-BE49-F238E27FC236}">
                <a16:creationId xmlns:a16="http://schemas.microsoft.com/office/drawing/2014/main" id="{6153E197-CA1B-AB63-2381-DD2642899C7C}"/>
              </a:ext>
            </a:extLst>
          </p:cNvPr>
          <p:cNvSpPr/>
          <p:nvPr/>
        </p:nvSpPr>
        <p:spPr>
          <a:xfrm>
            <a:off x="8305800" y="4305300"/>
            <a:ext cx="2819400" cy="2895600"/>
          </a:xfrm>
          <a:prstGeom prst="ellipse">
            <a:avLst/>
          </a:prstGeom>
          <a:solidFill>
            <a:schemeClr val="accent5">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Data Tracking &amp; Algorithms → behavior monitoring → privacy anxiety</a:t>
            </a:r>
            <a:endParaRPr lang="LID4096"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Oval 10">
            <a:extLst>
              <a:ext uri="{FF2B5EF4-FFF2-40B4-BE49-F238E27FC236}">
                <a16:creationId xmlns:a16="http://schemas.microsoft.com/office/drawing/2014/main" id="{75C524F2-FBA0-BDF1-A231-5CAAC932EAB9}"/>
              </a:ext>
            </a:extLst>
          </p:cNvPr>
          <p:cNvSpPr/>
          <p:nvPr/>
        </p:nvSpPr>
        <p:spPr>
          <a:xfrm>
            <a:off x="5486400" y="1790700"/>
            <a:ext cx="2667000" cy="2547447"/>
          </a:xfrm>
          <a:prstGeom prst="ellipse">
            <a:avLst/>
          </a:prstGeom>
          <a:solidFill>
            <a:schemeClr val="accent5">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latin typeface="Open Sans" panose="020B0606030504020204" pitchFamily="34" charset="0"/>
                <a:ea typeface="Open Sans" panose="020B0606030504020204" pitchFamily="34" charset="0"/>
                <a:cs typeface="Open Sans" panose="020B0606030504020204" pitchFamily="34" charset="0"/>
              </a:rPr>
              <a:t>Notification </a:t>
            </a:r>
            <a:r>
              <a:rPr lang="fr-FR" dirty="0" err="1">
                <a:solidFill>
                  <a:schemeClr val="tx1"/>
                </a:solidFill>
                <a:latin typeface="Open Sans" panose="020B0606030504020204" pitchFamily="34" charset="0"/>
                <a:ea typeface="Open Sans" panose="020B0606030504020204" pitchFamily="34" charset="0"/>
                <a:cs typeface="Open Sans" panose="020B0606030504020204" pitchFamily="34" charset="0"/>
              </a:rPr>
              <a:t>Systems</a:t>
            </a:r>
            <a:r>
              <a:rPr lang="fr-FR" dirty="0">
                <a:solidFill>
                  <a:schemeClr val="tx1"/>
                </a:solidFill>
                <a:latin typeface="Open Sans" panose="020B0606030504020204" pitchFamily="34" charset="0"/>
                <a:ea typeface="Open Sans" panose="020B0606030504020204" pitchFamily="34" charset="0"/>
                <a:cs typeface="Open Sans" panose="020B0606030504020204" pitchFamily="34" charset="0"/>
              </a:rPr>
              <a:t> → constant </a:t>
            </a:r>
            <a:r>
              <a:rPr lang="fr-FR" dirty="0" err="1">
                <a:solidFill>
                  <a:schemeClr val="tx1"/>
                </a:solidFill>
                <a:latin typeface="Open Sans" panose="020B0606030504020204" pitchFamily="34" charset="0"/>
                <a:ea typeface="Open Sans" panose="020B0606030504020204" pitchFamily="34" charset="0"/>
                <a:cs typeface="Open Sans" panose="020B0606030504020204" pitchFamily="34" charset="0"/>
              </a:rPr>
              <a:t>alerts</a:t>
            </a:r>
            <a:r>
              <a:rPr lang="fr-FR" dirty="0">
                <a:solidFill>
                  <a:schemeClr val="tx1"/>
                </a:solidFill>
                <a:latin typeface="Open Sans" panose="020B0606030504020204" pitchFamily="34" charset="0"/>
                <a:ea typeface="Open Sans" panose="020B0606030504020204" pitchFamily="34" charset="0"/>
                <a:cs typeface="Open Sans" panose="020B0606030504020204" pitchFamily="34" charset="0"/>
              </a:rPr>
              <a:t> → attention fragmentation</a:t>
            </a:r>
            <a:endParaRPr lang="LID4096"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Oval 11">
            <a:extLst>
              <a:ext uri="{FF2B5EF4-FFF2-40B4-BE49-F238E27FC236}">
                <a16:creationId xmlns:a16="http://schemas.microsoft.com/office/drawing/2014/main" id="{8A322DA9-89C1-8664-6B83-969B6F1E206A}"/>
              </a:ext>
            </a:extLst>
          </p:cNvPr>
          <p:cNvSpPr/>
          <p:nvPr/>
        </p:nvSpPr>
        <p:spPr>
          <a:xfrm>
            <a:off x="1143000" y="3162300"/>
            <a:ext cx="2819400" cy="2895600"/>
          </a:xfrm>
          <a:prstGeom prst="ellipse">
            <a:avLst/>
          </a:prstGeom>
          <a:solidFill>
            <a:schemeClr val="accent5">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Open Sans" panose="020B0606030504020204" pitchFamily="34" charset="0"/>
                <a:ea typeface="Open Sans" panose="020B0606030504020204" pitchFamily="34" charset="0"/>
                <a:cs typeface="Open Sans" panose="020B0606030504020204" pitchFamily="34" charset="0"/>
              </a:rPr>
              <a:t>Social Media Platforms → endless feeds → addictive usage</a:t>
            </a:r>
            <a:endParaRPr lang="LID4096"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Oval 12">
            <a:extLst>
              <a:ext uri="{FF2B5EF4-FFF2-40B4-BE49-F238E27FC236}">
                <a16:creationId xmlns:a16="http://schemas.microsoft.com/office/drawing/2014/main" id="{AD2C8D5B-A55D-CAFD-97C9-2833B6E56751}"/>
              </a:ext>
            </a:extLst>
          </p:cNvPr>
          <p:cNvSpPr/>
          <p:nvPr/>
        </p:nvSpPr>
        <p:spPr>
          <a:xfrm>
            <a:off x="1981200" y="7277101"/>
            <a:ext cx="2679516" cy="2590799"/>
          </a:xfrm>
          <a:prstGeom prst="ellipse">
            <a:avLst/>
          </a:prstGeom>
          <a:solidFill>
            <a:schemeClr val="accent5">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App Ecosystems → multitasking → cognitive overload</a:t>
            </a:r>
            <a:endParaRPr lang="LID4096"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Oval 13">
            <a:extLst>
              <a:ext uri="{FF2B5EF4-FFF2-40B4-BE49-F238E27FC236}">
                <a16:creationId xmlns:a16="http://schemas.microsoft.com/office/drawing/2014/main" id="{F596F984-EE06-7C03-6014-57055522D0AE}"/>
              </a:ext>
            </a:extLst>
          </p:cNvPr>
          <p:cNvSpPr/>
          <p:nvPr/>
        </p:nvSpPr>
        <p:spPr>
          <a:xfrm>
            <a:off x="6400800" y="7429500"/>
            <a:ext cx="2667000" cy="2590799"/>
          </a:xfrm>
          <a:prstGeom prst="ellipse">
            <a:avLst/>
          </a:prstGeom>
          <a:solidFill>
            <a:schemeClr val="accent5">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Open Sans" panose="020B0606030504020204" pitchFamily="34" charset="0"/>
                <a:ea typeface="Open Sans" panose="020B0606030504020204" pitchFamily="34" charset="0"/>
                <a:cs typeface="Open Sans" panose="020B0606030504020204" pitchFamily="34" charset="0"/>
              </a:rPr>
              <a:t>Work &amp; Academic Expectations → always reachable → pressure</a:t>
            </a:r>
            <a:endParaRPr lang="LID4096"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16" name="Straight Arrow Connector 15">
            <a:extLst>
              <a:ext uri="{FF2B5EF4-FFF2-40B4-BE49-F238E27FC236}">
                <a16:creationId xmlns:a16="http://schemas.microsoft.com/office/drawing/2014/main" id="{FA49774D-34F5-91BF-48FA-42439724EFAD}"/>
              </a:ext>
            </a:extLst>
          </p:cNvPr>
          <p:cNvCxnSpPr>
            <a:cxnSpLocks/>
          </p:cNvCxnSpPr>
          <p:nvPr/>
        </p:nvCxnSpPr>
        <p:spPr>
          <a:xfrm flipH="1">
            <a:off x="5899292" y="4272453"/>
            <a:ext cx="349108" cy="1023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F61BE6C-A077-8AFB-BE4C-0B8F48AF6C47}"/>
              </a:ext>
            </a:extLst>
          </p:cNvPr>
          <p:cNvCxnSpPr>
            <a:cxnSpLocks/>
          </p:cNvCxnSpPr>
          <p:nvPr/>
        </p:nvCxnSpPr>
        <p:spPr>
          <a:xfrm flipH="1">
            <a:off x="6705600" y="5753100"/>
            <a:ext cx="1752600" cy="502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195E80C-C1AC-FAEA-1C86-BCFD9F0012AC}"/>
              </a:ext>
            </a:extLst>
          </p:cNvPr>
          <p:cNvCxnSpPr>
            <a:cxnSpLocks/>
            <a:endCxn id="9" idx="5"/>
          </p:cNvCxnSpPr>
          <p:nvPr/>
        </p:nvCxnSpPr>
        <p:spPr>
          <a:xfrm flipH="1" flipV="1">
            <a:off x="6415460" y="6986960"/>
            <a:ext cx="594940" cy="899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8C0CB7D-CE63-CBD8-9A11-DA9817583B85}"/>
              </a:ext>
            </a:extLst>
          </p:cNvPr>
          <p:cNvCxnSpPr>
            <a:cxnSpLocks/>
          </p:cNvCxnSpPr>
          <p:nvPr/>
        </p:nvCxnSpPr>
        <p:spPr>
          <a:xfrm>
            <a:off x="3749746" y="5295900"/>
            <a:ext cx="1106355" cy="531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14BAD90-9379-BA27-4B17-C3233446D6D1}"/>
              </a:ext>
            </a:extLst>
          </p:cNvPr>
          <p:cNvCxnSpPr>
            <a:cxnSpLocks/>
            <a:stCxn id="13" idx="7"/>
            <a:endCxn id="9" idx="3"/>
          </p:cNvCxnSpPr>
          <p:nvPr/>
        </p:nvCxnSpPr>
        <p:spPr>
          <a:xfrm flipV="1">
            <a:off x="4268310" y="6986960"/>
            <a:ext cx="746230" cy="6695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D11D002C-0A76-146D-FB0D-4D06034F7EF5}"/>
              </a:ext>
            </a:extLst>
          </p:cNvPr>
          <p:cNvSpPr txBox="1"/>
          <p:nvPr/>
        </p:nvSpPr>
        <p:spPr>
          <a:xfrm>
            <a:off x="11254408" y="1785730"/>
            <a:ext cx="7033591" cy="3477875"/>
          </a:xfrm>
          <a:prstGeom prst="rect">
            <a:avLst/>
          </a:prstGeom>
          <a:noFill/>
        </p:spPr>
        <p:txBody>
          <a:bodyPr wrap="square" rtlCol="0">
            <a:spAutoFit/>
          </a:bodyPr>
          <a:lstStyle/>
          <a:p>
            <a:pPr marL="342900" indent="-342900">
              <a:buFont typeface="Arial" panose="020B0604020202020204" pitchFamily="34" charset="0"/>
              <a:buChar char="•"/>
            </a:pPr>
            <a:r>
              <a:rPr lang="en-GB" sz="2200" dirty="0">
                <a:latin typeface="Open Sans" panose="020B0606030504020204" pitchFamily="34" charset="0"/>
                <a:ea typeface="Open Sans" panose="020B0606030504020204" pitchFamily="34" charset="0"/>
                <a:cs typeface="Open Sans" panose="020B0606030504020204" pitchFamily="34" charset="0"/>
              </a:rPr>
              <a:t>Digital stress is not defined by a single factor but by a systemic network of notifications, algorithms and constant connectivity – which is becoming a connecting cause of research between attention fragmentation and symptoms of ADHD. (</a:t>
            </a:r>
            <a:r>
              <a:rPr lang="en-US" sz="2200" dirty="0" err="1">
                <a:latin typeface="Open Sans" panose="020B0606030504020204" pitchFamily="34" charset="0"/>
                <a:ea typeface="Open Sans" panose="020B0606030504020204" pitchFamily="34" charset="0"/>
                <a:cs typeface="Open Sans" panose="020B0606030504020204" pitchFamily="34" charset="0"/>
              </a:rPr>
              <a:t>Grieva</a:t>
            </a:r>
            <a:r>
              <a:rPr lang="en-US" sz="2200" dirty="0">
                <a:latin typeface="Open Sans" panose="020B0606030504020204" pitchFamily="34" charset="0"/>
                <a:ea typeface="Open Sans" panose="020B0606030504020204" pitchFamily="34" charset="0"/>
                <a:cs typeface="Open Sans" panose="020B0606030504020204" pitchFamily="34" charset="0"/>
              </a:rPr>
              <a:t> et al., 2025</a:t>
            </a:r>
            <a:r>
              <a:rPr lang="en-GB" sz="2200" dirty="0">
                <a:latin typeface="Open Sans" panose="020B0606030504020204" pitchFamily="34" charset="0"/>
                <a:ea typeface="Open Sans" panose="020B0606030504020204" pitchFamily="34" charset="0"/>
                <a:cs typeface="Open Sans" panose="020B0606030504020204" pitchFamily="34" charset="0"/>
              </a:rPr>
              <a:t>).</a:t>
            </a:r>
          </a:p>
          <a:p>
            <a:pPr marL="342900" indent="-342900">
              <a:buFont typeface="Arial" panose="020B0604020202020204" pitchFamily="34" charset="0"/>
              <a:buChar char="•"/>
            </a:pPr>
            <a:endParaRPr lang="en-GB" sz="22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GB" sz="2200" dirty="0">
                <a:latin typeface="Open Sans" panose="020B0606030504020204" pitchFamily="34" charset="0"/>
                <a:ea typeface="Open Sans" panose="020B0606030504020204" pitchFamily="34" charset="0"/>
                <a:cs typeface="Open Sans" panose="020B0606030504020204" pitchFamily="34" charset="0"/>
              </a:rPr>
              <a:t>This environment creates an opportunity for a technology brand positioned around privacy, focus, and controlled communication.</a:t>
            </a:r>
          </a:p>
        </p:txBody>
      </p:sp>
      <p:sp>
        <p:nvSpPr>
          <p:cNvPr id="3" name="TextBox 2">
            <a:extLst>
              <a:ext uri="{FF2B5EF4-FFF2-40B4-BE49-F238E27FC236}">
                <a16:creationId xmlns:a16="http://schemas.microsoft.com/office/drawing/2014/main" id="{7277B65A-1EA2-3A3B-2B41-25973F11D5D8}"/>
              </a:ext>
            </a:extLst>
          </p:cNvPr>
          <p:cNvSpPr txBox="1"/>
          <p:nvPr/>
        </p:nvSpPr>
        <p:spPr>
          <a:xfrm>
            <a:off x="11125201" y="5665265"/>
            <a:ext cx="7162798" cy="363920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2200" dirty="0">
                <a:latin typeface="Open Sans" panose="020B0606030504020204" pitchFamily="34" charset="0"/>
                <a:ea typeface="Open Sans" panose="020B0606030504020204" pitchFamily="34" charset="0"/>
                <a:cs typeface="Open Sans" panose="020B0606030504020204" pitchFamily="34" charset="0"/>
              </a:rPr>
              <a:t>Average smartphone users check their phone 90–100 times per day (Asurion, 2024).</a:t>
            </a:r>
          </a:p>
          <a:p>
            <a:pPr marL="285750" indent="-285750">
              <a:lnSpc>
                <a:spcPct val="150000"/>
              </a:lnSpc>
              <a:buFont typeface="Arial" panose="020B0604020202020204" pitchFamily="34" charset="0"/>
              <a:buChar char="•"/>
            </a:pPr>
            <a:r>
              <a:rPr lang="en-GB" sz="2200" dirty="0">
                <a:latin typeface="Open Sans" panose="020B0606030504020204" pitchFamily="34" charset="0"/>
                <a:ea typeface="Open Sans" panose="020B0606030504020204" pitchFamily="34" charset="0"/>
                <a:cs typeface="Open Sans" panose="020B0606030504020204" pitchFamily="34" charset="0"/>
              </a:rPr>
              <a:t>Global average screen time exceeds 6–7 hours daily (</a:t>
            </a:r>
            <a:r>
              <a:rPr lang="en-US" sz="2200" dirty="0" err="1">
                <a:latin typeface="Open Sans" panose="020B0606030504020204" pitchFamily="34" charset="0"/>
                <a:ea typeface="Open Sans" panose="020B0606030504020204" pitchFamily="34" charset="0"/>
                <a:cs typeface="Open Sans" panose="020B0606030504020204" pitchFamily="34" charset="0"/>
              </a:rPr>
              <a:t>Kaewpradit</a:t>
            </a:r>
            <a:r>
              <a:rPr lang="en-GB" sz="2200" dirty="0">
                <a:latin typeface="Open Sans" panose="020B0606030504020204" pitchFamily="34" charset="0"/>
                <a:ea typeface="Open Sans" panose="020B0606030504020204" pitchFamily="34" charset="0"/>
                <a:cs typeface="Open Sans" panose="020B0606030504020204" pitchFamily="34" charset="0"/>
              </a:rPr>
              <a:t>, 2025).</a:t>
            </a:r>
          </a:p>
          <a:p>
            <a:pPr marL="285750" indent="-285750">
              <a:lnSpc>
                <a:spcPct val="150000"/>
              </a:lnSpc>
              <a:buFont typeface="Arial" panose="020B0604020202020204" pitchFamily="34" charset="0"/>
              <a:buChar char="•"/>
            </a:pPr>
            <a:r>
              <a:rPr lang="en-GB" sz="2200" dirty="0">
                <a:latin typeface="Open Sans" panose="020B0606030504020204" pitchFamily="34" charset="0"/>
                <a:ea typeface="Open Sans" panose="020B0606030504020204" pitchFamily="34" charset="0"/>
                <a:cs typeface="Open Sans" panose="020B0606030504020204" pitchFamily="34" charset="0"/>
              </a:rPr>
              <a:t>According to </a:t>
            </a:r>
            <a:r>
              <a:rPr lang="en-US" sz="2400" dirty="0">
                <a:latin typeface="Open Sans" panose="020B0606030504020204" pitchFamily="34" charset="0"/>
                <a:ea typeface="Open Sans" panose="020B0606030504020204" pitchFamily="34" charset="0"/>
                <a:cs typeface="Open Sans" panose="020B0606030504020204" pitchFamily="34" charset="0"/>
              </a:rPr>
              <a:t>Winter (2024), </a:t>
            </a:r>
            <a:r>
              <a:rPr lang="en-GB" sz="2200" dirty="0">
                <a:latin typeface="Open Sans" panose="020B0606030504020204" pitchFamily="34" charset="0"/>
                <a:ea typeface="Open Sans" panose="020B0606030504020204" pitchFamily="34" charset="0"/>
                <a:cs typeface="Open Sans" panose="020B0606030504020204" pitchFamily="34" charset="0"/>
              </a:rPr>
              <a:t>heavy digital media use is associated with higher ADHD-related symptoms in adolescents (JAMA </a:t>
            </a:r>
            <a:r>
              <a:rPr lang="en-GB" sz="2200" dirty="0" err="1">
                <a:latin typeface="Open Sans" panose="020B0606030504020204" pitchFamily="34" charset="0"/>
                <a:ea typeface="Open Sans" panose="020B0606030504020204" pitchFamily="34" charset="0"/>
                <a:cs typeface="Open Sans" panose="020B0606030504020204" pitchFamily="34" charset="0"/>
              </a:rPr>
              <a:t>Pediatrics</a:t>
            </a:r>
            <a:r>
              <a:rPr lang="en-GB" sz="2200" dirty="0">
                <a:latin typeface="Open Sans" panose="020B0606030504020204" pitchFamily="34" charset="0"/>
                <a:ea typeface="Open Sans" panose="020B0606030504020204" pitchFamily="34" charset="0"/>
                <a:cs typeface="Open Sans" panose="020B0606030504020204" pitchFamily="34" charset="0"/>
              </a:rPr>
              <a:t>).</a:t>
            </a:r>
            <a:endParaRPr lang="LID4096" sz="22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87456941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F8F39-6E39-4723-4130-D0D942A67A5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F39EA7C-3C49-1BBF-B40F-E093B916F1DD}"/>
              </a:ext>
            </a:extLst>
          </p:cNvPr>
          <p:cNvSpPr txBox="1"/>
          <p:nvPr/>
        </p:nvSpPr>
        <p:spPr>
          <a:xfrm>
            <a:off x="1028700" y="694517"/>
            <a:ext cx="16211305" cy="1182888"/>
          </a:xfrm>
          <a:prstGeom prst="rect">
            <a:avLst/>
          </a:prstGeom>
        </p:spPr>
        <p:txBody>
          <a:bodyPr lIns="0" tIns="0" rIns="0" bIns="0" rtlCol="0" anchor="t">
            <a:spAutoFit/>
          </a:bodyPr>
          <a:lstStyle/>
          <a:p>
            <a:pPr algn="ctr">
              <a:lnSpc>
                <a:spcPts val="9799"/>
              </a:lnSpc>
            </a:pPr>
            <a:r>
              <a:rPr lang="en-US" sz="7200" b="1" dirty="0">
                <a:latin typeface="Montserrat" panose="00000500000000000000" pitchFamily="2" charset="0"/>
                <a:ea typeface="Open Sans" panose="020B0606030504020204" pitchFamily="34" charset="0"/>
                <a:cs typeface="Open Sans" panose="020B0606030504020204" pitchFamily="34" charset="0"/>
              </a:rPr>
              <a:t>Daily Digital Interaction Journey</a:t>
            </a:r>
            <a:endParaRPr lang="en-US" sz="6999" b="1" dirty="0">
              <a:solidFill>
                <a:srgbClr val="000000"/>
              </a:solidFill>
              <a:latin typeface="Montserrat" panose="00000500000000000000" pitchFamily="2" charset="0"/>
              <a:ea typeface="Open Sans" panose="020B0606030504020204" pitchFamily="34" charset="0"/>
              <a:cs typeface="Open Sans" panose="020B0606030504020204" pitchFamily="34" charset="0"/>
              <a:sym typeface="Montserrat Bold"/>
            </a:endParaRPr>
          </a:p>
        </p:txBody>
      </p:sp>
      <p:sp>
        <p:nvSpPr>
          <p:cNvPr id="5" name="Freeform 3">
            <a:extLst>
              <a:ext uri="{FF2B5EF4-FFF2-40B4-BE49-F238E27FC236}">
                <a16:creationId xmlns:a16="http://schemas.microsoft.com/office/drawing/2014/main" id="{7CB4AE49-37D1-DECD-6768-E2E49F626921}"/>
              </a:ext>
            </a:extLst>
          </p:cNvPr>
          <p:cNvSpPr/>
          <p:nvPr/>
        </p:nvSpPr>
        <p:spPr>
          <a:xfrm>
            <a:off x="15697200" y="8578660"/>
            <a:ext cx="2590800" cy="1708340"/>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graphicFrame>
        <p:nvGraphicFramePr>
          <p:cNvPr id="6" name="Table 5">
            <a:extLst>
              <a:ext uri="{FF2B5EF4-FFF2-40B4-BE49-F238E27FC236}">
                <a16:creationId xmlns:a16="http://schemas.microsoft.com/office/drawing/2014/main" id="{C8E9E61D-3946-31C3-3568-696D3CE928FB}"/>
              </a:ext>
            </a:extLst>
          </p:cNvPr>
          <p:cNvGraphicFramePr>
            <a:graphicFrameLocks noGrp="1"/>
          </p:cNvGraphicFramePr>
          <p:nvPr>
            <p:extLst>
              <p:ext uri="{D42A27DB-BD31-4B8C-83A1-F6EECF244321}">
                <p14:modId xmlns:p14="http://schemas.microsoft.com/office/powerpoint/2010/main" val="4053688734"/>
              </p:ext>
            </p:extLst>
          </p:nvPr>
        </p:nvGraphicFramePr>
        <p:xfrm>
          <a:off x="1524000" y="2171700"/>
          <a:ext cx="15240000" cy="6112665"/>
        </p:xfrm>
        <a:graphic>
          <a:graphicData uri="http://schemas.openxmlformats.org/drawingml/2006/table">
            <a:tbl>
              <a:tblPr>
                <a:tableStyleId>{08FB837D-C827-4EFA-A057-4D05807E0F7C}</a:tableStyleId>
              </a:tblPr>
              <a:tblGrid>
                <a:gridCol w="3048000">
                  <a:extLst>
                    <a:ext uri="{9D8B030D-6E8A-4147-A177-3AD203B41FA5}">
                      <a16:colId xmlns:a16="http://schemas.microsoft.com/office/drawing/2014/main" val="2948227888"/>
                    </a:ext>
                  </a:extLst>
                </a:gridCol>
                <a:gridCol w="3048000">
                  <a:extLst>
                    <a:ext uri="{9D8B030D-6E8A-4147-A177-3AD203B41FA5}">
                      <a16:colId xmlns:a16="http://schemas.microsoft.com/office/drawing/2014/main" val="2272778805"/>
                    </a:ext>
                  </a:extLst>
                </a:gridCol>
                <a:gridCol w="3048000">
                  <a:extLst>
                    <a:ext uri="{9D8B030D-6E8A-4147-A177-3AD203B41FA5}">
                      <a16:colId xmlns:a16="http://schemas.microsoft.com/office/drawing/2014/main" val="824991024"/>
                    </a:ext>
                  </a:extLst>
                </a:gridCol>
                <a:gridCol w="3048000">
                  <a:extLst>
                    <a:ext uri="{9D8B030D-6E8A-4147-A177-3AD203B41FA5}">
                      <a16:colId xmlns:a16="http://schemas.microsoft.com/office/drawing/2014/main" val="222566429"/>
                    </a:ext>
                  </a:extLst>
                </a:gridCol>
                <a:gridCol w="3048000">
                  <a:extLst>
                    <a:ext uri="{9D8B030D-6E8A-4147-A177-3AD203B41FA5}">
                      <a16:colId xmlns:a16="http://schemas.microsoft.com/office/drawing/2014/main" val="1137446041"/>
                    </a:ext>
                  </a:extLst>
                </a:gridCol>
              </a:tblGrid>
              <a:tr h="528029">
                <a:tc>
                  <a:txBody>
                    <a:bodyPr/>
                    <a:lstStyle/>
                    <a:p>
                      <a:pPr>
                        <a:buNone/>
                      </a:pPr>
                      <a:r>
                        <a:rPr lang="en-US" sz="2400" b="1">
                          <a:latin typeface="Open Sans" panose="020B0606030504020204" pitchFamily="34" charset="0"/>
                          <a:ea typeface="Open Sans" panose="020B0606030504020204" pitchFamily="34" charset="0"/>
                          <a:cs typeface="Open Sans" panose="020B0606030504020204" pitchFamily="34" charset="0"/>
                        </a:rPr>
                        <a:t>Phase</a:t>
                      </a:r>
                    </a:p>
                  </a:txBody>
                  <a:tcPr marL="75433" marR="75433" marT="37716" marB="37716" anchor="ctr"/>
                </a:tc>
                <a:tc>
                  <a:txBody>
                    <a:bodyPr/>
                    <a:lstStyle/>
                    <a:p>
                      <a:pPr>
                        <a:buNone/>
                      </a:pPr>
                      <a:r>
                        <a:rPr lang="en-US" sz="2400" b="1">
                          <a:latin typeface="Open Sans" panose="020B0606030504020204" pitchFamily="34" charset="0"/>
                          <a:ea typeface="Open Sans" panose="020B0606030504020204" pitchFamily="34" charset="0"/>
                          <a:cs typeface="Open Sans" panose="020B0606030504020204" pitchFamily="34" charset="0"/>
                        </a:rPr>
                        <a:t>User Activity</a:t>
                      </a:r>
                    </a:p>
                  </a:txBody>
                  <a:tcPr marL="75433" marR="75433" marT="37716" marB="37716" anchor="ctr"/>
                </a:tc>
                <a:tc>
                  <a:txBody>
                    <a:bodyPr/>
                    <a:lstStyle/>
                    <a:p>
                      <a:pPr>
                        <a:buNone/>
                      </a:pPr>
                      <a:r>
                        <a:rPr lang="en-US" sz="2400" b="1" dirty="0">
                          <a:latin typeface="Open Sans" panose="020B0606030504020204" pitchFamily="34" charset="0"/>
                          <a:ea typeface="Open Sans" panose="020B0606030504020204" pitchFamily="34" charset="0"/>
                          <a:cs typeface="Open Sans" panose="020B0606030504020204" pitchFamily="34" charset="0"/>
                        </a:rPr>
                        <a:t>Cognitive State</a:t>
                      </a:r>
                    </a:p>
                  </a:txBody>
                  <a:tcPr marL="75433" marR="75433" marT="37716" marB="37716" anchor="ctr"/>
                </a:tc>
                <a:tc>
                  <a:txBody>
                    <a:bodyPr/>
                    <a:lstStyle/>
                    <a:p>
                      <a:pPr>
                        <a:buNone/>
                      </a:pPr>
                      <a:r>
                        <a:rPr lang="en-US" sz="2400" b="1" dirty="0">
                          <a:latin typeface="Open Sans" panose="020B0606030504020204" pitchFamily="34" charset="0"/>
                          <a:ea typeface="Open Sans" panose="020B0606030504020204" pitchFamily="34" charset="0"/>
                          <a:cs typeface="Open Sans" panose="020B0606030504020204" pitchFamily="34" charset="0"/>
                        </a:rPr>
                        <a:t>System Influence</a:t>
                      </a:r>
                    </a:p>
                  </a:txBody>
                  <a:tcPr marL="75433" marR="75433" marT="37716" marB="37716" anchor="ctr"/>
                </a:tc>
                <a:tc>
                  <a:txBody>
                    <a:bodyPr/>
                    <a:lstStyle/>
                    <a:p>
                      <a:pPr>
                        <a:buNone/>
                      </a:pPr>
                      <a:r>
                        <a:rPr lang="en-US" sz="2400" b="1" dirty="0">
                          <a:latin typeface="Open Sans" panose="020B0606030504020204" pitchFamily="34" charset="0"/>
                          <a:ea typeface="Open Sans" panose="020B0606030504020204" pitchFamily="34" charset="0"/>
                          <a:cs typeface="Open Sans" panose="020B0606030504020204" pitchFamily="34" charset="0"/>
                        </a:rPr>
                        <a:t>Opportunity Insight</a:t>
                      </a:r>
                    </a:p>
                  </a:txBody>
                  <a:tcPr marL="75433" marR="75433" marT="37716" marB="37716" anchor="ctr"/>
                </a:tc>
                <a:extLst>
                  <a:ext uri="{0D108BD9-81ED-4DB2-BD59-A6C34878D82A}">
                    <a16:rowId xmlns:a16="http://schemas.microsoft.com/office/drawing/2014/main" val="2520567929"/>
                  </a:ext>
                </a:extLst>
              </a:tr>
              <a:tr h="980625">
                <a:tc>
                  <a:txBody>
                    <a:bodyPr/>
                    <a:lstStyle/>
                    <a:p>
                      <a:pPr>
                        <a:buNone/>
                      </a:pPr>
                      <a:r>
                        <a:rPr lang="en-US" sz="2400" dirty="0">
                          <a:latin typeface="Open Sans" panose="020B0606030504020204" pitchFamily="34" charset="0"/>
                          <a:ea typeface="Open Sans" panose="020B0606030504020204" pitchFamily="34" charset="0"/>
                          <a:cs typeface="Open Sans" panose="020B0606030504020204" pitchFamily="34" charset="0"/>
                        </a:rPr>
                        <a:t>Morning</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Checks phone immediately</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Alert but distracted</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Notifications &amp; feeds</a:t>
                      </a:r>
                    </a:p>
                  </a:txBody>
                  <a:tcPr marL="75433" marR="75433" marT="37716" marB="37716" anchor="ctr"/>
                </a:tc>
                <a:tc>
                  <a:txBody>
                    <a:bodyPr/>
                    <a:lstStyle/>
                    <a:p>
                      <a:pPr>
                        <a:buNone/>
                      </a:pPr>
                      <a:r>
                        <a:rPr lang="en-GB" sz="2400">
                          <a:latin typeface="Open Sans" panose="020B0606030504020204" pitchFamily="34" charset="0"/>
                          <a:ea typeface="Open Sans" panose="020B0606030504020204" pitchFamily="34" charset="0"/>
                          <a:cs typeface="Open Sans" panose="020B0606030504020204" pitchFamily="34" charset="0"/>
                        </a:rPr>
                        <a:t>Need for controlled notification intake</a:t>
                      </a:r>
                    </a:p>
                  </a:txBody>
                  <a:tcPr marL="75433" marR="75433" marT="37716" marB="37716" anchor="ctr"/>
                </a:tc>
                <a:extLst>
                  <a:ext uri="{0D108BD9-81ED-4DB2-BD59-A6C34878D82A}">
                    <a16:rowId xmlns:a16="http://schemas.microsoft.com/office/drawing/2014/main" val="1832381873"/>
                  </a:ext>
                </a:extLst>
              </a:tr>
              <a:tr h="754327">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Midday</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Work/study communication</a:t>
                      </a:r>
                    </a:p>
                  </a:txBody>
                  <a:tcPr marL="75433" marR="75433" marT="37716" marB="3771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anose="020B0606030504020204" pitchFamily="34" charset="0"/>
                          <a:ea typeface="Open Sans" panose="020B0606030504020204" pitchFamily="34" charset="0"/>
                          <a:cs typeface="Open Sans" panose="020B0606030504020204" pitchFamily="34" charset="0"/>
                        </a:rPr>
                        <a:t>Fragmented focus </a:t>
                      </a:r>
                      <a:r>
                        <a:rPr lang="en-US" sz="2400" dirty="0">
                          <a:solidFill>
                            <a:srgbClr val="E01A72"/>
                          </a:solidFill>
                          <a:latin typeface="Open Sans"/>
                          <a:ea typeface="Open Sans"/>
                          <a:cs typeface="Open Sans"/>
                          <a:sym typeface="Open Sans"/>
                        </a:rPr>
                        <a:t>(Reuters, 2025)</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App multitasking</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Opportunity for focus-oriented interface</a:t>
                      </a:r>
                    </a:p>
                  </a:txBody>
                  <a:tcPr marL="75433" marR="75433" marT="37716" marB="37716" anchor="ctr"/>
                </a:tc>
                <a:extLst>
                  <a:ext uri="{0D108BD9-81ED-4DB2-BD59-A6C34878D82A}">
                    <a16:rowId xmlns:a16="http://schemas.microsoft.com/office/drawing/2014/main" val="3495244973"/>
                  </a:ext>
                </a:extLst>
              </a:tr>
              <a:tr h="754327">
                <a:tc>
                  <a:txBody>
                    <a:bodyPr/>
                    <a:lstStyle/>
                    <a:p>
                      <a:pPr>
                        <a:buNone/>
                      </a:pPr>
                      <a:r>
                        <a:rPr lang="en-US" sz="2400" dirty="0">
                          <a:latin typeface="Open Sans" panose="020B0606030504020204" pitchFamily="34" charset="0"/>
                          <a:ea typeface="Open Sans" panose="020B0606030504020204" pitchFamily="34" charset="0"/>
                          <a:cs typeface="Open Sans" panose="020B0606030504020204" pitchFamily="34" charset="0"/>
                        </a:rPr>
                        <a:t>Afternoon</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Passive scrolling</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Reduced productivity</a:t>
                      </a:r>
                    </a:p>
                  </a:txBody>
                  <a:tcPr marL="75433" marR="75433" marT="37716" marB="37716" anchor="ctr"/>
                </a:tc>
                <a:tc>
                  <a:txBody>
                    <a:bodyPr/>
                    <a:lstStyle/>
                    <a:p>
                      <a:pPr>
                        <a:buNone/>
                      </a:pPr>
                      <a:r>
                        <a:rPr lang="en-US" sz="2400" dirty="0">
                          <a:latin typeface="Open Sans" panose="020B0606030504020204" pitchFamily="34" charset="0"/>
                          <a:ea typeface="Open Sans" panose="020B0606030504020204" pitchFamily="34" charset="0"/>
                          <a:cs typeface="Open Sans" panose="020B0606030504020204" pitchFamily="34" charset="0"/>
                        </a:rPr>
                        <a:t>Algorithmic loops</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Need for intentional-use design</a:t>
                      </a:r>
                    </a:p>
                  </a:txBody>
                  <a:tcPr marL="75433" marR="75433" marT="37716" marB="37716" anchor="ctr"/>
                </a:tc>
                <a:extLst>
                  <a:ext uri="{0D108BD9-81ED-4DB2-BD59-A6C34878D82A}">
                    <a16:rowId xmlns:a16="http://schemas.microsoft.com/office/drawing/2014/main" val="2354843376"/>
                  </a:ext>
                </a:extLst>
              </a:tr>
              <a:tr h="754327">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Evening</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Messaging &amp; streaming</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Mental fatigue</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Continuous connectivity</a:t>
                      </a:r>
                    </a:p>
                  </a:txBody>
                  <a:tcPr marL="75433" marR="75433" marT="37716" marB="37716" anchor="ctr"/>
                </a:tc>
                <a:tc>
                  <a:txBody>
                    <a:bodyPr/>
                    <a:lstStyle/>
                    <a:p>
                      <a:pPr>
                        <a:buNone/>
                      </a:pPr>
                      <a:r>
                        <a:rPr lang="en-GB" sz="2400" dirty="0">
                          <a:latin typeface="Open Sans" panose="020B0606030504020204" pitchFamily="34" charset="0"/>
                          <a:ea typeface="Open Sans" panose="020B0606030504020204" pitchFamily="34" charset="0"/>
                          <a:cs typeface="Open Sans" panose="020B0606030504020204" pitchFamily="34" charset="0"/>
                        </a:rPr>
                        <a:t>Need for digital boundary features</a:t>
                      </a:r>
                    </a:p>
                  </a:txBody>
                  <a:tcPr marL="75433" marR="75433" marT="37716" marB="37716" anchor="ctr"/>
                </a:tc>
                <a:extLst>
                  <a:ext uri="{0D108BD9-81ED-4DB2-BD59-A6C34878D82A}">
                    <a16:rowId xmlns:a16="http://schemas.microsoft.com/office/drawing/2014/main" val="3945633853"/>
                  </a:ext>
                </a:extLst>
              </a:tr>
              <a:tr h="754327">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Night</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Late scrolling</a:t>
                      </a:r>
                    </a:p>
                  </a:txBody>
                  <a:tcPr marL="75433" marR="75433" marT="37716" marB="37716" anchor="ctr"/>
                </a:tc>
                <a:tc>
                  <a:txBody>
                    <a:bodyPr/>
                    <a:lstStyle/>
                    <a:p>
                      <a:pPr>
                        <a:buNone/>
                      </a:pPr>
                      <a:r>
                        <a:rPr lang="en-US" sz="2400" dirty="0">
                          <a:latin typeface="Open Sans" panose="020B0606030504020204" pitchFamily="34" charset="0"/>
                          <a:ea typeface="Open Sans" panose="020B0606030504020204" pitchFamily="34" charset="0"/>
                          <a:cs typeface="Open Sans" panose="020B0606030504020204" pitchFamily="34" charset="0"/>
                        </a:rPr>
                        <a:t>Overstimulated, guilty</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Infinite feeds</a:t>
                      </a:r>
                    </a:p>
                  </a:txBody>
                  <a:tcPr marL="75433" marR="75433" marT="37716" marB="37716" anchor="ctr"/>
                </a:tc>
                <a:tc>
                  <a:txBody>
                    <a:bodyPr/>
                    <a:lstStyle/>
                    <a:p>
                      <a:pPr>
                        <a:buNone/>
                      </a:pPr>
                      <a:r>
                        <a:rPr lang="en-US" sz="2400" dirty="0">
                          <a:latin typeface="Open Sans" panose="020B0606030504020204" pitchFamily="34" charset="0"/>
                          <a:ea typeface="Open Sans" panose="020B0606030504020204" pitchFamily="34" charset="0"/>
                          <a:cs typeface="Open Sans" panose="020B0606030504020204" pitchFamily="34" charset="0"/>
                        </a:rPr>
                        <a:t>Need for distraction-free modes</a:t>
                      </a:r>
                    </a:p>
                  </a:txBody>
                  <a:tcPr marL="75433" marR="75433" marT="37716" marB="37716" anchor="ctr"/>
                </a:tc>
                <a:extLst>
                  <a:ext uri="{0D108BD9-81ED-4DB2-BD59-A6C34878D82A}">
                    <a16:rowId xmlns:a16="http://schemas.microsoft.com/office/drawing/2014/main" val="2372239085"/>
                  </a:ext>
                </a:extLst>
              </a:tr>
            </a:tbl>
          </a:graphicData>
        </a:graphic>
      </p:graphicFrame>
      <p:sp>
        <p:nvSpPr>
          <p:cNvPr id="8" name="TextBox 7">
            <a:extLst>
              <a:ext uri="{FF2B5EF4-FFF2-40B4-BE49-F238E27FC236}">
                <a16:creationId xmlns:a16="http://schemas.microsoft.com/office/drawing/2014/main" id="{AAEF4A91-2C87-8D39-312D-A26C65619759}"/>
              </a:ext>
            </a:extLst>
          </p:cNvPr>
          <p:cNvSpPr txBox="1"/>
          <p:nvPr/>
        </p:nvSpPr>
        <p:spPr>
          <a:xfrm>
            <a:off x="1447800" y="8842057"/>
            <a:ext cx="14173200" cy="492443"/>
          </a:xfrm>
          <a:prstGeom prst="rect">
            <a:avLst/>
          </a:prstGeom>
          <a:noFill/>
        </p:spPr>
        <p:txBody>
          <a:bodyPr wrap="square">
            <a:spAutoFit/>
          </a:bodyPr>
          <a:lstStyle/>
          <a:p>
            <a:pPr>
              <a:buNone/>
            </a:pPr>
            <a:r>
              <a:rPr lang="en-GB" sz="2600" dirty="0">
                <a:latin typeface="Open Sans" panose="020B0606030504020204" pitchFamily="34" charset="0"/>
                <a:ea typeface="Open Sans" panose="020B0606030504020204" pitchFamily="34" charset="0"/>
                <a:cs typeface="Open Sans" panose="020B0606030504020204" pitchFamily="34" charset="0"/>
              </a:rPr>
              <a:t>Cognitive overload accumulates through the day due to engagement-driven system design.</a:t>
            </a:r>
          </a:p>
        </p:txBody>
      </p:sp>
    </p:spTree>
    <p:extLst>
      <p:ext uri="{BB962C8B-B14F-4D97-AF65-F5344CB8AC3E}">
        <p14:creationId xmlns:p14="http://schemas.microsoft.com/office/powerpoint/2010/main" val="4204882936"/>
      </p:ext>
    </p:extLst>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AC50F-85DC-B5EC-60E7-E9FD5D0615A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91CDC91-A303-FF89-5406-3D3A50B9D834}"/>
              </a:ext>
            </a:extLst>
          </p:cNvPr>
          <p:cNvSpPr txBox="1"/>
          <p:nvPr/>
        </p:nvSpPr>
        <p:spPr>
          <a:xfrm>
            <a:off x="1028700" y="419100"/>
            <a:ext cx="16649700" cy="1170705"/>
          </a:xfrm>
          <a:prstGeom prst="rect">
            <a:avLst/>
          </a:prstGeom>
        </p:spPr>
        <p:txBody>
          <a:bodyPr wrap="square" lIns="0" tIns="0" rIns="0" bIns="0" rtlCol="0" anchor="t">
            <a:spAutoFit/>
          </a:bodyPr>
          <a:lstStyle/>
          <a:p>
            <a:pPr algn="ctr">
              <a:lnSpc>
                <a:spcPts val="9799"/>
              </a:lnSpc>
            </a:pPr>
            <a:r>
              <a:rPr lang="en-GB" sz="7200" b="1" dirty="0">
                <a:latin typeface="Montserrat" panose="00000500000000000000" pitchFamily="2" charset="0"/>
              </a:rPr>
              <a:t>USER PAIN AND NEEDS ANALYSIS</a:t>
            </a:r>
            <a:endParaRPr lang="en-US" sz="6999" b="1" dirty="0">
              <a:solidFill>
                <a:srgbClr val="000000"/>
              </a:solidFill>
              <a:latin typeface="Montserrat" panose="00000500000000000000" pitchFamily="2" charset="0"/>
              <a:ea typeface="Montserrat Bold"/>
              <a:cs typeface="Montserrat Bold"/>
              <a:sym typeface="Montserrat Bold"/>
            </a:endParaRPr>
          </a:p>
        </p:txBody>
      </p:sp>
      <p:sp>
        <p:nvSpPr>
          <p:cNvPr id="4" name="TextBox 4">
            <a:extLst>
              <a:ext uri="{FF2B5EF4-FFF2-40B4-BE49-F238E27FC236}">
                <a16:creationId xmlns:a16="http://schemas.microsoft.com/office/drawing/2014/main" id="{974FEAE8-611A-4B5B-83F3-42C312089C0B}"/>
              </a:ext>
            </a:extLst>
          </p:cNvPr>
          <p:cNvSpPr txBox="1"/>
          <p:nvPr/>
        </p:nvSpPr>
        <p:spPr>
          <a:xfrm>
            <a:off x="1143000" y="7388304"/>
            <a:ext cx="16230600" cy="861774"/>
          </a:xfrm>
          <a:prstGeom prst="rect">
            <a:avLst/>
          </a:prstGeom>
        </p:spPr>
        <p:txBody>
          <a:bodyPr lIns="0" tIns="0" rIns="0" bIns="0" rtlCol="0" anchor="t">
            <a:spAutoFit/>
          </a:bodyPr>
          <a:lstStyle/>
          <a:p>
            <a:pPr marL="571500" indent="-571500">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User needs are shifting from feature abundance to intentional, controlled technology use (</a:t>
            </a:r>
            <a:r>
              <a:rPr lang="en-US" sz="2800" dirty="0">
                <a:latin typeface="Open Sans" panose="020B0606030504020204" pitchFamily="34" charset="0"/>
                <a:ea typeface="Open Sans" panose="020B0606030504020204" pitchFamily="34" charset="0"/>
                <a:cs typeface="Open Sans" panose="020B0606030504020204" pitchFamily="34" charset="0"/>
              </a:rPr>
              <a:t>Sexton et al., 2022</a:t>
            </a:r>
            <a:r>
              <a:rPr lang="en-GB" sz="2800" dirty="0">
                <a:latin typeface="Open Sans" panose="020B0606030504020204" pitchFamily="34" charset="0"/>
                <a:ea typeface="Open Sans" panose="020B0606030504020204" pitchFamily="34" charset="0"/>
                <a:cs typeface="Open Sans" panose="020B0606030504020204" pitchFamily="34" charset="0"/>
              </a:rPr>
              <a:t>).</a:t>
            </a:r>
          </a:p>
        </p:txBody>
      </p:sp>
      <p:sp>
        <p:nvSpPr>
          <p:cNvPr id="5" name="Freeform 3">
            <a:extLst>
              <a:ext uri="{FF2B5EF4-FFF2-40B4-BE49-F238E27FC236}">
                <a16:creationId xmlns:a16="http://schemas.microsoft.com/office/drawing/2014/main" id="{0896BF67-67B3-599E-006D-DD0F495BFE8F}"/>
              </a:ext>
            </a:extLst>
          </p:cNvPr>
          <p:cNvSpPr/>
          <p:nvPr/>
        </p:nvSpPr>
        <p:spPr>
          <a:xfrm>
            <a:off x="15100116" y="8036617"/>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sp>
        <p:nvSpPr>
          <p:cNvPr id="6" name="Rectangle 5">
            <a:extLst>
              <a:ext uri="{FF2B5EF4-FFF2-40B4-BE49-F238E27FC236}">
                <a16:creationId xmlns:a16="http://schemas.microsoft.com/office/drawing/2014/main" id="{B91218EC-1D1A-A332-CB00-99F16313EEA6}"/>
              </a:ext>
            </a:extLst>
          </p:cNvPr>
          <p:cNvSpPr/>
          <p:nvPr/>
        </p:nvSpPr>
        <p:spPr>
          <a:xfrm>
            <a:off x="1462418" y="1877403"/>
            <a:ext cx="4648200" cy="37994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latin typeface="Open Sans" panose="020B0606030504020204" pitchFamily="34" charset="0"/>
                <a:ea typeface="Open Sans" panose="020B0606030504020204" pitchFamily="34" charset="0"/>
                <a:cs typeface="Open Sans" panose="020B0606030504020204" pitchFamily="34" charset="0"/>
              </a:rPr>
              <a:t>Functional Needs</a:t>
            </a:r>
          </a:p>
          <a:p>
            <a:endParaRPr lang="en-US" sz="28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Fewer distractions</a:t>
            </a:r>
          </a:p>
          <a:p>
            <a:pPr marL="342900" indent="-34290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Simpler device interaction</a:t>
            </a:r>
          </a:p>
          <a:p>
            <a:pPr marL="342900" indent="-34290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Transparent privacy controls</a:t>
            </a:r>
          </a:p>
        </p:txBody>
      </p:sp>
      <p:sp>
        <p:nvSpPr>
          <p:cNvPr id="9" name="Rectangle 8">
            <a:extLst>
              <a:ext uri="{FF2B5EF4-FFF2-40B4-BE49-F238E27FC236}">
                <a16:creationId xmlns:a16="http://schemas.microsoft.com/office/drawing/2014/main" id="{F5C0F9EC-C725-CEB6-8CAB-7A7673449585}"/>
              </a:ext>
            </a:extLst>
          </p:cNvPr>
          <p:cNvSpPr/>
          <p:nvPr/>
        </p:nvSpPr>
        <p:spPr>
          <a:xfrm>
            <a:off x="6858000" y="3238500"/>
            <a:ext cx="3810000" cy="341849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sz="2800" b="1" dirty="0">
                <a:latin typeface="Open Sans" panose="020B0606030504020204" pitchFamily="34" charset="0"/>
                <a:ea typeface="Open Sans" panose="020B0606030504020204" pitchFamily="34" charset="0"/>
                <a:cs typeface="Open Sans" panose="020B0606030504020204" pitchFamily="34" charset="0"/>
              </a:rPr>
              <a:t>Emotional Needs</a:t>
            </a:r>
          </a:p>
          <a:p>
            <a:pPr algn="just"/>
            <a:endParaRPr lang="en-GB" sz="2800" dirty="0">
              <a:latin typeface="Open Sans" panose="020B0606030504020204" pitchFamily="34" charset="0"/>
              <a:ea typeface="Open Sans" panose="020B0606030504020204" pitchFamily="34" charset="0"/>
              <a:cs typeface="Open Sans" panose="020B0606030504020204" pitchFamily="34" charset="0"/>
            </a:endParaRPr>
          </a:p>
          <a:p>
            <a:pPr marL="457200" indent="-457200" algn="just">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Reduced anxiety</a:t>
            </a:r>
          </a:p>
          <a:p>
            <a:pPr marL="457200" indent="-457200" algn="just">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Feeling in control</a:t>
            </a:r>
          </a:p>
          <a:p>
            <a:pPr marL="457200" indent="-457200" algn="just">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Mental calm </a:t>
            </a:r>
            <a:r>
              <a:rPr lang="en-US" sz="2800" dirty="0">
                <a:solidFill>
                  <a:srgbClr val="E01A72"/>
                </a:solidFill>
                <a:latin typeface="Open Sans"/>
                <a:ea typeface="Open Sans"/>
                <a:cs typeface="Open Sans"/>
                <a:sym typeface="Open Sans"/>
              </a:rPr>
              <a:t>(Reuters, 2025)</a:t>
            </a:r>
          </a:p>
          <a:p>
            <a:pPr marL="457200" indent="-457200" algn="just">
              <a:buFont typeface="Arial" panose="020B0604020202020204" pitchFamily="34" charset="0"/>
              <a:buChar char="•"/>
            </a:pPr>
            <a:endParaRPr lang="en-GB" sz="28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Rectangle 9">
            <a:extLst>
              <a:ext uri="{FF2B5EF4-FFF2-40B4-BE49-F238E27FC236}">
                <a16:creationId xmlns:a16="http://schemas.microsoft.com/office/drawing/2014/main" id="{22AEB2C7-810B-2CCF-11DA-BACF4A446E50}"/>
              </a:ext>
            </a:extLst>
          </p:cNvPr>
          <p:cNvSpPr/>
          <p:nvPr/>
        </p:nvSpPr>
        <p:spPr>
          <a:xfrm>
            <a:off x="12177383" y="1877405"/>
            <a:ext cx="4648199" cy="37994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800" b="1" dirty="0">
                <a:latin typeface="Open Sans" panose="020B0606030504020204" pitchFamily="34" charset="0"/>
                <a:ea typeface="Open Sans" panose="020B0606030504020204" pitchFamily="34" charset="0"/>
                <a:cs typeface="Open Sans" panose="020B0606030504020204" pitchFamily="34" charset="0"/>
              </a:rPr>
              <a:t>Privacy Needs</a:t>
            </a:r>
          </a:p>
          <a:p>
            <a:endParaRPr lang="en-GB" sz="2800" dirty="0">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Limited data tracking</a:t>
            </a:r>
          </a:p>
          <a:p>
            <a:pPr marL="457200" indent="-457200">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Secure communication</a:t>
            </a:r>
          </a:p>
          <a:p>
            <a:pPr marL="457200" indent="-457200">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Clear permission management </a:t>
            </a:r>
          </a:p>
        </p:txBody>
      </p:sp>
    </p:spTree>
    <p:extLst>
      <p:ext uri="{BB962C8B-B14F-4D97-AF65-F5344CB8AC3E}">
        <p14:creationId xmlns:p14="http://schemas.microsoft.com/office/powerpoint/2010/main" val="2343336886"/>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EEF8E-8597-7AA1-0498-4C55A964D225}"/>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7AC9A0C-6C93-17AB-740E-878F4436DC2B}"/>
              </a:ext>
            </a:extLst>
          </p:cNvPr>
          <p:cNvSpPr txBox="1"/>
          <p:nvPr/>
        </p:nvSpPr>
        <p:spPr>
          <a:xfrm>
            <a:off x="1028700" y="-69410"/>
            <a:ext cx="16211305" cy="1846659"/>
          </a:xfrm>
          <a:prstGeom prst="rect">
            <a:avLst/>
          </a:prstGeom>
        </p:spPr>
        <p:txBody>
          <a:bodyPr lIns="0" tIns="0" rIns="0" bIns="0" rtlCol="0" anchor="t">
            <a:spAutoFit/>
          </a:bodyPr>
          <a:lstStyle/>
          <a:p>
            <a:pPr algn="ctr"/>
            <a:r>
              <a:rPr lang="en-GB" sz="6000" b="1" dirty="0">
                <a:latin typeface="Montserrat" panose="00000500000000000000" pitchFamily="2" charset="0"/>
                <a:ea typeface="Malgun Gothic" panose="020B0503020000020004" pitchFamily="34" charset="-127"/>
              </a:rPr>
              <a:t>Gap Between Current Smartphone Systems and User Expectations</a:t>
            </a:r>
            <a:endParaRPr lang="en-US" sz="6000" b="1" dirty="0">
              <a:solidFill>
                <a:srgbClr val="000000"/>
              </a:solidFill>
              <a:latin typeface="Montserrat" panose="00000500000000000000" pitchFamily="2" charset="0"/>
              <a:ea typeface="Malgun Gothic" panose="020B0503020000020004" pitchFamily="34" charset="-127"/>
              <a:cs typeface="Montserrat Bold"/>
              <a:sym typeface="Montserrat Bold"/>
            </a:endParaRPr>
          </a:p>
        </p:txBody>
      </p:sp>
      <p:sp>
        <p:nvSpPr>
          <p:cNvPr id="4" name="TextBox 4">
            <a:extLst>
              <a:ext uri="{FF2B5EF4-FFF2-40B4-BE49-F238E27FC236}">
                <a16:creationId xmlns:a16="http://schemas.microsoft.com/office/drawing/2014/main" id="{D2C0745E-D158-E6DA-1DD1-83E9EAFAA86E}"/>
              </a:ext>
            </a:extLst>
          </p:cNvPr>
          <p:cNvSpPr txBox="1"/>
          <p:nvPr/>
        </p:nvSpPr>
        <p:spPr>
          <a:xfrm>
            <a:off x="1028700" y="8254305"/>
            <a:ext cx="16230600" cy="1384995"/>
          </a:xfrm>
          <a:prstGeom prst="rect">
            <a:avLst/>
          </a:prstGeom>
        </p:spPr>
        <p:txBody>
          <a:bodyPr lIns="0" tIns="0" rIns="0" bIns="0" rtlCol="0" anchor="t">
            <a:spAutoFit/>
          </a:bodyPr>
          <a:lstStyle/>
          <a:p>
            <a:pPr marL="571500" indent="-571500">
              <a:buFont typeface="Arial" panose="020B0604020202020204" pitchFamily="34" charset="0"/>
              <a:buChar char="•"/>
            </a:pPr>
            <a:r>
              <a:rPr lang="en-GB" sz="3000" dirty="0">
                <a:latin typeface="Open Sans" panose="020B0606030504020204" pitchFamily="34" charset="0"/>
                <a:ea typeface="Open Sans" panose="020B0606030504020204" pitchFamily="34" charset="0"/>
                <a:cs typeface="Open Sans" panose="020B0606030504020204" pitchFamily="34" charset="0"/>
              </a:rPr>
              <a:t>There is a structural gap between dominant smartphone logic and growing demand for digital wellbeing (</a:t>
            </a:r>
            <a:r>
              <a:rPr lang="en-US" sz="3000" dirty="0">
                <a:latin typeface="Open Sans" panose="020B0606030504020204" pitchFamily="34" charset="0"/>
                <a:ea typeface="Open Sans" panose="020B0606030504020204" pitchFamily="34" charset="0"/>
                <a:cs typeface="Open Sans" panose="020B0606030504020204" pitchFamily="34" charset="0"/>
              </a:rPr>
              <a:t>Shin, 2025</a:t>
            </a:r>
            <a:r>
              <a:rPr lang="en-GB" sz="3000" dirty="0">
                <a:latin typeface="Open Sans" panose="020B0606030504020204" pitchFamily="34" charset="0"/>
                <a:ea typeface="Open Sans" panose="020B0606030504020204" pitchFamily="34" charset="0"/>
                <a:cs typeface="Open Sans" panose="020B0606030504020204" pitchFamily="34" charset="0"/>
              </a:rPr>
              <a:t>).</a:t>
            </a:r>
          </a:p>
          <a:p>
            <a:pPr marL="571500" indent="-571500">
              <a:buFont typeface="Arial" panose="020B0604020202020204" pitchFamily="34" charset="0"/>
              <a:buChar char="•"/>
            </a:pPr>
            <a:r>
              <a:rPr lang="en-GB" sz="3000" dirty="0">
                <a:latin typeface="Open Sans" panose="020B0606030504020204" pitchFamily="34" charset="0"/>
                <a:ea typeface="Open Sans" panose="020B0606030504020204" pitchFamily="34" charset="0"/>
                <a:cs typeface="Open Sans" panose="020B0606030504020204" pitchFamily="34" charset="0"/>
              </a:rPr>
              <a:t>BlackBerry’s legacy in secure, purposeful communication aligns with this unmet need.</a:t>
            </a:r>
          </a:p>
        </p:txBody>
      </p:sp>
      <p:graphicFrame>
        <p:nvGraphicFramePr>
          <p:cNvPr id="6" name="Table 5">
            <a:extLst>
              <a:ext uri="{FF2B5EF4-FFF2-40B4-BE49-F238E27FC236}">
                <a16:creationId xmlns:a16="http://schemas.microsoft.com/office/drawing/2014/main" id="{9DB652B2-AF34-A410-8D29-F144151BE2A5}"/>
              </a:ext>
            </a:extLst>
          </p:cNvPr>
          <p:cNvGraphicFramePr>
            <a:graphicFrameLocks noGrp="1"/>
          </p:cNvGraphicFramePr>
          <p:nvPr>
            <p:extLst>
              <p:ext uri="{D42A27DB-BD31-4B8C-83A1-F6EECF244321}">
                <p14:modId xmlns:p14="http://schemas.microsoft.com/office/powerpoint/2010/main" val="252059599"/>
              </p:ext>
            </p:extLst>
          </p:nvPr>
        </p:nvGraphicFramePr>
        <p:xfrm>
          <a:off x="1905000" y="3536290"/>
          <a:ext cx="14554200" cy="4198010"/>
        </p:xfrm>
        <a:graphic>
          <a:graphicData uri="http://schemas.openxmlformats.org/drawingml/2006/table">
            <a:tbl>
              <a:tblPr>
                <a:tableStyleId>{08FB837D-C827-4EFA-A057-4D05807E0F7C}</a:tableStyleId>
              </a:tblPr>
              <a:tblGrid>
                <a:gridCol w="7277100">
                  <a:extLst>
                    <a:ext uri="{9D8B030D-6E8A-4147-A177-3AD203B41FA5}">
                      <a16:colId xmlns:a16="http://schemas.microsoft.com/office/drawing/2014/main" val="2691249696"/>
                    </a:ext>
                  </a:extLst>
                </a:gridCol>
                <a:gridCol w="7277100">
                  <a:extLst>
                    <a:ext uri="{9D8B030D-6E8A-4147-A177-3AD203B41FA5}">
                      <a16:colId xmlns:a16="http://schemas.microsoft.com/office/drawing/2014/main" val="1579053434"/>
                    </a:ext>
                  </a:extLst>
                </a:gridCol>
              </a:tblGrid>
              <a:tr h="656722">
                <a:tc>
                  <a:txBody>
                    <a:bodyPr/>
                    <a:lstStyle/>
                    <a:p>
                      <a:pPr>
                        <a:buNone/>
                      </a:pPr>
                      <a:r>
                        <a:rPr lang="en-US" sz="2600" b="1">
                          <a:latin typeface="Open Sans" panose="020B0606030504020204" pitchFamily="34" charset="0"/>
                          <a:ea typeface="Open Sans" panose="020B0606030504020204" pitchFamily="34" charset="0"/>
                          <a:cs typeface="Open Sans" panose="020B0606030504020204" pitchFamily="34" charset="0"/>
                        </a:rPr>
                        <a:t>Current Smartphone Design</a:t>
                      </a:r>
                    </a:p>
                  </a:txBody>
                  <a:tcPr anchor="ctr"/>
                </a:tc>
                <a:tc>
                  <a:txBody>
                    <a:bodyPr/>
                    <a:lstStyle/>
                    <a:p>
                      <a:pPr>
                        <a:buNone/>
                      </a:pPr>
                      <a:r>
                        <a:rPr lang="en-US" sz="2600" b="1" dirty="0">
                          <a:latin typeface="Open Sans" panose="020B0606030504020204" pitchFamily="34" charset="0"/>
                          <a:ea typeface="Open Sans" panose="020B0606030504020204" pitchFamily="34" charset="0"/>
                          <a:cs typeface="Open Sans" panose="020B0606030504020204" pitchFamily="34" charset="0"/>
                        </a:rPr>
                        <a:t>Emerging User Expectation</a:t>
                      </a:r>
                    </a:p>
                  </a:txBody>
                  <a:tcPr anchor="ctr"/>
                </a:tc>
                <a:extLst>
                  <a:ext uri="{0D108BD9-81ED-4DB2-BD59-A6C34878D82A}">
                    <a16:rowId xmlns:a16="http://schemas.microsoft.com/office/drawing/2014/main" val="2258719457"/>
                  </a:ext>
                </a:extLst>
              </a:tr>
              <a:tr h="6567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600" dirty="0">
                          <a:latin typeface="Open Sans" panose="020B0606030504020204" pitchFamily="34" charset="0"/>
                          <a:ea typeface="Open Sans" panose="020B0606030504020204" pitchFamily="34" charset="0"/>
                          <a:cs typeface="Open Sans" panose="020B0606030504020204" pitchFamily="34" charset="0"/>
                        </a:rPr>
                        <a:t>Engagement-driven </a:t>
                      </a:r>
                      <a:r>
                        <a:rPr lang="en-US" sz="2800" dirty="0">
                          <a:solidFill>
                            <a:srgbClr val="E01A72"/>
                          </a:solidFill>
                          <a:latin typeface="Open Sans"/>
                          <a:ea typeface="Open Sans"/>
                          <a:cs typeface="Open Sans"/>
                          <a:sym typeface="Open Sans"/>
                        </a:rPr>
                        <a:t>(Reuters, 2025)</a:t>
                      </a:r>
                    </a:p>
                    <a:p>
                      <a:pPr>
                        <a:buNone/>
                      </a:pPr>
                      <a:endParaRPr lang="en-US" sz="2600" dirty="0">
                        <a:latin typeface="Open Sans" panose="020B0606030504020204" pitchFamily="34" charset="0"/>
                        <a:ea typeface="Open Sans" panose="020B0606030504020204" pitchFamily="34" charset="0"/>
                        <a:cs typeface="Open Sans" panose="020B0606030504020204" pitchFamily="34" charset="0"/>
                      </a:endParaRPr>
                    </a:p>
                  </a:txBody>
                  <a:tcPr anchor="ctr"/>
                </a:tc>
                <a:tc>
                  <a:txBody>
                    <a:bodyPr/>
                    <a:lstStyle/>
                    <a:p>
                      <a:pPr>
                        <a:buNone/>
                      </a:pPr>
                      <a:r>
                        <a:rPr lang="en-US" sz="2600">
                          <a:latin typeface="Open Sans" panose="020B0606030504020204" pitchFamily="34" charset="0"/>
                          <a:ea typeface="Open Sans" panose="020B0606030504020204" pitchFamily="34" charset="0"/>
                          <a:cs typeface="Open Sans" panose="020B0606030504020204" pitchFamily="34" charset="0"/>
                        </a:rPr>
                        <a:t>Focus-driven</a:t>
                      </a:r>
                    </a:p>
                  </a:txBody>
                  <a:tcPr anchor="ctr"/>
                </a:tc>
                <a:extLst>
                  <a:ext uri="{0D108BD9-81ED-4DB2-BD59-A6C34878D82A}">
                    <a16:rowId xmlns:a16="http://schemas.microsoft.com/office/drawing/2014/main" val="759033211"/>
                  </a:ext>
                </a:extLst>
              </a:tr>
              <a:tr h="656722">
                <a:tc>
                  <a:txBody>
                    <a:bodyPr/>
                    <a:lstStyle/>
                    <a:p>
                      <a:pPr>
                        <a:buNone/>
                      </a:pPr>
                      <a:r>
                        <a:rPr lang="en-US" sz="2600">
                          <a:latin typeface="Open Sans" panose="020B0606030504020204" pitchFamily="34" charset="0"/>
                          <a:ea typeface="Open Sans" panose="020B0606030504020204" pitchFamily="34" charset="0"/>
                          <a:cs typeface="Open Sans" panose="020B0606030504020204" pitchFamily="34" charset="0"/>
                        </a:rPr>
                        <a:t>Data monetization</a:t>
                      </a:r>
                    </a:p>
                  </a:txBody>
                  <a:tcPr anchor="ctr"/>
                </a:tc>
                <a:tc>
                  <a:txBody>
                    <a:bodyPr/>
                    <a:lstStyle/>
                    <a:p>
                      <a:pPr>
                        <a:buNone/>
                      </a:pPr>
                      <a:r>
                        <a:rPr lang="en-US" sz="2600">
                          <a:latin typeface="Open Sans" panose="020B0606030504020204" pitchFamily="34" charset="0"/>
                          <a:ea typeface="Open Sans" panose="020B0606030504020204" pitchFamily="34" charset="0"/>
                          <a:cs typeface="Open Sans" panose="020B0606030504020204" pitchFamily="34" charset="0"/>
                        </a:rPr>
                        <a:t>Privacy-first</a:t>
                      </a:r>
                    </a:p>
                  </a:txBody>
                  <a:tcPr anchor="ctr"/>
                </a:tc>
                <a:extLst>
                  <a:ext uri="{0D108BD9-81ED-4DB2-BD59-A6C34878D82A}">
                    <a16:rowId xmlns:a16="http://schemas.microsoft.com/office/drawing/2014/main" val="751278911"/>
                  </a:ext>
                </a:extLst>
              </a:tr>
              <a:tr h="656722">
                <a:tc>
                  <a:txBody>
                    <a:bodyPr/>
                    <a:lstStyle/>
                    <a:p>
                      <a:pPr>
                        <a:buNone/>
                      </a:pPr>
                      <a:r>
                        <a:rPr lang="en-US" sz="2600" dirty="0">
                          <a:latin typeface="Open Sans" panose="020B0606030504020204" pitchFamily="34" charset="0"/>
                          <a:ea typeface="Open Sans" panose="020B0606030504020204" pitchFamily="34" charset="0"/>
                          <a:cs typeface="Open Sans" panose="020B0606030504020204" pitchFamily="34" charset="0"/>
                        </a:rPr>
                        <a:t>Infinite scrolling</a:t>
                      </a:r>
                    </a:p>
                  </a:txBody>
                  <a:tcPr anchor="ctr"/>
                </a:tc>
                <a:tc>
                  <a:txBody>
                    <a:bodyPr/>
                    <a:lstStyle/>
                    <a:p>
                      <a:pPr>
                        <a:buNone/>
                      </a:pPr>
                      <a:r>
                        <a:rPr lang="en-US" sz="2600" dirty="0">
                          <a:latin typeface="Open Sans" panose="020B0606030504020204" pitchFamily="34" charset="0"/>
                          <a:ea typeface="Open Sans" panose="020B0606030504020204" pitchFamily="34" charset="0"/>
                          <a:cs typeface="Open Sans" panose="020B0606030504020204" pitchFamily="34" charset="0"/>
                        </a:rPr>
                        <a:t>Intentional usage</a:t>
                      </a:r>
                    </a:p>
                  </a:txBody>
                  <a:tcPr anchor="ctr"/>
                </a:tc>
                <a:extLst>
                  <a:ext uri="{0D108BD9-81ED-4DB2-BD59-A6C34878D82A}">
                    <a16:rowId xmlns:a16="http://schemas.microsoft.com/office/drawing/2014/main" val="1098198452"/>
                  </a:ext>
                </a:extLst>
              </a:tr>
              <a:tr h="656722">
                <a:tc>
                  <a:txBody>
                    <a:bodyPr/>
                    <a:lstStyle/>
                    <a:p>
                      <a:pPr>
                        <a:buNone/>
                      </a:pPr>
                      <a:r>
                        <a:rPr lang="en-US" sz="2600">
                          <a:latin typeface="Open Sans" panose="020B0606030504020204" pitchFamily="34" charset="0"/>
                          <a:ea typeface="Open Sans" panose="020B0606030504020204" pitchFamily="34" charset="0"/>
                          <a:cs typeface="Open Sans" panose="020B0606030504020204" pitchFamily="34" charset="0"/>
                        </a:rPr>
                        <a:t>Constant alerts</a:t>
                      </a:r>
                    </a:p>
                  </a:txBody>
                  <a:tcPr anchor="ctr"/>
                </a:tc>
                <a:tc>
                  <a:txBody>
                    <a:bodyPr/>
                    <a:lstStyle/>
                    <a:p>
                      <a:pPr>
                        <a:buNone/>
                      </a:pPr>
                      <a:r>
                        <a:rPr lang="en-US" sz="2600" dirty="0">
                          <a:latin typeface="Open Sans" panose="020B0606030504020204" pitchFamily="34" charset="0"/>
                          <a:ea typeface="Open Sans" panose="020B0606030504020204" pitchFamily="34" charset="0"/>
                          <a:cs typeface="Open Sans" panose="020B0606030504020204" pitchFamily="34" charset="0"/>
                        </a:rPr>
                        <a:t>Controlled attention</a:t>
                      </a:r>
                    </a:p>
                  </a:txBody>
                  <a:tcPr anchor="ctr"/>
                </a:tc>
                <a:extLst>
                  <a:ext uri="{0D108BD9-81ED-4DB2-BD59-A6C34878D82A}">
                    <a16:rowId xmlns:a16="http://schemas.microsoft.com/office/drawing/2014/main" val="1849378515"/>
                  </a:ext>
                </a:extLst>
              </a:tr>
              <a:tr h="656722">
                <a:tc>
                  <a:txBody>
                    <a:bodyPr/>
                    <a:lstStyle/>
                    <a:p>
                      <a:pPr>
                        <a:buNone/>
                      </a:pPr>
                      <a:r>
                        <a:rPr lang="en-US" sz="2600" dirty="0">
                          <a:latin typeface="Open Sans" panose="020B0606030504020204" pitchFamily="34" charset="0"/>
                          <a:ea typeface="Open Sans" panose="020B0606030504020204" pitchFamily="34" charset="0"/>
                          <a:cs typeface="Open Sans" panose="020B0606030504020204" pitchFamily="34" charset="0"/>
                        </a:rPr>
                        <a:t>App overload</a:t>
                      </a:r>
                    </a:p>
                  </a:txBody>
                  <a:tcPr anchor="ctr"/>
                </a:tc>
                <a:tc>
                  <a:txBody>
                    <a:bodyPr/>
                    <a:lstStyle/>
                    <a:p>
                      <a:pPr>
                        <a:buNone/>
                      </a:pPr>
                      <a:r>
                        <a:rPr lang="en-US" sz="2600" dirty="0">
                          <a:latin typeface="Open Sans" panose="020B0606030504020204" pitchFamily="34" charset="0"/>
                          <a:ea typeface="Open Sans" panose="020B0606030504020204" pitchFamily="34" charset="0"/>
                          <a:cs typeface="Open Sans" panose="020B0606030504020204" pitchFamily="34" charset="0"/>
                        </a:rPr>
                        <a:t>Simplified ecosystem</a:t>
                      </a:r>
                    </a:p>
                  </a:txBody>
                  <a:tcPr anchor="ctr"/>
                </a:tc>
                <a:extLst>
                  <a:ext uri="{0D108BD9-81ED-4DB2-BD59-A6C34878D82A}">
                    <a16:rowId xmlns:a16="http://schemas.microsoft.com/office/drawing/2014/main" val="4245233905"/>
                  </a:ext>
                </a:extLst>
              </a:tr>
            </a:tbl>
          </a:graphicData>
        </a:graphic>
      </p:graphicFrame>
      <p:sp>
        <p:nvSpPr>
          <p:cNvPr id="3" name="TextBox 2">
            <a:extLst>
              <a:ext uri="{FF2B5EF4-FFF2-40B4-BE49-F238E27FC236}">
                <a16:creationId xmlns:a16="http://schemas.microsoft.com/office/drawing/2014/main" id="{CD88357B-BECC-497F-6576-8E9B06181C8F}"/>
              </a:ext>
            </a:extLst>
          </p:cNvPr>
          <p:cNvSpPr txBox="1"/>
          <p:nvPr/>
        </p:nvSpPr>
        <p:spPr>
          <a:xfrm>
            <a:off x="1257300" y="2022038"/>
            <a:ext cx="16421100" cy="1292662"/>
          </a:xfrm>
          <a:prstGeom prst="rect">
            <a:avLst/>
          </a:prstGeom>
          <a:noFill/>
        </p:spPr>
        <p:txBody>
          <a:bodyPr wrap="square" rtlCol="0">
            <a:spAutoFit/>
          </a:bodyPr>
          <a:lstStyle/>
          <a:p>
            <a:r>
              <a:rPr lang="en-GB" sz="3000" dirty="0">
                <a:latin typeface="Open Sans" panose="020B0606030504020204" pitchFamily="34" charset="0"/>
                <a:ea typeface="Open Sans" panose="020B0606030504020204" pitchFamily="34" charset="0"/>
                <a:cs typeface="Open Sans" panose="020B0606030504020204" pitchFamily="34" charset="0"/>
              </a:rPr>
              <a:t>Modern smartphones are designed to maximize </a:t>
            </a:r>
            <a:r>
              <a:rPr lang="en-GB" sz="3000" dirty="0">
                <a:solidFill>
                  <a:srgbClr val="FF0000"/>
                </a:solidFill>
                <a:latin typeface="Open Sans" panose="020B0606030504020204" pitchFamily="34" charset="0"/>
                <a:ea typeface="Open Sans" panose="020B0606030504020204" pitchFamily="34" charset="0"/>
                <a:cs typeface="Open Sans" panose="020B0606030504020204" pitchFamily="34" charset="0"/>
              </a:rPr>
              <a:t>engagement and data collection</a:t>
            </a:r>
            <a:r>
              <a:rPr lang="en-GB" sz="3000" dirty="0">
                <a:latin typeface="Open Sans" panose="020B0606030504020204" pitchFamily="34" charset="0"/>
                <a:ea typeface="Open Sans" panose="020B0606030504020204" pitchFamily="34" charset="0"/>
                <a:cs typeface="Open Sans" panose="020B0606030504020204" pitchFamily="34" charset="0"/>
              </a:rPr>
              <a:t>, not user wellbeing, leading to distraction, privacy concerns, and digital fatigue.</a:t>
            </a:r>
          </a:p>
          <a:p>
            <a:endParaRPr lang="LID4096" dirty="0"/>
          </a:p>
        </p:txBody>
      </p:sp>
    </p:spTree>
    <p:extLst>
      <p:ext uri="{BB962C8B-B14F-4D97-AF65-F5344CB8AC3E}">
        <p14:creationId xmlns:p14="http://schemas.microsoft.com/office/powerpoint/2010/main" val="422233171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83BAE-8598-3A04-6E1B-E8444420C55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5A9ECB2E-81A1-D17D-8DAC-FF31D5DCFC17}"/>
              </a:ext>
            </a:extLst>
          </p:cNvPr>
          <p:cNvSpPr txBox="1"/>
          <p:nvPr/>
        </p:nvSpPr>
        <p:spPr>
          <a:xfrm>
            <a:off x="1028700" y="38100"/>
            <a:ext cx="16211305" cy="2405274"/>
          </a:xfrm>
          <a:prstGeom prst="rect">
            <a:avLst/>
          </a:prstGeom>
        </p:spPr>
        <p:txBody>
          <a:bodyPr lIns="0" tIns="0" rIns="0" bIns="0" rtlCol="0" anchor="t">
            <a:spAutoFit/>
          </a:bodyPr>
          <a:lstStyle/>
          <a:p>
            <a:pPr algn="ctr">
              <a:lnSpc>
                <a:spcPts val="9799"/>
              </a:lnSpc>
            </a:pPr>
            <a:r>
              <a:rPr lang="en-GB" sz="6500" b="1" dirty="0">
                <a:latin typeface="Montserrat" panose="00000500000000000000" pitchFamily="2" charset="0"/>
                <a:ea typeface="Open Sans" panose="020B0606030504020204" pitchFamily="34" charset="0"/>
                <a:cs typeface="Open Sans" panose="020B0606030504020204" pitchFamily="34" charset="0"/>
              </a:rPr>
              <a:t>ALIGNMENT OF BLACKBERRY STRENGTHS WITH EMERGING NEEDS</a:t>
            </a:r>
            <a:endParaRPr lang="en-US" sz="6500" b="1" dirty="0">
              <a:solidFill>
                <a:srgbClr val="000000"/>
              </a:solidFill>
              <a:latin typeface="Montserrat" panose="00000500000000000000" pitchFamily="2" charset="0"/>
              <a:ea typeface="Open Sans" panose="020B0606030504020204" pitchFamily="34" charset="0"/>
              <a:cs typeface="Open Sans" panose="020B0606030504020204" pitchFamily="34" charset="0"/>
              <a:sym typeface="Montserrat Bold"/>
            </a:endParaRPr>
          </a:p>
        </p:txBody>
      </p:sp>
      <p:sp>
        <p:nvSpPr>
          <p:cNvPr id="4" name="TextBox 4">
            <a:extLst>
              <a:ext uri="{FF2B5EF4-FFF2-40B4-BE49-F238E27FC236}">
                <a16:creationId xmlns:a16="http://schemas.microsoft.com/office/drawing/2014/main" id="{46F634C5-907D-5AED-B946-D059BD23C782}"/>
              </a:ext>
            </a:extLst>
          </p:cNvPr>
          <p:cNvSpPr txBox="1"/>
          <p:nvPr/>
        </p:nvSpPr>
        <p:spPr>
          <a:xfrm>
            <a:off x="1524000" y="8164564"/>
            <a:ext cx="13677900" cy="1169936"/>
          </a:xfrm>
          <a:prstGeom prst="rect">
            <a:avLst/>
          </a:prstGeom>
        </p:spPr>
        <p:txBody>
          <a:bodyPr wrap="square" lIns="0" tIns="0" rIns="0" bIns="0" rtlCol="0" anchor="t">
            <a:spAutoFit/>
          </a:bodyPr>
          <a:lstStyle/>
          <a:p>
            <a:pPr>
              <a:lnSpc>
                <a:spcPts val="4759"/>
              </a:lnSpc>
            </a:pPr>
            <a:r>
              <a:rPr lang="en-GB" sz="2800" b="1" dirty="0">
                <a:latin typeface="Open Sans" panose="020B0606030504020204" pitchFamily="34" charset="0"/>
                <a:ea typeface="Open Sans" panose="020B0606030504020204" pitchFamily="34" charset="0"/>
                <a:cs typeface="Open Sans" panose="020B0606030504020204" pitchFamily="34" charset="0"/>
              </a:rPr>
              <a:t>Insight: </a:t>
            </a:r>
            <a:r>
              <a:rPr lang="en-GB" sz="2800" dirty="0">
                <a:latin typeface="Open Sans" panose="020B0606030504020204" pitchFamily="34" charset="0"/>
                <a:ea typeface="Open Sans" panose="020B0606030504020204" pitchFamily="34" charset="0"/>
                <a:cs typeface="Open Sans" panose="020B0606030504020204" pitchFamily="34" charset="0"/>
              </a:rPr>
              <a:t>BlackBerry’s historical strengths directly match the identified opportunity space (</a:t>
            </a:r>
            <a:r>
              <a:rPr lang="en-US" sz="2800" dirty="0" err="1">
                <a:latin typeface="Open Sans" panose="020B0606030504020204" pitchFamily="34" charset="0"/>
                <a:ea typeface="Open Sans" panose="020B0606030504020204" pitchFamily="34" charset="0"/>
                <a:cs typeface="Open Sans" panose="020B0606030504020204" pitchFamily="34" charset="0"/>
              </a:rPr>
              <a:t>Massenon</a:t>
            </a:r>
            <a:r>
              <a:rPr lang="en-US" sz="2800" dirty="0">
                <a:latin typeface="Open Sans" panose="020B0606030504020204" pitchFamily="34" charset="0"/>
                <a:ea typeface="Open Sans" panose="020B0606030504020204" pitchFamily="34" charset="0"/>
                <a:cs typeface="Open Sans" panose="020B0606030504020204" pitchFamily="34" charset="0"/>
              </a:rPr>
              <a:t> et al., 2024</a:t>
            </a:r>
            <a:r>
              <a:rPr lang="en-GB" sz="2800" dirty="0">
                <a:latin typeface="Open Sans" panose="020B0606030504020204" pitchFamily="34" charset="0"/>
                <a:ea typeface="Open Sans" panose="020B0606030504020204" pitchFamily="34" charset="0"/>
                <a:cs typeface="Open Sans" panose="020B0606030504020204" pitchFamily="34" charset="0"/>
              </a:rPr>
              <a:t>).</a:t>
            </a:r>
            <a:endParaRPr lang="en-US" sz="28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5" name="Freeform 3">
            <a:extLst>
              <a:ext uri="{FF2B5EF4-FFF2-40B4-BE49-F238E27FC236}">
                <a16:creationId xmlns:a16="http://schemas.microsoft.com/office/drawing/2014/main" id="{404341A9-B1ED-DFC2-C6EF-73ABA1D8F0ED}"/>
              </a:ext>
            </a:extLst>
          </p:cNvPr>
          <p:cNvSpPr/>
          <p:nvPr/>
        </p:nvSpPr>
        <p:spPr>
          <a:xfrm>
            <a:off x="15100116" y="8036617"/>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graphicFrame>
        <p:nvGraphicFramePr>
          <p:cNvPr id="6" name="Table 5">
            <a:extLst>
              <a:ext uri="{FF2B5EF4-FFF2-40B4-BE49-F238E27FC236}">
                <a16:creationId xmlns:a16="http://schemas.microsoft.com/office/drawing/2014/main" id="{4D2A8556-096E-EFDA-E12C-CC0123FDFE5D}"/>
              </a:ext>
            </a:extLst>
          </p:cNvPr>
          <p:cNvGraphicFramePr>
            <a:graphicFrameLocks noGrp="1"/>
          </p:cNvGraphicFramePr>
          <p:nvPr>
            <p:extLst>
              <p:ext uri="{D42A27DB-BD31-4B8C-83A1-F6EECF244321}">
                <p14:modId xmlns:p14="http://schemas.microsoft.com/office/powerpoint/2010/main" val="3765380313"/>
              </p:ext>
            </p:extLst>
          </p:nvPr>
        </p:nvGraphicFramePr>
        <p:xfrm>
          <a:off x="2095500" y="3220375"/>
          <a:ext cx="13982700" cy="3980525"/>
        </p:xfrm>
        <a:graphic>
          <a:graphicData uri="http://schemas.openxmlformats.org/drawingml/2006/table">
            <a:tbl>
              <a:tblPr>
                <a:tableStyleId>{08FB837D-C827-4EFA-A057-4D05807E0F7C}</a:tableStyleId>
              </a:tblPr>
              <a:tblGrid>
                <a:gridCol w="6991350">
                  <a:extLst>
                    <a:ext uri="{9D8B030D-6E8A-4147-A177-3AD203B41FA5}">
                      <a16:colId xmlns:a16="http://schemas.microsoft.com/office/drawing/2014/main" val="874871747"/>
                    </a:ext>
                  </a:extLst>
                </a:gridCol>
                <a:gridCol w="6991350">
                  <a:extLst>
                    <a:ext uri="{9D8B030D-6E8A-4147-A177-3AD203B41FA5}">
                      <a16:colId xmlns:a16="http://schemas.microsoft.com/office/drawing/2014/main" val="767341441"/>
                    </a:ext>
                  </a:extLst>
                </a:gridCol>
              </a:tblGrid>
              <a:tr h="796105">
                <a:tc>
                  <a:txBody>
                    <a:bodyPr/>
                    <a:lstStyle/>
                    <a:p>
                      <a:pPr>
                        <a:buNone/>
                      </a:pPr>
                      <a:r>
                        <a:rPr lang="en-US" sz="2600" b="1" dirty="0">
                          <a:latin typeface="Open Sans" panose="020B0606030504020204" pitchFamily="34" charset="0"/>
                          <a:ea typeface="Open Sans" panose="020B0606030504020204" pitchFamily="34" charset="0"/>
                          <a:cs typeface="Open Sans" panose="020B0606030504020204" pitchFamily="34" charset="0"/>
                        </a:rPr>
                        <a:t>BlackBerry Capability</a:t>
                      </a:r>
                    </a:p>
                  </a:txBody>
                  <a:tcPr anchor="ctr"/>
                </a:tc>
                <a:tc>
                  <a:txBody>
                    <a:bodyPr/>
                    <a:lstStyle/>
                    <a:p>
                      <a:pPr>
                        <a:buNone/>
                      </a:pPr>
                      <a:r>
                        <a:rPr lang="en-US" sz="2600" b="1" dirty="0">
                          <a:latin typeface="Open Sans" panose="020B0606030504020204" pitchFamily="34" charset="0"/>
                          <a:ea typeface="Open Sans" panose="020B0606030504020204" pitchFamily="34" charset="0"/>
                          <a:cs typeface="Open Sans" panose="020B0606030504020204" pitchFamily="34" charset="0"/>
                        </a:rPr>
                        <a:t>Related User Demand</a:t>
                      </a:r>
                    </a:p>
                  </a:txBody>
                  <a:tcPr anchor="ctr"/>
                </a:tc>
                <a:extLst>
                  <a:ext uri="{0D108BD9-81ED-4DB2-BD59-A6C34878D82A}">
                    <a16:rowId xmlns:a16="http://schemas.microsoft.com/office/drawing/2014/main" val="2086653587"/>
                  </a:ext>
                </a:extLst>
              </a:tr>
              <a:tr h="796105">
                <a:tc>
                  <a:txBody>
                    <a:bodyPr/>
                    <a:lstStyle/>
                    <a:p>
                      <a:pPr>
                        <a:buNone/>
                      </a:pPr>
                      <a:r>
                        <a:rPr lang="en-US" sz="2600">
                          <a:latin typeface="Open Sans" panose="020B0606030504020204" pitchFamily="34" charset="0"/>
                          <a:ea typeface="Open Sans" panose="020B0606030504020204" pitchFamily="34" charset="0"/>
                          <a:cs typeface="Open Sans" panose="020B0606030504020204" pitchFamily="34" charset="0"/>
                        </a:rPr>
                        <a:t>Security expertise</a:t>
                      </a:r>
                    </a:p>
                  </a:txBody>
                  <a:tcPr anchor="ctr"/>
                </a:tc>
                <a:tc>
                  <a:txBody>
                    <a:bodyPr/>
                    <a:lstStyle/>
                    <a:p>
                      <a:pPr>
                        <a:buNone/>
                      </a:pPr>
                      <a:r>
                        <a:rPr lang="en-US" sz="2600">
                          <a:latin typeface="Open Sans" panose="020B0606030504020204" pitchFamily="34" charset="0"/>
                          <a:ea typeface="Open Sans" panose="020B0606030504020204" pitchFamily="34" charset="0"/>
                          <a:cs typeface="Open Sans" panose="020B0606030504020204" pitchFamily="34" charset="0"/>
                        </a:rPr>
                        <a:t>Privacy protection</a:t>
                      </a:r>
                    </a:p>
                  </a:txBody>
                  <a:tcPr anchor="ctr"/>
                </a:tc>
                <a:extLst>
                  <a:ext uri="{0D108BD9-81ED-4DB2-BD59-A6C34878D82A}">
                    <a16:rowId xmlns:a16="http://schemas.microsoft.com/office/drawing/2014/main" val="1875105054"/>
                  </a:ext>
                </a:extLst>
              </a:tr>
              <a:tr h="796105">
                <a:tc>
                  <a:txBody>
                    <a:bodyPr/>
                    <a:lstStyle/>
                    <a:p>
                      <a:pPr>
                        <a:buNone/>
                      </a:pPr>
                      <a:r>
                        <a:rPr lang="en-US" sz="2600" dirty="0">
                          <a:latin typeface="Open Sans" panose="020B0606030504020204" pitchFamily="34" charset="0"/>
                          <a:ea typeface="Open Sans" panose="020B0606030504020204" pitchFamily="34" charset="0"/>
                          <a:cs typeface="Open Sans" panose="020B0606030504020204" pitchFamily="34" charset="0"/>
                        </a:rPr>
                        <a:t>Trusted brand heritage</a:t>
                      </a:r>
                    </a:p>
                  </a:txBody>
                  <a:tcPr anchor="ctr"/>
                </a:tc>
                <a:tc>
                  <a:txBody>
                    <a:bodyPr/>
                    <a:lstStyle/>
                    <a:p>
                      <a:pPr>
                        <a:buNone/>
                      </a:pPr>
                      <a:r>
                        <a:rPr lang="en-US" sz="2600">
                          <a:latin typeface="Open Sans" panose="020B0606030504020204" pitchFamily="34" charset="0"/>
                          <a:ea typeface="Open Sans" panose="020B0606030504020204" pitchFamily="34" charset="0"/>
                          <a:cs typeface="Open Sans" panose="020B0606030504020204" pitchFamily="34" charset="0"/>
                        </a:rPr>
                        <a:t>Confidence in device integrity</a:t>
                      </a:r>
                    </a:p>
                  </a:txBody>
                  <a:tcPr anchor="ctr"/>
                </a:tc>
                <a:extLst>
                  <a:ext uri="{0D108BD9-81ED-4DB2-BD59-A6C34878D82A}">
                    <a16:rowId xmlns:a16="http://schemas.microsoft.com/office/drawing/2014/main" val="1887512424"/>
                  </a:ext>
                </a:extLst>
              </a:tr>
              <a:tr h="796105">
                <a:tc>
                  <a:txBody>
                    <a:bodyPr/>
                    <a:lstStyle/>
                    <a:p>
                      <a:pPr>
                        <a:buNone/>
                      </a:pPr>
                      <a:r>
                        <a:rPr lang="en-US" sz="2600">
                          <a:latin typeface="Open Sans" panose="020B0606030504020204" pitchFamily="34" charset="0"/>
                          <a:ea typeface="Open Sans" panose="020B0606030504020204" pitchFamily="34" charset="0"/>
                          <a:cs typeface="Open Sans" panose="020B0606030504020204" pitchFamily="34" charset="0"/>
                        </a:rPr>
                        <a:t>Experience in communication tools</a:t>
                      </a:r>
                    </a:p>
                  </a:txBody>
                  <a:tcPr anchor="ctr"/>
                </a:tc>
                <a:tc>
                  <a:txBody>
                    <a:bodyPr/>
                    <a:lstStyle/>
                    <a:p>
                      <a:pPr>
                        <a:buNone/>
                      </a:pPr>
                      <a:r>
                        <a:rPr lang="en-US" sz="2600" dirty="0">
                          <a:latin typeface="Open Sans" panose="020B0606030504020204" pitchFamily="34" charset="0"/>
                          <a:ea typeface="Open Sans" panose="020B0606030504020204" pitchFamily="34" charset="0"/>
                          <a:cs typeface="Open Sans" panose="020B0606030504020204" pitchFamily="34" charset="0"/>
                        </a:rPr>
                        <a:t>Purposeful connectivity</a:t>
                      </a:r>
                    </a:p>
                  </a:txBody>
                  <a:tcPr anchor="ctr"/>
                </a:tc>
                <a:extLst>
                  <a:ext uri="{0D108BD9-81ED-4DB2-BD59-A6C34878D82A}">
                    <a16:rowId xmlns:a16="http://schemas.microsoft.com/office/drawing/2014/main" val="3207810670"/>
                  </a:ext>
                </a:extLst>
              </a:tr>
              <a:tr h="796105">
                <a:tc>
                  <a:txBody>
                    <a:bodyPr/>
                    <a:lstStyle/>
                    <a:p>
                      <a:pPr>
                        <a:buNone/>
                      </a:pPr>
                      <a:r>
                        <a:rPr lang="en-US" sz="2600" dirty="0">
                          <a:latin typeface="Open Sans" panose="020B0606030504020204" pitchFamily="34" charset="0"/>
                          <a:ea typeface="Open Sans" panose="020B0606030504020204" pitchFamily="34" charset="0"/>
                          <a:cs typeface="Open Sans" panose="020B0606030504020204" pitchFamily="34" charset="0"/>
                        </a:rPr>
                        <a:t>Enterprise software background</a:t>
                      </a:r>
                    </a:p>
                  </a:txBody>
                  <a:tcPr anchor="ctr"/>
                </a:tc>
                <a:tc>
                  <a:txBody>
                    <a:bodyPr/>
                    <a:lstStyle/>
                    <a:p>
                      <a:pPr>
                        <a:buNone/>
                      </a:pPr>
                      <a:r>
                        <a:rPr lang="en-US" sz="2600" dirty="0">
                          <a:latin typeface="Open Sans" panose="020B0606030504020204" pitchFamily="34" charset="0"/>
                          <a:ea typeface="Open Sans" panose="020B0606030504020204" pitchFamily="34" charset="0"/>
                          <a:cs typeface="Open Sans" panose="020B0606030504020204" pitchFamily="34" charset="0"/>
                        </a:rPr>
                        <a:t>Controlled system architecture</a:t>
                      </a:r>
                    </a:p>
                  </a:txBody>
                  <a:tcPr anchor="ctr"/>
                </a:tc>
                <a:extLst>
                  <a:ext uri="{0D108BD9-81ED-4DB2-BD59-A6C34878D82A}">
                    <a16:rowId xmlns:a16="http://schemas.microsoft.com/office/drawing/2014/main" val="2854349450"/>
                  </a:ext>
                </a:extLst>
              </a:tr>
            </a:tbl>
          </a:graphicData>
        </a:graphic>
      </p:graphicFrame>
    </p:spTree>
    <p:extLst>
      <p:ext uri="{BB962C8B-B14F-4D97-AF65-F5344CB8AC3E}">
        <p14:creationId xmlns:p14="http://schemas.microsoft.com/office/powerpoint/2010/main" val="311639442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2DA0A-C921-5DDB-01CA-AB7C5773FB82}"/>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2F95511-6B83-D326-3336-F7A48BFAD8AE}"/>
              </a:ext>
            </a:extLst>
          </p:cNvPr>
          <p:cNvSpPr txBox="1"/>
          <p:nvPr/>
        </p:nvSpPr>
        <p:spPr>
          <a:xfrm>
            <a:off x="304800" y="565980"/>
            <a:ext cx="17678400" cy="1148520"/>
          </a:xfrm>
          <a:prstGeom prst="rect">
            <a:avLst/>
          </a:prstGeom>
        </p:spPr>
        <p:txBody>
          <a:bodyPr wrap="square" lIns="0" tIns="0" rIns="0" bIns="0" rtlCol="0" anchor="t">
            <a:spAutoFit/>
          </a:bodyPr>
          <a:lstStyle/>
          <a:p>
            <a:pPr algn="ctr">
              <a:lnSpc>
                <a:spcPts val="9799"/>
              </a:lnSpc>
            </a:pPr>
            <a:r>
              <a:rPr lang="en-US" sz="6500" b="1" dirty="0">
                <a:latin typeface="Montserrat" panose="00000500000000000000" pitchFamily="2" charset="0"/>
              </a:rPr>
              <a:t>STRATEGIC POSITION OF BLACKBERRY</a:t>
            </a:r>
            <a:endParaRPr lang="en-US" sz="6500" b="1" dirty="0">
              <a:solidFill>
                <a:srgbClr val="000000"/>
              </a:solidFill>
              <a:latin typeface="Montserrat" panose="00000500000000000000" pitchFamily="2" charset="0"/>
              <a:ea typeface="Montserrat Bold"/>
              <a:cs typeface="Montserrat Bold"/>
              <a:sym typeface="Montserrat Bold"/>
            </a:endParaRPr>
          </a:p>
        </p:txBody>
      </p:sp>
      <p:sp>
        <p:nvSpPr>
          <p:cNvPr id="5" name="Freeform 3">
            <a:extLst>
              <a:ext uri="{FF2B5EF4-FFF2-40B4-BE49-F238E27FC236}">
                <a16:creationId xmlns:a16="http://schemas.microsoft.com/office/drawing/2014/main" id="{46378018-CA29-D816-645F-C0CDECE06B5B}"/>
              </a:ext>
            </a:extLst>
          </p:cNvPr>
          <p:cNvSpPr/>
          <p:nvPr/>
        </p:nvSpPr>
        <p:spPr>
          <a:xfrm>
            <a:off x="15100116" y="8036617"/>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pic>
        <p:nvPicPr>
          <p:cNvPr id="5122" name="Picture 2" descr="3 Easy Steps to Create a SWOT Analysis - BNI">
            <a:extLst>
              <a:ext uri="{FF2B5EF4-FFF2-40B4-BE49-F238E27FC236}">
                <a16:creationId xmlns:a16="http://schemas.microsoft.com/office/drawing/2014/main" id="{32ADBD6A-AD78-9480-7FBE-F19AA2C626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31" t="8758" r="7033" b="9776"/>
          <a:stretch>
            <a:fillRect/>
          </a:stretch>
        </p:blipFill>
        <p:spPr bwMode="auto">
          <a:xfrm>
            <a:off x="3505200" y="2019300"/>
            <a:ext cx="11049000" cy="66294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B213E5E-2C29-5C7E-433F-A4B30D8BF3C2}"/>
              </a:ext>
            </a:extLst>
          </p:cNvPr>
          <p:cNvSpPr txBox="1"/>
          <p:nvPr/>
        </p:nvSpPr>
        <p:spPr>
          <a:xfrm>
            <a:off x="4026084" y="3086100"/>
            <a:ext cx="3641036" cy="1292662"/>
          </a:xfrm>
          <a:prstGeom prst="rect">
            <a:avLst/>
          </a:prstGeom>
          <a:noFill/>
        </p:spPr>
        <p:txBody>
          <a:bodyPr wrap="square" rtlCol="0">
            <a:spAutoFit/>
          </a:bodyPr>
          <a:lstStyle/>
          <a:p>
            <a:pPr marL="285750" indent="-28575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Security reputation</a:t>
            </a:r>
          </a:p>
          <a:p>
            <a:pPr marL="285750" indent="-28575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Brand trust</a:t>
            </a:r>
          </a:p>
          <a:p>
            <a:pPr marL="285750" indent="-28575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Software expertise</a:t>
            </a:r>
            <a:endParaRPr lang="LID4096" sz="26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a:extLst>
              <a:ext uri="{FF2B5EF4-FFF2-40B4-BE49-F238E27FC236}">
                <a16:creationId xmlns:a16="http://schemas.microsoft.com/office/drawing/2014/main" id="{CBAAE32A-D5E7-E4B5-ADC9-BD6D23DC5DA5}"/>
              </a:ext>
            </a:extLst>
          </p:cNvPr>
          <p:cNvSpPr txBox="1"/>
          <p:nvPr/>
        </p:nvSpPr>
        <p:spPr>
          <a:xfrm>
            <a:off x="10731684" y="2911376"/>
            <a:ext cx="4203516"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Open Sans" panose="020B0606030504020204" pitchFamily="34" charset="0"/>
                <a:ea typeface="Open Sans" panose="020B0606030504020204" pitchFamily="34" charset="0"/>
                <a:cs typeface="Open Sans" panose="020B0606030504020204" pitchFamily="34" charset="0"/>
              </a:rPr>
              <a:t>Reduced consumer presence</a:t>
            </a:r>
          </a:p>
          <a:p>
            <a:pPr marL="285750" indent="-285750">
              <a:buFont typeface="Arial" panose="020B0604020202020204" pitchFamily="34" charset="0"/>
              <a:buChar char="•"/>
            </a:pPr>
            <a:r>
              <a:rPr lang="en-US" sz="2400" dirty="0">
                <a:latin typeface="Open Sans" panose="020B0606030504020204" pitchFamily="34" charset="0"/>
                <a:ea typeface="Open Sans" panose="020B0606030504020204" pitchFamily="34" charset="0"/>
                <a:cs typeface="Open Sans" panose="020B0606030504020204" pitchFamily="34" charset="0"/>
              </a:rPr>
              <a:t>Outdated brand perception</a:t>
            </a:r>
          </a:p>
          <a:p>
            <a:pPr marL="285750" indent="-285750">
              <a:buFont typeface="Arial" panose="020B0604020202020204" pitchFamily="34" charset="0"/>
              <a:buChar char="•"/>
            </a:pPr>
            <a:r>
              <a:rPr lang="en-US" sz="2400" dirty="0">
                <a:latin typeface="Open Sans" panose="020B0606030504020204" pitchFamily="34" charset="0"/>
                <a:ea typeface="Open Sans" panose="020B0606030504020204" pitchFamily="34" charset="0"/>
                <a:cs typeface="Open Sans" panose="020B0606030504020204" pitchFamily="34" charset="0"/>
              </a:rPr>
              <a:t>Limited hardware ecosystem</a:t>
            </a:r>
            <a:endParaRPr lang="LID4096" sz="24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Box 7">
            <a:extLst>
              <a:ext uri="{FF2B5EF4-FFF2-40B4-BE49-F238E27FC236}">
                <a16:creationId xmlns:a16="http://schemas.microsoft.com/office/drawing/2014/main" id="{C07C24C4-C899-1E13-0A04-86582D04818E}"/>
              </a:ext>
            </a:extLst>
          </p:cNvPr>
          <p:cNvSpPr txBox="1"/>
          <p:nvPr/>
        </p:nvSpPr>
        <p:spPr>
          <a:xfrm>
            <a:off x="3873684" y="6574929"/>
            <a:ext cx="4038600" cy="1692771"/>
          </a:xfrm>
          <a:prstGeom prst="rect">
            <a:avLst/>
          </a:prstGeom>
          <a:noFill/>
        </p:spPr>
        <p:txBody>
          <a:bodyPr wrap="square" rtlCol="0">
            <a:spAutoFit/>
          </a:bodyPr>
          <a:lstStyle/>
          <a:p>
            <a:pPr marL="285750" indent="-28575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Privacy concerns rising</a:t>
            </a:r>
          </a:p>
          <a:p>
            <a:pPr marL="285750" indent="-28575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Digital wellbeing trend</a:t>
            </a:r>
          </a:p>
          <a:p>
            <a:pPr marL="285750" indent="-28575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Desire for minimal tech </a:t>
            </a:r>
            <a:endParaRPr lang="LID4096" sz="26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8">
            <a:extLst>
              <a:ext uri="{FF2B5EF4-FFF2-40B4-BE49-F238E27FC236}">
                <a16:creationId xmlns:a16="http://schemas.microsoft.com/office/drawing/2014/main" id="{CA4B97C1-14BB-1304-F208-ACE1F52C1D80}"/>
              </a:ext>
            </a:extLst>
          </p:cNvPr>
          <p:cNvSpPr txBox="1"/>
          <p:nvPr/>
        </p:nvSpPr>
        <p:spPr>
          <a:xfrm>
            <a:off x="10058400" y="6186514"/>
            <a:ext cx="4203516" cy="2092881"/>
          </a:xfrm>
          <a:prstGeom prst="rect">
            <a:avLst/>
          </a:prstGeom>
          <a:noFill/>
        </p:spPr>
        <p:txBody>
          <a:bodyPr wrap="square" rtlCol="0">
            <a:spAutoFit/>
          </a:bodyPr>
          <a:lstStyle/>
          <a:p>
            <a:pPr marL="285750" indent="-28575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Dominance of Apple &amp; Google</a:t>
            </a:r>
          </a:p>
          <a:p>
            <a:pPr marL="285750" indent="-28575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Rapid innovation cycles</a:t>
            </a:r>
          </a:p>
          <a:p>
            <a:pPr marL="285750" indent="-28575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Competitive ecosystems</a:t>
            </a:r>
          </a:p>
          <a:p>
            <a:r>
              <a:rPr lang="en-US" sz="2600" dirty="0">
                <a:latin typeface="Open Sans" panose="020B0606030504020204" pitchFamily="34" charset="0"/>
                <a:ea typeface="Open Sans" panose="020B0606030504020204" pitchFamily="34" charset="0"/>
                <a:cs typeface="Open Sans" panose="020B0606030504020204" pitchFamily="34" charset="0"/>
              </a:rPr>
              <a:t>(</a:t>
            </a:r>
            <a:r>
              <a:rPr lang="en-US" sz="2600" dirty="0" err="1">
                <a:latin typeface="Open Sans" panose="020B0606030504020204" pitchFamily="34" charset="0"/>
                <a:ea typeface="Open Sans" panose="020B0606030504020204" pitchFamily="34" charset="0"/>
                <a:cs typeface="Open Sans" panose="020B0606030504020204" pitchFamily="34" charset="0"/>
              </a:rPr>
              <a:t>statista</a:t>
            </a:r>
            <a:r>
              <a:rPr lang="en-US" sz="2600" dirty="0">
                <a:latin typeface="Open Sans" panose="020B0606030504020204" pitchFamily="34" charset="0"/>
                <a:ea typeface="Open Sans" panose="020B0606030504020204" pitchFamily="34" charset="0"/>
                <a:cs typeface="Open Sans" panose="020B0606030504020204" pitchFamily="34" charset="0"/>
              </a:rPr>
              <a:t>, 2025)</a:t>
            </a:r>
            <a:endParaRPr lang="LID4096" sz="2600" dirty="0">
              <a:latin typeface="Open Sans" panose="020B0606030504020204" pitchFamily="34" charset="0"/>
              <a:ea typeface="Open Sans" panose="020B0606030504020204" pitchFamily="34" charset="0"/>
              <a:cs typeface="Open Sans" panose="020B0606030504020204" pitchFamily="34" charset="0"/>
            </a:endParaRPr>
          </a:p>
        </p:txBody>
      </p:sp>
      <p:pic>
        <p:nvPicPr>
          <p:cNvPr id="5124" name="Picture 4" descr="Swot analysis Detailed Straight Lineal color icon | Freepik">
            <a:extLst>
              <a:ext uri="{FF2B5EF4-FFF2-40B4-BE49-F238E27FC236}">
                <a16:creationId xmlns:a16="http://schemas.microsoft.com/office/drawing/2014/main" id="{984E60A1-E06B-F720-7DE9-9FC1ABBAD3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88259" y="1960908"/>
            <a:ext cx="2250383" cy="225038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Swot analysis Detailed Straight Lineal color icon | Freepik">
            <a:extLst>
              <a:ext uri="{FF2B5EF4-FFF2-40B4-BE49-F238E27FC236}">
                <a16:creationId xmlns:a16="http://schemas.microsoft.com/office/drawing/2014/main" id="{66037097-6D15-FBD7-686F-05E104DA51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017" y="5143500"/>
            <a:ext cx="2250383" cy="2250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2575234"/>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2278B-3984-AEC7-D529-F45F5FC97A18}"/>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AFDAD7BB-FDF2-5543-1AC1-9D7C171D4DA2}"/>
              </a:ext>
            </a:extLst>
          </p:cNvPr>
          <p:cNvSpPr txBox="1"/>
          <p:nvPr/>
        </p:nvSpPr>
        <p:spPr>
          <a:xfrm>
            <a:off x="1028700" y="38100"/>
            <a:ext cx="16211305" cy="1754326"/>
          </a:xfrm>
          <a:prstGeom prst="rect">
            <a:avLst/>
          </a:prstGeom>
        </p:spPr>
        <p:txBody>
          <a:bodyPr lIns="0" tIns="0" rIns="0" bIns="0" rtlCol="0" anchor="t">
            <a:spAutoFit/>
          </a:bodyPr>
          <a:lstStyle/>
          <a:p>
            <a:pPr algn="ctr"/>
            <a:r>
              <a:rPr lang="en-GB" sz="5700" b="1" dirty="0">
                <a:latin typeface="Montserrat" panose="00000500000000000000" pitchFamily="2" charset="0"/>
                <a:cs typeface="Mongolian Baiti" panose="03000500000000000000" pitchFamily="66" charset="0"/>
              </a:rPr>
              <a:t>Industry Analysis: Why Reinvention Is Necessary</a:t>
            </a:r>
            <a:endParaRPr lang="en-GB" sz="5700" dirty="0">
              <a:latin typeface="Montserrat" panose="00000500000000000000" pitchFamily="2" charset="0"/>
              <a:cs typeface="Mongolian Baiti" panose="03000500000000000000" pitchFamily="66" charset="0"/>
            </a:endParaRPr>
          </a:p>
        </p:txBody>
      </p:sp>
      <p:sp>
        <p:nvSpPr>
          <p:cNvPr id="4" name="TextBox 4">
            <a:extLst>
              <a:ext uri="{FF2B5EF4-FFF2-40B4-BE49-F238E27FC236}">
                <a16:creationId xmlns:a16="http://schemas.microsoft.com/office/drawing/2014/main" id="{BEC81E6D-234C-4841-5558-9C3C4494DEF2}"/>
              </a:ext>
            </a:extLst>
          </p:cNvPr>
          <p:cNvSpPr txBox="1"/>
          <p:nvPr/>
        </p:nvSpPr>
        <p:spPr>
          <a:xfrm>
            <a:off x="533400" y="7658100"/>
            <a:ext cx="16916400" cy="2397708"/>
          </a:xfrm>
          <a:prstGeom prst="rect">
            <a:avLst/>
          </a:prstGeom>
        </p:spPr>
        <p:txBody>
          <a:bodyPr wrap="square" lIns="0" tIns="0" rIns="0" bIns="0" rtlCol="0" anchor="t">
            <a:spAutoFit/>
          </a:bodyPr>
          <a:lstStyle/>
          <a:p>
            <a:pPr>
              <a:lnSpc>
                <a:spcPts val="4759"/>
              </a:lnSpc>
            </a:pPr>
            <a:r>
              <a:rPr lang="en-GB" sz="2700" b="1" dirty="0">
                <a:latin typeface="Open Sans" panose="020B0606030504020204" pitchFamily="34" charset="0"/>
                <a:ea typeface="Open Sans" panose="020B0606030504020204" pitchFamily="34" charset="0"/>
                <a:cs typeface="Open Sans" panose="020B0606030504020204" pitchFamily="34" charset="0"/>
              </a:rPr>
              <a:t>Conclusion: </a:t>
            </a:r>
            <a:r>
              <a:rPr lang="en-GB" sz="2700" dirty="0">
                <a:latin typeface="Open Sans" panose="020B0606030504020204" pitchFamily="34" charset="0"/>
                <a:ea typeface="Open Sans" panose="020B0606030504020204" pitchFamily="34" charset="0"/>
                <a:cs typeface="Open Sans" panose="020B0606030504020204" pitchFamily="34" charset="0"/>
              </a:rPr>
              <a:t>The direct competition in the traditional smartphone market </a:t>
            </a:r>
            <a:r>
              <a:rPr lang="en-GB" sz="2700" dirty="0">
                <a:solidFill>
                  <a:srgbClr val="FF0000"/>
                </a:solidFill>
                <a:latin typeface="Open Sans" panose="020B0606030504020204" pitchFamily="34" charset="0"/>
                <a:ea typeface="Open Sans" panose="020B0606030504020204" pitchFamily="34" charset="0"/>
                <a:cs typeface="Open Sans" panose="020B0606030504020204" pitchFamily="34" charset="0"/>
              </a:rPr>
              <a:t>(Red Ocean) </a:t>
            </a:r>
            <a:r>
              <a:rPr lang="en-GB" sz="2700" dirty="0">
                <a:latin typeface="Open Sans" panose="020B0606030504020204" pitchFamily="34" charset="0"/>
                <a:ea typeface="Open Sans" panose="020B0606030504020204" pitchFamily="34" charset="0"/>
                <a:cs typeface="Open Sans" panose="020B0606030504020204" pitchFamily="34" charset="0"/>
              </a:rPr>
              <a:t>is not strategically sustainable. Rather, BlackBerry can use </a:t>
            </a:r>
            <a:r>
              <a:rPr lang="en-GB" sz="2700" dirty="0">
                <a:solidFill>
                  <a:srgbClr val="FF0000"/>
                </a:solidFill>
                <a:latin typeface="Open Sans" panose="020B0606030504020204" pitchFamily="34" charset="0"/>
                <a:ea typeface="Open Sans" panose="020B0606030504020204" pitchFamily="34" charset="0"/>
                <a:cs typeface="Open Sans" panose="020B0606030504020204" pitchFamily="34" charset="0"/>
              </a:rPr>
              <a:t>Android compatibility and enterprise integration </a:t>
            </a:r>
            <a:r>
              <a:rPr lang="en-GB" sz="2700" dirty="0">
                <a:latin typeface="Open Sans" panose="020B0606030504020204" pitchFamily="34" charset="0"/>
                <a:ea typeface="Open Sans" panose="020B0606030504020204" pitchFamily="34" charset="0"/>
                <a:cs typeface="Open Sans" panose="020B0606030504020204" pitchFamily="34" charset="0"/>
              </a:rPr>
              <a:t>to gain entry to existing app ecosystems and position itself as differentiated by privacy-conscious design and digital well-being functionality.</a:t>
            </a:r>
          </a:p>
        </p:txBody>
      </p:sp>
      <p:sp>
        <p:nvSpPr>
          <p:cNvPr id="5" name="Freeform 3">
            <a:extLst>
              <a:ext uri="{FF2B5EF4-FFF2-40B4-BE49-F238E27FC236}">
                <a16:creationId xmlns:a16="http://schemas.microsoft.com/office/drawing/2014/main" id="{50943389-9328-1517-A3FE-B8E9F94DA51D}"/>
              </a:ext>
            </a:extLst>
          </p:cNvPr>
          <p:cNvSpPr/>
          <p:nvPr/>
        </p:nvSpPr>
        <p:spPr>
          <a:xfrm>
            <a:off x="16840200" y="9334500"/>
            <a:ext cx="1447800" cy="896542"/>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sp>
        <p:nvSpPr>
          <p:cNvPr id="3" name="TextBox 4">
            <a:extLst>
              <a:ext uri="{FF2B5EF4-FFF2-40B4-BE49-F238E27FC236}">
                <a16:creationId xmlns:a16="http://schemas.microsoft.com/office/drawing/2014/main" id="{162572DA-6EF0-CE3E-D98C-C6BE97FCA6EC}"/>
              </a:ext>
            </a:extLst>
          </p:cNvPr>
          <p:cNvSpPr txBox="1"/>
          <p:nvPr/>
        </p:nvSpPr>
        <p:spPr>
          <a:xfrm>
            <a:off x="533400" y="1714500"/>
            <a:ext cx="17221199" cy="1048942"/>
          </a:xfrm>
          <a:prstGeom prst="rect">
            <a:avLst/>
          </a:prstGeom>
        </p:spPr>
        <p:txBody>
          <a:bodyPr wrap="square" lIns="0" tIns="0" rIns="0" bIns="0" rtlCol="0" anchor="t">
            <a:spAutoFit/>
          </a:bodyPr>
          <a:lstStyle/>
          <a:p>
            <a:pPr>
              <a:lnSpc>
                <a:spcPct val="150000"/>
              </a:lnSpc>
            </a:pPr>
            <a:r>
              <a:rPr lang="en-GB" sz="2400" dirty="0">
                <a:latin typeface="Open Sans" panose="020B0606030504020204" pitchFamily="34" charset="0"/>
                <a:ea typeface="Open Sans" panose="020B0606030504020204" pitchFamily="34" charset="0"/>
                <a:cs typeface="Open Sans" panose="020B0606030504020204" pitchFamily="34" charset="0"/>
              </a:rPr>
              <a:t>BlackBerry is in a very competitive mobile and digital ecosystem that is controlled by Apple and Google. </a:t>
            </a:r>
            <a:r>
              <a:rPr lang="en-GB" sz="2400" dirty="0">
                <a:solidFill>
                  <a:srgbClr val="FF0000"/>
                </a:solidFill>
                <a:latin typeface="Open Sans" panose="020B0606030504020204" pitchFamily="34" charset="0"/>
                <a:ea typeface="Open Sans" panose="020B0606030504020204" pitchFamily="34" charset="0"/>
                <a:cs typeface="Open Sans" panose="020B0606030504020204" pitchFamily="34" charset="0"/>
              </a:rPr>
              <a:t>Porters five force analysis </a:t>
            </a:r>
            <a:r>
              <a:rPr lang="en-GB" sz="2400" dirty="0">
                <a:latin typeface="Open Sans" panose="020B0606030504020204" pitchFamily="34" charset="0"/>
                <a:ea typeface="Open Sans" panose="020B0606030504020204" pitchFamily="34" charset="0"/>
                <a:cs typeface="Open Sans" panose="020B0606030504020204" pitchFamily="34" charset="0"/>
              </a:rPr>
              <a:t>was used in order to determine the possibility of a re-entry into the consumer space.</a:t>
            </a:r>
          </a:p>
        </p:txBody>
      </p:sp>
      <p:graphicFrame>
        <p:nvGraphicFramePr>
          <p:cNvPr id="9" name="Table 8">
            <a:extLst>
              <a:ext uri="{FF2B5EF4-FFF2-40B4-BE49-F238E27FC236}">
                <a16:creationId xmlns:a16="http://schemas.microsoft.com/office/drawing/2014/main" id="{3254614A-7C45-9B35-CA14-6603856F22BE}"/>
              </a:ext>
            </a:extLst>
          </p:cNvPr>
          <p:cNvGraphicFramePr>
            <a:graphicFrameLocks noGrp="1"/>
          </p:cNvGraphicFramePr>
          <p:nvPr>
            <p:extLst>
              <p:ext uri="{D42A27DB-BD31-4B8C-83A1-F6EECF244321}">
                <p14:modId xmlns:p14="http://schemas.microsoft.com/office/powerpoint/2010/main" val="1496870074"/>
              </p:ext>
            </p:extLst>
          </p:nvPr>
        </p:nvGraphicFramePr>
        <p:xfrm>
          <a:off x="1028699" y="2857500"/>
          <a:ext cx="16211305" cy="4697644"/>
        </p:xfrm>
        <a:graphic>
          <a:graphicData uri="http://schemas.openxmlformats.org/drawingml/2006/table">
            <a:tbl>
              <a:tblPr>
                <a:tableStyleId>{08FB837D-C827-4EFA-A057-4D05807E0F7C}</a:tableStyleId>
              </a:tblPr>
              <a:tblGrid>
                <a:gridCol w="2950069">
                  <a:extLst>
                    <a:ext uri="{9D8B030D-6E8A-4147-A177-3AD203B41FA5}">
                      <a16:colId xmlns:a16="http://schemas.microsoft.com/office/drawing/2014/main" val="1045443373"/>
                    </a:ext>
                  </a:extLst>
                </a:gridCol>
                <a:gridCol w="3238117">
                  <a:extLst>
                    <a:ext uri="{9D8B030D-6E8A-4147-A177-3AD203B41FA5}">
                      <a16:colId xmlns:a16="http://schemas.microsoft.com/office/drawing/2014/main" val="2780128129"/>
                    </a:ext>
                  </a:extLst>
                </a:gridCol>
                <a:gridCol w="10023119">
                  <a:extLst>
                    <a:ext uri="{9D8B030D-6E8A-4147-A177-3AD203B41FA5}">
                      <a16:colId xmlns:a16="http://schemas.microsoft.com/office/drawing/2014/main" val="2593215511"/>
                    </a:ext>
                  </a:extLst>
                </a:gridCol>
              </a:tblGrid>
              <a:tr h="177489">
                <a:tc>
                  <a:txBody>
                    <a:bodyPr/>
                    <a:lstStyle/>
                    <a:p>
                      <a:pPr>
                        <a:buNone/>
                      </a:pPr>
                      <a:r>
                        <a:rPr lang="en-US" sz="2000" b="1">
                          <a:latin typeface="Open Sans" panose="020B0606030504020204" pitchFamily="34" charset="0"/>
                          <a:ea typeface="Open Sans" panose="020B0606030504020204" pitchFamily="34" charset="0"/>
                          <a:cs typeface="Open Sans" panose="020B0606030504020204" pitchFamily="34" charset="0"/>
                        </a:rPr>
                        <a:t>Force</a:t>
                      </a:r>
                      <a:endParaRPr lang="en-US" sz="2000">
                        <a:latin typeface="Open Sans" panose="020B0606030504020204" pitchFamily="34" charset="0"/>
                        <a:ea typeface="Open Sans" panose="020B0606030504020204" pitchFamily="34" charset="0"/>
                        <a:cs typeface="Open Sans" panose="020B0606030504020204" pitchFamily="34" charset="0"/>
                      </a:endParaRPr>
                    </a:p>
                  </a:txBody>
                  <a:tcPr marL="44372" marR="44372" marT="22186" marB="22186" anchor="ctr"/>
                </a:tc>
                <a:tc>
                  <a:txBody>
                    <a:bodyPr/>
                    <a:lstStyle/>
                    <a:p>
                      <a:pPr>
                        <a:buNone/>
                      </a:pPr>
                      <a:r>
                        <a:rPr lang="en-US" sz="2000" b="1">
                          <a:latin typeface="Open Sans" panose="020B0606030504020204" pitchFamily="34" charset="0"/>
                          <a:ea typeface="Open Sans" panose="020B0606030504020204" pitchFamily="34" charset="0"/>
                          <a:cs typeface="Open Sans" panose="020B0606030504020204" pitchFamily="34" charset="0"/>
                        </a:rPr>
                        <a:t>Intensity</a:t>
                      </a:r>
                      <a:endParaRPr lang="en-US" sz="2000">
                        <a:latin typeface="Open Sans" panose="020B0606030504020204" pitchFamily="34" charset="0"/>
                        <a:ea typeface="Open Sans" panose="020B0606030504020204" pitchFamily="34" charset="0"/>
                        <a:cs typeface="Open Sans" panose="020B0606030504020204" pitchFamily="34" charset="0"/>
                      </a:endParaRPr>
                    </a:p>
                  </a:txBody>
                  <a:tcPr marL="44372" marR="44372" marT="22186" marB="22186" anchor="ctr"/>
                </a:tc>
                <a:tc>
                  <a:txBody>
                    <a:bodyPr/>
                    <a:lstStyle/>
                    <a:p>
                      <a:pPr>
                        <a:buNone/>
                      </a:pPr>
                      <a:r>
                        <a:rPr lang="en-US" sz="2000" b="1">
                          <a:latin typeface="Open Sans" panose="020B0606030504020204" pitchFamily="34" charset="0"/>
                          <a:ea typeface="Open Sans" panose="020B0606030504020204" pitchFamily="34" charset="0"/>
                          <a:cs typeface="Open Sans" panose="020B0606030504020204" pitchFamily="34" charset="0"/>
                        </a:rPr>
                        <a:t>Industry Insight</a:t>
                      </a:r>
                      <a:endParaRPr lang="en-US" sz="2000">
                        <a:latin typeface="Open Sans" panose="020B0606030504020204" pitchFamily="34" charset="0"/>
                        <a:ea typeface="Open Sans" panose="020B0606030504020204" pitchFamily="34" charset="0"/>
                        <a:cs typeface="Open Sans" panose="020B0606030504020204" pitchFamily="34" charset="0"/>
                      </a:endParaRPr>
                    </a:p>
                  </a:txBody>
                  <a:tcPr marL="44372" marR="44372" marT="22186" marB="22186" anchor="ctr"/>
                </a:tc>
                <a:extLst>
                  <a:ext uri="{0D108BD9-81ED-4DB2-BD59-A6C34878D82A}">
                    <a16:rowId xmlns:a16="http://schemas.microsoft.com/office/drawing/2014/main" val="476352468"/>
                  </a:ext>
                </a:extLst>
              </a:tr>
              <a:tr h="976188">
                <a:tc>
                  <a:txBody>
                    <a:bodyPr/>
                    <a:lstStyle/>
                    <a:p>
                      <a:pPr>
                        <a:buNone/>
                      </a:pPr>
                      <a:r>
                        <a:rPr lang="en-US" sz="2000" dirty="0">
                          <a:latin typeface="Open Sans" panose="020B0606030504020204" pitchFamily="34" charset="0"/>
                          <a:ea typeface="Open Sans" panose="020B0606030504020204" pitchFamily="34" charset="0"/>
                          <a:cs typeface="Open Sans" panose="020B0606030504020204" pitchFamily="34" charset="0"/>
                        </a:rPr>
                        <a:t>Rivalry Among Existing Competitors</a:t>
                      </a:r>
                    </a:p>
                  </a:txBody>
                  <a:tcPr marL="44372" marR="44372" marT="22186" marB="22186" anchor="ctr"/>
                </a:tc>
                <a:tc>
                  <a:txBody>
                    <a:bodyPr/>
                    <a:lstStyle/>
                    <a:p>
                      <a:pPr>
                        <a:buNone/>
                      </a:pPr>
                      <a:r>
                        <a:rPr lang="en-US" sz="2000" dirty="0">
                          <a:latin typeface="Open Sans" panose="020B0606030504020204" pitchFamily="34" charset="0"/>
                          <a:ea typeface="Open Sans" panose="020B0606030504020204" pitchFamily="34" charset="0"/>
                          <a:cs typeface="Open Sans" panose="020B0606030504020204" pitchFamily="34" charset="0"/>
                        </a:rPr>
                        <a:t>Very High</a:t>
                      </a:r>
                    </a:p>
                  </a:txBody>
                  <a:tcPr marL="44372" marR="44372" marT="22186" marB="22186" anchor="ctr"/>
                </a:tc>
                <a:tc>
                  <a:txBody>
                    <a:bodyPr/>
                    <a:lstStyle/>
                    <a:p>
                      <a:pPr>
                        <a:buNone/>
                      </a:pPr>
                      <a:r>
                        <a:rPr lang="en-GB" sz="2000" dirty="0">
                          <a:latin typeface="Open Sans" panose="020B0606030504020204" pitchFamily="34" charset="0"/>
                          <a:ea typeface="Open Sans" panose="020B0606030504020204" pitchFamily="34" charset="0"/>
                          <a:cs typeface="Open Sans" panose="020B0606030504020204" pitchFamily="34" charset="0"/>
                        </a:rPr>
                        <a:t>The smartphone and mobile OS market is dominated by integrated ecosystems such as Apple (iOS) and Google (Android). Competition is intense and innovation cycles are rapid.</a:t>
                      </a:r>
                    </a:p>
                  </a:txBody>
                  <a:tcPr marL="44372" marR="44372" marT="22186" marB="22186" anchor="ctr"/>
                </a:tc>
                <a:extLst>
                  <a:ext uri="{0D108BD9-81ED-4DB2-BD59-A6C34878D82A}">
                    <a16:rowId xmlns:a16="http://schemas.microsoft.com/office/drawing/2014/main" val="889403824"/>
                  </a:ext>
                </a:extLst>
              </a:tr>
              <a:tr h="843071">
                <a:tc>
                  <a:txBody>
                    <a:bodyPr/>
                    <a:lstStyle/>
                    <a:p>
                      <a:pPr>
                        <a:buNone/>
                      </a:pPr>
                      <a:r>
                        <a:rPr lang="en-US" sz="2000" dirty="0">
                          <a:latin typeface="Open Sans" panose="020B0606030504020204" pitchFamily="34" charset="0"/>
                          <a:ea typeface="Open Sans" panose="020B0606030504020204" pitchFamily="34" charset="0"/>
                          <a:cs typeface="Open Sans" panose="020B0606030504020204" pitchFamily="34" charset="0"/>
                        </a:rPr>
                        <a:t>Buyer Power</a:t>
                      </a:r>
                    </a:p>
                  </a:txBody>
                  <a:tcPr marL="44372" marR="44372" marT="22186" marB="22186" anchor="ctr"/>
                </a:tc>
                <a:tc>
                  <a:txBody>
                    <a:bodyPr/>
                    <a:lstStyle/>
                    <a:p>
                      <a:pPr>
                        <a:buNone/>
                      </a:pPr>
                      <a:r>
                        <a:rPr lang="en-US" sz="2000" dirty="0">
                          <a:latin typeface="Open Sans" panose="020B0606030504020204" pitchFamily="34" charset="0"/>
                          <a:ea typeface="Open Sans" panose="020B0606030504020204" pitchFamily="34" charset="0"/>
                          <a:cs typeface="Open Sans" panose="020B0606030504020204" pitchFamily="34" charset="0"/>
                        </a:rPr>
                        <a:t>High</a:t>
                      </a:r>
                    </a:p>
                  </a:txBody>
                  <a:tcPr marL="44372" marR="44372" marT="22186" marB="22186" anchor="ctr"/>
                </a:tc>
                <a:tc>
                  <a:txBody>
                    <a:bodyPr/>
                    <a:lstStyle/>
                    <a:p>
                      <a:pPr>
                        <a:buNone/>
                      </a:pPr>
                      <a:r>
                        <a:rPr lang="en-GB" sz="2000" dirty="0">
                          <a:latin typeface="Open Sans" panose="020B0606030504020204" pitchFamily="34" charset="0"/>
                          <a:ea typeface="Open Sans" panose="020B0606030504020204" pitchFamily="34" charset="0"/>
                          <a:cs typeface="Open Sans" panose="020B0606030504020204" pitchFamily="34" charset="0"/>
                        </a:rPr>
                        <a:t>Consumers can easily switch between devices and platforms. Low switching costs increase pressure for strong differentiation.</a:t>
                      </a:r>
                    </a:p>
                  </a:txBody>
                  <a:tcPr marL="44372" marR="44372" marT="22186" marB="22186" anchor="ctr"/>
                </a:tc>
                <a:extLst>
                  <a:ext uri="{0D108BD9-81ED-4DB2-BD59-A6C34878D82A}">
                    <a16:rowId xmlns:a16="http://schemas.microsoft.com/office/drawing/2014/main" val="1729345673"/>
                  </a:ext>
                </a:extLst>
              </a:tr>
              <a:tr h="843071">
                <a:tc>
                  <a:txBody>
                    <a:bodyPr/>
                    <a:lstStyle/>
                    <a:p>
                      <a:pPr>
                        <a:buNone/>
                      </a:pPr>
                      <a:r>
                        <a:rPr lang="en-US" sz="2000">
                          <a:latin typeface="Open Sans" panose="020B0606030504020204" pitchFamily="34" charset="0"/>
                          <a:ea typeface="Open Sans" panose="020B0606030504020204" pitchFamily="34" charset="0"/>
                          <a:cs typeface="Open Sans" panose="020B0606030504020204" pitchFamily="34" charset="0"/>
                        </a:rPr>
                        <a:t>Threat of Substitutes</a:t>
                      </a:r>
                    </a:p>
                  </a:txBody>
                  <a:tcPr marL="44372" marR="44372" marT="22186" marB="22186" anchor="ctr"/>
                </a:tc>
                <a:tc>
                  <a:txBody>
                    <a:bodyPr/>
                    <a:lstStyle/>
                    <a:p>
                      <a:pPr>
                        <a:buNone/>
                      </a:pPr>
                      <a:r>
                        <a:rPr lang="en-US" sz="2000" dirty="0">
                          <a:latin typeface="Open Sans" panose="020B0606030504020204" pitchFamily="34" charset="0"/>
                          <a:ea typeface="Open Sans" panose="020B0606030504020204" pitchFamily="34" charset="0"/>
                          <a:cs typeface="Open Sans" panose="020B0606030504020204" pitchFamily="34" charset="0"/>
                        </a:rPr>
                        <a:t>High</a:t>
                      </a:r>
                    </a:p>
                  </a:txBody>
                  <a:tcPr marL="44372" marR="44372" marT="22186" marB="22186" anchor="ctr"/>
                </a:tc>
                <a:tc>
                  <a:txBody>
                    <a:bodyPr/>
                    <a:lstStyle/>
                    <a:p>
                      <a:pPr>
                        <a:buNone/>
                      </a:pPr>
                      <a:r>
                        <a:rPr lang="en-GB" sz="2000" dirty="0">
                          <a:latin typeface="Open Sans" panose="020B0606030504020204" pitchFamily="34" charset="0"/>
                          <a:ea typeface="Open Sans" panose="020B0606030504020204" pitchFamily="34" charset="0"/>
                          <a:cs typeface="Open Sans" panose="020B0606030504020204" pitchFamily="34" charset="0"/>
                        </a:rPr>
                        <a:t>Privacy tools, focus applications, and minimalist software solutions already exist within current smartphone ecosystems.</a:t>
                      </a:r>
                    </a:p>
                  </a:txBody>
                  <a:tcPr marL="44372" marR="44372" marT="22186" marB="22186" anchor="ctr"/>
                </a:tc>
                <a:extLst>
                  <a:ext uri="{0D108BD9-81ED-4DB2-BD59-A6C34878D82A}">
                    <a16:rowId xmlns:a16="http://schemas.microsoft.com/office/drawing/2014/main" val="1085699546"/>
                  </a:ext>
                </a:extLst>
              </a:tr>
              <a:tr h="843071">
                <a:tc>
                  <a:txBody>
                    <a:bodyPr/>
                    <a:lstStyle/>
                    <a:p>
                      <a:pPr>
                        <a:buNone/>
                      </a:pPr>
                      <a:r>
                        <a:rPr lang="en-US" sz="2000">
                          <a:latin typeface="Open Sans" panose="020B0606030504020204" pitchFamily="34" charset="0"/>
                          <a:ea typeface="Open Sans" panose="020B0606030504020204" pitchFamily="34" charset="0"/>
                          <a:cs typeface="Open Sans" panose="020B0606030504020204" pitchFamily="34" charset="0"/>
                        </a:rPr>
                        <a:t>Supplier Power</a:t>
                      </a:r>
                    </a:p>
                  </a:txBody>
                  <a:tcPr marL="44372" marR="44372" marT="22186" marB="22186" anchor="ctr"/>
                </a:tc>
                <a:tc>
                  <a:txBody>
                    <a:bodyPr/>
                    <a:lstStyle/>
                    <a:p>
                      <a:pPr>
                        <a:buNone/>
                      </a:pPr>
                      <a:r>
                        <a:rPr lang="en-US" sz="2000">
                          <a:latin typeface="Open Sans" panose="020B0606030504020204" pitchFamily="34" charset="0"/>
                          <a:ea typeface="Open Sans" panose="020B0606030504020204" pitchFamily="34" charset="0"/>
                          <a:cs typeface="Open Sans" panose="020B0606030504020204" pitchFamily="34" charset="0"/>
                        </a:rPr>
                        <a:t>Moderate</a:t>
                      </a:r>
                    </a:p>
                  </a:txBody>
                  <a:tcPr marL="44372" marR="44372" marT="22186" marB="22186" anchor="ctr"/>
                </a:tc>
                <a:tc>
                  <a:txBody>
                    <a:bodyPr/>
                    <a:lstStyle/>
                    <a:p>
                      <a:pPr>
                        <a:buNone/>
                      </a:pPr>
                      <a:r>
                        <a:rPr lang="en-GB" sz="2000">
                          <a:latin typeface="Open Sans" panose="020B0606030504020204" pitchFamily="34" charset="0"/>
                          <a:ea typeface="Open Sans" panose="020B0606030504020204" pitchFamily="34" charset="0"/>
                          <a:cs typeface="Open Sans" panose="020B0606030504020204" pitchFamily="34" charset="0"/>
                        </a:rPr>
                        <a:t>Hardware production requires large-scale manufacturing partnerships, increasing cost pressures and dependency.</a:t>
                      </a:r>
                    </a:p>
                  </a:txBody>
                  <a:tcPr marL="44372" marR="44372" marT="22186" marB="22186" anchor="ctr"/>
                </a:tc>
                <a:extLst>
                  <a:ext uri="{0D108BD9-81ED-4DB2-BD59-A6C34878D82A}">
                    <a16:rowId xmlns:a16="http://schemas.microsoft.com/office/drawing/2014/main" val="1103347582"/>
                  </a:ext>
                </a:extLst>
              </a:tr>
              <a:tr h="843071">
                <a:tc>
                  <a:txBody>
                    <a:bodyPr/>
                    <a:lstStyle/>
                    <a:p>
                      <a:pPr>
                        <a:buNone/>
                      </a:pPr>
                      <a:r>
                        <a:rPr lang="en-US" sz="2000">
                          <a:latin typeface="Open Sans" panose="020B0606030504020204" pitchFamily="34" charset="0"/>
                          <a:ea typeface="Open Sans" panose="020B0606030504020204" pitchFamily="34" charset="0"/>
                          <a:cs typeface="Open Sans" panose="020B0606030504020204" pitchFamily="34" charset="0"/>
                        </a:rPr>
                        <a:t>Threat of New Entrants</a:t>
                      </a:r>
                    </a:p>
                  </a:txBody>
                  <a:tcPr marL="44372" marR="44372" marT="22186" marB="22186" anchor="ctr"/>
                </a:tc>
                <a:tc>
                  <a:txBody>
                    <a:bodyPr/>
                    <a:lstStyle/>
                    <a:p>
                      <a:pPr>
                        <a:buNone/>
                      </a:pPr>
                      <a:r>
                        <a:rPr lang="en-GB" sz="2000" dirty="0">
                          <a:latin typeface="Open Sans" panose="020B0606030504020204" pitchFamily="34" charset="0"/>
                          <a:ea typeface="Open Sans" panose="020B0606030504020204" pitchFamily="34" charset="0"/>
                          <a:cs typeface="Open Sans" panose="020B0606030504020204" pitchFamily="34" charset="0"/>
                        </a:rPr>
                        <a:t>Low in hardware / Higher in software</a:t>
                      </a:r>
                    </a:p>
                  </a:txBody>
                  <a:tcPr marL="44372" marR="44372" marT="22186" marB="22186" anchor="ctr"/>
                </a:tc>
                <a:tc>
                  <a:txBody>
                    <a:bodyPr/>
                    <a:lstStyle/>
                    <a:p>
                      <a:pPr>
                        <a:buNone/>
                      </a:pPr>
                      <a:r>
                        <a:rPr lang="en-GB" sz="2000" dirty="0">
                          <a:latin typeface="Open Sans" panose="020B0606030504020204" pitchFamily="34" charset="0"/>
                          <a:ea typeface="Open Sans" panose="020B0606030504020204" pitchFamily="34" charset="0"/>
                          <a:cs typeface="Open Sans" panose="020B0606030504020204" pitchFamily="34" charset="0"/>
                        </a:rPr>
                        <a:t>Hardware entry barriers remain high due to capital requirements, but privacy-focused software and applications are easier to develop and launch.</a:t>
                      </a:r>
                    </a:p>
                  </a:txBody>
                  <a:tcPr marL="44372" marR="44372" marT="22186" marB="22186" anchor="ctr"/>
                </a:tc>
                <a:extLst>
                  <a:ext uri="{0D108BD9-81ED-4DB2-BD59-A6C34878D82A}">
                    <a16:rowId xmlns:a16="http://schemas.microsoft.com/office/drawing/2014/main" val="1281535956"/>
                  </a:ext>
                </a:extLst>
              </a:tr>
            </a:tbl>
          </a:graphicData>
        </a:graphic>
      </p:graphicFrame>
    </p:spTree>
    <p:extLst>
      <p:ext uri="{BB962C8B-B14F-4D97-AF65-F5344CB8AC3E}">
        <p14:creationId xmlns:p14="http://schemas.microsoft.com/office/powerpoint/2010/main" val="388150250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4AE7F-6619-6E82-DBE1-065D25BD457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FFA4571-A8BF-350C-FC2B-78C7AB447786}"/>
              </a:ext>
            </a:extLst>
          </p:cNvPr>
          <p:cNvSpPr txBox="1"/>
          <p:nvPr/>
        </p:nvSpPr>
        <p:spPr>
          <a:xfrm>
            <a:off x="342902" y="-114300"/>
            <a:ext cx="17716498" cy="2215991"/>
          </a:xfrm>
          <a:prstGeom prst="rect">
            <a:avLst/>
          </a:prstGeom>
        </p:spPr>
        <p:txBody>
          <a:bodyPr wrap="square" lIns="0" tIns="0" rIns="0" bIns="0" rtlCol="0" anchor="t">
            <a:spAutoFit/>
          </a:bodyPr>
          <a:lstStyle/>
          <a:p>
            <a:pPr algn="ctr"/>
            <a:r>
              <a:rPr lang="en-GB" sz="7000" b="1" dirty="0">
                <a:latin typeface="Montserrat" panose="00000500000000000000" pitchFamily="2" charset="0"/>
                <a:cs typeface="Mongolian Baiti" panose="03000500000000000000" pitchFamily="66" charset="0"/>
              </a:rPr>
              <a:t>Blue Ocean Strategy: Creating a Privacy-Focused Category</a:t>
            </a:r>
            <a:endParaRPr lang="en-GB" sz="7000" dirty="0">
              <a:latin typeface="Montserrat" panose="00000500000000000000" pitchFamily="2" charset="0"/>
              <a:cs typeface="Mongolian Baiti" panose="03000500000000000000" pitchFamily="66" charset="0"/>
            </a:endParaRPr>
          </a:p>
        </p:txBody>
      </p:sp>
      <p:sp>
        <p:nvSpPr>
          <p:cNvPr id="4" name="TextBox 4">
            <a:extLst>
              <a:ext uri="{FF2B5EF4-FFF2-40B4-BE49-F238E27FC236}">
                <a16:creationId xmlns:a16="http://schemas.microsoft.com/office/drawing/2014/main" id="{3AC68DAA-BE6A-02F1-2D17-39488E9B38DC}"/>
              </a:ext>
            </a:extLst>
          </p:cNvPr>
          <p:cNvSpPr txBox="1"/>
          <p:nvPr/>
        </p:nvSpPr>
        <p:spPr>
          <a:xfrm>
            <a:off x="977803" y="2019300"/>
            <a:ext cx="16446695" cy="8002191"/>
          </a:xfrm>
          <a:prstGeom prst="rect">
            <a:avLst/>
          </a:prstGeom>
        </p:spPr>
        <p:txBody>
          <a:bodyPr wrap="square" lIns="0" tIns="0" rIns="0" bIns="0" rtlCol="0" anchor="t">
            <a:spAutoFit/>
          </a:bodyPr>
          <a:lstStyle/>
          <a:p>
            <a:r>
              <a:rPr lang="en-GB" sz="2600" dirty="0">
                <a:latin typeface="Open Sans" panose="020B0606030504020204" pitchFamily="34" charset="0"/>
                <a:ea typeface="Open Sans" panose="020B0606030504020204" pitchFamily="34" charset="0"/>
                <a:cs typeface="Open Sans" panose="020B0606030504020204" pitchFamily="34" charset="0"/>
              </a:rPr>
              <a:t>BlackBerry can redefine value as a result of focused differentiation rather than competing based on features or the scale of ecosystem.</a:t>
            </a:r>
          </a:p>
          <a:p>
            <a:endParaRPr lang="en-GB" sz="2600" dirty="0">
              <a:latin typeface="Open Sans" panose="020B0606030504020204" pitchFamily="34" charset="0"/>
              <a:ea typeface="Open Sans" panose="020B0606030504020204" pitchFamily="34" charset="0"/>
              <a:cs typeface="Open Sans" panose="020B0606030504020204" pitchFamily="34" charset="0"/>
            </a:endParaRPr>
          </a:p>
          <a:p>
            <a:r>
              <a:rPr lang="en-US" sz="2600" b="1" dirty="0">
                <a:latin typeface="Open Sans" panose="020B0606030504020204" pitchFamily="34" charset="0"/>
                <a:ea typeface="Open Sans" panose="020B0606030504020204" pitchFamily="34" charset="0"/>
                <a:cs typeface="Open Sans" panose="020B0606030504020204" pitchFamily="34" charset="0"/>
              </a:rPr>
              <a:t>Eliminate</a:t>
            </a:r>
            <a:endParaRPr lang="en-US" sz="2600" dirty="0">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Engagement-driven interface design</a:t>
            </a:r>
          </a:p>
          <a:p>
            <a:pPr marL="457200" indent="-45720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Default data harvesting models</a:t>
            </a:r>
          </a:p>
          <a:p>
            <a:pPr marL="457200" indent="-45720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Attention-maximizing app architecture</a:t>
            </a:r>
          </a:p>
          <a:p>
            <a:endParaRPr lang="en-US" sz="2600" dirty="0">
              <a:latin typeface="Open Sans" panose="020B0606030504020204" pitchFamily="34" charset="0"/>
              <a:ea typeface="Open Sans" panose="020B0606030504020204" pitchFamily="34" charset="0"/>
              <a:cs typeface="Open Sans" panose="020B0606030504020204" pitchFamily="34" charset="0"/>
            </a:endParaRPr>
          </a:p>
          <a:p>
            <a:r>
              <a:rPr lang="en-US" sz="2600" b="1" dirty="0">
                <a:latin typeface="Open Sans" panose="020B0606030504020204" pitchFamily="34" charset="0"/>
                <a:ea typeface="Open Sans" panose="020B0606030504020204" pitchFamily="34" charset="0"/>
                <a:cs typeface="Open Sans" panose="020B0606030504020204" pitchFamily="34" charset="0"/>
              </a:rPr>
              <a:t>Reduce</a:t>
            </a:r>
            <a:endParaRPr lang="en-US" sz="2600" dirty="0">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Notification overload</a:t>
            </a:r>
          </a:p>
          <a:p>
            <a:pPr marL="457200" indent="-45720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App ecosystem complexity</a:t>
            </a:r>
          </a:p>
          <a:p>
            <a:pPr marL="457200" indent="-45720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Algorithm-driven content feeds</a:t>
            </a:r>
          </a:p>
          <a:p>
            <a:pPr marL="457200" indent="-457200">
              <a:buFont typeface="Arial" panose="020B0604020202020204" pitchFamily="34" charset="0"/>
              <a:buChar char="•"/>
            </a:pPr>
            <a:endParaRPr lang="en-US" sz="2600" dirty="0">
              <a:latin typeface="Open Sans" panose="020B0606030504020204" pitchFamily="34" charset="0"/>
              <a:ea typeface="Open Sans" panose="020B0606030504020204" pitchFamily="34" charset="0"/>
              <a:cs typeface="Open Sans" panose="020B0606030504020204" pitchFamily="34" charset="0"/>
            </a:endParaRPr>
          </a:p>
          <a:p>
            <a:r>
              <a:rPr lang="en-US" sz="2600" b="1" dirty="0">
                <a:latin typeface="Open Sans" panose="020B0606030504020204" pitchFamily="34" charset="0"/>
                <a:ea typeface="Open Sans" panose="020B0606030504020204" pitchFamily="34" charset="0"/>
                <a:cs typeface="Open Sans" panose="020B0606030504020204" pitchFamily="34" charset="0"/>
              </a:rPr>
              <a:t>Raise</a:t>
            </a:r>
            <a:endParaRPr lang="en-US" sz="2600" dirty="0">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User control over data</a:t>
            </a:r>
          </a:p>
          <a:p>
            <a:pPr marL="457200" indent="-45720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Transparency of permissions</a:t>
            </a:r>
          </a:p>
          <a:p>
            <a:pPr marL="457200" indent="-45720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Focus-oriented design tools</a:t>
            </a:r>
          </a:p>
          <a:p>
            <a:endParaRPr lang="en-US" sz="2600" dirty="0">
              <a:latin typeface="Open Sans" panose="020B0606030504020204" pitchFamily="34" charset="0"/>
              <a:ea typeface="Open Sans" panose="020B0606030504020204" pitchFamily="34" charset="0"/>
              <a:cs typeface="Open Sans" panose="020B0606030504020204" pitchFamily="34" charset="0"/>
            </a:endParaRPr>
          </a:p>
          <a:p>
            <a:r>
              <a:rPr lang="en-GB" sz="2600" dirty="0">
                <a:solidFill>
                  <a:srgbClr val="FF0000"/>
                </a:solidFill>
                <a:latin typeface="Open Sans" panose="020B0606030504020204" pitchFamily="34" charset="0"/>
                <a:ea typeface="Open Sans" panose="020B0606030504020204" pitchFamily="34" charset="0"/>
                <a:cs typeface="Open Sans" panose="020B0606030504020204" pitchFamily="34" charset="0"/>
              </a:rPr>
              <a:t>This will shift BlackBerry off the existing smartphone competition to the establishment </a:t>
            </a:r>
          </a:p>
          <a:p>
            <a:r>
              <a:rPr lang="en-GB" sz="2600" dirty="0">
                <a:solidFill>
                  <a:srgbClr val="FF0000"/>
                </a:solidFill>
                <a:latin typeface="Open Sans" panose="020B0606030504020204" pitchFamily="34" charset="0"/>
                <a:ea typeface="Open Sans" panose="020B0606030504020204" pitchFamily="34" charset="0"/>
                <a:cs typeface="Open Sans" panose="020B0606030504020204" pitchFamily="34" charset="0"/>
              </a:rPr>
              <a:t>of a new privacy-oriented category of mobile products.</a:t>
            </a:r>
            <a:endParaRPr lang="en-US" sz="2600"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Freeform 3">
            <a:extLst>
              <a:ext uri="{FF2B5EF4-FFF2-40B4-BE49-F238E27FC236}">
                <a16:creationId xmlns:a16="http://schemas.microsoft.com/office/drawing/2014/main" id="{27E10850-332F-3C67-DCDF-C804FCFAB794}"/>
              </a:ext>
            </a:extLst>
          </p:cNvPr>
          <p:cNvSpPr/>
          <p:nvPr/>
        </p:nvSpPr>
        <p:spPr>
          <a:xfrm>
            <a:off x="15773400" y="8496300"/>
            <a:ext cx="2514600" cy="1790700"/>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sp>
        <p:nvSpPr>
          <p:cNvPr id="3" name="TextBox 2">
            <a:extLst>
              <a:ext uri="{FF2B5EF4-FFF2-40B4-BE49-F238E27FC236}">
                <a16:creationId xmlns:a16="http://schemas.microsoft.com/office/drawing/2014/main" id="{6F540CC0-106E-A864-8F4B-AB5D737A2DFE}"/>
              </a:ext>
            </a:extLst>
          </p:cNvPr>
          <p:cNvSpPr txBox="1"/>
          <p:nvPr/>
        </p:nvSpPr>
        <p:spPr>
          <a:xfrm>
            <a:off x="9296400" y="4145910"/>
            <a:ext cx="7696200" cy="2677656"/>
          </a:xfrm>
          <a:prstGeom prst="rect">
            <a:avLst/>
          </a:prstGeom>
          <a:noFill/>
        </p:spPr>
        <p:txBody>
          <a:bodyPr wrap="square" rtlCol="0">
            <a:spAutoFit/>
          </a:bodyPr>
          <a:lstStyle/>
          <a:p>
            <a:r>
              <a:rPr lang="en-US" sz="2800" b="1" dirty="0">
                <a:latin typeface="Open Sans" panose="020B0606030504020204" pitchFamily="34" charset="0"/>
                <a:ea typeface="Open Sans" panose="020B0606030504020204" pitchFamily="34" charset="0"/>
                <a:cs typeface="Open Sans" panose="020B0606030504020204" pitchFamily="34" charset="0"/>
              </a:rPr>
              <a:t>Create</a:t>
            </a:r>
            <a:endParaRPr lang="en-US" sz="2800" dirty="0">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Integrated privacy dashboard</a:t>
            </a:r>
          </a:p>
          <a:p>
            <a:pPr marL="457200" indent="-45720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Distraction-free operating mode</a:t>
            </a:r>
          </a:p>
          <a:p>
            <a:pPr marL="457200" indent="-45720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Optional physical keyboard for intentional communication</a:t>
            </a:r>
          </a:p>
          <a:p>
            <a:pPr marL="457200" indent="-45720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Digital wellbeing-centered OS experience</a:t>
            </a:r>
          </a:p>
        </p:txBody>
      </p:sp>
    </p:spTree>
    <p:extLst>
      <p:ext uri="{BB962C8B-B14F-4D97-AF65-F5344CB8AC3E}">
        <p14:creationId xmlns:p14="http://schemas.microsoft.com/office/powerpoint/2010/main" val="399980651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E4E29-4277-31E9-327B-8A0BA14E203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EDCBC267-4395-0BA5-FF86-DDF2214DB256}"/>
              </a:ext>
            </a:extLst>
          </p:cNvPr>
          <p:cNvSpPr txBox="1"/>
          <p:nvPr/>
        </p:nvSpPr>
        <p:spPr>
          <a:xfrm>
            <a:off x="609600" y="266700"/>
            <a:ext cx="17678400" cy="1000274"/>
          </a:xfrm>
          <a:prstGeom prst="rect">
            <a:avLst/>
          </a:prstGeom>
        </p:spPr>
        <p:txBody>
          <a:bodyPr wrap="square" lIns="0" tIns="0" rIns="0" bIns="0" rtlCol="0" anchor="t">
            <a:spAutoFit/>
          </a:bodyPr>
          <a:lstStyle/>
          <a:p>
            <a:r>
              <a:rPr lang="en-US" sz="6500" b="1" dirty="0">
                <a:latin typeface="Montserrat" panose="00000500000000000000" pitchFamily="2" charset="0"/>
                <a:cs typeface="Mongolian Baiti" panose="03000500000000000000" pitchFamily="66" charset="0"/>
              </a:rPr>
              <a:t>Target Market Strategy &amp; Revenue Logic</a:t>
            </a:r>
            <a:endParaRPr lang="en-US" sz="6500" dirty="0">
              <a:latin typeface="Montserrat" panose="00000500000000000000" pitchFamily="2" charset="0"/>
              <a:cs typeface="Mongolian Baiti" panose="03000500000000000000" pitchFamily="66" charset="0"/>
            </a:endParaRPr>
          </a:p>
        </p:txBody>
      </p:sp>
      <p:sp>
        <p:nvSpPr>
          <p:cNvPr id="5" name="Freeform 3">
            <a:extLst>
              <a:ext uri="{FF2B5EF4-FFF2-40B4-BE49-F238E27FC236}">
                <a16:creationId xmlns:a16="http://schemas.microsoft.com/office/drawing/2014/main" id="{5A3F9B30-B06D-2FC2-0A4A-C4B7E38D804E}"/>
              </a:ext>
            </a:extLst>
          </p:cNvPr>
          <p:cNvSpPr/>
          <p:nvPr/>
        </p:nvSpPr>
        <p:spPr>
          <a:xfrm>
            <a:off x="16687800" y="9179004"/>
            <a:ext cx="1600200" cy="1107996"/>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sp>
        <p:nvSpPr>
          <p:cNvPr id="6" name="Rectangle 5">
            <a:extLst>
              <a:ext uri="{FF2B5EF4-FFF2-40B4-BE49-F238E27FC236}">
                <a16:creationId xmlns:a16="http://schemas.microsoft.com/office/drawing/2014/main" id="{684D4D1D-A4CC-D8D0-EC75-7ED947A4E8CF}"/>
              </a:ext>
            </a:extLst>
          </p:cNvPr>
          <p:cNvSpPr/>
          <p:nvPr/>
        </p:nvSpPr>
        <p:spPr>
          <a:xfrm>
            <a:off x="838200" y="1562100"/>
            <a:ext cx="7086600" cy="4149805"/>
          </a:xfrm>
          <a:prstGeom prst="rect">
            <a:avLst/>
          </a:prstGeom>
          <a:ln>
            <a:noFill/>
          </a:ln>
          <a:effectLst/>
          <a:scene3d>
            <a:camera prst="perspectiveRight"/>
            <a:lightRig rig="glow" dir="t">
              <a:rot lat="0" lon="0" rev="14100000"/>
            </a:lightRig>
          </a:scene3d>
          <a:sp3d prstMaterial="softEdge">
            <a:bevelT w="127000" prst="artDeco"/>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latin typeface="Open Sans" panose="020B0606030504020204" pitchFamily="34" charset="0"/>
                <a:ea typeface="Open Sans" panose="020B0606030504020204" pitchFamily="34" charset="0"/>
                <a:cs typeface="Open Sans" panose="020B0606030504020204" pitchFamily="34" charset="0"/>
              </a:rPr>
              <a:t>Segmentation</a:t>
            </a:r>
          </a:p>
          <a:p>
            <a:pPr marL="457200" indent="-45720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Market segmented based on psychographic and behavioral factors:</a:t>
            </a:r>
          </a:p>
          <a:p>
            <a:pPr marL="457200" indent="-45720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Privacy-conscious professionals</a:t>
            </a:r>
          </a:p>
          <a:p>
            <a:pPr marL="457200" indent="-45720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Students experiencing digital fatigue</a:t>
            </a:r>
          </a:p>
          <a:p>
            <a:pPr marL="457200" indent="-45720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Minimalist technology adopters</a:t>
            </a:r>
          </a:p>
          <a:p>
            <a:pPr marL="457200" indent="-45720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Enterprise employees requiring secure communication</a:t>
            </a:r>
          </a:p>
        </p:txBody>
      </p:sp>
      <p:sp>
        <p:nvSpPr>
          <p:cNvPr id="9" name="Rectangle 8">
            <a:extLst>
              <a:ext uri="{FF2B5EF4-FFF2-40B4-BE49-F238E27FC236}">
                <a16:creationId xmlns:a16="http://schemas.microsoft.com/office/drawing/2014/main" id="{61330E10-40E5-BFA3-3ACE-D4595F7AE685}"/>
              </a:ext>
            </a:extLst>
          </p:cNvPr>
          <p:cNvSpPr/>
          <p:nvPr/>
        </p:nvSpPr>
        <p:spPr>
          <a:xfrm>
            <a:off x="609600" y="6210300"/>
            <a:ext cx="9677400" cy="3799496"/>
          </a:xfrm>
          <a:prstGeom prst="rect">
            <a:avLst/>
          </a:prstGeom>
          <a:solidFill>
            <a:srgbClr val="00B050"/>
          </a:solidFill>
          <a:effectLst>
            <a:glow rad="2286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500" b="1" dirty="0">
                <a:latin typeface="Open Sans" panose="020B0606030504020204" pitchFamily="34" charset="0"/>
                <a:ea typeface="Open Sans" panose="020B0606030504020204" pitchFamily="34" charset="0"/>
                <a:cs typeface="Open Sans" panose="020B0606030504020204" pitchFamily="34" charset="0"/>
              </a:rPr>
              <a:t>TAM / SAM / SOM Logic</a:t>
            </a:r>
          </a:p>
          <a:p>
            <a:pPr marL="457200" indent="-457200">
              <a:buFont typeface="Arial" panose="020B0604020202020204" pitchFamily="34" charset="0"/>
              <a:buChar char="•"/>
            </a:pPr>
            <a:r>
              <a:rPr lang="en-US" sz="2500" b="1" dirty="0">
                <a:latin typeface="Open Sans" panose="020B0606030504020204" pitchFamily="34" charset="0"/>
                <a:ea typeface="Open Sans" panose="020B0606030504020204" pitchFamily="34" charset="0"/>
                <a:cs typeface="Open Sans" panose="020B0606030504020204" pitchFamily="34" charset="0"/>
              </a:rPr>
              <a:t>TAM </a:t>
            </a:r>
            <a:r>
              <a:rPr lang="en-US" sz="25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(Total Addressable Market)</a:t>
            </a:r>
            <a:r>
              <a:rPr lang="en-US" sz="2500" b="1" dirty="0">
                <a:latin typeface="Open Sans" panose="020B0606030504020204" pitchFamily="34" charset="0"/>
                <a:ea typeface="Open Sans" panose="020B0606030504020204" pitchFamily="34" charset="0"/>
                <a:cs typeface="Open Sans" panose="020B0606030504020204" pitchFamily="34" charset="0"/>
              </a:rPr>
              <a:t>: </a:t>
            </a:r>
            <a:r>
              <a:rPr lang="en-US" sz="2500" dirty="0">
                <a:latin typeface="Open Sans" panose="020B0606030504020204" pitchFamily="34" charset="0"/>
                <a:ea typeface="Open Sans" panose="020B0606030504020204" pitchFamily="34" charset="0"/>
                <a:cs typeface="Open Sans" panose="020B0606030504020204" pitchFamily="34" charset="0"/>
              </a:rPr>
              <a:t>Global smartphone users concerned with privacy and digital wellbeing.</a:t>
            </a:r>
          </a:p>
          <a:p>
            <a:pPr marL="457200" indent="-457200">
              <a:buFont typeface="Arial" panose="020B0604020202020204" pitchFamily="34" charset="0"/>
              <a:buChar char="•"/>
            </a:pPr>
            <a:r>
              <a:rPr lang="en-US" sz="2500" b="1" dirty="0">
                <a:latin typeface="Open Sans" panose="020B0606030504020204" pitchFamily="34" charset="0"/>
                <a:ea typeface="Open Sans" panose="020B0606030504020204" pitchFamily="34" charset="0"/>
                <a:cs typeface="Open Sans" panose="020B0606030504020204" pitchFamily="34" charset="0"/>
              </a:rPr>
              <a:t>SAM </a:t>
            </a:r>
            <a:r>
              <a:rPr lang="en-US" sz="25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(Serviceable Available Market)</a:t>
            </a:r>
            <a:r>
              <a:rPr lang="en-US" sz="2500" b="1" dirty="0">
                <a:latin typeface="Open Sans" panose="020B0606030504020204" pitchFamily="34" charset="0"/>
                <a:ea typeface="Open Sans" panose="020B0606030504020204" pitchFamily="34" charset="0"/>
                <a:cs typeface="Open Sans" panose="020B0606030504020204" pitchFamily="34" charset="0"/>
              </a:rPr>
              <a:t>: </a:t>
            </a:r>
            <a:r>
              <a:rPr lang="en-US" sz="2500" dirty="0">
                <a:latin typeface="Open Sans" panose="020B0606030504020204" pitchFamily="34" charset="0"/>
                <a:ea typeface="Open Sans" panose="020B0606030504020204" pitchFamily="34" charset="0"/>
                <a:cs typeface="Open Sans" panose="020B0606030504020204" pitchFamily="34" charset="0"/>
              </a:rPr>
              <a:t>Users in North America and Europe actively seeking privacy-enhancing technology.</a:t>
            </a:r>
          </a:p>
          <a:p>
            <a:pPr marL="457200" indent="-457200">
              <a:buFont typeface="Arial" panose="020B0604020202020204" pitchFamily="34" charset="0"/>
              <a:buChar char="•"/>
            </a:pPr>
            <a:r>
              <a:rPr lang="en-US" sz="2500" b="1" dirty="0">
                <a:latin typeface="Open Sans" panose="020B0606030504020204" pitchFamily="34" charset="0"/>
                <a:ea typeface="Open Sans" panose="020B0606030504020204" pitchFamily="34" charset="0"/>
                <a:cs typeface="Open Sans" panose="020B0606030504020204" pitchFamily="34" charset="0"/>
              </a:rPr>
              <a:t>SOM </a:t>
            </a:r>
            <a:r>
              <a:rPr lang="en-US" sz="25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(Serviceable Obtainable Market): </a:t>
            </a:r>
            <a:r>
              <a:rPr lang="en-US" sz="2500" dirty="0">
                <a:latin typeface="Open Sans" panose="020B0606030504020204" pitchFamily="34" charset="0"/>
                <a:ea typeface="Open Sans" panose="020B0606030504020204" pitchFamily="34" charset="0"/>
                <a:cs typeface="Open Sans" panose="020B0606030504020204" pitchFamily="34" charset="0"/>
              </a:rPr>
              <a:t>Niche premium segment within 3 years through direct-to-consumer launch and enterprise pilot programs.</a:t>
            </a:r>
          </a:p>
        </p:txBody>
      </p:sp>
      <p:sp>
        <p:nvSpPr>
          <p:cNvPr id="10" name="Rectangle 9">
            <a:extLst>
              <a:ext uri="{FF2B5EF4-FFF2-40B4-BE49-F238E27FC236}">
                <a16:creationId xmlns:a16="http://schemas.microsoft.com/office/drawing/2014/main" id="{E2144AFD-A9F0-2254-3236-ED9BF1516AD4}"/>
              </a:ext>
            </a:extLst>
          </p:cNvPr>
          <p:cNvSpPr/>
          <p:nvPr/>
        </p:nvSpPr>
        <p:spPr>
          <a:xfrm>
            <a:off x="8153401" y="1683809"/>
            <a:ext cx="9296400" cy="3799496"/>
          </a:xfrm>
          <a:prstGeom prst="rect">
            <a:avLst/>
          </a:prstGeom>
          <a:solidFill>
            <a:schemeClr val="accent6">
              <a:lumMod val="75000"/>
            </a:schemeClr>
          </a:solidFill>
          <a:ln>
            <a:noFill/>
          </a:ln>
          <a:effectLst>
            <a:outerShdw blurRad="44450" dist="27940" dir="5400000" algn="ctr">
              <a:srgbClr val="000000">
                <a:alpha val="32000"/>
              </a:srgbClr>
            </a:outerShdw>
            <a:softEdge rad="63500"/>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800" b="1" dirty="0">
                <a:latin typeface="Open Sans" panose="020B0606030504020204" pitchFamily="34" charset="0"/>
                <a:ea typeface="Open Sans" panose="020B0606030504020204" pitchFamily="34" charset="0"/>
                <a:cs typeface="Open Sans" panose="020B0606030504020204" pitchFamily="34" charset="0"/>
              </a:rPr>
              <a:t>Targeting</a:t>
            </a:r>
          </a:p>
          <a:p>
            <a:pPr marL="457200" indent="-457200">
              <a:buFont typeface="Arial" panose="020B0604020202020204" pitchFamily="34" charset="0"/>
              <a:buChar char="•"/>
            </a:pPr>
            <a:r>
              <a:rPr lang="en-GB" sz="2800" b="1" dirty="0">
                <a:latin typeface="Open Sans" panose="020B0606030504020204" pitchFamily="34" charset="0"/>
                <a:ea typeface="Open Sans" panose="020B0606030504020204" pitchFamily="34" charset="0"/>
                <a:cs typeface="Open Sans" panose="020B0606030504020204" pitchFamily="34" charset="0"/>
              </a:rPr>
              <a:t>Primary target</a:t>
            </a:r>
            <a:r>
              <a:rPr lang="en-GB" sz="2800" dirty="0">
                <a:latin typeface="Open Sans" panose="020B0606030504020204" pitchFamily="34" charset="0"/>
                <a:ea typeface="Open Sans" panose="020B0606030504020204" pitchFamily="34" charset="0"/>
                <a:cs typeface="Open Sans" panose="020B0606030504020204" pitchFamily="34" charset="0"/>
              </a:rPr>
              <a:t>: 18–35-year-old professionals and students seeking greater digital control and reduced cognitive overload.</a:t>
            </a:r>
          </a:p>
          <a:p>
            <a:endParaRPr lang="en-GB" sz="2800" dirty="0">
              <a:latin typeface="Open Sans" panose="020B0606030504020204" pitchFamily="34" charset="0"/>
              <a:ea typeface="Open Sans" panose="020B0606030504020204" pitchFamily="34" charset="0"/>
              <a:cs typeface="Open Sans" panose="020B0606030504020204" pitchFamily="34" charset="0"/>
            </a:endParaRPr>
          </a:p>
          <a:p>
            <a:r>
              <a:rPr lang="en-GB" sz="2800" b="1" dirty="0">
                <a:latin typeface="Open Sans" panose="020B0606030504020204" pitchFamily="34" charset="0"/>
                <a:ea typeface="Open Sans" panose="020B0606030504020204" pitchFamily="34" charset="0"/>
                <a:cs typeface="Open Sans" panose="020B0606030504020204" pitchFamily="34" charset="0"/>
              </a:rPr>
              <a:t>Positioning</a:t>
            </a:r>
          </a:p>
          <a:p>
            <a:pPr marL="457200" indent="-457200">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BlackBerry: </a:t>
            </a:r>
            <a:r>
              <a:rPr lang="en-GB" sz="2800" i="1" dirty="0">
                <a:latin typeface="Open Sans" panose="020B0606030504020204" pitchFamily="34" charset="0"/>
                <a:ea typeface="Open Sans" panose="020B0606030504020204" pitchFamily="34" charset="0"/>
                <a:cs typeface="Open Sans" panose="020B0606030504020204" pitchFamily="34" charset="0"/>
              </a:rPr>
              <a:t>The privacy-first, focus-driven mobile device.</a:t>
            </a:r>
            <a:endParaRPr lang="en-GB" sz="28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59D184FA-0372-7E76-5AEA-CBE7D9E654EC}"/>
              </a:ext>
            </a:extLst>
          </p:cNvPr>
          <p:cNvSpPr/>
          <p:nvPr/>
        </p:nvSpPr>
        <p:spPr>
          <a:xfrm>
            <a:off x="10820400" y="5829300"/>
            <a:ext cx="6172200" cy="4149805"/>
          </a:xfrm>
          <a:prstGeom prst="rect">
            <a:avLst/>
          </a:prstGeom>
          <a:effectLst>
            <a:glow rad="139700">
              <a:schemeClr val="accent2">
                <a:satMod val="175000"/>
                <a:alpha val="40000"/>
              </a:schemeClr>
            </a:glow>
          </a:effectLst>
          <a:scene3d>
            <a:camera prst="perspectiveRigh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800" b="1" dirty="0">
                <a:latin typeface="Open Sans" panose="020B0606030504020204" pitchFamily="34" charset="0"/>
                <a:ea typeface="Open Sans" panose="020B0606030504020204" pitchFamily="34" charset="0"/>
                <a:cs typeface="Open Sans" panose="020B0606030504020204" pitchFamily="34" charset="0"/>
              </a:rPr>
              <a:t>Revenue Model</a:t>
            </a:r>
          </a:p>
          <a:p>
            <a:pPr marL="457200" indent="-457200">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Premium hardware sales</a:t>
            </a:r>
          </a:p>
          <a:p>
            <a:pPr marL="457200" indent="-457200">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Monthly privacy subscription service</a:t>
            </a:r>
          </a:p>
          <a:p>
            <a:pPr marL="457200" indent="-457200">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Enterprise bulk contracts</a:t>
            </a:r>
          </a:p>
          <a:p>
            <a:r>
              <a:rPr lang="en-GB" sz="2800" dirty="0">
                <a:latin typeface="Open Sans" panose="020B0606030504020204" pitchFamily="34" charset="0"/>
                <a:ea typeface="Open Sans" panose="020B0606030504020204" pitchFamily="34" charset="0"/>
                <a:cs typeface="Open Sans" panose="020B0606030504020204" pitchFamily="34" charset="0"/>
              </a:rPr>
              <a:t>This structured targeting converts strategic differentiation into measurable revenue potential.</a:t>
            </a:r>
          </a:p>
        </p:txBody>
      </p:sp>
    </p:spTree>
    <p:extLst>
      <p:ext uri="{BB962C8B-B14F-4D97-AF65-F5344CB8AC3E}">
        <p14:creationId xmlns:p14="http://schemas.microsoft.com/office/powerpoint/2010/main" val="1355039583"/>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70BCE-B84D-A425-EECE-A616E9D7A5D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055481A-1E1C-E9ED-7FFA-66D2177C3E1D}"/>
              </a:ext>
            </a:extLst>
          </p:cNvPr>
          <p:cNvSpPr txBox="1"/>
          <p:nvPr/>
        </p:nvSpPr>
        <p:spPr>
          <a:xfrm>
            <a:off x="1028700" y="-114300"/>
            <a:ext cx="16211305" cy="1132682"/>
          </a:xfrm>
          <a:prstGeom prst="rect">
            <a:avLst/>
          </a:prstGeom>
        </p:spPr>
        <p:txBody>
          <a:bodyPr lIns="0" tIns="0" rIns="0" bIns="0" rtlCol="0" anchor="t">
            <a:spAutoFit/>
          </a:bodyPr>
          <a:lstStyle/>
          <a:p>
            <a:pPr algn="ctr">
              <a:lnSpc>
                <a:spcPts val="9799"/>
              </a:lnSpc>
            </a:pPr>
            <a:r>
              <a:rPr lang="en-US" sz="6000" b="1" dirty="0">
                <a:latin typeface="Montserrat" panose="00000500000000000000" pitchFamily="2" charset="0"/>
              </a:rPr>
              <a:t>CORE VALUE PROPOSITION</a:t>
            </a:r>
            <a:endParaRPr lang="en-US" sz="6000" b="1" dirty="0">
              <a:solidFill>
                <a:srgbClr val="000000"/>
              </a:solidFill>
              <a:latin typeface="Montserrat" panose="00000500000000000000" pitchFamily="2" charset="0"/>
              <a:ea typeface="Montserrat Bold"/>
              <a:cs typeface="Montserrat Bold"/>
              <a:sym typeface="Montserrat Bold"/>
            </a:endParaRPr>
          </a:p>
        </p:txBody>
      </p:sp>
      <p:sp>
        <p:nvSpPr>
          <p:cNvPr id="5" name="Freeform 3">
            <a:extLst>
              <a:ext uri="{FF2B5EF4-FFF2-40B4-BE49-F238E27FC236}">
                <a16:creationId xmlns:a16="http://schemas.microsoft.com/office/drawing/2014/main" id="{EB496B93-8AD3-694A-9B4E-4AAAB2FB6151}"/>
              </a:ext>
            </a:extLst>
          </p:cNvPr>
          <p:cNvSpPr/>
          <p:nvPr/>
        </p:nvSpPr>
        <p:spPr>
          <a:xfrm>
            <a:off x="16078200" y="8724900"/>
            <a:ext cx="2209800" cy="1562100"/>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sp>
        <p:nvSpPr>
          <p:cNvPr id="9" name="Oval 8">
            <a:extLst>
              <a:ext uri="{FF2B5EF4-FFF2-40B4-BE49-F238E27FC236}">
                <a16:creationId xmlns:a16="http://schemas.microsoft.com/office/drawing/2014/main" id="{31E46A1F-46B1-CD77-5F23-AD057A263795}"/>
              </a:ext>
            </a:extLst>
          </p:cNvPr>
          <p:cNvSpPr/>
          <p:nvPr/>
        </p:nvSpPr>
        <p:spPr>
          <a:xfrm>
            <a:off x="4495800" y="5829301"/>
            <a:ext cx="2222316" cy="2133600"/>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Open Sans" panose="020B0606030504020204" pitchFamily="34" charset="0"/>
                <a:ea typeface="Open Sans" panose="020B0606030504020204" pitchFamily="34" charset="0"/>
                <a:cs typeface="Open Sans" panose="020B0606030504020204" pitchFamily="34" charset="0"/>
              </a:rPr>
              <a:t>Security Meets Simplicity</a:t>
            </a:r>
          </a:p>
        </p:txBody>
      </p:sp>
      <p:sp>
        <p:nvSpPr>
          <p:cNvPr id="10" name="Oval 9">
            <a:extLst>
              <a:ext uri="{FF2B5EF4-FFF2-40B4-BE49-F238E27FC236}">
                <a16:creationId xmlns:a16="http://schemas.microsoft.com/office/drawing/2014/main" id="{3CE6F703-1A64-15E1-43CC-B5C1A2F2D577}"/>
              </a:ext>
            </a:extLst>
          </p:cNvPr>
          <p:cNvSpPr/>
          <p:nvPr/>
        </p:nvSpPr>
        <p:spPr>
          <a:xfrm>
            <a:off x="8305800" y="4076700"/>
            <a:ext cx="3124200" cy="3124200"/>
          </a:xfrm>
          <a:prstGeom prst="ellipse">
            <a:avLst/>
          </a:prstGeom>
          <a:solidFill>
            <a:schemeClr val="accent6">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latin typeface="Open Sans" panose="020B0606030504020204" pitchFamily="34" charset="0"/>
                <a:ea typeface="Open Sans" panose="020B0606030504020204" pitchFamily="34" charset="0"/>
                <a:cs typeface="Open Sans" panose="020B0606030504020204" pitchFamily="34" charset="0"/>
              </a:rPr>
              <a:t>Intentional communication tools &amp; Reduced cognitive overload</a:t>
            </a:r>
            <a:endParaRPr lang="LID4096" sz="2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Oval 10">
            <a:extLst>
              <a:ext uri="{FF2B5EF4-FFF2-40B4-BE49-F238E27FC236}">
                <a16:creationId xmlns:a16="http://schemas.microsoft.com/office/drawing/2014/main" id="{BA410C98-0B60-3025-913E-EDD2E765CFC2}"/>
              </a:ext>
            </a:extLst>
          </p:cNvPr>
          <p:cNvSpPr/>
          <p:nvPr/>
        </p:nvSpPr>
        <p:spPr>
          <a:xfrm>
            <a:off x="5486400" y="2737948"/>
            <a:ext cx="2222316" cy="2133600"/>
          </a:xfrm>
          <a:prstGeom prst="ellipse">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Open Sans" panose="020B0606030504020204" pitchFamily="34" charset="0"/>
                <a:ea typeface="Open Sans" panose="020B0606030504020204" pitchFamily="34" charset="0"/>
                <a:cs typeface="Open Sans" panose="020B0606030504020204" pitchFamily="34" charset="0"/>
              </a:rPr>
              <a:t>Integrated privacy visibility</a:t>
            </a:r>
            <a:endParaRPr lang="LID4096" sz="2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Oval 11">
            <a:extLst>
              <a:ext uri="{FF2B5EF4-FFF2-40B4-BE49-F238E27FC236}">
                <a16:creationId xmlns:a16="http://schemas.microsoft.com/office/drawing/2014/main" id="{9358C527-CAE1-521D-5A19-8FCE5962F0EA}"/>
              </a:ext>
            </a:extLst>
          </p:cNvPr>
          <p:cNvSpPr/>
          <p:nvPr/>
        </p:nvSpPr>
        <p:spPr>
          <a:xfrm>
            <a:off x="1692346" y="4305299"/>
            <a:ext cx="2270054" cy="2286001"/>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dirty="0">
                <a:solidFill>
                  <a:schemeClr val="tx1"/>
                </a:solidFill>
                <a:latin typeface="Open Sans" panose="020B0606030504020204" pitchFamily="34" charset="0"/>
                <a:ea typeface="Open Sans" panose="020B0606030504020204" pitchFamily="34" charset="0"/>
                <a:cs typeface="Open Sans" panose="020B0606030504020204" pitchFamily="34" charset="0"/>
              </a:rPr>
              <a:t>Optional physical keyboard</a:t>
            </a:r>
            <a:endParaRPr lang="LID4096" sz="2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Oval 12">
            <a:extLst>
              <a:ext uri="{FF2B5EF4-FFF2-40B4-BE49-F238E27FC236}">
                <a16:creationId xmlns:a16="http://schemas.microsoft.com/office/drawing/2014/main" id="{E59FA5E0-3398-3E1E-F9BB-F0236A62F7D0}"/>
              </a:ext>
            </a:extLst>
          </p:cNvPr>
          <p:cNvSpPr/>
          <p:nvPr/>
        </p:nvSpPr>
        <p:spPr>
          <a:xfrm>
            <a:off x="1981200" y="7810503"/>
            <a:ext cx="2514600" cy="2476498"/>
          </a:xfrm>
          <a:prstGeom prst="ellipse">
            <a:avLst/>
          </a:prstGeom>
          <a:solidFill>
            <a:schemeClr val="accent5">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dirty="0">
                <a:solidFill>
                  <a:schemeClr val="tx1"/>
                </a:solidFill>
                <a:latin typeface="Open Sans" panose="020B0606030504020204" pitchFamily="34" charset="0"/>
                <a:ea typeface="Open Sans" panose="020B0606030504020204" pitchFamily="34" charset="0"/>
                <a:cs typeface="Open Sans" panose="020B0606030504020204" pitchFamily="34" charset="0"/>
              </a:rPr>
              <a:t>Secure operating system</a:t>
            </a:r>
            <a:endParaRPr lang="LID4096" sz="2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Oval 13">
            <a:extLst>
              <a:ext uri="{FF2B5EF4-FFF2-40B4-BE49-F238E27FC236}">
                <a16:creationId xmlns:a16="http://schemas.microsoft.com/office/drawing/2014/main" id="{B22CB4CB-A962-142A-CAC5-C58668AA593E}"/>
              </a:ext>
            </a:extLst>
          </p:cNvPr>
          <p:cNvSpPr/>
          <p:nvPr/>
        </p:nvSpPr>
        <p:spPr>
          <a:xfrm>
            <a:off x="6400800" y="7962901"/>
            <a:ext cx="2286001" cy="2209799"/>
          </a:xfrm>
          <a:prstGeom prst="ellipse">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dirty="0">
                <a:solidFill>
                  <a:schemeClr val="tx1"/>
                </a:solidFill>
                <a:latin typeface="Open Sans" panose="020B0606030504020204" pitchFamily="34" charset="0"/>
                <a:ea typeface="Open Sans" panose="020B0606030504020204" pitchFamily="34" charset="0"/>
                <a:cs typeface="Open Sans" panose="020B0606030504020204" pitchFamily="34" charset="0"/>
              </a:rPr>
              <a:t>Minimalist interface</a:t>
            </a:r>
            <a:endParaRPr lang="LID4096" sz="2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16" name="Straight Arrow Connector 15">
            <a:extLst>
              <a:ext uri="{FF2B5EF4-FFF2-40B4-BE49-F238E27FC236}">
                <a16:creationId xmlns:a16="http://schemas.microsoft.com/office/drawing/2014/main" id="{5ACB88B8-DB13-0D4B-1A9B-E3B7E7D8F20F}"/>
              </a:ext>
            </a:extLst>
          </p:cNvPr>
          <p:cNvCxnSpPr>
            <a:cxnSpLocks/>
          </p:cNvCxnSpPr>
          <p:nvPr/>
        </p:nvCxnSpPr>
        <p:spPr>
          <a:xfrm flipH="1">
            <a:off x="5899292" y="4805854"/>
            <a:ext cx="349108" cy="1023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BC2E16D-7DB9-91E7-0592-A3C5E26435EE}"/>
              </a:ext>
            </a:extLst>
          </p:cNvPr>
          <p:cNvCxnSpPr>
            <a:cxnSpLocks/>
          </p:cNvCxnSpPr>
          <p:nvPr/>
        </p:nvCxnSpPr>
        <p:spPr>
          <a:xfrm flipH="1">
            <a:off x="6705600" y="6286501"/>
            <a:ext cx="1752600" cy="502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656CDAC-AA1C-4EE6-221D-CF525D646A27}"/>
              </a:ext>
            </a:extLst>
          </p:cNvPr>
          <p:cNvCxnSpPr>
            <a:cxnSpLocks/>
            <a:endCxn id="9" idx="5"/>
          </p:cNvCxnSpPr>
          <p:nvPr/>
        </p:nvCxnSpPr>
        <p:spPr>
          <a:xfrm flipH="1" flipV="1">
            <a:off x="6392665" y="7650443"/>
            <a:ext cx="617735" cy="769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D1ACC52-7229-8ADF-3243-3602E9AF396D}"/>
              </a:ext>
            </a:extLst>
          </p:cNvPr>
          <p:cNvCxnSpPr>
            <a:cxnSpLocks/>
          </p:cNvCxnSpPr>
          <p:nvPr/>
        </p:nvCxnSpPr>
        <p:spPr>
          <a:xfrm>
            <a:off x="3749746" y="5829301"/>
            <a:ext cx="910970"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1993BB9-869C-8556-7083-D35F0EDFB226}"/>
              </a:ext>
            </a:extLst>
          </p:cNvPr>
          <p:cNvCxnSpPr>
            <a:cxnSpLocks/>
            <a:stCxn id="13" idx="7"/>
            <a:endCxn id="9" idx="3"/>
          </p:cNvCxnSpPr>
          <p:nvPr/>
        </p:nvCxnSpPr>
        <p:spPr>
          <a:xfrm flipV="1">
            <a:off x="4127545" y="7650443"/>
            <a:ext cx="693706" cy="522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1ED3C05-E844-E6C5-8110-E00067F6CD5D}"/>
              </a:ext>
            </a:extLst>
          </p:cNvPr>
          <p:cNvSpPr txBox="1"/>
          <p:nvPr/>
        </p:nvSpPr>
        <p:spPr>
          <a:xfrm>
            <a:off x="11506200" y="6170593"/>
            <a:ext cx="6477000" cy="954107"/>
          </a:xfrm>
          <a:prstGeom prst="rect">
            <a:avLst/>
          </a:prstGeom>
          <a:noFill/>
        </p:spPr>
        <p:txBody>
          <a:bodyPr wrap="square" rtlCol="0">
            <a:spAutoFit/>
          </a:bodyPr>
          <a:lstStyle/>
          <a:p>
            <a:r>
              <a:rPr lang="en-US" sz="2800" b="1" dirty="0">
                <a:latin typeface="Open Sans" panose="020B0606030504020204" pitchFamily="34" charset="0"/>
                <a:ea typeface="Open Sans" panose="020B0606030504020204" pitchFamily="34" charset="0"/>
                <a:cs typeface="Open Sans" panose="020B0606030504020204" pitchFamily="34" charset="0"/>
              </a:rPr>
              <a:t>User Outcome:</a:t>
            </a:r>
          </a:p>
          <a:p>
            <a:r>
              <a:rPr lang="en-US" sz="2800" dirty="0">
                <a:latin typeface="Open Sans" panose="020B0606030504020204" pitchFamily="34" charset="0"/>
                <a:ea typeface="Open Sans" panose="020B0606030504020204" pitchFamily="34" charset="0"/>
                <a:cs typeface="Open Sans" panose="020B0606030504020204" pitchFamily="34" charset="0"/>
              </a:rPr>
              <a:t>Focus • Control • Trust • Mental Calm</a:t>
            </a:r>
            <a:endParaRPr lang="LID4096" sz="2800" dirty="0">
              <a:latin typeface="Open Sans" panose="020B0606030504020204" pitchFamily="34" charset="0"/>
              <a:ea typeface="Open Sans" panose="020B0606030504020204" pitchFamily="34" charset="0"/>
              <a:cs typeface="Open Sans" panose="020B0606030504020204" pitchFamily="34" charset="0"/>
            </a:endParaRPr>
          </a:p>
        </p:txBody>
      </p:sp>
      <p:pic>
        <p:nvPicPr>
          <p:cNvPr id="6149" name="Picture 5" descr="Core value - Free marketing icons">
            <a:extLst>
              <a:ext uri="{FF2B5EF4-FFF2-40B4-BE49-F238E27FC236}">
                <a16:creationId xmlns:a16="http://schemas.microsoft.com/office/drawing/2014/main" id="{E6720F5E-F308-5D9E-B7A3-DA73F82D82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21644" y="1848744"/>
            <a:ext cx="3447156" cy="344715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3CB8346-4EDF-5CFF-0132-2D3C99287E87}"/>
              </a:ext>
            </a:extLst>
          </p:cNvPr>
          <p:cNvSpPr txBox="1"/>
          <p:nvPr/>
        </p:nvSpPr>
        <p:spPr>
          <a:xfrm>
            <a:off x="9601200" y="7999393"/>
            <a:ext cx="6477000" cy="1384995"/>
          </a:xfrm>
          <a:prstGeom prst="rect">
            <a:avLst/>
          </a:prstGeom>
          <a:noFill/>
        </p:spPr>
        <p:txBody>
          <a:bodyPr wrap="square">
            <a:spAutoFit/>
          </a:bodyPr>
          <a:lstStyle/>
          <a:p>
            <a:pPr>
              <a:buNone/>
            </a:pPr>
            <a:r>
              <a:rPr lang="en-GB" sz="2800" dirty="0">
                <a:latin typeface="Open Sans" panose="020B0606030504020204" pitchFamily="34" charset="0"/>
                <a:ea typeface="Open Sans" panose="020B0606030504020204" pitchFamily="34" charset="0"/>
                <a:cs typeface="Open Sans" panose="020B0606030504020204" pitchFamily="34" charset="0"/>
              </a:rPr>
              <a:t>BlackBerry transitions from a productivity device to a digital wellbeing platform rooted in trust.</a:t>
            </a:r>
          </a:p>
        </p:txBody>
      </p:sp>
      <p:sp>
        <p:nvSpPr>
          <p:cNvPr id="6" name="TextBox 5">
            <a:extLst>
              <a:ext uri="{FF2B5EF4-FFF2-40B4-BE49-F238E27FC236}">
                <a16:creationId xmlns:a16="http://schemas.microsoft.com/office/drawing/2014/main" id="{14A04347-800F-BBA9-C549-1558CCF01E93}"/>
              </a:ext>
            </a:extLst>
          </p:cNvPr>
          <p:cNvSpPr txBox="1"/>
          <p:nvPr/>
        </p:nvSpPr>
        <p:spPr>
          <a:xfrm>
            <a:off x="2514600" y="1246982"/>
            <a:ext cx="10972800" cy="1692771"/>
          </a:xfrm>
          <a:prstGeom prst="rect">
            <a:avLst/>
          </a:prstGeom>
          <a:noFill/>
        </p:spPr>
        <p:txBody>
          <a:bodyPr wrap="square" rtlCol="0">
            <a:spAutoFit/>
          </a:bodyPr>
          <a:lstStyle/>
          <a:p>
            <a:r>
              <a:rPr lang="en-GB" sz="2600" b="1" dirty="0">
                <a:latin typeface="Open Sans" panose="020B0606030504020204" pitchFamily="34" charset="0"/>
                <a:ea typeface="Open Sans" panose="020B0606030504020204" pitchFamily="34" charset="0"/>
                <a:cs typeface="Open Sans" panose="020B0606030504020204" pitchFamily="34" charset="0"/>
              </a:rPr>
              <a:t>Solution</a:t>
            </a:r>
            <a:endParaRPr lang="en-GB" sz="2600" dirty="0">
              <a:latin typeface="Open Sans" panose="020B0606030504020204" pitchFamily="34" charset="0"/>
              <a:ea typeface="Open Sans" panose="020B0606030504020204" pitchFamily="34" charset="0"/>
              <a:cs typeface="Open Sans" panose="020B0606030504020204" pitchFamily="34" charset="0"/>
            </a:endParaRPr>
          </a:p>
          <a:p>
            <a:r>
              <a:rPr lang="en-GB" sz="2600" dirty="0">
                <a:latin typeface="Open Sans" panose="020B0606030504020204" pitchFamily="34" charset="0"/>
                <a:ea typeface="Open Sans" panose="020B0606030504020204" pitchFamily="34" charset="0"/>
                <a:cs typeface="Open Sans" panose="020B0606030504020204" pitchFamily="34" charset="0"/>
              </a:rPr>
              <a:t>BlackBerry reintroduces a focus-orientated smartphone with a privacy focus to help ease digital overload and bring control to purposeful use of technology.</a:t>
            </a:r>
          </a:p>
        </p:txBody>
      </p:sp>
    </p:spTree>
    <p:extLst>
      <p:ext uri="{BB962C8B-B14F-4D97-AF65-F5344CB8AC3E}">
        <p14:creationId xmlns:p14="http://schemas.microsoft.com/office/powerpoint/2010/main" val="3712599246"/>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6C01A-F6BF-9ACF-7561-7CCC3CF52ED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ECFFDB3F-1683-B93F-C62A-0A9391F7283B}"/>
              </a:ext>
            </a:extLst>
          </p:cNvPr>
          <p:cNvSpPr txBox="1"/>
          <p:nvPr/>
        </p:nvSpPr>
        <p:spPr>
          <a:xfrm>
            <a:off x="457200" y="190500"/>
            <a:ext cx="17678400" cy="1077218"/>
          </a:xfrm>
          <a:prstGeom prst="rect">
            <a:avLst/>
          </a:prstGeom>
        </p:spPr>
        <p:txBody>
          <a:bodyPr wrap="square" lIns="0" tIns="0" rIns="0" bIns="0" rtlCol="0" anchor="t">
            <a:spAutoFit/>
          </a:bodyPr>
          <a:lstStyle/>
          <a:p>
            <a:r>
              <a:rPr lang="en-US" sz="7000" b="1" dirty="0">
                <a:latin typeface="Montserrat" panose="00000500000000000000" pitchFamily="2" charset="0"/>
              </a:rPr>
              <a:t>User-Centered Experience Ecosystem</a:t>
            </a:r>
          </a:p>
        </p:txBody>
      </p:sp>
      <p:sp>
        <p:nvSpPr>
          <p:cNvPr id="4" name="TextBox 4">
            <a:extLst>
              <a:ext uri="{FF2B5EF4-FFF2-40B4-BE49-F238E27FC236}">
                <a16:creationId xmlns:a16="http://schemas.microsoft.com/office/drawing/2014/main" id="{BD8F0D6E-E99D-95C5-2DE3-5E668B0D4037}"/>
              </a:ext>
            </a:extLst>
          </p:cNvPr>
          <p:cNvSpPr txBox="1"/>
          <p:nvPr/>
        </p:nvSpPr>
        <p:spPr>
          <a:xfrm>
            <a:off x="12877800" y="1409700"/>
            <a:ext cx="5257800" cy="6463308"/>
          </a:xfrm>
          <a:prstGeom prst="rect">
            <a:avLst/>
          </a:prstGeom>
        </p:spPr>
        <p:txBody>
          <a:bodyPr wrap="square" lIns="0" tIns="0" rIns="0" bIns="0" rtlCol="0" anchor="t">
            <a:spAutoFit/>
          </a:bodyPr>
          <a:lstStyle/>
          <a:p>
            <a:r>
              <a:rPr lang="en-GB" sz="3000" dirty="0">
                <a:latin typeface="Open Sans" panose="020B0606030504020204" pitchFamily="34" charset="0"/>
                <a:ea typeface="Open Sans" panose="020B0606030504020204" pitchFamily="34" charset="0"/>
                <a:cs typeface="Open Sans" panose="020B0606030504020204" pitchFamily="34" charset="0"/>
              </a:rPr>
              <a:t>This storyboard demonstrates how the BlackBerry redesigned experience helps users in critical situations of their daily lives. Instead of emphasising perceptions with notifications and algorithm-based feeds, the system encourages one to work, manage their data use, manage their communication, and enhance digital wellbeing.</a:t>
            </a:r>
            <a:endParaRPr lang="en-GB" sz="3000" dirty="0">
              <a:effectLst/>
              <a:latin typeface="Open Sans" panose="020B0606030504020204" pitchFamily="34" charset="0"/>
              <a:ea typeface="Open Sans" panose="020B0606030504020204" pitchFamily="34" charset="0"/>
              <a:cs typeface="Open Sans" panose="020B0606030504020204" pitchFamily="34" charset="0"/>
            </a:endParaRPr>
          </a:p>
        </p:txBody>
      </p:sp>
      <p:sp>
        <p:nvSpPr>
          <p:cNvPr id="5" name="Freeform 3">
            <a:extLst>
              <a:ext uri="{FF2B5EF4-FFF2-40B4-BE49-F238E27FC236}">
                <a16:creationId xmlns:a16="http://schemas.microsoft.com/office/drawing/2014/main" id="{1FCC3FBD-3E6D-D8B7-AB92-FB2B3FA9A43B}"/>
              </a:ext>
            </a:extLst>
          </p:cNvPr>
          <p:cNvSpPr/>
          <p:nvPr/>
        </p:nvSpPr>
        <p:spPr>
          <a:xfrm>
            <a:off x="16154400" y="9029700"/>
            <a:ext cx="2133600" cy="1295400"/>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pic>
        <p:nvPicPr>
          <p:cNvPr id="6" name="Picture 5">
            <a:extLst>
              <a:ext uri="{FF2B5EF4-FFF2-40B4-BE49-F238E27FC236}">
                <a16:creationId xmlns:a16="http://schemas.microsoft.com/office/drawing/2014/main" id="{3AAC1153-2184-CD55-9663-1E1CA724F169}"/>
              </a:ext>
            </a:extLst>
          </p:cNvPr>
          <p:cNvPicPr>
            <a:picLocks noChangeAspect="1"/>
          </p:cNvPicPr>
          <p:nvPr/>
        </p:nvPicPr>
        <p:blipFill>
          <a:blip r:embed="rId3">
            <a:extLst>
              <a:ext uri="{28A0092B-C50C-407E-A947-70E740481C1C}">
                <a14:useLocalDpi xmlns:a14="http://schemas.microsoft.com/office/drawing/2010/main" val="0"/>
              </a:ext>
            </a:extLst>
          </a:blip>
          <a:srcRect l="3473" t="14063" r="3473" b="7031"/>
          <a:stretch>
            <a:fillRect/>
          </a:stretch>
        </p:blipFill>
        <p:spPr>
          <a:xfrm>
            <a:off x="304800" y="1409700"/>
            <a:ext cx="12268200" cy="7924800"/>
          </a:xfrm>
          <a:prstGeom prst="rect">
            <a:avLst/>
          </a:prstGeom>
        </p:spPr>
      </p:pic>
      <p:pic>
        <p:nvPicPr>
          <p:cNvPr id="8" name="Picture 2" descr="User centered Icon - Free PNG &amp; SVG 1800135 - Noun Project">
            <a:extLst>
              <a:ext uri="{FF2B5EF4-FFF2-40B4-BE49-F238E27FC236}">
                <a16:creationId xmlns:a16="http://schemas.microsoft.com/office/drawing/2014/main" id="{DDEEAC48-C545-0F84-35CB-0001706BBD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1" y="8953500"/>
            <a:ext cx="1295399" cy="1295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081637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429EA-B2A7-1A63-A2F6-04BDBED05F9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ACE1E125-0B60-247F-1593-93495F49C2F5}"/>
              </a:ext>
            </a:extLst>
          </p:cNvPr>
          <p:cNvSpPr txBox="1"/>
          <p:nvPr/>
        </p:nvSpPr>
        <p:spPr>
          <a:xfrm>
            <a:off x="1028700" y="342900"/>
            <a:ext cx="16211305" cy="2439642"/>
          </a:xfrm>
          <a:prstGeom prst="rect">
            <a:avLst/>
          </a:prstGeom>
        </p:spPr>
        <p:txBody>
          <a:bodyPr lIns="0" tIns="0" rIns="0" bIns="0" rtlCol="0" anchor="t">
            <a:spAutoFit/>
          </a:bodyPr>
          <a:lstStyle/>
          <a:p>
            <a:pPr algn="ctr">
              <a:lnSpc>
                <a:spcPts val="9799"/>
              </a:lnSpc>
            </a:pPr>
            <a:r>
              <a:rPr lang="en-US" sz="7200" b="1" dirty="0">
                <a:latin typeface="Montserrat" panose="00000500000000000000" pitchFamily="2" charset="0"/>
                <a:ea typeface="Open Sans" panose="020B0606030504020204" pitchFamily="34" charset="0"/>
                <a:cs typeface="Open Sans" panose="020B0606030504020204" pitchFamily="34" charset="0"/>
              </a:rPr>
              <a:t>ENVISIONED FUTURE STATE BY </a:t>
            </a:r>
            <a:r>
              <a:rPr lang="en-US" sz="7200" b="1" dirty="0">
                <a:latin typeface="Montserrat" panose="00000500000000000000" pitchFamily="2" charset="0"/>
              </a:rPr>
              <a:t>BlackBerry</a:t>
            </a:r>
            <a:endParaRPr lang="en-US" sz="6999" b="1" dirty="0">
              <a:solidFill>
                <a:srgbClr val="000000"/>
              </a:solidFill>
              <a:latin typeface="Montserrat" panose="00000500000000000000" pitchFamily="2" charset="0"/>
              <a:ea typeface="Open Sans" panose="020B0606030504020204" pitchFamily="34" charset="0"/>
              <a:cs typeface="Open Sans" panose="020B0606030504020204" pitchFamily="34" charset="0"/>
              <a:sym typeface="Montserrat Bold"/>
            </a:endParaRPr>
          </a:p>
        </p:txBody>
      </p:sp>
      <p:sp>
        <p:nvSpPr>
          <p:cNvPr id="3" name="TextBox 3">
            <a:extLst>
              <a:ext uri="{FF2B5EF4-FFF2-40B4-BE49-F238E27FC236}">
                <a16:creationId xmlns:a16="http://schemas.microsoft.com/office/drawing/2014/main" id="{8B0E2631-A5A9-517A-883D-FF598422D5EF}"/>
              </a:ext>
            </a:extLst>
          </p:cNvPr>
          <p:cNvSpPr txBox="1"/>
          <p:nvPr/>
        </p:nvSpPr>
        <p:spPr>
          <a:xfrm>
            <a:off x="8610600" y="3037986"/>
            <a:ext cx="8991600" cy="6537815"/>
          </a:xfrm>
          <a:prstGeom prst="rect">
            <a:avLst/>
          </a:prstGeom>
        </p:spPr>
        <p:txBody>
          <a:bodyPr wrap="square" lIns="0" tIns="0" rIns="0" bIns="0" rtlCol="0" anchor="t">
            <a:spAutoFit/>
          </a:bodyPr>
          <a:lstStyle/>
          <a:p>
            <a:pPr marL="571500" indent="-571500">
              <a:lnSpc>
                <a:spcPct val="150000"/>
              </a:lnSpc>
              <a:buFont typeface="Arial" panose="020B0604020202020204" pitchFamily="34" charset="0"/>
              <a:buChar char="•"/>
            </a:pPr>
            <a:r>
              <a:rPr lang="en-GB" sz="2600" dirty="0">
                <a:latin typeface="Open Sans" panose="020B0606030504020204" pitchFamily="34" charset="0"/>
                <a:ea typeface="Open Sans" panose="020B0606030504020204" pitchFamily="34" charset="0"/>
                <a:cs typeface="Open Sans" panose="020B0606030504020204" pitchFamily="34" charset="0"/>
              </a:rPr>
              <a:t>Technology supports focus rather than interrupts it (</a:t>
            </a:r>
            <a:r>
              <a:rPr lang="en-US" sz="2600" dirty="0">
                <a:latin typeface="Open Sans" panose="020B0606030504020204" pitchFamily="34" charset="0"/>
                <a:ea typeface="Open Sans" panose="020B0606030504020204" pitchFamily="34" charset="0"/>
                <a:cs typeface="Open Sans" panose="020B0606030504020204" pitchFamily="34" charset="0"/>
              </a:rPr>
              <a:t>George et al., 2023</a:t>
            </a:r>
            <a:r>
              <a:rPr lang="en-GB" sz="2600" dirty="0">
                <a:latin typeface="Open Sans" panose="020B0606030504020204" pitchFamily="34" charset="0"/>
                <a:ea typeface="Open Sans" panose="020B0606030504020204" pitchFamily="34" charset="0"/>
                <a:cs typeface="Open Sans" panose="020B0606030504020204" pitchFamily="34" charset="0"/>
              </a:rPr>
              <a:t>)</a:t>
            </a:r>
          </a:p>
          <a:p>
            <a:pPr marL="571500" indent="-571500">
              <a:lnSpc>
                <a:spcPct val="150000"/>
              </a:lnSpc>
              <a:buFont typeface="Arial" panose="020B0604020202020204" pitchFamily="34" charset="0"/>
              <a:buChar char="•"/>
            </a:pPr>
            <a:r>
              <a:rPr lang="en-GB" sz="2600" dirty="0">
                <a:latin typeface="Open Sans" panose="020B0606030504020204" pitchFamily="34" charset="0"/>
                <a:ea typeface="Open Sans" panose="020B0606030504020204" pitchFamily="34" charset="0"/>
                <a:cs typeface="Open Sans" panose="020B0606030504020204" pitchFamily="34" charset="0"/>
              </a:rPr>
              <a:t>Privacy is integrated, not optional</a:t>
            </a:r>
          </a:p>
          <a:p>
            <a:pPr marL="571500" indent="-571500">
              <a:lnSpc>
                <a:spcPct val="150000"/>
              </a:lnSpc>
              <a:buFont typeface="Arial" panose="020B0604020202020204" pitchFamily="34" charset="0"/>
              <a:buChar char="•"/>
            </a:pPr>
            <a:r>
              <a:rPr lang="en-GB" sz="2600" dirty="0">
                <a:latin typeface="Open Sans" panose="020B0606030504020204" pitchFamily="34" charset="0"/>
                <a:ea typeface="Open Sans" panose="020B0606030504020204" pitchFamily="34" charset="0"/>
                <a:cs typeface="Open Sans" panose="020B0606030504020204" pitchFamily="34" charset="0"/>
              </a:rPr>
              <a:t>Devices encourage intentional use</a:t>
            </a:r>
          </a:p>
          <a:p>
            <a:pPr marL="571500" indent="-571500">
              <a:lnSpc>
                <a:spcPct val="150000"/>
              </a:lnSpc>
              <a:buFont typeface="Arial" panose="020B0604020202020204" pitchFamily="34" charset="0"/>
              <a:buChar char="•"/>
            </a:pPr>
            <a:r>
              <a:rPr lang="en-GB" sz="2600" dirty="0">
                <a:latin typeface="Open Sans" panose="020B0606030504020204" pitchFamily="34" charset="0"/>
                <a:ea typeface="Open Sans" panose="020B0606030504020204" pitchFamily="34" charset="0"/>
                <a:cs typeface="Open Sans" panose="020B0606030504020204" pitchFamily="34" charset="0"/>
              </a:rPr>
              <a:t>Further tech support:</a:t>
            </a:r>
          </a:p>
          <a:p>
            <a:pPr marL="1028700" lvl="1" indent="-571500">
              <a:lnSpc>
                <a:spcPct val="150000"/>
              </a:lnSpc>
              <a:buFont typeface="Arial" panose="020B0604020202020204" pitchFamily="34" charset="0"/>
              <a:buChar char="•"/>
            </a:pPr>
            <a:r>
              <a:rPr lang="en-GB" sz="2600" dirty="0">
                <a:latin typeface="Open Sans" panose="020B0606030504020204" pitchFamily="34" charset="0"/>
                <a:ea typeface="Open Sans" panose="020B0606030504020204" pitchFamily="34" charset="0"/>
                <a:cs typeface="Open Sans" panose="020B0606030504020204" pitchFamily="34" charset="0"/>
              </a:rPr>
              <a:t>Fewer daily notifications</a:t>
            </a:r>
          </a:p>
          <a:p>
            <a:pPr marL="1028700" lvl="1" indent="-571500">
              <a:lnSpc>
                <a:spcPct val="150000"/>
              </a:lnSpc>
              <a:buFont typeface="Arial" panose="020B0604020202020204" pitchFamily="34" charset="0"/>
              <a:buChar char="•"/>
            </a:pPr>
            <a:r>
              <a:rPr lang="en-GB" sz="2600" dirty="0">
                <a:latin typeface="Open Sans" panose="020B0606030504020204" pitchFamily="34" charset="0"/>
                <a:ea typeface="Open Sans" panose="020B0606030504020204" pitchFamily="34" charset="0"/>
                <a:cs typeface="Open Sans" panose="020B0606030504020204" pitchFamily="34" charset="0"/>
              </a:rPr>
              <a:t>Transparent data tracking visibility</a:t>
            </a:r>
          </a:p>
          <a:p>
            <a:pPr marL="1028700" lvl="1" indent="-571500">
              <a:lnSpc>
                <a:spcPct val="150000"/>
              </a:lnSpc>
              <a:buFont typeface="Arial" panose="020B0604020202020204" pitchFamily="34" charset="0"/>
              <a:buChar char="•"/>
            </a:pPr>
            <a:r>
              <a:rPr lang="en-GB" sz="2600" dirty="0">
                <a:latin typeface="Open Sans" panose="020B0606030504020204" pitchFamily="34" charset="0"/>
                <a:ea typeface="Open Sans" panose="020B0606030504020204" pitchFamily="34" charset="0"/>
                <a:cs typeface="Open Sans" panose="020B0606030504020204" pitchFamily="34" charset="0"/>
              </a:rPr>
              <a:t>Controlled communication windows</a:t>
            </a:r>
          </a:p>
          <a:p>
            <a:pPr marL="1028700" lvl="1" indent="-571500">
              <a:lnSpc>
                <a:spcPct val="150000"/>
              </a:lnSpc>
              <a:buFont typeface="Arial" panose="020B0604020202020204" pitchFamily="34" charset="0"/>
              <a:buChar char="•"/>
            </a:pPr>
            <a:r>
              <a:rPr lang="en-GB" sz="2600" dirty="0">
                <a:latin typeface="Open Sans" panose="020B0606030504020204" pitchFamily="34" charset="0"/>
                <a:ea typeface="Open Sans" panose="020B0606030504020204" pitchFamily="34" charset="0"/>
                <a:cs typeface="Open Sans" panose="020B0606030504020204" pitchFamily="34" charset="0"/>
              </a:rPr>
              <a:t>Reduced passive scrolling </a:t>
            </a:r>
            <a:r>
              <a:rPr lang="en-GB" sz="2600" dirty="0" err="1">
                <a:latin typeface="Open Sans" panose="020B0606030504020204" pitchFamily="34" charset="0"/>
                <a:ea typeface="Open Sans" panose="020B0606030504020204" pitchFamily="34" charset="0"/>
                <a:cs typeface="Open Sans" panose="020B0606030504020204" pitchFamily="34" charset="0"/>
              </a:rPr>
              <a:t>behavior</a:t>
            </a:r>
            <a:endParaRPr lang="en-GB" sz="2600" dirty="0">
              <a:latin typeface="Open Sans" panose="020B0606030504020204" pitchFamily="34" charset="0"/>
              <a:ea typeface="Open Sans" panose="020B0606030504020204" pitchFamily="34" charset="0"/>
              <a:cs typeface="Open Sans" panose="020B0606030504020204" pitchFamily="34" charset="0"/>
            </a:endParaRPr>
          </a:p>
          <a:p>
            <a:pPr marL="571500" indent="-571500">
              <a:lnSpc>
                <a:spcPct val="150000"/>
              </a:lnSpc>
              <a:buFont typeface="Arial" panose="020B0604020202020204" pitchFamily="34" charset="0"/>
              <a:buChar char="•"/>
            </a:pPr>
            <a:r>
              <a:rPr lang="en-GB" sz="2600" dirty="0">
                <a:latin typeface="Open Sans" panose="020B0606030504020204" pitchFamily="34" charset="0"/>
                <a:ea typeface="Open Sans" panose="020B0606030504020204" pitchFamily="34" charset="0"/>
                <a:cs typeface="Open Sans" panose="020B0606030504020204" pitchFamily="34" charset="0"/>
              </a:rPr>
              <a:t>Users experience reduced digital stress (</a:t>
            </a:r>
            <a:r>
              <a:rPr lang="en-US" sz="2600" dirty="0" err="1">
                <a:latin typeface="Open Sans" panose="020B0606030504020204" pitchFamily="34" charset="0"/>
                <a:ea typeface="Open Sans" panose="020B0606030504020204" pitchFamily="34" charset="0"/>
                <a:cs typeface="Open Sans" panose="020B0606030504020204" pitchFamily="34" charset="0"/>
              </a:rPr>
              <a:t>Godliauskas</a:t>
            </a:r>
            <a:r>
              <a:rPr lang="en-US" sz="2600" dirty="0">
                <a:latin typeface="Open Sans" panose="020B0606030504020204" pitchFamily="34" charset="0"/>
                <a:ea typeface="Open Sans" panose="020B0606030504020204" pitchFamily="34" charset="0"/>
                <a:cs typeface="Open Sans" panose="020B0606030504020204" pitchFamily="34" charset="0"/>
              </a:rPr>
              <a:t>, &amp; </a:t>
            </a:r>
            <a:r>
              <a:rPr lang="en-US" sz="2600" dirty="0" err="1">
                <a:latin typeface="Open Sans" panose="020B0606030504020204" pitchFamily="34" charset="0"/>
                <a:ea typeface="Open Sans" panose="020B0606030504020204" pitchFamily="34" charset="0"/>
                <a:cs typeface="Open Sans" panose="020B0606030504020204" pitchFamily="34" charset="0"/>
              </a:rPr>
              <a:t>Šmite</a:t>
            </a:r>
            <a:r>
              <a:rPr lang="en-US" sz="2600" dirty="0">
                <a:latin typeface="Open Sans" panose="020B0606030504020204" pitchFamily="34" charset="0"/>
                <a:ea typeface="Open Sans" panose="020B0606030504020204" pitchFamily="34" charset="0"/>
                <a:cs typeface="Open Sans" panose="020B0606030504020204" pitchFamily="34" charset="0"/>
              </a:rPr>
              <a:t>, 2025</a:t>
            </a:r>
            <a:r>
              <a:rPr lang="en-GB" sz="2600" dirty="0">
                <a:latin typeface="Open Sans" panose="020B0606030504020204" pitchFamily="34" charset="0"/>
                <a:ea typeface="Open Sans" panose="020B0606030504020204" pitchFamily="34" charset="0"/>
                <a:cs typeface="Open Sans" panose="020B0606030504020204" pitchFamily="34" charset="0"/>
              </a:rPr>
              <a:t>)</a:t>
            </a:r>
          </a:p>
        </p:txBody>
      </p:sp>
      <p:sp>
        <p:nvSpPr>
          <p:cNvPr id="5" name="Freeform 3">
            <a:extLst>
              <a:ext uri="{FF2B5EF4-FFF2-40B4-BE49-F238E27FC236}">
                <a16:creationId xmlns:a16="http://schemas.microsoft.com/office/drawing/2014/main" id="{767EED5A-6077-89ED-9E35-2B95392297EB}"/>
              </a:ext>
            </a:extLst>
          </p:cNvPr>
          <p:cNvSpPr/>
          <p:nvPr/>
        </p:nvSpPr>
        <p:spPr>
          <a:xfrm>
            <a:off x="15468600" y="8753475"/>
            <a:ext cx="2819400" cy="1533525"/>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pic>
        <p:nvPicPr>
          <p:cNvPr id="7172" name="Picture 4" descr="5,568 Looking To Future Business Stock Photos - Free &amp; Royalty-Free Stock  Photos from Dreamstime">
            <a:extLst>
              <a:ext uri="{FF2B5EF4-FFF2-40B4-BE49-F238E27FC236}">
                <a16:creationId xmlns:a16="http://schemas.microsoft.com/office/drawing/2014/main" id="{80847512-476E-306F-29FB-11EDBE0D12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857500"/>
            <a:ext cx="7086600" cy="5895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6920953"/>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905000" y="3162300"/>
            <a:ext cx="14512357" cy="5081904"/>
          </a:xfrm>
          <a:prstGeom prst="rect">
            <a:avLst/>
          </a:prstGeom>
        </p:spPr>
        <p:txBody>
          <a:bodyPr wrap="square" lIns="0" tIns="0" rIns="0" bIns="0" rtlCol="0" anchor="t">
            <a:spAutoFit/>
          </a:bodyPr>
          <a:lstStyle/>
          <a:p>
            <a:pPr marL="367029" lvl="1" algn="just">
              <a:lnSpc>
                <a:spcPct val="200000"/>
              </a:lnSpc>
            </a:pPr>
            <a:r>
              <a:rPr lang="en-GB" sz="3399" dirty="0">
                <a:solidFill>
                  <a:srgbClr val="000000"/>
                </a:solidFill>
                <a:latin typeface="Open Sans"/>
                <a:ea typeface="Open Sans"/>
                <a:cs typeface="Open Sans"/>
                <a:sym typeface="Open Sans"/>
              </a:rPr>
              <a:t>The analysis shows that BlackBerry has a chance of repositioning as a privacy and digital wellbeing brand. As part of its security legacy and concentrated on simplified and controlled experience with technology, BlackBerry can respond to unmet user demands within the existing smartphone ecosystem.</a:t>
            </a:r>
            <a:endParaRPr lang="en-US" sz="3399" dirty="0">
              <a:solidFill>
                <a:srgbClr val="000000"/>
              </a:solidFill>
              <a:latin typeface="Open Sans"/>
              <a:ea typeface="Open Sans"/>
              <a:cs typeface="Open Sans"/>
              <a:sym typeface="Open Sans"/>
            </a:endParaRPr>
          </a:p>
        </p:txBody>
      </p:sp>
      <p:sp>
        <p:nvSpPr>
          <p:cNvPr id="5" name="TextBox 5"/>
          <p:cNvSpPr txBox="1"/>
          <p:nvPr/>
        </p:nvSpPr>
        <p:spPr>
          <a:xfrm>
            <a:off x="2569860" y="501486"/>
            <a:ext cx="12517740" cy="2154436"/>
          </a:xfrm>
          <a:prstGeom prst="rect">
            <a:avLst/>
          </a:prstGeom>
        </p:spPr>
        <p:txBody>
          <a:bodyPr lIns="0" tIns="0" rIns="0" bIns="0" rtlCol="0" anchor="t">
            <a:spAutoFit/>
          </a:bodyPr>
          <a:lstStyle/>
          <a:p>
            <a:pPr algn="ctr"/>
            <a:r>
              <a:rPr lang="en-US" sz="7000" b="1" dirty="0">
                <a:latin typeface="Montserrat" panose="00000500000000000000" pitchFamily="2" charset="0"/>
              </a:rPr>
              <a:t>Reinvention Direction for BlackBerry</a:t>
            </a:r>
            <a:endParaRPr lang="en-US" sz="7000" b="1" dirty="0">
              <a:solidFill>
                <a:srgbClr val="000000"/>
              </a:solidFill>
              <a:latin typeface="Montserrat" panose="00000500000000000000" pitchFamily="2" charset="0"/>
              <a:ea typeface="Montserrat Bold"/>
              <a:cs typeface="Montserrat Bold"/>
              <a:sym typeface="Montserrat Bold"/>
            </a:endParaRPr>
          </a:p>
        </p:txBody>
      </p:sp>
      <p:pic>
        <p:nvPicPr>
          <p:cNvPr id="8194" name="Picture 2" descr="New technologies - Free technology icons">
            <a:extLst>
              <a:ext uri="{FF2B5EF4-FFF2-40B4-BE49-F238E27FC236}">
                <a16:creationId xmlns:a16="http://schemas.microsoft.com/office/drawing/2014/main" id="{00EF68E8-9717-D607-403D-8B3FB84D18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20270" y="7086600"/>
            <a:ext cx="3200400" cy="3200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25917-7722-8619-82DA-E204E00F562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574621D-34FD-0E06-1135-DE2007CB127A}"/>
              </a:ext>
            </a:extLst>
          </p:cNvPr>
          <p:cNvSpPr/>
          <p:nvPr/>
        </p:nvSpPr>
        <p:spPr>
          <a:xfrm>
            <a:off x="716741" y="3578372"/>
            <a:ext cx="3130255" cy="3130255"/>
          </a:xfrm>
          <a:custGeom>
            <a:avLst/>
            <a:gdLst/>
            <a:ahLst/>
            <a:cxnLst/>
            <a:rect l="l" t="t" r="r" b="b"/>
            <a:pathLst>
              <a:path w="3130255" h="3130255">
                <a:moveTo>
                  <a:pt x="0" y="0"/>
                </a:moveTo>
                <a:lnTo>
                  <a:pt x="3130256" y="0"/>
                </a:lnTo>
                <a:lnTo>
                  <a:pt x="3130256" y="3130256"/>
                </a:lnTo>
                <a:lnTo>
                  <a:pt x="0" y="3130256"/>
                </a:lnTo>
                <a:lnTo>
                  <a:pt x="0" y="0"/>
                </a:lnTo>
                <a:close/>
              </a:path>
            </a:pathLst>
          </a:custGeom>
          <a:blipFill>
            <a:blip r:embed="rId2"/>
            <a:stretch>
              <a:fillRect/>
            </a:stretch>
          </a:blipFill>
        </p:spPr>
      </p:sp>
      <p:sp>
        <p:nvSpPr>
          <p:cNvPr id="3" name="TextBox 3">
            <a:extLst>
              <a:ext uri="{FF2B5EF4-FFF2-40B4-BE49-F238E27FC236}">
                <a16:creationId xmlns:a16="http://schemas.microsoft.com/office/drawing/2014/main" id="{66069014-876C-1C37-4840-11B289753ED4}"/>
              </a:ext>
            </a:extLst>
          </p:cNvPr>
          <p:cNvSpPr txBox="1"/>
          <p:nvPr/>
        </p:nvSpPr>
        <p:spPr>
          <a:xfrm>
            <a:off x="4151051" y="4086860"/>
            <a:ext cx="12266306" cy="4180840"/>
          </a:xfrm>
          <a:prstGeom prst="rect">
            <a:avLst/>
          </a:prstGeom>
        </p:spPr>
        <p:txBody>
          <a:bodyPr lIns="0" tIns="0" rIns="0" bIns="0" rtlCol="0" anchor="t">
            <a:spAutoFit/>
          </a:bodyPr>
          <a:lstStyle/>
          <a:p>
            <a:pPr marL="734058" lvl="1" indent="-367029" algn="just">
              <a:lnSpc>
                <a:spcPts val="4759"/>
              </a:lnSpc>
              <a:buFont typeface="Arial"/>
              <a:buChar char="•"/>
            </a:pPr>
            <a:r>
              <a:rPr lang="en-US" sz="3399" dirty="0">
                <a:solidFill>
                  <a:srgbClr val="000000"/>
                </a:solidFill>
                <a:latin typeface="Open Sans"/>
                <a:ea typeface="Open Sans"/>
                <a:cs typeface="Open Sans"/>
                <a:sym typeface="Open Sans"/>
              </a:rPr>
              <a:t>Develop a privacy-focused lifestyle device</a:t>
            </a:r>
          </a:p>
          <a:p>
            <a:pPr marL="734058" lvl="1" indent="-367029" algn="just">
              <a:lnSpc>
                <a:spcPts val="4759"/>
              </a:lnSpc>
              <a:buFont typeface="Arial"/>
              <a:buChar char="•"/>
            </a:pPr>
            <a:r>
              <a:rPr lang="en-US" sz="3399" dirty="0">
                <a:solidFill>
                  <a:srgbClr val="000000"/>
                </a:solidFill>
                <a:latin typeface="Open Sans"/>
                <a:ea typeface="Open Sans"/>
                <a:cs typeface="Open Sans"/>
                <a:sym typeface="Open Sans"/>
              </a:rPr>
              <a:t>Emphasize security, focus, and minimalism</a:t>
            </a:r>
          </a:p>
          <a:p>
            <a:pPr marL="734058" lvl="1" indent="-367029" algn="just">
              <a:lnSpc>
                <a:spcPts val="4759"/>
              </a:lnSpc>
              <a:buFont typeface="Arial"/>
              <a:buChar char="•"/>
            </a:pPr>
            <a:r>
              <a:rPr lang="en-US" sz="3399" dirty="0">
                <a:solidFill>
                  <a:srgbClr val="000000"/>
                </a:solidFill>
                <a:latin typeface="Open Sans"/>
                <a:ea typeface="Open Sans"/>
                <a:cs typeface="Open Sans"/>
                <a:sym typeface="Open Sans"/>
              </a:rPr>
              <a:t>Conduct user research on digital fatigue </a:t>
            </a:r>
            <a:r>
              <a:rPr lang="en-US" sz="3399" dirty="0">
                <a:solidFill>
                  <a:srgbClr val="E01A72"/>
                </a:solidFill>
                <a:latin typeface="Open Sans"/>
                <a:ea typeface="Open Sans"/>
                <a:cs typeface="Open Sans"/>
                <a:sym typeface="Open Sans"/>
              </a:rPr>
              <a:t>(Reuters, 2025)</a:t>
            </a:r>
          </a:p>
          <a:p>
            <a:pPr marL="734058" lvl="1" indent="-367029" algn="just">
              <a:lnSpc>
                <a:spcPts val="4759"/>
              </a:lnSpc>
              <a:buFont typeface="Arial"/>
              <a:buChar char="•"/>
            </a:pPr>
            <a:r>
              <a:rPr lang="en-US" sz="3399" dirty="0">
                <a:solidFill>
                  <a:srgbClr val="000000"/>
                </a:solidFill>
                <a:latin typeface="Open Sans"/>
                <a:ea typeface="Open Sans"/>
                <a:cs typeface="Open Sans"/>
                <a:sym typeface="Open Sans"/>
              </a:rPr>
              <a:t>Prototype features: physical keyboard option, privacy dashboard, distraction-free modes </a:t>
            </a:r>
            <a:r>
              <a:rPr lang="en-US" sz="3399" dirty="0">
                <a:solidFill>
                  <a:srgbClr val="E01A72"/>
                </a:solidFill>
                <a:latin typeface="Open Sans"/>
                <a:ea typeface="Open Sans"/>
                <a:cs typeface="Open Sans"/>
                <a:sym typeface="Open Sans"/>
              </a:rPr>
              <a:t>(</a:t>
            </a:r>
            <a:r>
              <a:rPr lang="en-US" sz="3399" dirty="0" err="1">
                <a:solidFill>
                  <a:srgbClr val="E01A72"/>
                </a:solidFill>
                <a:latin typeface="Open Sans"/>
                <a:ea typeface="Open Sans"/>
                <a:cs typeface="Open Sans"/>
                <a:sym typeface="Open Sans"/>
              </a:rPr>
              <a:t>SunStar</a:t>
            </a:r>
            <a:r>
              <a:rPr lang="en-US" sz="3399" dirty="0">
                <a:solidFill>
                  <a:srgbClr val="E01A72"/>
                </a:solidFill>
                <a:latin typeface="Open Sans"/>
                <a:ea typeface="Open Sans"/>
                <a:cs typeface="Open Sans"/>
                <a:sym typeface="Open Sans"/>
              </a:rPr>
              <a:t>, 2024)</a:t>
            </a:r>
          </a:p>
          <a:p>
            <a:pPr marL="734058" lvl="1" indent="-367029" algn="just">
              <a:lnSpc>
                <a:spcPts val="4759"/>
              </a:lnSpc>
              <a:buFont typeface="Arial"/>
              <a:buChar char="•"/>
            </a:pPr>
            <a:r>
              <a:rPr lang="en-US" sz="3399" dirty="0">
                <a:solidFill>
                  <a:srgbClr val="000000"/>
                </a:solidFill>
                <a:latin typeface="Open Sans"/>
                <a:ea typeface="Open Sans"/>
                <a:cs typeface="Open Sans"/>
                <a:sym typeface="Open Sans"/>
              </a:rPr>
              <a:t>Positioning theme: Security Meets Simplicity</a:t>
            </a:r>
          </a:p>
          <a:p>
            <a:pPr algn="just">
              <a:lnSpc>
                <a:spcPts val="4759"/>
              </a:lnSpc>
            </a:pPr>
            <a:endParaRPr lang="en-US" sz="3399" dirty="0">
              <a:solidFill>
                <a:srgbClr val="000000"/>
              </a:solidFill>
              <a:latin typeface="Open Sans"/>
              <a:ea typeface="Open Sans"/>
              <a:cs typeface="Open Sans"/>
              <a:sym typeface="Open Sans"/>
            </a:endParaRPr>
          </a:p>
        </p:txBody>
      </p:sp>
      <p:sp>
        <p:nvSpPr>
          <p:cNvPr id="4" name="Freeform 4">
            <a:extLst>
              <a:ext uri="{FF2B5EF4-FFF2-40B4-BE49-F238E27FC236}">
                <a16:creationId xmlns:a16="http://schemas.microsoft.com/office/drawing/2014/main" id="{AE0801E2-10FE-DD53-F3BE-75562AA4BC15}"/>
              </a:ext>
            </a:extLst>
          </p:cNvPr>
          <p:cNvSpPr/>
          <p:nvPr/>
        </p:nvSpPr>
        <p:spPr>
          <a:xfrm>
            <a:off x="14731212" y="6378891"/>
            <a:ext cx="3372289" cy="3372289"/>
          </a:xfrm>
          <a:custGeom>
            <a:avLst/>
            <a:gdLst/>
            <a:ahLst/>
            <a:cxnLst/>
            <a:rect l="l" t="t" r="r" b="b"/>
            <a:pathLst>
              <a:path w="3372289" h="3372289">
                <a:moveTo>
                  <a:pt x="0" y="0"/>
                </a:moveTo>
                <a:lnTo>
                  <a:pt x="3372289" y="0"/>
                </a:lnTo>
                <a:lnTo>
                  <a:pt x="3372289" y="3372289"/>
                </a:lnTo>
                <a:lnTo>
                  <a:pt x="0" y="3372289"/>
                </a:lnTo>
                <a:lnTo>
                  <a:pt x="0" y="0"/>
                </a:lnTo>
                <a:close/>
              </a:path>
            </a:pathLst>
          </a:custGeom>
          <a:blipFill>
            <a:blip r:embed="rId3"/>
            <a:stretch>
              <a:fillRect/>
            </a:stretch>
          </a:blipFill>
        </p:spPr>
      </p:sp>
      <p:sp>
        <p:nvSpPr>
          <p:cNvPr id="5" name="TextBox 5">
            <a:extLst>
              <a:ext uri="{FF2B5EF4-FFF2-40B4-BE49-F238E27FC236}">
                <a16:creationId xmlns:a16="http://schemas.microsoft.com/office/drawing/2014/main" id="{5C01EE86-84B0-F5A6-7DB8-06210649E653}"/>
              </a:ext>
            </a:extLst>
          </p:cNvPr>
          <p:cNvSpPr txBox="1"/>
          <p:nvPr/>
        </p:nvSpPr>
        <p:spPr>
          <a:xfrm>
            <a:off x="533401" y="1608772"/>
            <a:ext cx="17037858" cy="1477328"/>
          </a:xfrm>
          <a:prstGeom prst="rect">
            <a:avLst/>
          </a:prstGeom>
        </p:spPr>
        <p:txBody>
          <a:bodyPr wrap="square" lIns="0" tIns="0" rIns="0" bIns="0" rtlCol="0" anchor="t">
            <a:spAutoFit/>
          </a:bodyPr>
          <a:lstStyle/>
          <a:p>
            <a:r>
              <a:rPr lang="en-US" sz="9600" b="1" dirty="0">
                <a:latin typeface="Montserrat" panose="00000500000000000000" pitchFamily="2" charset="0"/>
              </a:rPr>
              <a:t>Implementation Roadmap</a:t>
            </a:r>
            <a:endParaRPr lang="en-US" sz="9600" dirty="0">
              <a:latin typeface="Montserrat" panose="00000500000000000000" pitchFamily="2" charset="0"/>
            </a:endParaRPr>
          </a:p>
        </p:txBody>
      </p:sp>
    </p:spTree>
    <p:extLst>
      <p:ext uri="{BB962C8B-B14F-4D97-AF65-F5344CB8AC3E}">
        <p14:creationId xmlns:p14="http://schemas.microsoft.com/office/powerpoint/2010/main" val="282460368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02168">
            <a:off x="-989316" y="-4026679"/>
            <a:ext cx="5407631" cy="5614957"/>
          </a:xfrm>
          <a:custGeom>
            <a:avLst/>
            <a:gdLst/>
            <a:ahLst/>
            <a:cxnLst/>
            <a:rect l="l" t="t" r="r" b="b"/>
            <a:pathLst>
              <a:path w="5987226" h="5998131">
                <a:moveTo>
                  <a:pt x="0" y="0"/>
                </a:moveTo>
                <a:lnTo>
                  <a:pt x="5987225" y="0"/>
                </a:lnTo>
                <a:lnTo>
                  <a:pt x="5987225" y="5998131"/>
                </a:lnTo>
                <a:lnTo>
                  <a:pt x="0" y="5998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002168" flipH="1" flipV="1">
            <a:off x="14525671" y="7922790"/>
            <a:ext cx="5710596" cy="5720998"/>
          </a:xfrm>
          <a:custGeom>
            <a:avLst/>
            <a:gdLst/>
            <a:ahLst/>
            <a:cxnLst/>
            <a:rect l="l" t="t" r="r" b="b"/>
            <a:pathLst>
              <a:path w="5710596" h="5720998">
                <a:moveTo>
                  <a:pt x="5710596" y="5720998"/>
                </a:moveTo>
                <a:lnTo>
                  <a:pt x="0" y="5720998"/>
                </a:lnTo>
                <a:lnTo>
                  <a:pt x="0" y="0"/>
                </a:lnTo>
                <a:lnTo>
                  <a:pt x="5710596" y="0"/>
                </a:lnTo>
                <a:lnTo>
                  <a:pt x="5710596" y="5720998"/>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3925341" y="-342900"/>
            <a:ext cx="10009291" cy="1542282"/>
          </a:xfrm>
          <a:prstGeom prst="rect">
            <a:avLst/>
          </a:prstGeom>
        </p:spPr>
        <p:txBody>
          <a:bodyPr lIns="0" tIns="0" rIns="0" bIns="0" rtlCol="0" anchor="t">
            <a:spAutoFit/>
          </a:bodyPr>
          <a:lstStyle/>
          <a:p>
            <a:pPr algn="ctr">
              <a:lnSpc>
                <a:spcPts val="13446"/>
              </a:lnSpc>
            </a:pPr>
            <a:r>
              <a:rPr lang="en-US" sz="8000" b="1" dirty="0">
                <a:solidFill>
                  <a:srgbClr val="000000"/>
                </a:solidFill>
                <a:latin typeface="Montserrat Bold"/>
                <a:ea typeface="Montserrat Bold"/>
                <a:cs typeface="Montserrat Bold"/>
                <a:sym typeface="Montserrat Bold"/>
              </a:rPr>
              <a:t>REFERENCES</a:t>
            </a:r>
          </a:p>
        </p:txBody>
      </p:sp>
      <p:sp>
        <p:nvSpPr>
          <p:cNvPr id="5" name="TextBox 5"/>
          <p:cNvSpPr txBox="1"/>
          <p:nvPr/>
        </p:nvSpPr>
        <p:spPr>
          <a:xfrm>
            <a:off x="0" y="952500"/>
            <a:ext cx="18135599" cy="9745488"/>
          </a:xfrm>
          <a:prstGeom prst="rect">
            <a:avLst/>
          </a:prstGeom>
        </p:spPr>
        <p:txBody>
          <a:bodyPr wrap="square" lIns="0" tIns="0" rIns="0" bIns="0" rtlCol="0" anchor="t">
            <a:spAutoFit/>
          </a:bodyPr>
          <a:lstStyle/>
          <a:p>
            <a:pPr marL="690881" lvl="1" indent="-345440" algn="just">
              <a:lnSpc>
                <a:spcPct val="150000"/>
              </a:lnSpc>
              <a:buFont typeface="Arial"/>
              <a:buChar char="•"/>
            </a:pPr>
            <a:r>
              <a:rPr lang="en-US" sz="17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Statista. (2026). BlackBerry – statistics &amp; facts. Statista. </a:t>
            </a:r>
            <a:r>
              <a:rPr lang="en-US" sz="17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hlinkClick r:id="rId6"/>
              </a:rPr>
              <a:t>https://www.statista.com/topics/5316</a:t>
            </a:r>
            <a:endParaRPr lang="en-US" sz="17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690881" lvl="1" indent="-345440" algn="just">
              <a:lnSpc>
                <a:spcPct val="150000"/>
              </a:lnSpc>
              <a:buFont typeface="Arial"/>
              <a:buChar char="•"/>
            </a:pPr>
            <a:r>
              <a:rPr lang="en-US" sz="1700"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SunStar</a:t>
            </a:r>
            <a:r>
              <a:rPr lang="en-US" sz="17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(2024). Dissecting the rise, fall of BlackBerry. </a:t>
            </a:r>
            <a:r>
              <a:rPr lang="en-US" sz="17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hlinkClick r:id="rId7"/>
              </a:rPr>
              <a:t>https://www.sunstar.com.ph/cebu/lifestyle/dissecting-the-rise-fall-of-blackberry</a:t>
            </a:r>
            <a:endParaRPr lang="en-US" sz="17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690881" lvl="1" indent="-345440" algn="just">
              <a:lnSpc>
                <a:spcPct val="150000"/>
              </a:lnSpc>
              <a:buFont typeface="Arial"/>
              <a:buChar char="•"/>
            </a:pPr>
            <a:r>
              <a:rPr lang="en-GB" sz="1700" dirty="0">
                <a:latin typeface="Open Sans" panose="020B0606030504020204" pitchFamily="34" charset="0"/>
                <a:ea typeface="Open Sans" panose="020B0606030504020204" pitchFamily="34" charset="0"/>
                <a:cs typeface="Open Sans" panose="020B0606030504020204" pitchFamily="34" charset="0"/>
              </a:rPr>
              <a:t>George, A. S., George, A. H., &amp; Baskar, T. (2023). The death of </a:t>
            </a:r>
            <a:r>
              <a:rPr lang="en-GB" sz="1700" dirty="0" err="1">
                <a:latin typeface="Open Sans" panose="020B0606030504020204" pitchFamily="34" charset="0"/>
                <a:ea typeface="Open Sans" panose="020B0606030504020204" pitchFamily="34" charset="0"/>
                <a:cs typeface="Open Sans" panose="020B0606030504020204" pitchFamily="34" charset="0"/>
              </a:rPr>
              <a:t>analog</a:t>
            </a:r>
            <a:r>
              <a:rPr lang="en-GB" sz="1700" dirty="0">
                <a:latin typeface="Open Sans" panose="020B0606030504020204" pitchFamily="34" charset="0"/>
                <a:ea typeface="Open Sans" panose="020B0606030504020204" pitchFamily="34" charset="0"/>
                <a:cs typeface="Open Sans" panose="020B0606030504020204" pitchFamily="34" charset="0"/>
              </a:rPr>
              <a:t>: Assessing the Impacts of ubiquitous mobile technology. </a:t>
            </a:r>
            <a:r>
              <a:rPr lang="en-GB" sz="1700" i="1" dirty="0">
                <a:latin typeface="Open Sans" panose="020B0606030504020204" pitchFamily="34" charset="0"/>
                <a:ea typeface="Open Sans" panose="020B0606030504020204" pitchFamily="34" charset="0"/>
                <a:cs typeface="Open Sans" panose="020B0606030504020204" pitchFamily="34" charset="0"/>
              </a:rPr>
              <a:t>Partners Universal Innovative Research Publication</a:t>
            </a:r>
            <a:r>
              <a:rPr lang="en-GB" sz="1700" dirty="0">
                <a:latin typeface="Open Sans" panose="020B0606030504020204" pitchFamily="34" charset="0"/>
                <a:ea typeface="Open Sans" panose="020B0606030504020204" pitchFamily="34" charset="0"/>
                <a:cs typeface="Open Sans" panose="020B0606030504020204" pitchFamily="34" charset="0"/>
              </a:rPr>
              <a:t>, </a:t>
            </a:r>
            <a:r>
              <a:rPr lang="en-GB" sz="1700" i="1" dirty="0">
                <a:latin typeface="Open Sans" panose="020B0606030504020204" pitchFamily="34" charset="0"/>
                <a:ea typeface="Open Sans" panose="020B0606030504020204" pitchFamily="34" charset="0"/>
                <a:cs typeface="Open Sans" panose="020B0606030504020204" pitchFamily="34" charset="0"/>
              </a:rPr>
              <a:t>1</a:t>
            </a:r>
            <a:r>
              <a:rPr lang="en-GB" sz="1700" dirty="0">
                <a:latin typeface="Open Sans" panose="020B0606030504020204" pitchFamily="34" charset="0"/>
                <a:ea typeface="Open Sans" panose="020B0606030504020204" pitchFamily="34" charset="0"/>
                <a:cs typeface="Open Sans" panose="020B0606030504020204" pitchFamily="34" charset="0"/>
              </a:rPr>
              <a:t>(2), 15-33. </a:t>
            </a:r>
            <a:r>
              <a:rPr lang="en-GB" sz="1700" dirty="0">
                <a:latin typeface="Open Sans" panose="020B0606030504020204" pitchFamily="34" charset="0"/>
                <a:ea typeface="Open Sans" panose="020B0606030504020204" pitchFamily="34" charset="0"/>
                <a:cs typeface="Open Sans" panose="020B0606030504020204" pitchFamily="34" charset="0"/>
                <a:hlinkClick r:id="rId8"/>
              </a:rPr>
              <a:t>http://www.puirp.com/index.php/research/article/view/17</a:t>
            </a:r>
            <a:endParaRPr lang="en-US" sz="17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690881" lvl="1" indent="-345440" algn="just">
              <a:lnSpc>
                <a:spcPct val="150000"/>
              </a:lnSpc>
              <a:buFont typeface="Arial"/>
              <a:buChar char="•"/>
            </a:pPr>
            <a:r>
              <a:rPr lang="en-US" sz="17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Reuters. (2025, April 2). BlackBerry forecasts lower annual revenue due to weak demand for cybersecurity services. </a:t>
            </a:r>
            <a:r>
              <a:rPr lang="en-US" sz="17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hlinkClick r:id="rId9"/>
              </a:rPr>
              <a:t>https://www.reuters.com/technology/blackberry-forecasts-lower-annual-revenue-due-weak-demand-cybersecurity-services-2025-04-02/</a:t>
            </a:r>
            <a:endParaRPr lang="en-US" sz="17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690881" lvl="1" indent="-345440" algn="just">
              <a:lnSpc>
                <a:spcPct val="150000"/>
              </a:lnSpc>
              <a:buFont typeface="Arial"/>
              <a:buChar char="•"/>
            </a:pPr>
            <a:r>
              <a:rPr lang="en-US" sz="17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Youssef, M. H., &amp; Haj Youssef, M. (2013). Strategic tensions within the smartphones industry: the case of BlackBerry. VISTAS: Education, Economy and Community, 3, 125-141. </a:t>
            </a:r>
            <a:r>
              <a:rPr lang="en-US" sz="17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hlinkClick r:id="rId10"/>
              </a:rPr>
              <a:t>https://westminsterresearch.westminster.ac.uk/item/967yy/strategic-tensions-within-the-smartphones-industry-the-case-of-blackberry</a:t>
            </a:r>
            <a:endParaRPr lang="en-US" sz="17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690881" lvl="1" indent="-345440" algn="just">
              <a:lnSpc>
                <a:spcPct val="150000"/>
              </a:lnSpc>
              <a:buFont typeface="Arial"/>
              <a:buChar char="•"/>
            </a:pPr>
            <a:r>
              <a:rPr lang="en-GB" sz="1700" dirty="0">
                <a:latin typeface="Open Sans" panose="020B0606030504020204" pitchFamily="34" charset="0"/>
                <a:ea typeface="Open Sans" panose="020B0606030504020204" pitchFamily="34" charset="0"/>
                <a:cs typeface="Open Sans" panose="020B0606030504020204" pitchFamily="34" charset="0"/>
              </a:rPr>
              <a:t>Sexton, V., Dale, J., Bryce, C., Barry, J., Sellers, E., &amp; Atherton, H. (2022). Service use, clinical outcomes and user experience associated with urgent care services that use telephone-based digital triage: a systematic review. </a:t>
            </a:r>
            <a:r>
              <a:rPr lang="en-GB" sz="1700" i="1" dirty="0">
                <a:latin typeface="Open Sans" panose="020B0606030504020204" pitchFamily="34" charset="0"/>
                <a:ea typeface="Open Sans" panose="020B0606030504020204" pitchFamily="34" charset="0"/>
                <a:cs typeface="Open Sans" panose="020B0606030504020204" pitchFamily="34" charset="0"/>
              </a:rPr>
              <a:t>BMJ open</a:t>
            </a:r>
            <a:r>
              <a:rPr lang="en-GB" sz="1700" dirty="0">
                <a:latin typeface="Open Sans" panose="020B0606030504020204" pitchFamily="34" charset="0"/>
                <a:ea typeface="Open Sans" panose="020B0606030504020204" pitchFamily="34" charset="0"/>
                <a:cs typeface="Open Sans" panose="020B0606030504020204" pitchFamily="34" charset="0"/>
              </a:rPr>
              <a:t>, </a:t>
            </a:r>
            <a:r>
              <a:rPr lang="en-GB" sz="1700" i="1" dirty="0">
                <a:latin typeface="Open Sans" panose="020B0606030504020204" pitchFamily="34" charset="0"/>
                <a:ea typeface="Open Sans" panose="020B0606030504020204" pitchFamily="34" charset="0"/>
                <a:cs typeface="Open Sans" panose="020B0606030504020204" pitchFamily="34" charset="0"/>
              </a:rPr>
              <a:t>12</a:t>
            </a:r>
            <a:r>
              <a:rPr lang="en-GB" sz="1700" dirty="0">
                <a:latin typeface="Open Sans" panose="020B0606030504020204" pitchFamily="34" charset="0"/>
                <a:ea typeface="Open Sans" panose="020B0606030504020204" pitchFamily="34" charset="0"/>
                <a:cs typeface="Open Sans" panose="020B0606030504020204" pitchFamily="34" charset="0"/>
              </a:rPr>
              <a:t>(1), e051569. </a:t>
            </a:r>
            <a:r>
              <a:rPr lang="en-GB" sz="1700" dirty="0">
                <a:latin typeface="Open Sans" panose="020B0606030504020204" pitchFamily="34" charset="0"/>
                <a:ea typeface="Open Sans" panose="020B0606030504020204" pitchFamily="34" charset="0"/>
                <a:cs typeface="Open Sans" panose="020B0606030504020204" pitchFamily="34" charset="0"/>
                <a:hlinkClick r:id="rId11"/>
              </a:rPr>
              <a:t>https://bmjopen.bmj.com/content/12/1/e051569.abstract</a:t>
            </a:r>
            <a:endParaRPr lang="en-US" sz="17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690881" lvl="1" indent="-345440" algn="just">
              <a:lnSpc>
                <a:spcPct val="150000"/>
              </a:lnSpc>
              <a:buFont typeface="Arial"/>
              <a:buChar char="•"/>
            </a:pPr>
            <a:r>
              <a:rPr lang="en-GB" sz="1700" dirty="0" err="1">
                <a:latin typeface="Open Sans" panose="020B0606030504020204" pitchFamily="34" charset="0"/>
                <a:ea typeface="Open Sans" panose="020B0606030504020204" pitchFamily="34" charset="0"/>
                <a:cs typeface="Open Sans" panose="020B0606030504020204" pitchFamily="34" charset="0"/>
              </a:rPr>
              <a:t>Grieva</a:t>
            </a:r>
            <a:r>
              <a:rPr lang="en-GB" sz="1700" dirty="0">
                <a:latin typeface="Open Sans" panose="020B0606030504020204" pitchFamily="34" charset="0"/>
                <a:ea typeface="Open Sans" panose="020B0606030504020204" pitchFamily="34" charset="0"/>
                <a:cs typeface="Open Sans" panose="020B0606030504020204" pitchFamily="34" charset="0"/>
              </a:rPr>
              <a:t>, O., </a:t>
            </a:r>
            <a:r>
              <a:rPr lang="en-GB" sz="1700" dirty="0" err="1">
                <a:latin typeface="Open Sans" panose="020B0606030504020204" pitchFamily="34" charset="0"/>
                <a:ea typeface="Open Sans" panose="020B0606030504020204" pitchFamily="34" charset="0"/>
                <a:cs typeface="Open Sans" panose="020B0606030504020204" pitchFamily="34" charset="0"/>
              </a:rPr>
              <a:t>Guadamillas</a:t>
            </a:r>
            <a:r>
              <a:rPr lang="en-GB" sz="1700" dirty="0">
                <a:latin typeface="Open Sans" panose="020B0606030504020204" pitchFamily="34" charset="0"/>
                <a:ea typeface="Open Sans" panose="020B0606030504020204" pitchFamily="34" charset="0"/>
                <a:cs typeface="Open Sans" panose="020B0606030504020204" pitchFamily="34" charset="0"/>
              </a:rPr>
              <a:t>, F., Donate, M. J., &amp; </a:t>
            </a:r>
            <a:r>
              <a:rPr lang="en-GB" sz="1700" dirty="0" err="1">
                <a:latin typeface="Open Sans" panose="020B0606030504020204" pitchFamily="34" charset="0"/>
                <a:ea typeface="Open Sans" panose="020B0606030504020204" pitchFamily="34" charset="0"/>
                <a:cs typeface="Open Sans" panose="020B0606030504020204" pitchFamily="34" charset="0"/>
              </a:rPr>
              <a:t>Appio</a:t>
            </a:r>
            <a:r>
              <a:rPr lang="en-GB" sz="1700" dirty="0">
                <a:latin typeface="Open Sans" panose="020B0606030504020204" pitchFamily="34" charset="0"/>
                <a:ea typeface="Open Sans" panose="020B0606030504020204" pitchFamily="34" charset="0"/>
                <a:cs typeface="Open Sans" panose="020B0606030504020204" pitchFamily="34" charset="0"/>
              </a:rPr>
              <a:t>, F. P. (2025). The digital, knowledge and innovation nexus: mapping synergies and charting a research agenda. </a:t>
            </a:r>
            <a:r>
              <a:rPr lang="en-GB" sz="1700" i="1" dirty="0">
                <a:latin typeface="Open Sans" panose="020B0606030504020204" pitchFamily="34" charset="0"/>
                <a:ea typeface="Open Sans" panose="020B0606030504020204" pitchFamily="34" charset="0"/>
                <a:cs typeface="Open Sans" panose="020B0606030504020204" pitchFamily="34" charset="0"/>
              </a:rPr>
              <a:t>Journal of Knowledge Management</a:t>
            </a:r>
            <a:r>
              <a:rPr lang="en-GB" sz="1700" dirty="0">
                <a:latin typeface="Open Sans" panose="020B0606030504020204" pitchFamily="34" charset="0"/>
                <a:ea typeface="Open Sans" panose="020B0606030504020204" pitchFamily="34" charset="0"/>
                <a:cs typeface="Open Sans" panose="020B0606030504020204" pitchFamily="34" charset="0"/>
              </a:rPr>
              <a:t>, 1-42. </a:t>
            </a:r>
            <a:r>
              <a:rPr lang="en-GB" sz="1700" dirty="0">
                <a:latin typeface="Open Sans" panose="020B0606030504020204" pitchFamily="34" charset="0"/>
                <a:ea typeface="Open Sans" panose="020B0606030504020204" pitchFamily="34" charset="0"/>
                <a:cs typeface="Open Sans" panose="020B0606030504020204" pitchFamily="34" charset="0"/>
                <a:hlinkClick r:id="rId12"/>
              </a:rPr>
              <a:t>https://www.emerald.com/jkm/article/doi/10.1108/JKM-03-2025-0425/1308888</a:t>
            </a:r>
            <a:endParaRPr lang="en-GB" sz="1700" dirty="0">
              <a:latin typeface="Open Sans" panose="020B0606030504020204" pitchFamily="34" charset="0"/>
              <a:ea typeface="Open Sans" panose="020B0606030504020204" pitchFamily="34" charset="0"/>
              <a:cs typeface="Open Sans" panose="020B0606030504020204" pitchFamily="34" charset="0"/>
            </a:endParaRPr>
          </a:p>
          <a:p>
            <a:pPr marL="690881" lvl="1" indent="-345440" algn="just">
              <a:lnSpc>
                <a:spcPct val="150000"/>
              </a:lnSpc>
              <a:buFont typeface="Arial"/>
              <a:buChar char="•"/>
            </a:pPr>
            <a:r>
              <a:rPr lang="en-US" sz="17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Statista. (2025). BlackBerry revenue worldwide from 2004 to 2024 (in million U.S. dollars). Statista. </a:t>
            </a:r>
            <a:r>
              <a:rPr lang="en-US" sz="1700" u="sng"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hlinkClick r:id="rId13" tooltip="https://www.statista.com/statistics/266240/blackberry-revenue/?utm_source=chatgpt.com"/>
              </a:rPr>
              <a:t>https://www.statista.com/statistics/266240/blackberry-revenue/</a:t>
            </a:r>
            <a:r>
              <a:rPr lang="en-US" sz="17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a:t>
            </a:r>
          </a:p>
          <a:p>
            <a:pPr marL="690881" lvl="1" indent="-345440" algn="just">
              <a:lnSpc>
                <a:spcPct val="150000"/>
              </a:lnSpc>
              <a:buFont typeface="Arial"/>
              <a:buChar char="•"/>
            </a:pPr>
            <a:r>
              <a:rPr lang="en-US" sz="1700" dirty="0" err="1">
                <a:latin typeface="Open Sans" panose="020B0606030504020204" pitchFamily="34" charset="0"/>
                <a:ea typeface="Open Sans" panose="020B0606030504020204" pitchFamily="34" charset="0"/>
                <a:cs typeface="Open Sans" panose="020B0606030504020204" pitchFamily="34" charset="0"/>
              </a:rPr>
              <a:t>Massenon</a:t>
            </a:r>
            <a:r>
              <a:rPr lang="en-US" sz="1700" dirty="0">
                <a:latin typeface="Open Sans" panose="020B0606030504020204" pitchFamily="34" charset="0"/>
                <a:ea typeface="Open Sans" panose="020B0606030504020204" pitchFamily="34" charset="0"/>
                <a:cs typeface="Open Sans" panose="020B0606030504020204" pitchFamily="34" charset="0"/>
              </a:rPr>
              <a:t>, R., Gambo, I., </a:t>
            </a:r>
            <a:r>
              <a:rPr lang="en-US" sz="1700" dirty="0" err="1">
                <a:latin typeface="Open Sans" panose="020B0606030504020204" pitchFamily="34" charset="0"/>
                <a:ea typeface="Open Sans" panose="020B0606030504020204" pitchFamily="34" charset="0"/>
                <a:cs typeface="Open Sans" panose="020B0606030504020204" pitchFamily="34" charset="0"/>
              </a:rPr>
              <a:t>Ogundokun</a:t>
            </a:r>
            <a:r>
              <a:rPr lang="en-US" sz="1700" dirty="0">
                <a:latin typeface="Open Sans" panose="020B0606030504020204" pitchFamily="34" charset="0"/>
                <a:ea typeface="Open Sans" panose="020B0606030504020204" pitchFamily="34" charset="0"/>
                <a:cs typeface="Open Sans" panose="020B0606030504020204" pitchFamily="34" charset="0"/>
              </a:rPr>
              <a:t>, R. O., </a:t>
            </a:r>
            <a:r>
              <a:rPr lang="en-US" sz="1700" dirty="0" err="1">
                <a:latin typeface="Open Sans" panose="020B0606030504020204" pitchFamily="34" charset="0"/>
                <a:ea typeface="Open Sans" panose="020B0606030504020204" pitchFamily="34" charset="0"/>
                <a:cs typeface="Open Sans" panose="020B0606030504020204" pitchFamily="34" charset="0"/>
              </a:rPr>
              <a:t>Ogundepo</a:t>
            </a:r>
            <a:r>
              <a:rPr lang="en-US" sz="1700" dirty="0">
                <a:latin typeface="Open Sans" panose="020B0606030504020204" pitchFamily="34" charset="0"/>
                <a:ea typeface="Open Sans" panose="020B0606030504020204" pitchFamily="34" charset="0"/>
                <a:cs typeface="Open Sans" panose="020B0606030504020204" pitchFamily="34" charset="0"/>
              </a:rPr>
              <a:t>, E. A., Srivastava, S., Agarwal, S., &amp; Pak, W. (2024). Mobile app review analysis for crowdsourcing of software requirements: a mapping study of automated and semi-automated tools. </a:t>
            </a:r>
            <a:r>
              <a:rPr lang="en-US" sz="1700" i="1" dirty="0" err="1">
                <a:latin typeface="Open Sans" panose="020B0606030504020204" pitchFamily="34" charset="0"/>
                <a:ea typeface="Open Sans" panose="020B0606030504020204" pitchFamily="34" charset="0"/>
                <a:cs typeface="Open Sans" panose="020B0606030504020204" pitchFamily="34" charset="0"/>
              </a:rPr>
              <a:t>PeerJ</a:t>
            </a:r>
            <a:r>
              <a:rPr lang="en-US" sz="1700" i="1" dirty="0">
                <a:latin typeface="Open Sans" panose="020B0606030504020204" pitchFamily="34" charset="0"/>
                <a:ea typeface="Open Sans" panose="020B0606030504020204" pitchFamily="34" charset="0"/>
                <a:cs typeface="Open Sans" panose="020B0606030504020204" pitchFamily="34" charset="0"/>
              </a:rPr>
              <a:t> Computer Science</a:t>
            </a:r>
            <a:r>
              <a:rPr lang="en-US" sz="1700" dirty="0">
                <a:latin typeface="Open Sans" panose="020B0606030504020204" pitchFamily="34" charset="0"/>
                <a:ea typeface="Open Sans" panose="020B0606030504020204" pitchFamily="34" charset="0"/>
                <a:cs typeface="Open Sans" panose="020B0606030504020204" pitchFamily="34" charset="0"/>
              </a:rPr>
              <a:t>, </a:t>
            </a:r>
            <a:r>
              <a:rPr lang="en-US" sz="1700" i="1" dirty="0">
                <a:latin typeface="Open Sans" panose="020B0606030504020204" pitchFamily="34" charset="0"/>
                <a:ea typeface="Open Sans" panose="020B0606030504020204" pitchFamily="34" charset="0"/>
                <a:cs typeface="Open Sans" panose="020B0606030504020204" pitchFamily="34" charset="0"/>
              </a:rPr>
              <a:t>10</a:t>
            </a:r>
            <a:r>
              <a:rPr lang="en-US" sz="1700" dirty="0">
                <a:latin typeface="Open Sans" panose="020B0606030504020204" pitchFamily="34" charset="0"/>
                <a:ea typeface="Open Sans" panose="020B0606030504020204" pitchFamily="34" charset="0"/>
                <a:cs typeface="Open Sans" panose="020B0606030504020204" pitchFamily="34" charset="0"/>
              </a:rPr>
              <a:t>, e2401. </a:t>
            </a:r>
            <a:r>
              <a:rPr lang="en-US" sz="1700" dirty="0">
                <a:latin typeface="Open Sans" panose="020B0606030504020204" pitchFamily="34" charset="0"/>
                <a:ea typeface="Open Sans" panose="020B0606030504020204" pitchFamily="34" charset="0"/>
                <a:cs typeface="Open Sans" panose="020B0606030504020204" pitchFamily="34" charset="0"/>
                <a:hlinkClick r:id="rId14"/>
              </a:rPr>
              <a:t>https://peerj.com/articles/cs-2401/</a:t>
            </a:r>
            <a:endParaRPr lang="en-US" sz="1700" dirty="0">
              <a:latin typeface="Open Sans" panose="020B0606030504020204" pitchFamily="34" charset="0"/>
              <a:ea typeface="Open Sans" panose="020B0606030504020204" pitchFamily="34" charset="0"/>
              <a:cs typeface="Open Sans" panose="020B0606030504020204" pitchFamily="34" charset="0"/>
            </a:endParaRPr>
          </a:p>
          <a:p>
            <a:pPr marL="690881" lvl="1" indent="-345440" algn="just">
              <a:lnSpc>
                <a:spcPct val="150000"/>
              </a:lnSpc>
              <a:buFont typeface="Arial"/>
              <a:buChar char="•"/>
            </a:pPr>
            <a:r>
              <a:rPr lang="en-GB" sz="1700" dirty="0">
                <a:latin typeface="Open Sans" panose="020B0606030504020204" pitchFamily="34" charset="0"/>
                <a:ea typeface="Open Sans" panose="020B0606030504020204" pitchFamily="34" charset="0"/>
                <a:cs typeface="Open Sans" panose="020B0606030504020204" pitchFamily="34" charset="0"/>
              </a:rPr>
              <a:t>Shin, Y. (2025). Toward human-</a:t>
            </a:r>
            <a:r>
              <a:rPr lang="en-GB" sz="1700" dirty="0" err="1">
                <a:latin typeface="Open Sans" panose="020B0606030504020204" pitchFamily="34" charset="0"/>
                <a:ea typeface="Open Sans" panose="020B0606030504020204" pitchFamily="34" charset="0"/>
                <a:cs typeface="Open Sans" panose="020B0606030504020204" pitchFamily="34" charset="0"/>
              </a:rPr>
              <a:t>centered</a:t>
            </a:r>
            <a:r>
              <a:rPr lang="en-GB" sz="1700" dirty="0">
                <a:latin typeface="Open Sans" panose="020B0606030504020204" pitchFamily="34" charset="0"/>
                <a:ea typeface="Open Sans" panose="020B0606030504020204" pitchFamily="34" charset="0"/>
                <a:cs typeface="Open Sans" panose="020B0606030504020204" pitchFamily="34" charset="0"/>
              </a:rPr>
              <a:t> artificial intelligence for users’ digital well-being: Systematic review, synthesis, and future directions. </a:t>
            </a:r>
            <a:r>
              <a:rPr lang="en-GB" sz="1700" i="1" dirty="0">
                <a:latin typeface="Open Sans" panose="020B0606030504020204" pitchFamily="34" charset="0"/>
                <a:ea typeface="Open Sans" panose="020B0606030504020204" pitchFamily="34" charset="0"/>
                <a:cs typeface="Open Sans" panose="020B0606030504020204" pitchFamily="34" charset="0"/>
              </a:rPr>
              <a:t>JMIR Human Factors</a:t>
            </a:r>
            <a:r>
              <a:rPr lang="en-GB" sz="1700" dirty="0">
                <a:latin typeface="Open Sans" panose="020B0606030504020204" pitchFamily="34" charset="0"/>
                <a:ea typeface="Open Sans" panose="020B0606030504020204" pitchFamily="34" charset="0"/>
                <a:cs typeface="Open Sans" panose="020B0606030504020204" pitchFamily="34" charset="0"/>
              </a:rPr>
              <a:t>, </a:t>
            </a:r>
            <a:r>
              <a:rPr lang="en-GB" sz="1700" i="1" dirty="0">
                <a:latin typeface="Open Sans" panose="020B0606030504020204" pitchFamily="34" charset="0"/>
                <a:ea typeface="Open Sans" panose="020B0606030504020204" pitchFamily="34" charset="0"/>
                <a:cs typeface="Open Sans" panose="020B0606030504020204" pitchFamily="34" charset="0"/>
              </a:rPr>
              <a:t>12</a:t>
            </a:r>
            <a:r>
              <a:rPr lang="en-GB" sz="1700" dirty="0">
                <a:latin typeface="Open Sans" panose="020B0606030504020204" pitchFamily="34" charset="0"/>
                <a:ea typeface="Open Sans" panose="020B0606030504020204" pitchFamily="34" charset="0"/>
                <a:cs typeface="Open Sans" panose="020B0606030504020204" pitchFamily="34" charset="0"/>
              </a:rPr>
              <a:t>(1), e69533. </a:t>
            </a:r>
            <a:r>
              <a:rPr lang="en-GB" sz="1700" dirty="0">
                <a:latin typeface="Open Sans" panose="020B0606030504020204" pitchFamily="34" charset="0"/>
                <a:ea typeface="Open Sans" panose="020B0606030504020204" pitchFamily="34" charset="0"/>
                <a:cs typeface="Open Sans" panose="020B0606030504020204" pitchFamily="34" charset="0"/>
                <a:hlinkClick r:id="rId15"/>
              </a:rPr>
              <a:t>https://humanfactors.jmir.org/2025/1/e69533/</a:t>
            </a:r>
            <a:endParaRPr lang="en-GB" sz="1700" dirty="0">
              <a:latin typeface="Open Sans" panose="020B0606030504020204" pitchFamily="34" charset="0"/>
              <a:ea typeface="Open Sans" panose="020B0606030504020204" pitchFamily="34" charset="0"/>
              <a:cs typeface="Open Sans" panose="020B0606030504020204" pitchFamily="34" charset="0"/>
            </a:endParaRPr>
          </a:p>
          <a:p>
            <a:pPr marL="690881" lvl="1" indent="-345440" algn="just">
              <a:lnSpc>
                <a:spcPct val="150000"/>
              </a:lnSpc>
              <a:buFont typeface="Arial"/>
              <a:buChar char="•"/>
            </a:pPr>
            <a:r>
              <a:rPr lang="en-GB" sz="1700" dirty="0" err="1">
                <a:latin typeface="Open Sans" panose="020B0606030504020204" pitchFamily="34" charset="0"/>
                <a:ea typeface="Open Sans" panose="020B0606030504020204" pitchFamily="34" charset="0"/>
                <a:cs typeface="Open Sans" panose="020B0606030504020204" pitchFamily="34" charset="0"/>
              </a:rPr>
              <a:t>Godliauskas</a:t>
            </a:r>
            <a:r>
              <a:rPr lang="en-GB" sz="1700" dirty="0">
                <a:latin typeface="Open Sans" panose="020B0606030504020204" pitchFamily="34" charset="0"/>
                <a:ea typeface="Open Sans" panose="020B0606030504020204" pitchFamily="34" charset="0"/>
                <a:cs typeface="Open Sans" panose="020B0606030504020204" pitchFamily="34" charset="0"/>
              </a:rPr>
              <a:t>, P., &amp; </a:t>
            </a:r>
            <a:r>
              <a:rPr lang="en-GB" sz="1700" dirty="0" err="1">
                <a:latin typeface="Open Sans" panose="020B0606030504020204" pitchFamily="34" charset="0"/>
                <a:ea typeface="Open Sans" panose="020B0606030504020204" pitchFamily="34" charset="0"/>
                <a:cs typeface="Open Sans" panose="020B0606030504020204" pitchFamily="34" charset="0"/>
              </a:rPr>
              <a:t>Šmite</a:t>
            </a:r>
            <a:r>
              <a:rPr lang="en-GB" sz="1700" dirty="0">
                <a:latin typeface="Open Sans" panose="020B0606030504020204" pitchFamily="34" charset="0"/>
                <a:ea typeface="Open Sans" panose="020B0606030504020204" pitchFamily="34" charset="0"/>
                <a:cs typeface="Open Sans" panose="020B0606030504020204" pitchFamily="34" charset="0"/>
              </a:rPr>
              <a:t>, D. (2025). The well-being of software engineers: a systematic literature review and a theory. </a:t>
            </a:r>
            <a:r>
              <a:rPr lang="en-GB" sz="1700" i="1" dirty="0">
                <a:latin typeface="Open Sans" panose="020B0606030504020204" pitchFamily="34" charset="0"/>
                <a:ea typeface="Open Sans" panose="020B0606030504020204" pitchFamily="34" charset="0"/>
                <a:cs typeface="Open Sans" panose="020B0606030504020204" pitchFamily="34" charset="0"/>
              </a:rPr>
              <a:t>Empirical Software Engineering</a:t>
            </a:r>
            <a:r>
              <a:rPr lang="en-GB" sz="1700" dirty="0">
                <a:latin typeface="Open Sans" panose="020B0606030504020204" pitchFamily="34" charset="0"/>
                <a:ea typeface="Open Sans" panose="020B0606030504020204" pitchFamily="34" charset="0"/>
                <a:cs typeface="Open Sans" panose="020B0606030504020204" pitchFamily="34" charset="0"/>
              </a:rPr>
              <a:t>, </a:t>
            </a:r>
            <a:r>
              <a:rPr lang="en-GB" sz="1700" i="1" dirty="0">
                <a:latin typeface="Open Sans" panose="020B0606030504020204" pitchFamily="34" charset="0"/>
                <a:ea typeface="Open Sans" panose="020B0606030504020204" pitchFamily="34" charset="0"/>
                <a:cs typeface="Open Sans" panose="020B0606030504020204" pitchFamily="34" charset="0"/>
              </a:rPr>
              <a:t>30</a:t>
            </a:r>
            <a:r>
              <a:rPr lang="en-GB" sz="1700" dirty="0">
                <a:latin typeface="Open Sans" panose="020B0606030504020204" pitchFamily="34" charset="0"/>
                <a:ea typeface="Open Sans" panose="020B0606030504020204" pitchFamily="34" charset="0"/>
                <a:cs typeface="Open Sans" panose="020B0606030504020204" pitchFamily="34" charset="0"/>
              </a:rPr>
              <a:t>(1), 35. </a:t>
            </a:r>
            <a:r>
              <a:rPr lang="en-GB" sz="1700" dirty="0">
                <a:latin typeface="Open Sans" panose="020B0606030504020204" pitchFamily="34" charset="0"/>
                <a:ea typeface="Open Sans" panose="020B0606030504020204" pitchFamily="34" charset="0"/>
                <a:cs typeface="Open Sans" panose="020B0606030504020204" pitchFamily="34" charset="0"/>
                <a:hlinkClick r:id="rId16"/>
              </a:rPr>
              <a:t>https://link.springer.com/article/10.1007/s10664-024-10543-8</a:t>
            </a:r>
            <a:endParaRPr lang="en-GB" sz="1700" dirty="0">
              <a:latin typeface="Open Sans" panose="020B0606030504020204" pitchFamily="34" charset="0"/>
              <a:ea typeface="Open Sans" panose="020B0606030504020204" pitchFamily="34" charset="0"/>
              <a:cs typeface="Open Sans" panose="020B0606030504020204" pitchFamily="34" charset="0"/>
            </a:endParaRPr>
          </a:p>
          <a:p>
            <a:pPr marL="690881" lvl="1" indent="-345440" algn="just">
              <a:lnSpc>
                <a:spcPct val="150000"/>
              </a:lnSpc>
              <a:buFont typeface="Arial"/>
              <a:buChar char="•"/>
            </a:pPr>
            <a:r>
              <a:rPr lang="en-GB" sz="1700" dirty="0">
                <a:latin typeface="Open Sans" panose="020B0606030504020204" pitchFamily="34" charset="0"/>
                <a:ea typeface="Open Sans" panose="020B0606030504020204" pitchFamily="34" charset="0"/>
                <a:cs typeface="Open Sans" panose="020B0606030504020204" pitchFamily="34" charset="0"/>
              </a:rPr>
              <a:t>Asurion. (2019). Americans check their phones 96 times a day. </a:t>
            </a:r>
            <a:r>
              <a:rPr lang="en-GB" sz="1700" dirty="0">
                <a:latin typeface="Open Sans" panose="020B0606030504020204" pitchFamily="34" charset="0"/>
                <a:ea typeface="Open Sans" panose="020B0606030504020204" pitchFamily="34" charset="0"/>
                <a:cs typeface="Open Sans" panose="020B0606030504020204" pitchFamily="34" charset="0"/>
                <a:hlinkClick r:id="rId17"/>
              </a:rPr>
              <a:t>https://www.asurion.com/press-releases/americans-check-their-phones-96-times-a-day/</a:t>
            </a:r>
            <a:endParaRPr lang="en-GB" sz="1700" dirty="0">
              <a:latin typeface="Open Sans" panose="020B0606030504020204" pitchFamily="34" charset="0"/>
              <a:ea typeface="Open Sans" panose="020B0606030504020204" pitchFamily="34" charset="0"/>
              <a:cs typeface="Open Sans" panose="020B0606030504020204" pitchFamily="34" charset="0"/>
            </a:endParaRPr>
          </a:p>
          <a:p>
            <a:pPr marL="690881" lvl="1" indent="-345440" algn="just">
              <a:lnSpc>
                <a:spcPct val="150000"/>
              </a:lnSpc>
              <a:buFont typeface="Arial"/>
              <a:buChar char="•"/>
            </a:pPr>
            <a:r>
              <a:rPr lang="en-GB" sz="1700" dirty="0" err="1">
                <a:latin typeface="Open Sans" panose="020B0606030504020204" pitchFamily="34" charset="0"/>
                <a:ea typeface="Open Sans" panose="020B0606030504020204" pitchFamily="34" charset="0"/>
                <a:cs typeface="Open Sans" panose="020B0606030504020204" pitchFamily="34" charset="0"/>
              </a:rPr>
              <a:t>Kaewpradit</a:t>
            </a:r>
            <a:r>
              <a:rPr lang="en-GB" sz="1700" dirty="0">
                <a:latin typeface="Open Sans" panose="020B0606030504020204" pitchFamily="34" charset="0"/>
                <a:ea typeface="Open Sans" panose="020B0606030504020204" pitchFamily="34" charset="0"/>
                <a:cs typeface="Open Sans" panose="020B0606030504020204" pitchFamily="34" charset="0"/>
              </a:rPr>
              <a:t>, K., et al. (2025). Digital screen time usage, prevalence of excessive screen exposure, and mental health outcomes. Frontiers in Psychiatry. </a:t>
            </a:r>
            <a:r>
              <a:rPr lang="en-GB" sz="1700" dirty="0">
                <a:latin typeface="Open Sans" panose="020B0606030504020204" pitchFamily="34" charset="0"/>
                <a:ea typeface="Open Sans" panose="020B0606030504020204" pitchFamily="34" charset="0"/>
                <a:cs typeface="Open Sans" panose="020B0606030504020204" pitchFamily="34" charset="0"/>
                <a:hlinkClick r:id="rId18"/>
              </a:rPr>
              <a:t>https://www.frontiersin.org/articles/10.3389/fpsyt.2025.1535631/full</a:t>
            </a:r>
            <a:endParaRPr lang="en-GB" sz="1700" dirty="0">
              <a:latin typeface="Open Sans" panose="020B0606030504020204" pitchFamily="34" charset="0"/>
              <a:ea typeface="Open Sans" panose="020B0606030504020204" pitchFamily="34" charset="0"/>
              <a:cs typeface="Open Sans" panose="020B0606030504020204" pitchFamily="34" charset="0"/>
            </a:endParaRPr>
          </a:p>
          <a:p>
            <a:pPr marL="690881" lvl="1" indent="-345440" algn="just">
              <a:lnSpc>
                <a:spcPct val="150000"/>
              </a:lnSpc>
              <a:buFont typeface="Arial"/>
              <a:buChar char="•"/>
            </a:pPr>
            <a:r>
              <a:rPr lang="en-GB" sz="1700" dirty="0">
                <a:latin typeface="Open Sans" panose="020B0606030504020204" pitchFamily="34" charset="0"/>
                <a:ea typeface="Open Sans" panose="020B0606030504020204" pitchFamily="34" charset="0"/>
                <a:cs typeface="Open Sans" panose="020B0606030504020204" pitchFamily="34" charset="0"/>
              </a:rPr>
              <a:t>Winter, H. (2024). The impact of screen time on ADHD symptoms in children and adolescents: A systematic review. </a:t>
            </a:r>
            <a:r>
              <a:rPr lang="en-GB" sz="1700" dirty="0">
                <a:latin typeface="Open Sans" panose="020B0606030504020204" pitchFamily="34" charset="0"/>
                <a:ea typeface="Open Sans" panose="020B0606030504020204" pitchFamily="34" charset="0"/>
                <a:cs typeface="Open Sans" panose="020B0606030504020204" pitchFamily="34" charset="0"/>
                <a:hlinkClick r:id="rId19"/>
              </a:rPr>
              <a:t>https://pubmed.ncbi.nlm.nih.gov/41237171/</a:t>
            </a:r>
            <a:endParaRPr lang="en-GB" sz="1700" dirty="0">
              <a:latin typeface="Open Sans" panose="020B0606030504020204" pitchFamily="34" charset="0"/>
              <a:ea typeface="Open Sans" panose="020B0606030504020204" pitchFamily="34" charset="0"/>
              <a:cs typeface="Open Sans" panose="020B0606030504020204" pitchFamily="34" charset="0"/>
            </a:endParaRPr>
          </a:p>
          <a:p>
            <a:pPr marL="690881" lvl="1" indent="-345440" algn="just">
              <a:lnSpc>
                <a:spcPct val="150000"/>
              </a:lnSpc>
              <a:buFont typeface="Arial"/>
              <a:buChar char="•"/>
            </a:pPr>
            <a:endParaRPr lang="en-GB" sz="1700" dirty="0">
              <a:latin typeface="Open Sans" panose="020B0606030504020204" pitchFamily="34" charset="0"/>
              <a:ea typeface="Open Sans" panose="020B0606030504020204" pitchFamily="34" charset="0"/>
              <a:cs typeface="Open Sans" panose="020B0606030504020204" pitchFamily="34" charset="0"/>
            </a:endParaRPr>
          </a:p>
          <a:p>
            <a:pPr marL="690881" lvl="1" indent="-345440" algn="just">
              <a:lnSpc>
                <a:spcPct val="150000"/>
              </a:lnSpc>
              <a:buFont typeface="Arial"/>
              <a:buChar char="•"/>
            </a:pPr>
            <a:endParaRPr lang="en-US" sz="17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02168">
            <a:off x="-1222246" y="-3356253"/>
            <a:ext cx="5987226" cy="5998131"/>
          </a:xfrm>
          <a:custGeom>
            <a:avLst/>
            <a:gdLst/>
            <a:ahLst/>
            <a:cxnLst/>
            <a:rect l="l" t="t" r="r" b="b"/>
            <a:pathLst>
              <a:path w="5987226" h="5998131">
                <a:moveTo>
                  <a:pt x="0" y="0"/>
                </a:moveTo>
                <a:lnTo>
                  <a:pt x="5987225" y="0"/>
                </a:lnTo>
                <a:lnTo>
                  <a:pt x="5987225" y="5998131"/>
                </a:lnTo>
                <a:lnTo>
                  <a:pt x="0" y="5998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002168" flipH="1" flipV="1">
            <a:off x="14265687" y="7630834"/>
            <a:ext cx="5987226" cy="5998131"/>
          </a:xfrm>
          <a:custGeom>
            <a:avLst/>
            <a:gdLst/>
            <a:ahLst/>
            <a:cxnLst/>
            <a:rect l="l" t="t" r="r" b="b"/>
            <a:pathLst>
              <a:path w="5987226" h="5998131">
                <a:moveTo>
                  <a:pt x="5987226" y="5998132"/>
                </a:moveTo>
                <a:lnTo>
                  <a:pt x="0" y="5998132"/>
                </a:lnTo>
                <a:lnTo>
                  <a:pt x="0" y="0"/>
                </a:lnTo>
                <a:lnTo>
                  <a:pt x="5987226" y="0"/>
                </a:lnTo>
                <a:lnTo>
                  <a:pt x="5987226" y="5998132"/>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916139" y="2392946"/>
            <a:ext cx="13018493" cy="2130613"/>
          </a:xfrm>
          <a:prstGeom prst="rect">
            <a:avLst/>
          </a:prstGeom>
        </p:spPr>
        <p:txBody>
          <a:bodyPr lIns="0" tIns="0" rIns="0" bIns="0" rtlCol="0" anchor="t">
            <a:spAutoFit/>
          </a:bodyPr>
          <a:lstStyle/>
          <a:p>
            <a:pPr algn="ctr">
              <a:lnSpc>
                <a:spcPts val="17489"/>
              </a:lnSpc>
            </a:pPr>
            <a:r>
              <a:rPr lang="en-US" sz="12492" b="1">
                <a:solidFill>
                  <a:srgbClr val="000000"/>
                </a:solidFill>
                <a:latin typeface="Anantason Bold"/>
                <a:ea typeface="Anantason Bold"/>
                <a:cs typeface="Anantason Bold"/>
                <a:sym typeface="Anantason Bold"/>
              </a:rPr>
              <a:t>THANK </a:t>
            </a:r>
            <a:r>
              <a:rPr lang="en-US" sz="12492" b="1">
                <a:solidFill>
                  <a:srgbClr val="E01A72"/>
                </a:solidFill>
                <a:latin typeface="Anantason Bold"/>
                <a:ea typeface="Anantason Bold"/>
                <a:cs typeface="Anantason Bold"/>
                <a:sym typeface="Anantason Bold"/>
              </a:rPr>
              <a:t>YOU</a:t>
            </a:r>
          </a:p>
        </p:txBody>
      </p:sp>
      <p:sp>
        <p:nvSpPr>
          <p:cNvPr id="5" name="Freeform 5"/>
          <p:cNvSpPr/>
          <p:nvPr/>
        </p:nvSpPr>
        <p:spPr>
          <a:xfrm>
            <a:off x="15100116" y="0"/>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6"/>
            <a:stretch>
              <a:fillRect t="-20266" b="-21392"/>
            </a:stretch>
          </a:blipFill>
        </p:spPr>
      </p:sp>
      <p:sp>
        <p:nvSpPr>
          <p:cNvPr id="6" name="Freeform 6"/>
          <p:cNvSpPr/>
          <p:nvPr/>
        </p:nvSpPr>
        <p:spPr>
          <a:xfrm>
            <a:off x="0" y="8036617"/>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6"/>
            <a:stretch>
              <a:fillRect t="-20266" b="-21392"/>
            </a:stretch>
          </a:blipFill>
        </p:spPr>
      </p:sp>
      <p:sp>
        <p:nvSpPr>
          <p:cNvPr id="7" name="Freeform 7"/>
          <p:cNvSpPr/>
          <p:nvPr/>
        </p:nvSpPr>
        <p:spPr>
          <a:xfrm>
            <a:off x="4990749" y="6352032"/>
            <a:ext cx="11703309" cy="2007773"/>
          </a:xfrm>
          <a:custGeom>
            <a:avLst/>
            <a:gdLst/>
            <a:ahLst/>
            <a:cxnLst/>
            <a:rect l="l" t="t" r="r" b="b"/>
            <a:pathLst>
              <a:path w="11703309" h="2007773">
                <a:moveTo>
                  <a:pt x="0" y="0"/>
                </a:moveTo>
                <a:lnTo>
                  <a:pt x="11703309" y="0"/>
                </a:lnTo>
                <a:lnTo>
                  <a:pt x="11703309" y="2007773"/>
                </a:lnTo>
                <a:lnTo>
                  <a:pt x="0" y="2007773"/>
                </a:lnTo>
                <a:lnTo>
                  <a:pt x="0" y="0"/>
                </a:lnTo>
                <a:close/>
              </a:path>
            </a:pathLst>
          </a:custGeom>
          <a:blipFill>
            <a:blip r:embed="rId7">
              <a:alphaModFix amt="23000"/>
            </a:blip>
            <a:stretch>
              <a:fillRect t="-232113" b="-250786"/>
            </a:stretch>
          </a:blipFill>
        </p:spPr>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447</TotalTime>
  <Words>2373</Words>
  <Application>Microsoft Office PowerPoint</Application>
  <PresentationFormat>Custom</PresentationFormat>
  <Paragraphs>263</Paragraphs>
  <Slides>23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Montserrat Bold</vt:lpstr>
      <vt:lpstr>Open Sans</vt:lpstr>
      <vt:lpstr>Aptos</vt:lpstr>
      <vt:lpstr>Anantason Bold</vt:lpstr>
      <vt:lpstr>Montserrat</vt:lpstr>
      <vt:lpstr>Open Sans Bold</vt:lpstr>
      <vt:lpstr>Arial</vt:lpstr>
      <vt:lpstr>Calibri</vt:lpstr>
      <vt:lpstr>Open Sans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Reinvigorating BlackBerry</dc:title>
  <dc:creator>ADMIN</dc:creator>
  <cp:lastModifiedBy>kelvin mwangi</cp:lastModifiedBy>
  <cp:revision>83</cp:revision>
  <dcterms:created xsi:type="dcterms:W3CDTF">2006-08-16T00:00:00Z</dcterms:created>
  <dcterms:modified xsi:type="dcterms:W3CDTF">2026-03-06T09:08:17Z</dcterms:modified>
  <dc:identifier>DAG-DxLp_L8</dc:identifier>
</cp:coreProperties>
</file>