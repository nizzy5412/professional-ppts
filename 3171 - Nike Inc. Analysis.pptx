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74"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2" r:id="rId19"/>
    <p:sldId id="273" r:id="rId20"/>
  </p:sldIdLst>
  <p:sldSz cx="18288000" cy="10287000"/>
  <p:notesSz cx="6858000" cy="9144000"/>
  <p:embeddedFontLst>
    <p:embeddedFont>
      <p:font typeface="Ruda" panose="020B0604020202020204" charset="0"/>
      <p:regular r:id="rId22"/>
    </p:embeddedFont>
    <p:embeddedFont>
      <p:font typeface="Ruda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474" autoAdjust="0"/>
  </p:normalViewPr>
  <p:slideViewPr>
    <p:cSldViewPr>
      <p:cViewPr varScale="1">
        <p:scale>
          <a:sx n="49" d="100"/>
          <a:sy n="49" d="100"/>
        </p:scale>
        <p:origin x="4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49A1FE-0CD0-4EB3-B155-8ED93DB63B9F}" type="datetimeFigureOut">
              <a:rPr lang="LID4096" smtClean="0"/>
              <a:t>12/09/2025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EBF431-604D-4165-BD14-8F0224C93A91}" type="slidenum">
              <a:rPr lang="LID4096" smtClean="0"/>
              <a:t>‹#›</a:t>
            </a:fld>
            <a:endParaRPr lang="LID4096"/>
          </a:p>
        </p:txBody>
      </p:sp>
    </p:spTree>
    <p:extLst>
      <p:ext uri="{BB962C8B-B14F-4D97-AF65-F5344CB8AC3E}">
        <p14:creationId xmlns:p14="http://schemas.microsoft.com/office/powerpoint/2010/main" val="1159842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10"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10"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svg"/><Relationship Id="rId7"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hyperlink" Target="https://panmore.com/nike-inc-pestel-pestle-analysis-recommendations" TargetMode="External"/><Relationship Id="rId13" Type="http://schemas.openxmlformats.org/officeDocument/2006/relationships/hyperlink" Target="https://www.tutor2u.net/economics/reference/economic-factors-giving-market-power-to-nike-in-the-sports-apparel-industry" TargetMode="External"/><Relationship Id="rId18" Type="http://schemas.openxmlformats.org/officeDocument/2006/relationships/hyperlink" Target="https://search.ebscohost.com/" TargetMode="External"/><Relationship Id="rId3" Type="http://schemas.openxmlformats.org/officeDocument/2006/relationships/hyperlink" Target="https://about.nike.com/en/resources/sustainable-development-goals-sdgs" TargetMode="External"/><Relationship Id="rId21" Type="http://schemas.openxmlformats.org/officeDocument/2006/relationships/hyperlink" Target="https://www-portal-euromonitor-com.ezproxy.mdx.ac.uk/" TargetMode="External"/><Relationship Id="rId7" Type="http://schemas.openxmlformats.org/officeDocument/2006/relationships/hyperlink" Target="https://www.sec.gov/Archives/edgar/data/320187/000032018725000047/nke-20250531.htm" TargetMode="External"/><Relationship Id="rId12" Type="http://schemas.openxmlformats.org/officeDocument/2006/relationships/hyperlink" Target="https://sustainabilitymag.com/news/tackling-climate-change-in-sport-nikes-sustainable-impact" TargetMode="External"/><Relationship Id="rId17" Type="http://schemas.openxmlformats.org/officeDocument/2006/relationships/hyperlink" Target="https://www.ft.com/content/94ff6b35-c9be-48e9-88a9-81a3b452033c" TargetMode="External"/><Relationship Id="rId2" Type="http://schemas.openxmlformats.org/officeDocument/2006/relationships/hyperlink" Target="https://www.adec-innovations.com/blogs/how-does-nikes-supply-chain-work/" TargetMode="External"/><Relationship Id="rId16" Type="http://schemas.openxmlformats.org/officeDocument/2006/relationships/hyperlink" Target="https://www.sec.gov/Archives/edgar/data/320187/000032018721000028/nke-20210531.htm" TargetMode="External"/><Relationship Id="rId20" Type="http://schemas.openxmlformats.org/officeDocument/2006/relationships/hyperlink" Target="https://clients.mintel.com/" TargetMode="External"/><Relationship Id="rId1" Type="http://schemas.openxmlformats.org/officeDocument/2006/relationships/slideLayout" Target="../slideLayouts/slideLayout7.xml"/><Relationship Id="rId6" Type="http://schemas.openxmlformats.org/officeDocument/2006/relationships/hyperlink" Target="https://media.about.nike.com/files/2fd5f76d-50a2-4906-b30b-3b6046f36ebf/FY23_Nike_Impact_Report.pdf" TargetMode="External"/><Relationship Id="rId11" Type="http://schemas.openxmlformats.org/officeDocument/2006/relationships/hyperlink" Target="https://www.statista.com/outlook/cmo/apparel/united-kingdom" TargetMode="External"/><Relationship Id="rId5" Type="http://schemas.openxmlformats.org/officeDocument/2006/relationships/hyperlink" Target="https://dcfmodeling.com/products/nke-pestel-analysis" TargetMode="External"/><Relationship Id="rId15" Type="http://schemas.openxmlformats.org/officeDocument/2006/relationships/hyperlink" Target="https://jier.org/index.php/journal/article/view/3788?utm_source=chatgpt.com" TargetMode="External"/><Relationship Id="rId10" Type="http://schemas.openxmlformats.org/officeDocument/2006/relationships/hyperlink" Target="https://shahmm.medium.com/nikes-strategic-missteps-lessons-from-a-giant-s-stumble-2017-2025-04c2e45065b8" TargetMode="External"/><Relationship Id="rId19" Type="http://schemas.openxmlformats.org/officeDocument/2006/relationships/hyperlink" Target="https://my-ibisworld-com.ezproxy.mdx.ac.uk/" TargetMode="External"/><Relationship Id="rId4" Type="http://schemas.openxmlformats.org/officeDocument/2006/relationships/hyperlink" Target="https://businessmodelanalyst.com/nike-pestle-analysis/" TargetMode="External"/><Relationship Id="rId9" Type="http://schemas.openxmlformats.org/officeDocument/2006/relationships/hyperlink" Target="https://www.propublica.org/article/nike-layoffs-sustainability-climate-change" TargetMode="External"/><Relationship Id="rId14" Type="http://schemas.openxmlformats.org/officeDocument/2006/relationships/hyperlink" Target="https://www.ukessays.com/essays/marketing/porters-five-forces-analysis-for-nike.php" TargetMode="External"/><Relationship Id="rId22" Type="http://schemas.openxmlformats.org/officeDocument/2006/relationships/hyperlink" Target="https://s1.q4cdn.com/806093406/files/doc_downloads/2021/08/Nike10k2021.pdf"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rot="5903779">
            <a:off x="855588" y="-4120529"/>
            <a:ext cx="8129674" cy="13310349"/>
          </a:xfrm>
          <a:custGeom>
            <a:avLst/>
            <a:gdLst/>
            <a:ahLst/>
            <a:cxnLst/>
            <a:rect l="l" t="t" r="r" b="b"/>
            <a:pathLst>
              <a:path w="8129674" h="13310349">
                <a:moveTo>
                  <a:pt x="0" y="0"/>
                </a:moveTo>
                <a:lnTo>
                  <a:pt x="8129674" y="0"/>
                </a:lnTo>
                <a:lnTo>
                  <a:pt x="8129674" y="13310349"/>
                </a:lnTo>
                <a:lnTo>
                  <a:pt x="0" y="133103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699461" flipH="1">
            <a:off x="-1926989" y="3310610"/>
            <a:ext cx="22489410" cy="9333105"/>
          </a:xfrm>
          <a:custGeom>
            <a:avLst/>
            <a:gdLst/>
            <a:ahLst/>
            <a:cxnLst/>
            <a:rect l="l" t="t" r="r" b="b"/>
            <a:pathLst>
              <a:path w="22489410" h="9333105">
                <a:moveTo>
                  <a:pt x="22489410" y="0"/>
                </a:moveTo>
                <a:lnTo>
                  <a:pt x="0" y="0"/>
                </a:lnTo>
                <a:lnTo>
                  <a:pt x="0" y="9333105"/>
                </a:lnTo>
                <a:lnTo>
                  <a:pt x="22489410" y="9333105"/>
                </a:lnTo>
                <a:lnTo>
                  <a:pt x="2248941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418799" y="5143500"/>
            <a:ext cx="4044675" cy="3234922"/>
          </a:xfrm>
          <a:custGeom>
            <a:avLst/>
            <a:gdLst/>
            <a:ahLst/>
            <a:cxnLst/>
            <a:rect l="l" t="t" r="r" b="b"/>
            <a:pathLst>
              <a:path w="4044675" h="3234922">
                <a:moveTo>
                  <a:pt x="0" y="0"/>
                </a:moveTo>
                <a:lnTo>
                  <a:pt x="4044674" y="0"/>
                </a:lnTo>
                <a:lnTo>
                  <a:pt x="4044674" y="3234922"/>
                </a:lnTo>
                <a:lnTo>
                  <a:pt x="0" y="32349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5279070" y="687430"/>
            <a:ext cx="1162066" cy="1847215"/>
          </a:xfrm>
          <a:custGeom>
            <a:avLst/>
            <a:gdLst/>
            <a:ahLst/>
            <a:cxnLst/>
            <a:rect l="l" t="t" r="r" b="b"/>
            <a:pathLst>
              <a:path w="1162066" h="1847215">
                <a:moveTo>
                  <a:pt x="0" y="0"/>
                </a:moveTo>
                <a:lnTo>
                  <a:pt x="1162066" y="0"/>
                </a:lnTo>
                <a:lnTo>
                  <a:pt x="1162066" y="1847215"/>
                </a:lnTo>
                <a:lnTo>
                  <a:pt x="0" y="184721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25049" y="6730597"/>
            <a:ext cx="12197804" cy="3171825"/>
          </a:xfrm>
          <a:prstGeom prst="rect">
            <a:avLst/>
          </a:prstGeom>
        </p:spPr>
        <p:txBody>
          <a:bodyPr lIns="0" tIns="0" rIns="0" bIns="0" rtlCol="0" anchor="t">
            <a:spAutoFit/>
          </a:bodyPr>
          <a:lstStyle/>
          <a:p>
            <a:pPr algn="l">
              <a:lnSpc>
                <a:spcPts val="8400"/>
              </a:lnSpc>
              <a:spcBef>
                <a:spcPct val="0"/>
              </a:spcBef>
            </a:pPr>
            <a:r>
              <a:rPr lang="en-US" sz="6000" b="1" dirty="0">
                <a:solidFill>
                  <a:srgbClr val="FFFFFF"/>
                </a:solidFill>
                <a:latin typeface="Ruda Bold"/>
                <a:ea typeface="Ruda Bold"/>
                <a:cs typeface="Ruda Bold"/>
                <a:sym typeface="Ruda Bold"/>
              </a:rPr>
              <a:t>Strategic Analysis and Simulation Reflection Report – Nike in the UK Clothing Retail Industry</a:t>
            </a:r>
          </a:p>
        </p:txBody>
      </p:sp>
      <p:sp>
        <p:nvSpPr>
          <p:cNvPr id="8" name="TextBox 8"/>
          <p:cNvSpPr txBox="1"/>
          <p:nvPr/>
        </p:nvSpPr>
        <p:spPr>
          <a:xfrm>
            <a:off x="410564" y="298425"/>
            <a:ext cx="3405921" cy="1691640"/>
          </a:xfrm>
          <a:prstGeom prst="rect">
            <a:avLst/>
          </a:prstGeom>
        </p:spPr>
        <p:txBody>
          <a:bodyPr lIns="0" tIns="0" rIns="0" bIns="0" rtlCol="0" anchor="t">
            <a:spAutoFit/>
          </a:bodyPr>
          <a:lstStyle/>
          <a:p>
            <a:pPr algn="just">
              <a:lnSpc>
                <a:spcPts val="3330"/>
              </a:lnSpc>
            </a:pPr>
            <a:r>
              <a:rPr lang="en-US" sz="3000">
                <a:solidFill>
                  <a:srgbClr val="FFFFFF"/>
                </a:solidFill>
                <a:latin typeface="Ruda"/>
                <a:ea typeface="Ruda"/>
                <a:cs typeface="Ruda"/>
                <a:sym typeface="Ruda"/>
              </a:rPr>
              <a:t>STUDENT NAME</a:t>
            </a:r>
          </a:p>
          <a:p>
            <a:pPr algn="just">
              <a:lnSpc>
                <a:spcPts val="3330"/>
              </a:lnSpc>
            </a:pPr>
            <a:r>
              <a:rPr lang="en-US" sz="3000">
                <a:solidFill>
                  <a:srgbClr val="FFFFFF"/>
                </a:solidFill>
                <a:latin typeface="Ruda"/>
                <a:ea typeface="Ruda"/>
                <a:cs typeface="Ruda"/>
                <a:sym typeface="Ruda"/>
              </a:rPr>
              <a:t>SUDENT ID:</a:t>
            </a:r>
          </a:p>
          <a:p>
            <a:pPr algn="just">
              <a:lnSpc>
                <a:spcPts val="3330"/>
              </a:lnSpc>
            </a:pPr>
            <a:r>
              <a:rPr lang="en-US" sz="3000">
                <a:solidFill>
                  <a:srgbClr val="FFFFFF"/>
                </a:solidFill>
                <a:latin typeface="Ruda"/>
                <a:ea typeface="Ruda"/>
                <a:cs typeface="Ruda"/>
                <a:sym typeface="Ruda"/>
              </a:rPr>
              <a:t>COURSE CODE:</a:t>
            </a:r>
          </a:p>
          <a:p>
            <a:pPr algn="just">
              <a:lnSpc>
                <a:spcPts val="3330"/>
              </a:lnSpc>
            </a:pPr>
            <a:r>
              <a:rPr lang="en-US" sz="3000">
                <a:solidFill>
                  <a:srgbClr val="FFFFFF"/>
                </a:solidFill>
                <a:latin typeface="Ruda"/>
                <a:ea typeface="Ruda"/>
                <a:cs typeface="Ruda"/>
                <a:sym typeface="Ruda"/>
              </a:rPr>
              <a:t>DATE:</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444431" y="-3661116"/>
            <a:ext cx="4833938" cy="7914388"/>
          </a:xfrm>
          <a:custGeom>
            <a:avLst/>
            <a:gdLst/>
            <a:ahLst/>
            <a:cxnLst/>
            <a:rect l="l" t="t" r="r" b="b"/>
            <a:pathLst>
              <a:path w="4833938" h="7914388">
                <a:moveTo>
                  <a:pt x="0" y="0"/>
                </a:moveTo>
                <a:lnTo>
                  <a:pt x="4833938" y="0"/>
                </a:lnTo>
                <a:lnTo>
                  <a:pt x="4833938" y="7914388"/>
                </a:lnTo>
                <a:lnTo>
                  <a:pt x="0" y="79143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99461" flipH="1">
            <a:off x="2429782" y="7443793"/>
            <a:ext cx="18022819" cy="7479470"/>
          </a:xfrm>
          <a:custGeom>
            <a:avLst/>
            <a:gdLst/>
            <a:ahLst/>
            <a:cxnLst/>
            <a:rect l="l" t="t" r="r" b="b"/>
            <a:pathLst>
              <a:path w="18022819" h="7479470">
                <a:moveTo>
                  <a:pt x="18022819" y="0"/>
                </a:moveTo>
                <a:lnTo>
                  <a:pt x="0" y="0"/>
                </a:lnTo>
                <a:lnTo>
                  <a:pt x="0" y="7479470"/>
                </a:lnTo>
                <a:lnTo>
                  <a:pt x="18022819" y="7479470"/>
                </a:lnTo>
                <a:lnTo>
                  <a:pt x="1802281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1355" y="56689"/>
            <a:ext cx="454963" cy="723207"/>
          </a:xfrm>
          <a:custGeom>
            <a:avLst/>
            <a:gdLst/>
            <a:ahLst/>
            <a:cxnLst/>
            <a:rect l="l" t="t" r="r" b="b"/>
            <a:pathLst>
              <a:path w="454963" h="723207">
                <a:moveTo>
                  <a:pt x="0" y="0"/>
                </a:moveTo>
                <a:lnTo>
                  <a:pt x="454963" y="0"/>
                </a:lnTo>
                <a:lnTo>
                  <a:pt x="454963" y="723207"/>
                </a:lnTo>
                <a:lnTo>
                  <a:pt x="0" y="7232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8"/>
            <a:stretch>
              <a:fillRect/>
            </a:stretch>
          </a:blipFill>
        </p:spPr>
      </p:sp>
      <p:sp>
        <p:nvSpPr>
          <p:cNvPr id="6" name="TextBox 6"/>
          <p:cNvSpPr txBox="1"/>
          <p:nvPr/>
        </p:nvSpPr>
        <p:spPr>
          <a:xfrm>
            <a:off x="626110" y="-461"/>
            <a:ext cx="1792207" cy="918561"/>
          </a:xfrm>
          <a:prstGeom prst="rect">
            <a:avLst/>
          </a:prstGeom>
        </p:spPr>
        <p:txBody>
          <a:bodyPr lIns="0" tIns="0" rIns="0" bIns="0" rtlCol="0" anchor="t">
            <a:spAutoFit/>
          </a:bodyPr>
          <a:lstStyle/>
          <a:p>
            <a:pPr algn="just">
              <a:lnSpc>
                <a:spcPts val="3717"/>
              </a:lnSpc>
            </a:pPr>
            <a:r>
              <a:rPr lang="en-US" sz="2655">
                <a:solidFill>
                  <a:srgbClr val="FFFFFF"/>
                </a:solidFill>
                <a:latin typeface="Ruda"/>
                <a:ea typeface="Ruda"/>
                <a:cs typeface="Ruda"/>
                <a:sym typeface="Ruda"/>
              </a:rPr>
              <a:t>NIKE </a:t>
            </a:r>
          </a:p>
          <a:p>
            <a:pPr algn="just">
              <a:lnSpc>
                <a:spcPts val="3717"/>
              </a:lnSpc>
            </a:pPr>
            <a:r>
              <a:rPr lang="en-US" sz="2655">
                <a:solidFill>
                  <a:srgbClr val="FFFFFF"/>
                </a:solidFill>
                <a:latin typeface="Ruda"/>
                <a:ea typeface="Ruda"/>
                <a:cs typeface="Ruda"/>
                <a:sym typeface="Ruda"/>
              </a:rPr>
              <a:t>INC</a:t>
            </a:r>
          </a:p>
        </p:txBody>
      </p:sp>
      <p:sp>
        <p:nvSpPr>
          <p:cNvPr id="7" name="TextBox 7"/>
          <p:cNvSpPr txBox="1"/>
          <p:nvPr/>
        </p:nvSpPr>
        <p:spPr>
          <a:xfrm>
            <a:off x="4450732" y="375100"/>
            <a:ext cx="7848609" cy="857298"/>
          </a:xfrm>
          <a:prstGeom prst="rect">
            <a:avLst/>
          </a:prstGeom>
        </p:spPr>
        <p:txBody>
          <a:bodyPr lIns="0" tIns="0" rIns="0" bIns="0" rtlCol="0" anchor="t">
            <a:spAutoFit/>
          </a:bodyPr>
          <a:lstStyle/>
          <a:p>
            <a:pPr algn="ctr">
              <a:lnSpc>
                <a:spcPts val="7064"/>
              </a:lnSpc>
              <a:spcBef>
                <a:spcPct val="0"/>
              </a:spcBef>
            </a:pPr>
            <a:r>
              <a:rPr lang="en-US" sz="5046" b="1" dirty="0">
                <a:solidFill>
                  <a:srgbClr val="0555A3"/>
                </a:solidFill>
                <a:latin typeface="Ruda Bold"/>
                <a:ea typeface="Ruda Bold"/>
                <a:cs typeface="Ruda Bold"/>
                <a:sym typeface="Ruda Bold"/>
              </a:rPr>
              <a:t>TABLE OF CONTENTS</a:t>
            </a:r>
          </a:p>
        </p:txBody>
      </p:sp>
      <p:sp>
        <p:nvSpPr>
          <p:cNvPr id="8" name="TextBox 8"/>
          <p:cNvSpPr txBox="1"/>
          <p:nvPr/>
        </p:nvSpPr>
        <p:spPr>
          <a:xfrm>
            <a:off x="2861400" y="1084006"/>
            <a:ext cx="12541987" cy="8774710"/>
          </a:xfrm>
          <a:prstGeom prst="rect">
            <a:avLst/>
          </a:prstGeom>
        </p:spPr>
        <p:txBody>
          <a:bodyPr lIns="0" tIns="0" rIns="0" bIns="0" rtlCol="0" anchor="t">
            <a:spAutoFit/>
          </a:bodyPr>
          <a:lstStyle/>
          <a:p>
            <a:pPr marL="723193" lvl="1" indent="-361596" algn="l">
              <a:lnSpc>
                <a:spcPts val="3785"/>
              </a:lnSpc>
              <a:buFont typeface="Arial"/>
              <a:buChar char="•"/>
            </a:pPr>
            <a:r>
              <a:rPr lang="en-US" sz="3349" b="1" dirty="0">
                <a:solidFill>
                  <a:srgbClr val="0555A3"/>
                </a:solidFill>
                <a:latin typeface="Ruda Bold"/>
                <a:ea typeface="Ruda Bold"/>
                <a:cs typeface="Ruda Bold"/>
                <a:sym typeface="Ruda Bold"/>
              </a:rPr>
              <a:t>Part I – Strategic Analysis of Nike Clothing Retailing</a:t>
            </a:r>
          </a:p>
          <a:p>
            <a:pPr marL="1446385" lvl="2" indent="-482128" algn="l">
              <a:lnSpc>
                <a:spcPts val="3785"/>
              </a:lnSpc>
              <a:buFont typeface="Arial"/>
              <a:buChar char="⚬"/>
            </a:pPr>
            <a:r>
              <a:rPr lang="en-US" sz="3349" dirty="0">
                <a:solidFill>
                  <a:srgbClr val="0555A3"/>
                </a:solidFill>
                <a:latin typeface="Ruda"/>
                <a:ea typeface="Ruda"/>
                <a:cs typeface="Ruda"/>
                <a:sym typeface="Ruda"/>
              </a:rPr>
              <a:t>Introduction</a:t>
            </a:r>
          </a:p>
          <a:p>
            <a:pPr marL="1446385" lvl="2" indent="-482128" algn="l">
              <a:lnSpc>
                <a:spcPts val="3785"/>
              </a:lnSpc>
              <a:buFont typeface="Arial"/>
              <a:buChar char="⚬"/>
            </a:pPr>
            <a:r>
              <a:rPr lang="en-US" sz="3349" dirty="0">
                <a:solidFill>
                  <a:srgbClr val="0555A3"/>
                </a:solidFill>
                <a:latin typeface="Ruda"/>
                <a:ea typeface="Ruda"/>
                <a:cs typeface="Ruda"/>
                <a:sym typeface="Ruda"/>
              </a:rPr>
              <a:t>PESTLE Analysis of the UK Macro </a:t>
            </a:r>
            <a:r>
              <a:rPr lang="en-US" sz="3349" dirty="0" err="1">
                <a:solidFill>
                  <a:srgbClr val="0555A3"/>
                </a:solidFill>
                <a:latin typeface="Ruda"/>
                <a:ea typeface="Ruda"/>
                <a:cs typeface="Ruda"/>
                <a:sym typeface="Ruda"/>
              </a:rPr>
              <a:t>Environmen</a:t>
            </a:r>
            <a:endParaRPr lang="en-US" sz="3349" dirty="0">
              <a:solidFill>
                <a:srgbClr val="0555A3"/>
              </a:solidFill>
              <a:latin typeface="Ruda"/>
              <a:ea typeface="Ruda"/>
              <a:cs typeface="Ruda"/>
              <a:sym typeface="Ruda"/>
            </a:endParaRPr>
          </a:p>
          <a:p>
            <a:pPr marL="1446385" lvl="2" indent="-482128" algn="l">
              <a:lnSpc>
                <a:spcPts val="3785"/>
              </a:lnSpc>
              <a:buFont typeface="Arial"/>
              <a:buChar char="⚬"/>
            </a:pPr>
            <a:r>
              <a:rPr lang="en-US" sz="3349" dirty="0">
                <a:solidFill>
                  <a:srgbClr val="0555A3"/>
                </a:solidFill>
                <a:latin typeface="Ruda"/>
                <a:ea typeface="Ruda"/>
                <a:cs typeface="Ruda"/>
                <a:sym typeface="Ruda"/>
              </a:rPr>
              <a:t>Industry Analysis: Structure, Value Chain, and Drivers</a:t>
            </a:r>
          </a:p>
          <a:p>
            <a:pPr marL="1446385" lvl="2" indent="-482128" algn="l">
              <a:lnSpc>
                <a:spcPts val="3785"/>
              </a:lnSpc>
              <a:buFont typeface="Arial"/>
              <a:buChar char="⚬"/>
            </a:pPr>
            <a:r>
              <a:rPr lang="en-US" sz="3349" dirty="0">
                <a:solidFill>
                  <a:srgbClr val="0555A3"/>
                </a:solidFill>
                <a:latin typeface="Ruda"/>
                <a:ea typeface="Ruda"/>
                <a:cs typeface="Ruda"/>
                <a:sym typeface="Ruda"/>
              </a:rPr>
              <a:t>Industry Attractiveness: Five Forces</a:t>
            </a:r>
          </a:p>
          <a:p>
            <a:pPr marL="1446385" lvl="2" indent="-482128" algn="l">
              <a:lnSpc>
                <a:spcPts val="3785"/>
              </a:lnSpc>
              <a:buFont typeface="Arial"/>
              <a:buChar char="⚬"/>
            </a:pPr>
            <a:r>
              <a:rPr lang="en-US" sz="3349" dirty="0">
                <a:solidFill>
                  <a:srgbClr val="0555A3"/>
                </a:solidFill>
                <a:latin typeface="Ruda"/>
                <a:ea typeface="Ruda"/>
                <a:cs typeface="Ruda"/>
                <a:sym typeface="Ruda"/>
              </a:rPr>
              <a:t>Strategic Group and Competitor Analysis</a:t>
            </a:r>
          </a:p>
          <a:p>
            <a:pPr marL="1446385" lvl="2" indent="-482128" algn="l">
              <a:lnSpc>
                <a:spcPts val="3785"/>
              </a:lnSpc>
              <a:buFont typeface="Arial"/>
              <a:buChar char="⚬"/>
            </a:pPr>
            <a:r>
              <a:rPr lang="en-US" sz="3349" dirty="0">
                <a:solidFill>
                  <a:srgbClr val="0555A3"/>
                </a:solidFill>
                <a:latin typeface="Ruda"/>
                <a:ea typeface="Ruda"/>
                <a:cs typeface="Ruda"/>
                <a:sym typeface="Ruda"/>
              </a:rPr>
              <a:t>Resources, Capabilities, and VRIO Analysis</a:t>
            </a:r>
          </a:p>
          <a:p>
            <a:pPr marL="1446385" lvl="2" indent="-482128" algn="l">
              <a:lnSpc>
                <a:spcPts val="3785"/>
              </a:lnSpc>
              <a:buFont typeface="Arial"/>
              <a:buChar char="⚬"/>
            </a:pPr>
            <a:r>
              <a:rPr lang="en-US" sz="3349" dirty="0">
                <a:solidFill>
                  <a:srgbClr val="0555A3"/>
                </a:solidFill>
                <a:latin typeface="Ruda"/>
                <a:ea typeface="Ruda"/>
                <a:cs typeface="Ruda"/>
                <a:sym typeface="Ruda"/>
              </a:rPr>
              <a:t>Business-Level Strategy: Differentiation</a:t>
            </a:r>
          </a:p>
          <a:p>
            <a:pPr marL="1446385" lvl="2" indent="-482128" algn="l">
              <a:lnSpc>
                <a:spcPts val="3785"/>
              </a:lnSpc>
              <a:buFont typeface="Arial"/>
              <a:buChar char="⚬"/>
            </a:pPr>
            <a:r>
              <a:rPr lang="en-US" sz="3349" dirty="0">
                <a:solidFill>
                  <a:srgbClr val="0555A3"/>
                </a:solidFill>
                <a:latin typeface="Ruda"/>
                <a:ea typeface="Ruda"/>
                <a:cs typeface="Ruda"/>
                <a:sym typeface="Ruda"/>
              </a:rPr>
              <a:t>Non-Market Strategy: ESG and SDGs</a:t>
            </a:r>
          </a:p>
          <a:p>
            <a:pPr marL="1446385" lvl="2" indent="-482128" algn="l">
              <a:lnSpc>
                <a:spcPts val="3785"/>
              </a:lnSpc>
              <a:buFont typeface="Arial"/>
              <a:buChar char="⚬"/>
            </a:pPr>
            <a:r>
              <a:rPr lang="en-US" sz="3349" dirty="0">
                <a:solidFill>
                  <a:srgbClr val="0555A3"/>
                </a:solidFill>
                <a:latin typeface="Ruda"/>
                <a:ea typeface="Ruda"/>
                <a:cs typeface="Ruda"/>
                <a:sym typeface="Ruda"/>
              </a:rPr>
              <a:t>Digital and Innovation Strategy</a:t>
            </a:r>
          </a:p>
          <a:p>
            <a:pPr marL="1446385" lvl="2" indent="-482128" algn="l">
              <a:lnSpc>
                <a:spcPts val="3785"/>
              </a:lnSpc>
              <a:buFont typeface="Arial"/>
              <a:buChar char="⚬"/>
            </a:pPr>
            <a:r>
              <a:rPr lang="en-US" sz="3349" dirty="0">
                <a:solidFill>
                  <a:srgbClr val="0555A3"/>
                </a:solidFill>
                <a:latin typeface="Ruda"/>
                <a:ea typeface="Ruda"/>
                <a:cs typeface="Ruda"/>
                <a:sym typeface="Ruda"/>
              </a:rPr>
              <a:t>Conclusion: Strategic Fit</a:t>
            </a:r>
          </a:p>
          <a:p>
            <a:pPr marL="723193" lvl="1" indent="-361596" algn="l">
              <a:lnSpc>
                <a:spcPts val="3785"/>
              </a:lnSpc>
              <a:buFont typeface="Arial"/>
              <a:buChar char="•"/>
            </a:pPr>
            <a:r>
              <a:rPr lang="en-US" sz="3349" b="1" dirty="0">
                <a:solidFill>
                  <a:srgbClr val="0555A3"/>
                </a:solidFill>
                <a:latin typeface="Ruda Bold"/>
                <a:ea typeface="Ruda Bold"/>
                <a:cs typeface="Ruda Bold"/>
                <a:sym typeface="Ruda Bold"/>
              </a:rPr>
              <a:t>Part II. Reflection on the Simulation</a:t>
            </a:r>
          </a:p>
          <a:p>
            <a:pPr marL="1446385" lvl="2" indent="-482128" algn="l">
              <a:lnSpc>
                <a:spcPts val="3785"/>
              </a:lnSpc>
              <a:buFont typeface="Arial"/>
              <a:buChar char="⚬"/>
            </a:pPr>
            <a:r>
              <a:rPr lang="en-US" sz="3349" dirty="0">
                <a:solidFill>
                  <a:srgbClr val="0555A3"/>
                </a:solidFill>
                <a:latin typeface="Ruda"/>
                <a:ea typeface="Ruda"/>
                <a:cs typeface="Ruda"/>
                <a:sym typeface="Ruda"/>
              </a:rPr>
              <a:t>Simulation Reflection: Round 3 Decisions</a:t>
            </a:r>
          </a:p>
          <a:p>
            <a:pPr marL="1446385" lvl="2" indent="-482128" algn="l">
              <a:lnSpc>
                <a:spcPts val="3785"/>
              </a:lnSpc>
              <a:buFont typeface="Arial"/>
              <a:buChar char="⚬"/>
            </a:pPr>
            <a:r>
              <a:rPr lang="en-US" sz="3349" dirty="0">
                <a:solidFill>
                  <a:srgbClr val="0555A3"/>
                </a:solidFill>
                <a:latin typeface="Ruda"/>
                <a:ea typeface="Ruda"/>
                <a:cs typeface="Ruda"/>
                <a:sym typeface="Ruda"/>
              </a:rPr>
              <a:t>Simulation Reflection: Teamwork, Mistakes, and Skills Learned</a:t>
            </a:r>
          </a:p>
          <a:p>
            <a:pPr marL="723193" lvl="1" indent="-361596">
              <a:lnSpc>
                <a:spcPts val="3785"/>
              </a:lnSpc>
              <a:buFont typeface="Arial"/>
              <a:buChar char="•"/>
            </a:pPr>
            <a:r>
              <a:rPr lang="en-GB" sz="3200" b="1" dirty="0">
                <a:solidFill>
                  <a:schemeClr val="accent1">
                    <a:lumMod val="75000"/>
                  </a:schemeClr>
                </a:solidFill>
              </a:rPr>
              <a:t>Simulation game summary</a:t>
            </a:r>
            <a:endParaRPr lang="en-US" sz="3349" b="1" dirty="0">
              <a:solidFill>
                <a:srgbClr val="0555A3"/>
              </a:solidFill>
              <a:latin typeface="Ruda Bold"/>
              <a:ea typeface="Ruda Bold"/>
              <a:cs typeface="Ruda Bold"/>
              <a:sym typeface="Ruda Bold"/>
            </a:endParaRPr>
          </a:p>
          <a:p>
            <a:pPr marL="723193" lvl="1" indent="-361596" algn="l">
              <a:lnSpc>
                <a:spcPts val="3785"/>
              </a:lnSpc>
              <a:buFont typeface="Arial"/>
              <a:buChar char="•"/>
            </a:pPr>
            <a:r>
              <a:rPr lang="en-US" sz="3349" b="1" dirty="0">
                <a:solidFill>
                  <a:srgbClr val="0555A3"/>
                </a:solidFill>
                <a:latin typeface="Ruda Bold"/>
                <a:ea typeface="Ruda Bold"/>
                <a:cs typeface="Ruda Bold"/>
                <a:sym typeface="Ruda Bold"/>
              </a:rPr>
              <a:t>References</a:t>
            </a:r>
          </a:p>
          <a:p>
            <a:pPr marL="361597" lvl="1" algn="l">
              <a:lnSpc>
                <a:spcPts val="3785"/>
              </a:lnSpc>
            </a:pPr>
            <a:endParaRPr lang="en-US" sz="3349" b="1" dirty="0">
              <a:solidFill>
                <a:srgbClr val="0555A3"/>
              </a:solidFill>
              <a:latin typeface="Ruda Bold"/>
              <a:ea typeface="Ruda Bold"/>
              <a:cs typeface="Ruda Bold"/>
              <a:sym typeface="Ruda Bold"/>
            </a:endParaRPr>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71BC"/>
        </a:solidFill>
        <a:effectLst/>
      </p:bgPr>
    </p:bg>
    <p:spTree>
      <p:nvGrpSpPr>
        <p:cNvPr id="1" name=""/>
        <p:cNvGrpSpPr/>
        <p:nvPr/>
      </p:nvGrpSpPr>
      <p:grpSpPr>
        <a:xfrm>
          <a:off x="0" y="0"/>
          <a:ext cx="0" cy="0"/>
          <a:chOff x="0" y="0"/>
          <a:chExt cx="0" cy="0"/>
        </a:xfrm>
      </p:grpSpPr>
      <p:sp>
        <p:nvSpPr>
          <p:cNvPr id="2" name="Freeform 2"/>
          <p:cNvSpPr/>
          <p:nvPr/>
        </p:nvSpPr>
        <p:spPr>
          <a:xfrm>
            <a:off x="5227683" y="656906"/>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2"/>
            <a:stretch>
              <a:fillRect/>
            </a:stretch>
          </a:blipFill>
        </p:spPr>
      </p:sp>
      <p:sp>
        <p:nvSpPr>
          <p:cNvPr id="3" name="TextBox 3"/>
          <p:cNvSpPr txBox="1"/>
          <p:nvPr/>
        </p:nvSpPr>
        <p:spPr>
          <a:xfrm>
            <a:off x="1311524" y="5693139"/>
            <a:ext cx="16122997" cy="714375"/>
          </a:xfrm>
          <a:prstGeom prst="rect">
            <a:avLst/>
          </a:prstGeom>
        </p:spPr>
        <p:txBody>
          <a:bodyPr lIns="0" tIns="0" rIns="0" bIns="0" rtlCol="0" anchor="t">
            <a:spAutoFit/>
          </a:bodyPr>
          <a:lstStyle/>
          <a:p>
            <a:pPr algn="ctr">
              <a:lnSpc>
                <a:spcPts val="5550"/>
              </a:lnSpc>
              <a:spcBef>
                <a:spcPct val="0"/>
              </a:spcBef>
            </a:pPr>
            <a:r>
              <a:rPr lang="en-US" sz="5000">
                <a:solidFill>
                  <a:srgbClr val="FFFFFF"/>
                </a:solidFill>
                <a:latin typeface="Ruda"/>
                <a:ea typeface="Ruda"/>
                <a:cs typeface="Ruda"/>
                <a:sym typeface="Ruda"/>
              </a:rPr>
              <a:t>PART I – STRATEGIC ANALYSIS OF NIKE CLOTHING RETAILING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E1A8D-1CE9-9200-E72D-1A6DC0DB63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76F382-0898-9357-000A-9673CEEB7E50}"/>
              </a:ext>
            </a:extLst>
          </p:cNvPr>
          <p:cNvSpPr/>
          <p:nvPr/>
        </p:nvSpPr>
        <p:spPr>
          <a:xfrm rot="7231878">
            <a:off x="-2812669" y="-3980360"/>
            <a:ext cx="5625336" cy="9210109"/>
          </a:xfrm>
          <a:custGeom>
            <a:avLst/>
            <a:gdLst/>
            <a:ahLst/>
            <a:cxnLst/>
            <a:rect l="l" t="t" r="r" b="b"/>
            <a:pathLst>
              <a:path w="5625336" h="9210109">
                <a:moveTo>
                  <a:pt x="0" y="0"/>
                </a:moveTo>
                <a:lnTo>
                  <a:pt x="5625336" y="0"/>
                </a:lnTo>
                <a:lnTo>
                  <a:pt x="5625336" y="9210110"/>
                </a:lnTo>
                <a:lnTo>
                  <a:pt x="0" y="9210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D0BBAB05-D416-00C2-BC4A-FD7D1E5E165B}"/>
              </a:ext>
            </a:extLst>
          </p:cNvPr>
          <p:cNvSpPr/>
          <p:nvPr/>
        </p:nvSpPr>
        <p:spPr>
          <a:xfrm rot="21175793" flipH="1">
            <a:off x="2545263" y="7879497"/>
            <a:ext cx="18937445" cy="7859040"/>
          </a:xfrm>
          <a:custGeom>
            <a:avLst/>
            <a:gdLst/>
            <a:ahLst/>
            <a:cxnLst/>
            <a:rect l="l" t="t" r="r" b="b"/>
            <a:pathLst>
              <a:path w="18937445" h="7859040">
                <a:moveTo>
                  <a:pt x="18937445" y="0"/>
                </a:moveTo>
                <a:lnTo>
                  <a:pt x="0" y="0"/>
                </a:lnTo>
                <a:lnTo>
                  <a:pt x="0" y="7859040"/>
                </a:lnTo>
                <a:lnTo>
                  <a:pt x="18937445" y="7859040"/>
                </a:lnTo>
                <a:lnTo>
                  <a:pt x="1893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a:extLst>
              <a:ext uri="{FF2B5EF4-FFF2-40B4-BE49-F238E27FC236}">
                <a16:creationId xmlns:a16="http://schemas.microsoft.com/office/drawing/2014/main" id="{8E83933F-1E1B-E198-CDBC-B56051B6644A}"/>
              </a:ext>
            </a:extLst>
          </p:cNvPr>
          <p:cNvSpPr txBox="1"/>
          <p:nvPr/>
        </p:nvSpPr>
        <p:spPr>
          <a:xfrm>
            <a:off x="990600" y="1037021"/>
            <a:ext cx="16966115" cy="5170326"/>
          </a:xfrm>
          <a:prstGeom prst="rect">
            <a:avLst/>
          </a:prstGeom>
        </p:spPr>
        <p:txBody>
          <a:bodyPr wrap="square" lIns="0" tIns="0" rIns="0" bIns="0" rtlCol="0" anchor="t">
            <a:spAutoFit/>
          </a:bodyPr>
          <a:lstStyle/>
          <a:p>
            <a:pPr>
              <a:lnSpc>
                <a:spcPts val="3080"/>
              </a:lnSpc>
              <a:spcBef>
                <a:spcPct val="0"/>
              </a:spcBef>
            </a:pPr>
            <a:r>
              <a:rPr lang="en-US" sz="2500" b="1" dirty="0">
                <a:solidFill>
                  <a:srgbClr val="0555A3"/>
                </a:solidFill>
                <a:latin typeface="Ruda" panose="020B0604020202020204" charset="0"/>
                <a:ea typeface="Ruda"/>
                <a:cs typeface="Ruda"/>
                <a:sym typeface="Ruda"/>
              </a:rPr>
              <a:t>Purpose of the report</a:t>
            </a:r>
            <a:r>
              <a:rPr lang="en-US" sz="2500" dirty="0">
                <a:solidFill>
                  <a:srgbClr val="0555A3"/>
                </a:solidFill>
                <a:latin typeface="Ruda" panose="020B0604020202020204" charset="0"/>
                <a:ea typeface="Ruda"/>
                <a:cs typeface="Ruda"/>
                <a:sym typeface="Ruda"/>
              </a:rPr>
              <a:t>: This report looks at the strategic fit of Nike through coordinated analysis between the external macro-environmental pressures and internal strengths.</a:t>
            </a:r>
            <a:r>
              <a:rPr lang="en-GB" sz="2500" dirty="0">
                <a:latin typeface="Ruda" panose="020B0604020202020204" charset="0"/>
              </a:rPr>
              <a:t> </a:t>
            </a:r>
            <a:r>
              <a:rPr lang="en-GB" sz="2500" dirty="0">
                <a:solidFill>
                  <a:schemeClr val="accent1">
                    <a:lumMod val="75000"/>
                  </a:schemeClr>
                </a:solidFill>
                <a:latin typeface="Ruda" panose="020B0604020202020204" charset="0"/>
              </a:rPr>
              <a:t>It also examines the major non-market actions and ponders on how these actions combine to impact performance.</a:t>
            </a:r>
          </a:p>
          <a:p>
            <a:pPr>
              <a:lnSpc>
                <a:spcPts val="3080"/>
              </a:lnSpc>
              <a:spcBef>
                <a:spcPct val="0"/>
              </a:spcBef>
            </a:pPr>
            <a:endParaRPr lang="en-US" sz="2500" dirty="0">
              <a:solidFill>
                <a:srgbClr val="0555A3"/>
              </a:solidFill>
              <a:latin typeface="Ruda"/>
              <a:ea typeface="Ruda"/>
              <a:cs typeface="Ruda"/>
              <a:sym typeface="Ruda"/>
            </a:endParaRPr>
          </a:p>
          <a:p>
            <a:pPr>
              <a:lnSpc>
                <a:spcPts val="3080"/>
              </a:lnSpc>
              <a:spcBef>
                <a:spcPct val="0"/>
              </a:spcBef>
            </a:pPr>
            <a:r>
              <a:rPr lang="en-US" sz="2500" b="1" dirty="0">
                <a:solidFill>
                  <a:srgbClr val="0555A3"/>
                </a:solidFill>
                <a:latin typeface="Ruda"/>
                <a:ea typeface="Ruda"/>
                <a:cs typeface="Ruda"/>
                <a:sym typeface="Ruda"/>
              </a:rPr>
              <a:t>Introduction to the company: </a:t>
            </a:r>
          </a:p>
          <a:p>
            <a:pPr marL="457200" indent="-457200">
              <a:lnSpc>
                <a:spcPts val="3080"/>
              </a:lnSpc>
              <a:spcBef>
                <a:spcPct val="0"/>
              </a:spcBef>
              <a:buFont typeface="Arial" panose="020B0604020202020204" pitchFamily="34" charset="0"/>
              <a:buChar char="•"/>
            </a:pPr>
            <a:r>
              <a:rPr lang="en-GB" sz="2500" dirty="0">
                <a:solidFill>
                  <a:schemeClr val="accent1">
                    <a:lumMod val="75000"/>
                  </a:schemeClr>
                </a:solidFill>
                <a:latin typeface="Ruda" panose="020B0604020202020204" charset="0"/>
              </a:rPr>
              <a:t>Nike, founded in 1964 as Blue Ribbon Sports and renamed Nike in 1971 in honour of the Greek goddess of victory</a:t>
            </a:r>
            <a:r>
              <a:rPr lang="en-US" sz="2500" dirty="0">
                <a:solidFill>
                  <a:srgbClr val="0555A3"/>
                </a:solidFill>
                <a:latin typeface="Ruda"/>
                <a:ea typeface="Ruda"/>
                <a:cs typeface="Ruda"/>
                <a:sym typeface="Ruda"/>
              </a:rPr>
              <a:t>, in </a:t>
            </a:r>
            <a:r>
              <a:rPr lang="en-US" sz="2500" dirty="0" err="1">
                <a:solidFill>
                  <a:srgbClr val="0555A3"/>
                </a:solidFill>
                <a:latin typeface="Ruda"/>
                <a:ea typeface="Ruda"/>
                <a:cs typeface="Ruda"/>
                <a:sym typeface="Ruda"/>
              </a:rPr>
              <a:t>honour</a:t>
            </a:r>
            <a:r>
              <a:rPr lang="en-US" sz="2500" dirty="0">
                <a:solidFill>
                  <a:srgbClr val="0555A3"/>
                </a:solidFill>
                <a:latin typeface="Ruda"/>
                <a:ea typeface="Ruda"/>
                <a:cs typeface="Ruda"/>
                <a:sym typeface="Ruda"/>
              </a:rPr>
              <a:t> of the Greek goddess of victory and has since become a force to reckon with in the UK clothing retail sector with a total of £1.2bn revenue in 2025 in an industry of £88.86bn apparel (Statista, 2025). </a:t>
            </a:r>
            <a:r>
              <a:rPr lang="en-GB" sz="2500" dirty="0">
                <a:solidFill>
                  <a:srgbClr val="0555A3"/>
                </a:solidFill>
                <a:latin typeface="Ruda"/>
                <a:ea typeface="Ruda"/>
                <a:cs typeface="Ruda"/>
                <a:sym typeface="Ruda"/>
              </a:rPr>
              <a:t>The UK strength of it is determined by a strong retail network, sound digital platform and rising online activity that constitute approximately 40 % of the total revenue </a:t>
            </a:r>
            <a:r>
              <a:rPr lang="en-US" sz="2500" dirty="0">
                <a:solidFill>
                  <a:srgbClr val="0555A3"/>
                </a:solidFill>
                <a:latin typeface="Ruda"/>
                <a:ea typeface="Ruda"/>
                <a:cs typeface="Ruda"/>
                <a:sym typeface="Ruda"/>
              </a:rPr>
              <a:t>(Nike Inc., 2025)</a:t>
            </a:r>
            <a:r>
              <a:rPr lang="en-GB" sz="2500" dirty="0">
                <a:solidFill>
                  <a:srgbClr val="0555A3"/>
                </a:solidFill>
                <a:latin typeface="Ruda"/>
                <a:ea typeface="Ruda"/>
                <a:cs typeface="Ruda"/>
                <a:sym typeface="Ruda"/>
              </a:rPr>
              <a:t>. Nike is known to have a “</a:t>
            </a:r>
            <a:r>
              <a:rPr lang="en-GB" sz="2500" i="1" dirty="0">
                <a:solidFill>
                  <a:srgbClr val="0555A3"/>
                </a:solidFill>
                <a:latin typeface="Ruda"/>
                <a:ea typeface="Ruda"/>
                <a:cs typeface="Ruda"/>
                <a:sym typeface="Ruda"/>
              </a:rPr>
              <a:t>Just Do It” </a:t>
            </a:r>
            <a:r>
              <a:rPr lang="en-GB" sz="2500" dirty="0">
                <a:solidFill>
                  <a:srgbClr val="0555A3"/>
                </a:solidFill>
                <a:latin typeface="Ruda"/>
                <a:ea typeface="Ruda"/>
                <a:cs typeface="Ruda"/>
                <a:sym typeface="Ruda"/>
              </a:rPr>
              <a:t>identity, and its innovation, athlete support and brand creativity have remained the core focus of the company, and recent developments have seen it concentrate on direct-to-consumer sales growth, digital service expansion and sustainability initiatives.</a:t>
            </a:r>
            <a:endParaRPr lang="en-US" sz="2500" dirty="0">
              <a:solidFill>
                <a:srgbClr val="0555A3"/>
              </a:solidFill>
              <a:latin typeface="Ruda"/>
              <a:ea typeface="Ruda"/>
              <a:cs typeface="Ruda"/>
              <a:sym typeface="Ruda"/>
            </a:endParaRPr>
          </a:p>
        </p:txBody>
      </p:sp>
      <p:sp>
        <p:nvSpPr>
          <p:cNvPr id="6" name="Freeform 6">
            <a:extLst>
              <a:ext uri="{FF2B5EF4-FFF2-40B4-BE49-F238E27FC236}">
                <a16:creationId xmlns:a16="http://schemas.microsoft.com/office/drawing/2014/main" id="{0C38D904-B60B-2DF8-9DA6-6B13F4DB441C}"/>
              </a:ext>
            </a:extLst>
          </p:cNvPr>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6"/>
            <a:stretch>
              <a:fillRect/>
            </a:stretch>
          </a:blipFill>
        </p:spPr>
      </p:sp>
      <p:sp>
        <p:nvSpPr>
          <p:cNvPr id="9" name="TextBox 9">
            <a:extLst>
              <a:ext uri="{FF2B5EF4-FFF2-40B4-BE49-F238E27FC236}">
                <a16:creationId xmlns:a16="http://schemas.microsoft.com/office/drawing/2014/main" id="{0C98A799-35C7-BCA5-87DD-1B6819D53FB0}"/>
              </a:ext>
            </a:extLst>
          </p:cNvPr>
          <p:cNvSpPr txBox="1"/>
          <p:nvPr/>
        </p:nvSpPr>
        <p:spPr>
          <a:xfrm>
            <a:off x="5907284" y="155417"/>
            <a:ext cx="7848609" cy="857298"/>
          </a:xfrm>
          <a:prstGeom prst="rect">
            <a:avLst/>
          </a:prstGeom>
        </p:spPr>
        <p:txBody>
          <a:bodyPr lIns="0" tIns="0" rIns="0" bIns="0" rtlCol="0" anchor="t">
            <a:spAutoFit/>
          </a:bodyPr>
          <a:lstStyle/>
          <a:p>
            <a:pPr algn="ctr">
              <a:lnSpc>
                <a:spcPts val="7064"/>
              </a:lnSpc>
              <a:spcBef>
                <a:spcPct val="0"/>
              </a:spcBef>
            </a:pPr>
            <a:r>
              <a:rPr lang="en-US" sz="5046" b="1" dirty="0">
                <a:solidFill>
                  <a:srgbClr val="0555A3"/>
                </a:solidFill>
                <a:latin typeface="Ruda Bold"/>
                <a:ea typeface="Ruda Bold"/>
                <a:cs typeface="Ruda Bold"/>
                <a:sym typeface="Ruda Bold"/>
              </a:rPr>
              <a:t>INTRODUCTION</a:t>
            </a:r>
          </a:p>
        </p:txBody>
      </p:sp>
      <p:sp>
        <p:nvSpPr>
          <p:cNvPr id="10" name="TextBox 9">
            <a:extLst>
              <a:ext uri="{FF2B5EF4-FFF2-40B4-BE49-F238E27FC236}">
                <a16:creationId xmlns:a16="http://schemas.microsoft.com/office/drawing/2014/main" id="{AE5B5BDE-132D-3A48-7C3E-01D171F188C2}"/>
              </a:ext>
            </a:extLst>
          </p:cNvPr>
          <p:cNvSpPr txBox="1"/>
          <p:nvPr/>
        </p:nvSpPr>
        <p:spPr>
          <a:xfrm>
            <a:off x="637087" y="6231654"/>
            <a:ext cx="9194501" cy="2308324"/>
          </a:xfrm>
          <a:prstGeom prst="rect">
            <a:avLst/>
          </a:prstGeom>
          <a:noFill/>
        </p:spPr>
        <p:txBody>
          <a:bodyPr wrap="square" rtlCol="0">
            <a:spAutoFit/>
          </a:bodyPr>
          <a:lstStyle/>
          <a:p>
            <a:r>
              <a:rPr lang="en-GB" sz="2400" b="1" dirty="0">
                <a:solidFill>
                  <a:schemeClr val="accent1">
                    <a:lumMod val="75000"/>
                  </a:schemeClr>
                </a:solidFill>
                <a:latin typeface="Ruda" panose="020B0604020202020204" charset="0"/>
              </a:rPr>
              <a:t>Product categories</a:t>
            </a:r>
          </a:p>
          <a:p>
            <a:pPr marL="457200" indent="-457200">
              <a:buFont typeface="Arial" panose="020B0604020202020204" pitchFamily="34" charset="0"/>
              <a:buChar char="•"/>
            </a:pPr>
            <a:r>
              <a:rPr lang="en-GB" sz="2400" dirty="0">
                <a:solidFill>
                  <a:schemeClr val="accent1">
                    <a:lumMod val="75000"/>
                  </a:schemeClr>
                </a:solidFill>
                <a:latin typeface="Ruda" panose="020B0604020202020204" charset="0"/>
              </a:rPr>
              <a:t>Sportswear (tracksuits, hoodies, T-shirts)</a:t>
            </a:r>
          </a:p>
          <a:p>
            <a:pPr marL="457200" indent="-457200">
              <a:buFont typeface="Arial" panose="020B0604020202020204" pitchFamily="34" charset="0"/>
              <a:buChar char="•"/>
            </a:pPr>
            <a:r>
              <a:rPr lang="en-GB" sz="2400" dirty="0">
                <a:solidFill>
                  <a:schemeClr val="accent1">
                    <a:lumMod val="75000"/>
                  </a:schemeClr>
                </a:solidFill>
                <a:latin typeface="Ruda" panose="020B0604020202020204" charset="0"/>
              </a:rPr>
              <a:t>Performance apparel (running, training, basketball, football)</a:t>
            </a:r>
          </a:p>
          <a:p>
            <a:pPr marL="457200" indent="-457200">
              <a:buFont typeface="Arial" panose="020B0604020202020204" pitchFamily="34" charset="0"/>
              <a:buChar char="•"/>
            </a:pPr>
            <a:r>
              <a:rPr lang="en-GB" sz="2400" dirty="0">
                <a:solidFill>
                  <a:schemeClr val="accent1">
                    <a:lumMod val="75000"/>
                  </a:schemeClr>
                </a:solidFill>
                <a:latin typeface="Ruda" panose="020B0604020202020204" charset="0"/>
              </a:rPr>
              <a:t>Footwear (lifestyle and performance shoes)</a:t>
            </a:r>
          </a:p>
          <a:p>
            <a:pPr marL="457200" indent="-457200">
              <a:buFont typeface="Arial" panose="020B0604020202020204" pitchFamily="34" charset="0"/>
              <a:buChar char="•"/>
            </a:pPr>
            <a:r>
              <a:rPr lang="en-GB" sz="2400" dirty="0">
                <a:solidFill>
                  <a:schemeClr val="accent1">
                    <a:lumMod val="75000"/>
                  </a:schemeClr>
                </a:solidFill>
                <a:latin typeface="Ruda" panose="020B0604020202020204" charset="0"/>
              </a:rPr>
              <a:t>Accessories (bags, socks, sports equipment) (Nike Inc Report, 2021)</a:t>
            </a:r>
          </a:p>
        </p:txBody>
      </p:sp>
      <p:sp>
        <p:nvSpPr>
          <p:cNvPr id="11" name="TextBox 10">
            <a:extLst>
              <a:ext uri="{FF2B5EF4-FFF2-40B4-BE49-F238E27FC236}">
                <a16:creationId xmlns:a16="http://schemas.microsoft.com/office/drawing/2014/main" id="{A3657AFC-5B56-0E43-CD72-9CCD3F8C1F91}"/>
              </a:ext>
            </a:extLst>
          </p:cNvPr>
          <p:cNvSpPr txBox="1"/>
          <p:nvPr/>
        </p:nvSpPr>
        <p:spPr>
          <a:xfrm>
            <a:off x="10379840" y="6596380"/>
            <a:ext cx="3733800" cy="2015936"/>
          </a:xfrm>
          <a:prstGeom prst="rect">
            <a:avLst/>
          </a:prstGeom>
          <a:noFill/>
        </p:spPr>
        <p:txBody>
          <a:bodyPr wrap="square" rtlCol="0">
            <a:spAutoFit/>
          </a:bodyPr>
          <a:lstStyle/>
          <a:p>
            <a:r>
              <a:rPr lang="es-ES" sz="2500" b="1" dirty="0">
                <a:solidFill>
                  <a:schemeClr val="accent1">
                    <a:lumMod val="75000"/>
                  </a:schemeClr>
                </a:solidFill>
                <a:latin typeface="Ruda" panose="020B0604020202020204" charset="0"/>
              </a:rPr>
              <a:t>Brand portfolio</a:t>
            </a:r>
          </a:p>
          <a:p>
            <a:pPr marL="342900" indent="-342900">
              <a:buFont typeface="Arial" panose="020B0604020202020204" pitchFamily="34" charset="0"/>
              <a:buChar char="•"/>
            </a:pPr>
            <a:r>
              <a:rPr lang="es-ES" sz="2500" dirty="0">
                <a:solidFill>
                  <a:schemeClr val="accent1">
                    <a:lumMod val="75000"/>
                  </a:schemeClr>
                </a:solidFill>
                <a:latin typeface="Ruda" panose="020B0604020202020204" charset="0"/>
              </a:rPr>
              <a:t>Nike</a:t>
            </a:r>
          </a:p>
          <a:p>
            <a:pPr marL="342900" indent="-342900">
              <a:buFont typeface="Arial" panose="020B0604020202020204" pitchFamily="34" charset="0"/>
              <a:buChar char="•"/>
            </a:pPr>
            <a:r>
              <a:rPr lang="es-ES" sz="2500" dirty="0" err="1">
                <a:solidFill>
                  <a:schemeClr val="accent1">
                    <a:lumMod val="75000"/>
                  </a:schemeClr>
                </a:solidFill>
                <a:latin typeface="Ruda" panose="020B0604020202020204" charset="0"/>
              </a:rPr>
              <a:t>Jordan</a:t>
            </a:r>
            <a:endParaRPr lang="es-ES" sz="2500" dirty="0">
              <a:solidFill>
                <a:schemeClr val="accent1">
                  <a:lumMod val="75000"/>
                </a:schemeClr>
              </a:solidFill>
              <a:latin typeface="Ruda" panose="020B0604020202020204" charset="0"/>
            </a:endParaRPr>
          </a:p>
          <a:p>
            <a:pPr marL="342900" indent="-342900">
              <a:buFont typeface="Arial" panose="020B0604020202020204" pitchFamily="34" charset="0"/>
              <a:buChar char="•"/>
            </a:pPr>
            <a:r>
              <a:rPr lang="es-ES" sz="2500" dirty="0">
                <a:solidFill>
                  <a:schemeClr val="accent1">
                    <a:lumMod val="75000"/>
                  </a:schemeClr>
                </a:solidFill>
                <a:latin typeface="Ruda" panose="020B0604020202020204" charset="0"/>
              </a:rPr>
              <a:t>Converse</a:t>
            </a:r>
          </a:p>
          <a:p>
            <a:endParaRPr lang="LID4096" sz="2500" dirty="0">
              <a:solidFill>
                <a:schemeClr val="accent1">
                  <a:lumMod val="75000"/>
                </a:schemeClr>
              </a:solidFill>
              <a:latin typeface="Ruda" panose="020B0604020202020204" charset="0"/>
            </a:endParaRPr>
          </a:p>
        </p:txBody>
      </p:sp>
      <p:pic>
        <p:nvPicPr>
          <p:cNvPr id="1026" name="Picture 2" descr="Nike Logo, symbol, meaning, history, PNG, brand">
            <a:extLst>
              <a:ext uri="{FF2B5EF4-FFF2-40B4-BE49-F238E27FC236}">
                <a16:creationId xmlns:a16="http://schemas.microsoft.com/office/drawing/2014/main" id="{1080D2E5-CCA6-3E08-F421-D658322FD34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683971" y="6984393"/>
            <a:ext cx="1643417" cy="9244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ir Jordan Jumpman Logo and symbol, meaning, history, PNG, brand">
            <a:extLst>
              <a:ext uri="{FF2B5EF4-FFF2-40B4-BE49-F238E27FC236}">
                <a16:creationId xmlns:a16="http://schemas.microsoft.com/office/drawing/2014/main" id="{1C3E59D5-6303-0B1B-4429-14A30D7CDE6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568431" y="6743928"/>
            <a:ext cx="2487603" cy="139927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CFE9BD74-CDE4-A646-CB3A-7870F7B4DEC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5690484" y="6596380"/>
            <a:ext cx="2471173" cy="166025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A6797944-18CE-DA9B-167B-CA7D013F45A6}"/>
              </a:ext>
            </a:extLst>
          </p:cNvPr>
          <p:cNvSpPr txBox="1"/>
          <p:nvPr/>
        </p:nvSpPr>
        <p:spPr>
          <a:xfrm>
            <a:off x="2133599" y="9030154"/>
            <a:ext cx="13411200" cy="523220"/>
          </a:xfrm>
          <a:prstGeom prst="rect">
            <a:avLst/>
          </a:prstGeom>
          <a:noFill/>
        </p:spPr>
        <p:txBody>
          <a:bodyPr wrap="square" rtlCol="0">
            <a:spAutoFit/>
          </a:bodyPr>
          <a:lstStyle/>
          <a:p>
            <a:r>
              <a:rPr lang="en-US" sz="2800" b="1" dirty="0">
                <a:latin typeface="Ruda" panose="020B0604020202020204" charset="0"/>
              </a:rPr>
              <a:t>Mission</a:t>
            </a:r>
            <a:r>
              <a:rPr lang="en-US" sz="2800" dirty="0">
                <a:latin typeface="Ruda" panose="020B0604020202020204" charset="0"/>
              </a:rPr>
              <a:t>: </a:t>
            </a:r>
            <a:r>
              <a:rPr lang="en-US" sz="2800" i="1" dirty="0">
                <a:latin typeface="Ruda" panose="020B0604020202020204" charset="0"/>
              </a:rPr>
              <a:t>“</a:t>
            </a:r>
            <a:r>
              <a:rPr lang="en-GB" sz="2800" i="1" dirty="0">
                <a:latin typeface="Ruda" panose="020B0604020202020204" charset="0"/>
              </a:rPr>
              <a:t>To bring inspiration and innovation to every athlete in the world.”</a:t>
            </a:r>
            <a:endParaRPr lang="LID4096" sz="2800" i="1" dirty="0">
              <a:latin typeface="Ruda" panose="020B0604020202020204" charset="0"/>
            </a:endParaRPr>
          </a:p>
        </p:txBody>
      </p:sp>
    </p:spTree>
    <p:extLst>
      <p:ext uri="{BB962C8B-B14F-4D97-AF65-F5344CB8AC3E}">
        <p14:creationId xmlns:p14="http://schemas.microsoft.com/office/powerpoint/2010/main" val="342766119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87882" y="-4270755"/>
            <a:ext cx="4499573" cy="7491988"/>
          </a:xfrm>
          <a:custGeom>
            <a:avLst/>
            <a:gdLst/>
            <a:ahLst/>
            <a:cxnLst/>
            <a:rect l="l" t="t" r="r" b="b"/>
            <a:pathLst>
              <a:path w="5625336" h="9210109">
                <a:moveTo>
                  <a:pt x="0" y="0"/>
                </a:moveTo>
                <a:lnTo>
                  <a:pt x="5625337" y="0"/>
                </a:lnTo>
                <a:lnTo>
                  <a:pt x="5625337" y="9210110"/>
                </a:lnTo>
                <a:lnTo>
                  <a:pt x="0" y="9210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377096" y="-261239"/>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6"/>
            <a:stretch>
              <a:fillRect/>
            </a:stretch>
          </a:blipFill>
        </p:spPr>
      </p:sp>
      <p:sp>
        <p:nvSpPr>
          <p:cNvPr id="8" name="TextBox 8"/>
          <p:cNvSpPr txBox="1"/>
          <p:nvPr/>
        </p:nvSpPr>
        <p:spPr>
          <a:xfrm>
            <a:off x="2337668" y="47219"/>
            <a:ext cx="14855736" cy="857298"/>
          </a:xfrm>
          <a:prstGeom prst="rect">
            <a:avLst/>
          </a:prstGeom>
        </p:spPr>
        <p:txBody>
          <a:bodyPr lIns="0" tIns="0" rIns="0" bIns="0" rtlCol="0" anchor="t">
            <a:spAutoFit/>
          </a:bodyPr>
          <a:lstStyle/>
          <a:p>
            <a:pPr algn="ctr">
              <a:lnSpc>
                <a:spcPts val="7064"/>
              </a:lnSpc>
              <a:spcBef>
                <a:spcPct val="0"/>
              </a:spcBef>
            </a:pPr>
            <a:r>
              <a:rPr lang="en-US" sz="5046" b="1" dirty="0">
                <a:solidFill>
                  <a:srgbClr val="0555A3"/>
                </a:solidFill>
                <a:latin typeface="Ruda Bold"/>
                <a:ea typeface="Ruda Bold"/>
                <a:cs typeface="Ruda Bold"/>
                <a:sym typeface="Ruda Bold"/>
              </a:rPr>
              <a:t>PESTLE ANALYSIS OF THE UK MACRO ENVIRONMENT</a:t>
            </a:r>
          </a:p>
        </p:txBody>
      </p:sp>
      <p:graphicFrame>
        <p:nvGraphicFramePr>
          <p:cNvPr id="10" name="Table 9">
            <a:extLst>
              <a:ext uri="{FF2B5EF4-FFF2-40B4-BE49-F238E27FC236}">
                <a16:creationId xmlns:a16="http://schemas.microsoft.com/office/drawing/2014/main" id="{09BD180E-C4B6-984D-47EF-5D41F038C65E}"/>
              </a:ext>
            </a:extLst>
          </p:cNvPr>
          <p:cNvGraphicFramePr>
            <a:graphicFrameLocks noGrp="1"/>
          </p:cNvGraphicFramePr>
          <p:nvPr>
            <p:extLst>
              <p:ext uri="{D42A27DB-BD31-4B8C-83A1-F6EECF244321}">
                <p14:modId xmlns:p14="http://schemas.microsoft.com/office/powerpoint/2010/main" val="1101805260"/>
              </p:ext>
            </p:extLst>
          </p:nvPr>
        </p:nvGraphicFramePr>
        <p:xfrm>
          <a:off x="576776" y="904519"/>
          <a:ext cx="17134447" cy="7332127"/>
        </p:xfrm>
        <a:graphic>
          <a:graphicData uri="http://schemas.openxmlformats.org/drawingml/2006/table">
            <a:tbl>
              <a:tblPr>
                <a:tableStyleId>{08FB837D-C827-4EFA-A057-4D05807E0F7C}</a:tableStyleId>
              </a:tblPr>
              <a:tblGrid>
                <a:gridCol w="1785424">
                  <a:extLst>
                    <a:ext uri="{9D8B030D-6E8A-4147-A177-3AD203B41FA5}">
                      <a16:colId xmlns:a16="http://schemas.microsoft.com/office/drawing/2014/main" val="2383098861"/>
                    </a:ext>
                  </a:extLst>
                </a:gridCol>
                <a:gridCol w="4648200">
                  <a:extLst>
                    <a:ext uri="{9D8B030D-6E8A-4147-A177-3AD203B41FA5}">
                      <a16:colId xmlns:a16="http://schemas.microsoft.com/office/drawing/2014/main" val="3210798764"/>
                    </a:ext>
                  </a:extLst>
                </a:gridCol>
                <a:gridCol w="7620000">
                  <a:extLst>
                    <a:ext uri="{9D8B030D-6E8A-4147-A177-3AD203B41FA5}">
                      <a16:colId xmlns:a16="http://schemas.microsoft.com/office/drawing/2014/main" val="542253695"/>
                    </a:ext>
                  </a:extLst>
                </a:gridCol>
                <a:gridCol w="3080823">
                  <a:extLst>
                    <a:ext uri="{9D8B030D-6E8A-4147-A177-3AD203B41FA5}">
                      <a16:colId xmlns:a16="http://schemas.microsoft.com/office/drawing/2014/main" val="802486450"/>
                    </a:ext>
                  </a:extLst>
                </a:gridCol>
              </a:tblGrid>
              <a:tr h="365921">
                <a:tc>
                  <a:txBody>
                    <a:bodyPr/>
                    <a:lstStyle/>
                    <a:p>
                      <a:pPr>
                        <a:buNone/>
                      </a:pPr>
                      <a:r>
                        <a:rPr lang="en-US" sz="2200" b="1" spc="-150">
                          <a:latin typeface="Ruda" panose="020B0604020202020204" charset="0"/>
                        </a:rPr>
                        <a:t>Factor</a:t>
                      </a:r>
                      <a:endParaRPr lang="en-US" sz="2200" spc="-150">
                        <a:latin typeface="Ruda" panose="020B0604020202020204" charset="0"/>
                      </a:endParaRPr>
                    </a:p>
                  </a:txBody>
                  <a:tcPr marL="21149" marR="21149" marT="10575" marB="10575" anchor="ctr"/>
                </a:tc>
                <a:tc>
                  <a:txBody>
                    <a:bodyPr/>
                    <a:lstStyle/>
                    <a:p>
                      <a:pPr>
                        <a:buNone/>
                      </a:pPr>
                      <a:r>
                        <a:rPr lang="en-US" sz="2200" b="1" spc="-150">
                          <a:latin typeface="Ruda" panose="020B0604020202020204" charset="0"/>
                        </a:rPr>
                        <a:t>Key Issue</a:t>
                      </a:r>
                      <a:endParaRPr lang="en-US" sz="2200" spc="-150">
                        <a:latin typeface="Ruda" panose="020B0604020202020204" charset="0"/>
                      </a:endParaRPr>
                    </a:p>
                  </a:txBody>
                  <a:tcPr marL="21149" marR="21149" marT="10575" marB="10575" anchor="ctr"/>
                </a:tc>
                <a:tc>
                  <a:txBody>
                    <a:bodyPr/>
                    <a:lstStyle/>
                    <a:p>
                      <a:pPr>
                        <a:buNone/>
                      </a:pPr>
                      <a:r>
                        <a:rPr lang="en-US" sz="2200" b="1" spc="-150" dirty="0">
                          <a:latin typeface="Ruda" panose="020B0604020202020204" charset="0"/>
                        </a:rPr>
                        <a:t>Impact on Nike </a:t>
                      </a:r>
                      <a:endParaRPr lang="en-US" sz="2200" spc="-150" dirty="0">
                        <a:latin typeface="Ruda" panose="020B0604020202020204" charset="0"/>
                      </a:endParaRPr>
                    </a:p>
                  </a:txBody>
                  <a:tcPr marL="21149" marR="21149" marT="10575" marB="10575" anchor="ctr"/>
                </a:tc>
                <a:tc>
                  <a:txBody>
                    <a:bodyPr/>
                    <a:lstStyle/>
                    <a:p>
                      <a:pPr>
                        <a:buNone/>
                      </a:pPr>
                      <a:r>
                        <a:rPr lang="en-US" sz="2200" b="1" spc="-150">
                          <a:latin typeface="Ruda" panose="020B0604020202020204" charset="0"/>
                        </a:rPr>
                        <a:t>Opportunity / Threat</a:t>
                      </a:r>
                      <a:endParaRPr lang="en-US" sz="2200" spc="-150">
                        <a:latin typeface="Ruda" panose="020B0604020202020204" charset="0"/>
                      </a:endParaRPr>
                    </a:p>
                  </a:txBody>
                  <a:tcPr marL="21149" marR="21149" marT="10575" marB="10575" anchor="ctr"/>
                </a:tc>
                <a:extLst>
                  <a:ext uri="{0D108BD9-81ED-4DB2-BD59-A6C34878D82A}">
                    <a16:rowId xmlns:a16="http://schemas.microsoft.com/office/drawing/2014/main" val="3727889280"/>
                  </a:ext>
                </a:extLst>
              </a:tr>
              <a:tr h="1057757">
                <a:tc>
                  <a:txBody>
                    <a:bodyPr/>
                    <a:lstStyle/>
                    <a:p>
                      <a:pPr>
                        <a:buNone/>
                      </a:pPr>
                      <a:r>
                        <a:rPr lang="en-US" sz="2200" b="1" spc="-150" dirty="0">
                          <a:latin typeface="Ruda" panose="020B0604020202020204" charset="0"/>
                        </a:rPr>
                        <a:t>Political</a:t>
                      </a:r>
                      <a:endParaRPr lang="en-US" sz="2200" spc="-150" dirty="0">
                        <a:latin typeface="Ruda" panose="020B0604020202020204" charset="0"/>
                      </a:endParaRPr>
                    </a:p>
                  </a:txBody>
                  <a:tcPr marL="21149" marR="21149" marT="10575" marB="10575" anchor="ctr"/>
                </a:tc>
                <a:tc>
                  <a:txBody>
                    <a:bodyPr/>
                    <a:lstStyle/>
                    <a:p>
                      <a:pPr>
                        <a:buNone/>
                      </a:pPr>
                      <a:r>
                        <a:rPr lang="en-GB" sz="2200" b="0" spc="-150" dirty="0">
                          <a:latin typeface="Ruda" panose="020B0604020202020204" charset="0"/>
                        </a:rPr>
                        <a:t>Brexit raised import tariffs on Asian-sourced apparel by 5–10%.</a:t>
                      </a:r>
                    </a:p>
                  </a:txBody>
                  <a:tcPr marL="21149" marR="21149" marT="10575" marB="10575" anchor="ctr"/>
                </a:tc>
                <a:tc>
                  <a:txBody>
                    <a:bodyPr/>
                    <a:lstStyle/>
                    <a:p>
                      <a:pPr>
                        <a:buNone/>
                      </a:pPr>
                      <a:r>
                        <a:rPr lang="en-GB" sz="2200" b="0" spc="-150" dirty="0">
                          <a:latin typeface="Ruda" panose="020B0604020202020204" charset="0"/>
                        </a:rPr>
                        <a:t>Higher tariff costs increase Nike’s import expenses and slow supply-chain efficiency, requiring Nike to optimise sourcing routes and renegotiate with logistics partners (Business Model Analyst, 2025).</a:t>
                      </a:r>
                    </a:p>
                  </a:txBody>
                  <a:tcPr marL="21149" marR="21149" marT="10575" marB="10575" anchor="ctr"/>
                </a:tc>
                <a:tc>
                  <a:txBody>
                    <a:bodyPr/>
                    <a:lstStyle/>
                    <a:p>
                      <a:pPr>
                        <a:buNone/>
                      </a:pPr>
                      <a:r>
                        <a:rPr lang="en-GB" sz="2200" b="0" spc="-150">
                          <a:latin typeface="Ruda" panose="020B0604020202020204" charset="0"/>
                        </a:rPr>
                        <a:t>Threat – increased costs + supply-chain friction.</a:t>
                      </a:r>
                    </a:p>
                  </a:txBody>
                  <a:tcPr marL="21149" marR="21149" marT="10575" marB="10575" anchor="ctr"/>
                </a:tc>
                <a:extLst>
                  <a:ext uri="{0D108BD9-81ED-4DB2-BD59-A6C34878D82A}">
                    <a16:rowId xmlns:a16="http://schemas.microsoft.com/office/drawing/2014/main" val="3239731070"/>
                  </a:ext>
                </a:extLst>
              </a:tr>
              <a:tr h="1057757">
                <a:tc>
                  <a:txBody>
                    <a:bodyPr/>
                    <a:lstStyle/>
                    <a:p>
                      <a:pPr>
                        <a:buNone/>
                      </a:pPr>
                      <a:r>
                        <a:rPr lang="en-US" sz="2200" b="1" spc="-150">
                          <a:latin typeface="Ruda" panose="020B0604020202020204" charset="0"/>
                        </a:rPr>
                        <a:t>Economic</a:t>
                      </a:r>
                      <a:endParaRPr lang="en-US" sz="2200" spc="-150">
                        <a:latin typeface="Ruda" panose="020B0604020202020204" charset="0"/>
                      </a:endParaRPr>
                    </a:p>
                  </a:txBody>
                  <a:tcPr marL="21149" marR="21149" marT="10575" marB="10575" anchor="ctr"/>
                </a:tc>
                <a:tc>
                  <a:txBody>
                    <a:bodyPr/>
                    <a:lstStyle/>
                    <a:p>
                      <a:pPr>
                        <a:buNone/>
                      </a:pPr>
                      <a:r>
                        <a:rPr lang="en-GB" sz="2200" b="0" spc="-150" dirty="0">
                          <a:latin typeface="Ruda" panose="020B0604020202020204" charset="0"/>
                        </a:rPr>
                        <a:t>UK inflation at 2.5% and GDP growth of 1.8% limit discretionary spending .</a:t>
                      </a:r>
                    </a:p>
                  </a:txBody>
                  <a:tcPr marL="21149" marR="21149" marT="10575" marB="10575" anchor="ctr"/>
                </a:tc>
                <a:tc>
                  <a:txBody>
                    <a:bodyPr/>
                    <a:lstStyle/>
                    <a:p>
                      <a:pPr>
                        <a:buNone/>
                      </a:pPr>
                      <a:r>
                        <a:rPr lang="en-GB" sz="2200" b="0" spc="-150" dirty="0">
                          <a:latin typeface="Ruda" panose="020B0604020202020204" charset="0"/>
                        </a:rPr>
                        <a:t>Cost-sensitive customers reduce mid-tier purchases, but Nike’s premium performance segment benefits as health-focused consumers still prioritise long-lasting, quality apparel (</a:t>
                      </a:r>
                      <a:r>
                        <a:rPr lang="en-GB" sz="2200" b="0" spc="-150" dirty="0" err="1">
                          <a:latin typeface="Ruda" panose="020B0604020202020204" charset="0"/>
                        </a:rPr>
                        <a:t>Panmore</a:t>
                      </a:r>
                      <a:r>
                        <a:rPr lang="en-GB" sz="2200" b="0" spc="-150" dirty="0">
                          <a:latin typeface="Ruda" panose="020B0604020202020204" charset="0"/>
                        </a:rPr>
                        <a:t>, 2024).</a:t>
                      </a:r>
                    </a:p>
                  </a:txBody>
                  <a:tcPr marL="21149" marR="21149" marT="10575" marB="10575" anchor="ctr"/>
                </a:tc>
                <a:tc>
                  <a:txBody>
                    <a:bodyPr/>
                    <a:lstStyle/>
                    <a:p>
                      <a:pPr>
                        <a:buNone/>
                      </a:pPr>
                      <a:r>
                        <a:rPr lang="en-GB" sz="2200" b="0" spc="-150" dirty="0">
                          <a:latin typeface="Ruda" panose="020B0604020202020204" charset="0"/>
                        </a:rPr>
                        <a:t>Opportunity – premium demand stays strong.</a:t>
                      </a:r>
                    </a:p>
                  </a:txBody>
                  <a:tcPr marL="21149" marR="21149" marT="10575" marB="10575" anchor="ctr"/>
                </a:tc>
                <a:extLst>
                  <a:ext uri="{0D108BD9-81ED-4DB2-BD59-A6C34878D82A}">
                    <a16:rowId xmlns:a16="http://schemas.microsoft.com/office/drawing/2014/main" val="2834481701"/>
                  </a:ext>
                </a:extLst>
              </a:tr>
              <a:tr h="1403675">
                <a:tc>
                  <a:txBody>
                    <a:bodyPr/>
                    <a:lstStyle/>
                    <a:p>
                      <a:pPr>
                        <a:buNone/>
                      </a:pPr>
                      <a:r>
                        <a:rPr lang="en-US" sz="2200" b="1" spc="-150">
                          <a:latin typeface="Ruda" panose="020B0604020202020204" charset="0"/>
                        </a:rPr>
                        <a:t>Social</a:t>
                      </a:r>
                      <a:endParaRPr lang="en-US" sz="2200" spc="-150">
                        <a:latin typeface="Ruda" panose="020B0604020202020204" charset="0"/>
                      </a:endParaRPr>
                    </a:p>
                  </a:txBody>
                  <a:tcPr marL="21149" marR="21149" marT="10575" marB="10575" anchor="ctr"/>
                </a:tc>
                <a:tc>
                  <a:txBody>
                    <a:bodyPr/>
                    <a:lstStyle/>
                    <a:p>
                      <a:pPr>
                        <a:buNone/>
                      </a:pPr>
                      <a:r>
                        <a:rPr lang="en-GB" sz="2200" b="0" spc="-150" dirty="0">
                          <a:latin typeface="Ruda" panose="020B0604020202020204" charset="0"/>
                        </a:rPr>
                        <a:t>Wellness culture is rising; 60% of millennials wear sportswear daily, and older consumers seek inclusive sizing (Lecture 02, 2025, p.15).</a:t>
                      </a:r>
                    </a:p>
                  </a:txBody>
                  <a:tcPr marL="21149" marR="21149" marT="10575" marB="10575" anchor="ctr"/>
                </a:tc>
                <a:tc>
                  <a:txBody>
                    <a:bodyPr/>
                    <a:lstStyle/>
                    <a:p>
                      <a:pPr>
                        <a:buNone/>
                      </a:pPr>
                      <a:r>
                        <a:rPr lang="en-GB" sz="2200" b="0" spc="-150" dirty="0">
                          <a:latin typeface="Ruda" panose="020B0604020202020204" charset="0"/>
                        </a:rPr>
                        <a:t>Athleisure demand reinforces Nike’s brand relevance, while demographic ageing creates room for Nike to expand inclusive designs and comfort-led apparel (</a:t>
                      </a:r>
                      <a:r>
                        <a:rPr lang="en-GB" sz="2200" kern="1200" dirty="0">
                          <a:solidFill>
                            <a:schemeClr val="dk1"/>
                          </a:solidFill>
                          <a:effectLst/>
                          <a:latin typeface="Ruda" panose="020B0604020202020204" charset="0"/>
                          <a:ea typeface="+mn-ea"/>
                          <a:cs typeface="+mn-cs"/>
                        </a:rPr>
                        <a:t>MarketLine, 2025</a:t>
                      </a:r>
                      <a:r>
                        <a:rPr lang="en-GB" sz="2200" b="0" spc="-150" dirty="0">
                          <a:latin typeface="Ruda" panose="020B0604020202020204" charset="0"/>
                        </a:rPr>
                        <a:t>).</a:t>
                      </a:r>
                    </a:p>
                  </a:txBody>
                  <a:tcPr marL="21149" marR="21149" marT="10575" marB="10575" anchor="ctr"/>
                </a:tc>
                <a:tc>
                  <a:txBody>
                    <a:bodyPr/>
                    <a:lstStyle/>
                    <a:p>
                      <a:pPr>
                        <a:buNone/>
                      </a:pPr>
                      <a:r>
                        <a:rPr lang="en-US" sz="2200" b="0" spc="-150" dirty="0">
                          <a:latin typeface="Ruda" panose="020B0604020202020204" charset="0"/>
                        </a:rPr>
                        <a:t>Opportunity – product line expansion.</a:t>
                      </a:r>
                    </a:p>
                  </a:txBody>
                  <a:tcPr marL="21149" marR="21149" marT="10575" marB="10575" anchor="ctr"/>
                </a:tc>
                <a:extLst>
                  <a:ext uri="{0D108BD9-81ED-4DB2-BD59-A6C34878D82A}">
                    <a16:rowId xmlns:a16="http://schemas.microsoft.com/office/drawing/2014/main" val="3924288170"/>
                  </a:ext>
                </a:extLst>
              </a:tr>
              <a:tr h="1057757">
                <a:tc>
                  <a:txBody>
                    <a:bodyPr/>
                    <a:lstStyle/>
                    <a:p>
                      <a:pPr>
                        <a:buNone/>
                      </a:pPr>
                      <a:r>
                        <a:rPr lang="en-US" sz="2200" b="1" spc="-150" dirty="0">
                          <a:latin typeface="Ruda" panose="020B0604020202020204" charset="0"/>
                        </a:rPr>
                        <a:t>Technological</a:t>
                      </a:r>
                      <a:endParaRPr lang="en-US" sz="2200" spc="-150" dirty="0">
                        <a:latin typeface="Ruda" panose="020B0604020202020204" charset="0"/>
                      </a:endParaRPr>
                    </a:p>
                  </a:txBody>
                  <a:tcPr marL="21149" marR="21149" marT="10575" marB="10575" anchor="ctr"/>
                </a:tc>
                <a:tc>
                  <a:txBody>
                    <a:bodyPr/>
                    <a:lstStyle/>
                    <a:p>
                      <a:pPr>
                        <a:buNone/>
                      </a:pPr>
                      <a:r>
                        <a:rPr lang="en-GB" sz="2200" b="0" spc="-150" dirty="0">
                          <a:latin typeface="Ruda" panose="020B0604020202020204" charset="0"/>
                        </a:rPr>
                        <a:t>AI-driven app fitting and e-commerce now form 35% of UK apparel sales.</a:t>
                      </a:r>
                    </a:p>
                  </a:txBody>
                  <a:tcPr marL="21149" marR="21149" marT="10575" marB="10575" anchor="ctr"/>
                </a:tc>
                <a:tc>
                  <a:txBody>
                    <a:bodyPr/>
                    <a:lstStyle/>
                    <a:p>
                      <a:pPr>
                        <a:buNone/>
                      </a:pPr>
                      <a:r>
                        <a:rPr lang="en-GB" sz="2200" b="0" spc="-150" dirty="0">
                          <a:latin typeface="Ruda" panose="020B0604020202020204" charset="0"/>
                        </a:rPr>
                        <a:t>Nike benefits from improved digital conversion, reduced returns, and stronger engagement within its direct-to-consumer ecosystem (DCFmodeling.com, n.d.).</a:t>
                      </a:r>
                    </a:p>
                  </a:txBody>
                  <a:tcPr marL="21149" marR="21149" marT="10575" marB="10575" anchor="ctr"/>
                </a:tc>
                <a:tc>
                  <a:txBody>
                    <a:bodyPr/>
                    <a:lstStyle/>
                    <a:p>
                      <a:pPr>
                        <a:buNone/>
                      </a:pPr>
                      <a:r>
                        <a:rPr lang="en-US" sz="2200" b="0" spc="-150" dirty="0">
                          <a:latin typeface="Ruda" panose="020B0604020202020204" charset="0"/>
                        </a:rPr>
                        <a:t>Opportunity – digital-led growth.</a:t>
                      </a:r>
                    </a:p>
                  </a:txBody>
                  <a:tcPr marL="21149" marR="21149" marT="10575" marB="10575" anchor="ctr"/>
                </a:tc>
                <a:extLst>
                  <a:ext uri="{0D108BD9-81ED-4DB2-BD59-A6C34878D82A}">
                    <a16:rowId xmlns:a16="http://schemas.microsoft.com/office/drawing/2014/main" val="1749199815"/>
                  </a:ext>
                </a:extLst>
              </a:tr>
              <a:tr h="1057757">
                <a:tc>
                  <a:txBody>
                    <a:bodyPr/>
                    <a:lstStyle/>
                    <a:p>
                      <a:pPr>
                        <a:buNone/>
                      </a:pPr>
                      <a:r>
                        <a:rPr lang="en-US" sz="2200" b="1" spc="-150">
                          <a:latin typeface="Ruda" panose="020B0604020202020204" charset="0"/>
                        </a:rPr>
                        <a:t>Legal</a:t>
                      </a:r>
                      <a:endParaRPr lang="en-US" sz="2200" spc="-150">
                        <a:latin typeface="Ruda" panose="020B0604020202020204" charset="0"/>
                      </a:endParaRPr>
                    </a:p>
                  </a:txBody>
                  <a:tcPr marL="21149" marR="21149" marT="10575" marB="10575" anchor="ctr"/>
                </a:tc>
                <a:tc>
                  <a:txBody>
                    <a:bodyPr/>
                    <a:lstStyle/>
                    <a:p>
                      <a:pPr>
                        <a:buNone/>
                      </a:pPr>
                      <a:r>
                        <a:rPr lang="en-GB" sz="2200" b="0" spc="-150" dirty="0">
                          <a:latin typeface="Ruda" panose="020B0604020202020204" charset="0"/>
                        </a:rPr>
                        <a:t>Ethical sourcing and labour compliance requirements are increasing in UK retail.</a:t>
                      </a:r>
                    </a:p>
                  </a:txBody>
                  <a:tcPr marL="21149" marR="21149" marT="10575" marB="10575" anchor="ctr"/>
                </a:tc>
                <a:tc>
                  <a:txBody>
                    <a:bodyPr/>
                    <a:lstStyle/>
                    <a:p>
                      <a:pPr>
                        <a:buNone/>
                      </a:pPr>
                      <a:r>
                        <a:rPr lang="en-GB" sz="2200" b="0" spc="-150" dirty="0">
                          <a:latin typeface="Ruda" panose="020B0604020202020204" charset="0"/>
                        </a:rPr>
                        <a:t>Nike must enhance supplier audits and transparency structures, raising operational costs but improving brand trust and compliance reputation</a:t>
                      </a:r>
                    </a:p>
                  </a:txBody>
                  <a:tcPr marL="21149" marR="21149" marT="10575" marB="10575" anchor="ctr"/>
                </a:tc>
                <a:tc>
                  <a:txBody>
                    <a:bodyPr/>
                    <a:lstStyle/>
                    <a:p>
                      <a:pPr>
                        <a:buNone/>
                      </a:pPr>
                      <a:r>
                        <a:rPr lang="en-GB" sz="2200" b="0" spc="-150" dirty="0">
                          <a:latin typeface="Ruda" panose="020B0604020202020204" charset="0"/>
                        </a:rPr>
                        <a:t>Both – higher costs but stronger legitimacy.</a:t>
                      </a:r>
                    </a:p>
                  </a:txBody>
                  <a:tcPr marL="21149" marR="21149" marT="10575" marB="10575" anchor="ctr"/>
                </a:tc>
                <a:extLst>
                  <a:ext uri="{0D108BD9-81ED-4DB2-BD59-A6C34878D82A}">
                    <a16:rowId xmlns:a16="http://schemas.microsoft.com/office/drawing/2014/main" val="4151516136"/>
                  </a:ext>
                </a:extLst>
              </a:tr>
              <a:tr h="946476">
                <a:tc>
                  <a:txBody>
                    <a:bodyPr/>
                    <a:lstStyle/>
                    <a:p>
                      <a:pPr>
                        <a:buNone/>
                      </a:pPr>
                      <a:r>
                        <a:rPr lang="en-US" sz="2200" b="1" spc="-150">
                          <a:latin typeface="Ruda" panose="020B0604020202020204" charset="0"/>
                        </a:rPr>
                        <a:t>Environmental</a:t>
                      </a:r>
                      <a:endParaRPr lang="en-US" sz="2200" spc="-150">
                        <a:latin typeface="Ruda" panose="020B0604020202020204" charset="0"/>
                      </a:endParaRPr>
                    </a:p>
                  </a:txBody>
                  <a:tcPr marL="21149" marR="21149" marT="10575" marB="10575" anchor="ctr"/>
                </a:tc>
                <a:tc>
                  <a:txBody>
                    <a:bodyPr/>
                    <a:lstStyle/>
                    <a:p>
                      <a:pPr>
                        <a:buNone/>
                      </a:pPr>
                      <a:r>
                        <a:rPr lang="en-GB" sz="2200" b="0" spc="-150" dirty="0">
                          <a:latin typeface="Ruda" panose="020B0604020202020204" charset="0"/>
                        </a:rPr>
                        <a:t>UK sustainability expectations and net-zero 2050 targets encourage recycled materials .</a:t>
                      </a:r>
                    </a:p>
                  </a:txBody>
                  <a:tcPr marL="21149" marR="21149" marT="10575" marB="10575" anchor="ctr"/>
                </a:tc>
                <a:tc>
                  <a:txBody>
                    <a:bodyPr/>
                    <a:lstStyle/>
                    <a:p>
                      <a:pPr>
                        <a:buNone/>
                      </a:pPr>
                      <a:r>
                        <a:rPr lang="en-GB" sz="2200" b="0" spc="-150" dirty="0">
                          <a:latin typeface="Ruda" panose="020B0604020202020204" charset="0"/>
                        </a:rPr>
                        <a:t>Nike’s “Move to Zero” initiative aligns well, improving eco-credibility and reducing environmental impact through recycled fabrics (FY23 NIKE Impact Report, 2024).</a:t>
                      </a:r>
                    </a:p>
                  </a:txBody>
                  <a:tcPr marL="21149" marR="21149" marT="10575" marB="10575" anchor="ctr"/>
                </a:tc>
                <a:tc>
                  <a:txBody>
                    <a:bodyPr/>
                    <a:lstStyle/>
                    <a:p>
                      <a:pPr>
                        <a:buNone/>
                      </a:pPr>
                      <a:r>
                        <a:rPr lang="en-US" sz="2200" b="0" spc="-150" dirty="0">
                          <a:latin typeface="Ruda" panose="020B0604020202020204" charset="0"/>
                        </a:rPr>
                        <a:t>Opportunity – strengthens sustainability positioning.</a:t>
                      </a:r>
                    </a:p>
                  </a:txBody>
                  <a:tcPr marL="21149" marR="21149" marT="10575" marB="10575" anchor="ctr"/>
                </a:tc>
                <a:extLst>
                  <a:ext uri="{0D108BD9-81ED-4DB2-BD59-A6C34878D82A}">
                    <a16:rowId xmlns:a16="http://schemas.microsoft.com/office/drawing/2014/main" val="522689880"/>
                  </a:ext>
                </a:extLst>
              </a:tr>
            </a:tbl>
          </a:graphicData>
        </a:graphic>
      </p:graphicFrame>
      <p:sp>
        <p:nvSpPr>
          <p:cNvPr id="11" name="TextBox 10">
            <a:extLst>
              <a:ext uri="{FF2B5EF4-FFF2-40B4-BE49-F238E27FC236}">
                <a16:creationId xmlns:a16="http://schemas.microsoft.com/office/drawing/2014/main" id="{9BA42018-4602-1D69-11FB-DC2F75FC2401}"/>
              </a:ext>
            </a:extLst>
          </p:cNvPr>
          <p:cNvSpPr txBox="1"/>
          <p:nvPr/>
        </p:nvSpPr>
        <p:spPr>
          <a:xfrm>
            <a:off x="590028" y="8512218"/>
            <a:ext cx="17134447" cy="1569660"/>
          </a:xfrm>
          <a:prstGeom prst="rect">
            <a:avLst/>
          </a:prstGeom>
          <a:noFill/>
        </p:spPr>
        <p:txBody>
          <a:bodyPr wrap="square" rtlCol="0">
            <a:spAutoFit/>
          </a:bodyPr>
          <a:lstStyle/>
          <a:p>
            <a:r>
              <a:rPr lang="en-GB" sz="2400" dirty="0">
                <a:solidFill>
                  <a:schemeClr val="accent1">
                    <a:lumMod val="75000"/>
                  </a:schemeClr>
                </a:solidFill>
                <a:latin typeface="Ruda" panose="020B0604020202020204" charset="0"/>
              </a:rPr>
              <a:t>To a certain degree, Nike is exposed to tariffs and compliance costs, which puts some pressure on the company; however, in general, the PESTLE environment is even biassed in favour of Nike. The brand is poised for tech-based retail, the emerging culture of wellness, and the sustainability trend. Nike has strength and strategic flexibility, as its Move to Zero strategy and digital investments align directly with macro environment trends in the UK.</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423193" y="-3642783"/>
            <a:ext cx="4744266" cy="7767573"/>
          </a:xfrm>
          <a:custGeom>
            <a:avLst/>
            <a:gdLst/>
            <a:ahLst/>
            <a:cxnLst/>
            <a:rect l="l" t="t" r="r" b="b"/>
            <a:pathLst>
              <a:path w="4744266" h="7767573">
                <a:moveTo>
                  <a:pt x="0" y="0"/>
                </a:moveTo>
                <a:lnTo>
                  <a:pt x="4744266" y="0"/>
                </a:lnTo>
                <a:lnTo>
                  <a:pt x="4744266" y="7767573"/>
                </a:lnTo>
                <a:lnTo>
                  <a:pt x="0" y="77675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1305924" flipH="1">
            <a:off x="2206112" y="7614529"/>
            <a:ext cx="18937445" cy="7859040"/>
          </a:xfrm>
          <a:custGeom>
            <a:avLst/>
            <a:gdLst/>
            <a:ahLst/>
            <a:cxnLst/>
            <a:rect l="l" t="t" r="r" b="b"/>
            <a:pathLst>
              <a:path w="18937445" h="7859040">
                <a:moveTo>
                  <a:pt x="18937445" y="0"/>
                </a:moveTo>
                <a:lnTo>
                  <a:pt x="0" y="0"/>
                </a:lnTo>
                <a:lnTo>
                  <a:pt x="0" y="7859040"/>
                </a:lnTo>
                <a:lnTo>
                  <a:pt x="18937445" y="7859040"/>
                </a:lnTo>
                <a:lnTo>
                  <a:pt x="1893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22958" y="163509"/>
            <a:ext cx="611483" cy="972011"/>
          </a:xfrm>
          <a:custGeom>
            <a:avLst/>
            <a:gdLst/>
            <a:ahLst/>
            <a:cxnLst/>
            <a:rect l="l" t="t" r="r" b="b"/>
            <a:pathLst>
              <a:path w="611483" h="972011">
                <a:moveTo>
                  <a:pt x="0" y="0"/>
                </a:moveTo>
                <a:lnTo>
                  <a:pt x="611484" y="0"/>
                </a:lnTo>
                <a:lnTo>
                  <a:pt x="611484" y="972011"/>
                </a:lnTo>
                <a:lnTo>
                  <a:pt x="0" y="9720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8"/>
            <a:stretch>
              <a:fillRect/>
            </a:stretch>
          </a:blipFill>
        </p:spPr>
      </p:sp>
      <p:sp>
        <p:nvSpPr>
          <p:cNvPr id="6" name="Freeform 6"/>
          <p:cNvSpPr/>
          <p:nvPr/>
        </p:nvSpPr>
        <p:spPr>
          <a:xfrm>
            <a:off x="1534466" y="-3164"/>
            <a:ext cx="2624686" cy="1347339"/>
          </a:xfrm>
          <a:custGeom>
            <a:avLst/>
            <a:gdLst/>
            <a:ahLst/>
            <a:cxnLst/>
            <a:rect l="l" t="t" r="r" b="b"/>
            <a:pathLst>
              <a:path w="2624686" h="1347339">
                <a:moveTo>
                  <a:pt x="0" y="0"/>
                </a:moveTo>
                <a:lnTo>
                  <a:pt x="2624686" y="0"/>
                </a:lnTo>
                <a:lnTo>
                  <a:pt x="2624686" y="1347339"/>
                </a:lnTo>
                <a:lnTo>
                  <a:pt x="0" y="1347339"/>
                </a:lnTo>
                <a:lnTo>
                  <a:pt x="0" y="0"/>
                </a:lnTo>
                <a:close/>
              </a:path>
            </a:pathLst>
          </a:custGeom>
          <a:blipFill>
            <a:blip r:embed="rId9"/>
            <a:stretch>
              <a:fillRect/>
            </a:stretch>
          </a:blipFill>
        </p:spPr>
      </p:sp>
      <p:sp>
        <p:nvSpPr>
          <p:cNvPr id="7" name="TextBox 7"/>
          <p:cNvSpPr txBox="1"/>
          <p:nvPr/>
        </p:nvSpPr>
        <p:spPr>
          <a:xfrm>
            <a:off x="3586172" y="554265"/>
            <a:ext cx="13906402" cy="1747519"/>
          </a:xfrm>
          <a:prstGeom prst="rect">
            <a:avLst/>
          </a:prstGeom>
        </p:spPr>
        <p:txBody>
          <a:bodyPr lIns="0" tIns="0" rIns="0" bIns="0" rtlCol="0" anchor="t">
            <a:spAutoFit/>
          </a:bodyPr>
          <a:lstStyle/>
          <a:p>
            <a:pPr algn="ctr">
              <a:lnSpc>
                <a:spcPts val="7064"/>
              </a:lnSpc>
              <a:spcBef>
                <a:spcPct val="0"/>
              </a:spcBef>
            </a:pPr>
            <a:r>
              <a:rPr lang="en-US" sz="5046" b="1">
                <a:solidFill>
                  <a:srgbClr val="0555A3"/>
                </a:solidFill>
                <a:latin typeface="Ruda Bold"/>
                <a:ea typeface="Ruda Bold"/>
                <a:cs typeface="Ruda Bold"/>
                <a:sym typeface="Ruda Bold"/>
              </a:rPr>
              <a:t>INDUSTRY ANALYSIS: STRUCTURE, VALUE CHAIN, AND DRIVERS</a:t>
            </a:r>
          </a:p>
        </p:txBody>
      </p:sp>
      <p:sp>
        <p:nvSpPr>
          <p:cNvPr id="8" name="TextBox 8"/>
          <p:cNvSpPr txBox="1"/>
          <p:nvPr/>
        </p:nvSpPr>
        <p:spPr>
          <a:xfrm>
            <a:off x="603714" y="2287324"/>
            <a:ext cx="6188438" cy="5203091"/>
          </a:xfrm>
          <a:prstGeom prst="rect">
            <a:avLst/>
          </a:prstGeom>
        </p:spPr>
        <p:txBody>
          <a:bodyPr wrap="square" lIns="0" tIns="0" rIns="0" bIns="0" rtlCol="0" anchor="t">
            <a:spAutoFit/>
          </a:bodyPr>
          <a:lstStyle/>
          <a:p>
            <a:pPr algn="ctr">
              <a:lnSpc>
                <a:spcPts val="2933"/>
              </a:lnSpc>
            </a:pPr>
            <a:r>
              <a:rPr lang="en-US" sz="2596" b="1" dirty="0">
                <a:solidFill>
                  <a:srgbClr val="0555A3"/>
                </a:solidFill>
                <a:latin typeface="Ruda Bold"/>
                <a:ea typeface="Ruda Bold"/>
                <a:cs typeface="Ruda Bold"/>
                <a:sym typeface="Ruda Bold"/>
              </a:rPr>
              <a:t>Structure</a:t>
            </a:r>
          </a:p>
          <a:p>
            <a:pPr marL="457200" indent="-457200" algn="just">
              <a:lnSpc>
                <a:spcPts val="2933"/>
              </a:lnSpc>
              <a:spcBef>
                <a:spcPct val="0"/>
              </a:spcBef>
              <a:buFont typeface="Wingdings" panose="05000000000000000000" pitchFamily="2" charset="2"/>
              <a:buChar char="Ø"/>
            </a:pPr>
            <a:r>
              <a:rPr lang="en-US" sz="2400" dirty="0">
                <a:solidFill>
                  <a:srgbClr val="0555A3"/>
                </a:solidFill>
                <a:latin typeface="Ruda"/>
                <a:ea typeface="Ruda"/>
                <a:cs typeface="Ruda"/>
                <a:sym typeface="Ruda"/>
              </a:rPr>
              <a:t>The UK clothing retail market is a fast-moving industry that is a mix of both the fashion and sporting industries, which forms an oligopolistic market structure with Nike, Adidas, Primark, and H&amp;M, with an overall market share of 45%. </a:t>
            </a:r>
          </a:p>
          <a:p>
            <a:pPr marL="457200" indent="-457200" algn="just">
              <a:lnSpc>
                <a:spcPts val="2933"/>
              </a:lnSpc>
              <a:spcBef>
                <a:spcPct val="0"/>
              </a:spcBef>
              <a:buFont typeface="Wingdings" panose="05000000000000000000" pitchFamily="2" charset="2"/>
              <a:buChar char="Ø"/>
            </a:pPr>
            <a:r>
              <a:rPr lang="en-US" sz="2400" dirty="0">
                <a:solidFill>
                  <a:srgbClr val="0555A3"/>
                </a:solidFill>
                <a:latin typeface="Ruda"/>
                <a:ea typeface="Ruda"/>
                <a:cs typeface="Ruda"/>
                <a:sym typeface="Ruda"/>
              </a:rPr>
              <a:t>Its Herfindahl-Hirschman Index (HHI) is 1200, which is a moderate level of concentration (Tutor2u, 2024). </a:t>
            </a:r>
          </a:p>
          <a:p>
            <a:pPr marL="457200" indent="-457200" algn="just">
              <a:lnSpc>
                <a:spcPts val="2933"/>
              </a:lnSpc>
              <a:spcBef>
                <a:spcPct val="0"/>
              </a:spcBef>
              <a:buFont typeface="Wingdings" panose="05000000000000000000" pitchFamily="2" charset="2"/>
              <a:buChar char="Ø"/>
            </a:pPr>
            <a:r>
              <a:rPr lang="en-US" sz="2400" dirty="0">
                <a:solidFill>
                  <a:srgbClr val="0555A3"/>
                </a:solidFill>
                <a:latin typeface="Ruda"/>
                <a:ea typeface="Ruda"/>
                <a:cs typeface="Ruda"/>
                <a:sym typeface="Ruda"/>
              </a:rPr>
              <a:t>Competition on prices endangers the margins, but good brand equity safeguards high-end positioning (Lecture04, 2025, p. 2).</a:t>
            </a:r>
          </a:p>
        </p:txBody>
      </p:sp>
      <p:sp>
        <p:nvSpPr>
          <p:cNvPr id="9" name="TextBox 9"/>
          <p:cNvSpPr txBox="1"/>
          <p:nvPr/>
        </p:nvSpPr>
        <p:spPr>
          <a:xfrm>
            <a:off x="6983863" y="2357553"/>
            <a:ext cx="4866860" cy="5210401"/>
          </a:xfrm>
          <a:prstGeom prst="rect">
            <a:avLst/>
          </a:prstGeom>
        </p:spPr>
        <p:txBody>
          <a:bodyPr lIns="0" tIns="0" rIns="0" bIns="0" rtlCol="0" anchor="t">
            <a:spAutoFit/>
          </a:bodyPr>
          <a:lstStyle/>
          <a:p>
            <a:pPr algn="ctr">
              <a:lnSpc>
                <a:spcPts val="2933"/>
              </a:lnSpc>
            </a:pPr>
            <a:r>
              <a:rPr lang="en-US" sz="2596" b="1" dirty="0">
                <a:solidFill>
                  <a:srgbClr val="0555A3"/>
                </a:solidFill>
                <a:latin typeface="Ruda Bold"/>
                <a:ea typeface="Ruda Bold"/>
                <a:cs typeface="Ruda Bold"/>
                <a:sym typeface="Ruda Bold"/>
              </a:rPr>
              <a:t>Value Chain</a:t>
            </a:r>
          </a:p>
          <a:p>
            <a:pPr algn="just">
              <a:lnSpc>
                <a:spcPts val="2933"/>
              </a:lnSpc>
            </a:pPr>
            <a:endParaRPr lang="en-US" sz="2596" b="1" dirty="0">
              <a:solidFill>
                <a:srgbClr val="0555A3"/>
              </a:solidFill>
              <a:latin typeface="Ruda Bold"/>
              <a:ea typeface="Ruda Bold"/>
              <a:cs typeface="Ruda Bold"/>
              <a:sym typeface="Ruda Bold"/>
            </a:endParaRPr>
          </a:p>
          <a:p>
            <a:pPr marL="457200" indent="-457200" algn="just">
              <a:lnSpc>
                <a:spcPts val="2933"/>
              </a:lnSpc>
              <a:spcBef>
                <a:spcPct val="0"/>
              </a:spcBef>
              <a:buFont typeface="Wingdings" panose="05000000000000000000" pitchFamily="2" charset="2"/>
              <a:buChar char="Ø"/>
            </a:pPr>
            <a:r>
              <a:rPr lang="en-US" sz="2596" dirty="0">
                <a:solidFill>
                  <a:srgbClr val="0555A3"/>
                </a:solidFill>
                <a:latin typeface="Ruda"/>
                <a:ea typeface="Ruda"/>
                <a:cs typeface="Ruda"/>
                <a:sym typeface="Ruda"/>
              </a:rPr>
              <a:t>Nike's value chain encompasses the sourcing of cotton, design and manufacturing, distribution and retail</a:t>
            </a:r>
          </a:p>
          <a:p>
            <a:pPr marL="457200" indent="-457200" algn="just">
              <a:lnSpc>
                <a:spcPts val="2933"/>
              </a:lnSpc>
              <a:spcBef>
                <a:spcPct val="0"/>
              </a:spcBef>
              <a:buFont typeface="Wingdings" panose="05000000000000000000" pitchFamily="2" charset="2"/>
              <a:buChar char="Ø"/>
            </a:pPr>
            <a:r>
              <a:rPr lang="en-US" sz="2596" dirty="0">
                <a:solidFill>
                  <a:srgbClr val="0555A3"/>
                </a:solidFill>
                <a:latin typeface="Ruda"/>
                <a:ea typeface="Ruda"/>
                <a:cs typeface="Ruda"/>
                <a:sym typeface="Ruda"/>
              </a:rPr>
              <a:t>1,200 UK shops control 70% of the chain relative to the outsourced operations of its competitors, and it responds quickly (ADEC Innovations, n.d.).</a:t>
            </a:r>
          </a:p>
          <a:p>
            <a:pPr algn="just">
              <a:lnSpc>
                <a:spcPts val="2933"/>
              </a:lnSpc>
              <a:spcBef>
                <a:spcPct val="0"/>
              </a:spcBef>
            </a:pPr>
            <a:endParaRPr lang="en-US" sz="2596" dirty="0">
              <a:solidFill>
                <a:srgbClr val="0555A3"/>
              </a:solidFill>
              <a:latin typeface="Ruda"/>
              <a:ea typeface="Ruda"/>
              <a:cs typeface="Ruda"/>
              <a:sym typeface="Ruda"/>
            </a:endParaRPr>
          </a:p>
        </p:txBody>
      </p:sp>
      <p:sp>
        <p:nvSpPr>
          <p:cNvPr id="10" name="TextBox 10"/>
          <p:cNvSpPr txBox="1"/>
          <p:nvPr/>
        </p:nvSpPr>
        <p:spPr>
          <a:xfrm>
            <a:off x="12246921" y="2287324"/>
            <a:ext cx="5437364" cy="5210401"/>
          </a:xfrm>
          <a:prstGeom prst="rect">
            <a:avLst/>
          </a:prstGeom>
        </p:spPr>
        <p:txBody>
          <a:bodyPr wrap="square" lIns="0" tIns="0" rIns="0" bIns="0" rtlCol="0" anchor="t">
            <a:spAutoFit/>
          </a:bodyPr>
          <a:lstStyle/>
          <a:p>
            <a:pPr algn="ctr">
              <a:lnSpc>
                <a:spcPts val="2933"/>
              </a:lnSpc>
            </a:pPr>
            <a:r>
              <a:rPr lang="en-US" sz="2596" b="1" dirty="0">
                <a:solidFill>
                  <a:srgbClr val="0555A3"/>
                </a:solidFill>
                <a:latin typeface="Ruda Bold"/>
                <a:ea typeface="Ruda Bold"/>
                <a:cs typeface="Ruda Bold"/>
                <a:sym typeface="Ruda Bold"/>
              </a:rPr>
              <a:t>Key Drivers</a:t>
            </a:r>
          </a:p>
          <a:p>
            <a:pPr algn="just">
              <a:lnSpc>
                <a:spcPts val="2933"/>
              </a:lnSpc>
              <a:spcBef>
                <a:spcPct val="0"/>
              </a:spcBef>
            </a:pPr>
            <a:r>
              <a:rPr lang="en-US" sz="2596" dirty="0">
                <a:solidFill>
                  <a:srgbClr val="0555A3"/>
                </a:solidFill>
                <a:latin typeface="Ruda"/>
                <a:ea typeface="Ruda"/>
                <a:cs typeface="Ruda"/>
                <a:sym typeface="Ruda"/>
              </a:rPr>
              <a:t>The most prominent change key drivers are: </a:t>
            </a:r>
          </a:p>
          <a:p>
            <a:pPr marL="457200" indent="-457200" algn="just">
              <a:lnSpc>
                <a:spcPts val="2933"/>
              </a:lnSpc>
              <a:spcBef>
                <a:spcPct val="0"/>
              </a:spcBef>
              <a:buFont typeface="Arial" panose="020B0604020202020204" pitchFamily="34" charset="0"/>
              <a:buChar char="•"/>
            </a:pPr>
            <a:r>
              <a:rPr lang="en-US" sz="2596" b="1" dirty="0">
                <a:solidFill>
                  <a:srgbClr val="0555A3"/>
                </a:solidFill>
                <a:latin typeface="Ruda"/>
                <a:ea typeface="Ruda"/>
                <a:cs typeface="Ruda"/>
                <a:sym typeface="Ruda"/>
              </a:rPr>
              <a:t>digital disruption: </a:t>
            </a:r>
            <a:r>
              <a:rPr lang="en-US" sz="2596" dirty="0">
                <a:solidFill>
                  <a:srgbClr val="0555A3"/>
                </a:solidFill>
                <a:latin typeface="Ruda"/>
                <a:ea typeface="Ruda"/>
                <a:cs typeface="Ruda"/>
                <a:sym typeface="Ruda"/>
              </a:rPr>
              <a:t>a 30 per cent increase in e-retail </a:t>
            </a:r>
          </a:p>
          <a:p>
            <a:pPr marL="457200" indent="-457200" algn="just">
              <a:lnSpc>
                <a:spcPts val="2933"/>
              </a:lnSpc>
              <a:spcBef>
                <a:spcPct val="0"/>
              </a:spcBef>
              <a:buFont typeface="Arial" panose="020B0604020202020204" pitchFamily="34" charset="0"/>
              <a:buChar char="•"/>
            </a:pPr>
            <a:r>
              <a:rPr lang="en-US" sz="2596" b="1" dirty="0">
                <a:solidFill>
                  <a:srgbClr val="0555A3"/>
                </a:solidFill>
                <a:latin typeface="Ruda"/>
                <a:ea typeface="Ruda"/>
                <a:cs typeface="Ruda"/>
                <a:sym typeface="Ruda"/>
              </a:rPr>
              <a:t>sustainability goals</a:t>
            </a:r>
            <a:r>
              <a:rPr lang="en-US" sz="2596" dirty="0">
                <a:solidFill>
                  <a:srgbClr val="0555A3"/>
                </a:solidFill>
                <a:latin typeface="Ruda"/>
                <a:ea typeface="Ruda"/>
                <a:cs typeface="Ruda"/>
                <a:sym typeface="Ruda"/>
              </a:rPr>
              <a:t>: 50 per cent recycled materials by 2025</a:t>
            </a:r>
          </a:p>
          <a:p>
            <a:pPr marL="457200" indent="-457200" algn="just">
              <a:lnSpc>
                <a:spcPts val="2933"/>
              </a:lnSpc>
              <a:spcBef>
                <a:spcPct val="0"/>
              </a:spcBef>
              <a:buFont typeface="Arial" panose="020B0604020202020204" pitchFamily="34" charset="0"/>
              <a:buChar char="•"/>
            </a:pPr>
            <a:r>
              <a:rPr lang="en-US" sz="2596" dirty="0">
                <a:solidFill>
                  <a:srgbClr val="0555A3"/>
                </a:solidFill>
                <a:latin typeface="Ruda"/>
                <a:ea typeface="Ruda"/>
                <a:cs typeface="Ruda"/>
                <a:sym typeface="Ruda"/>
              </a:rPr>
              <a:t>Global supply chain exposure (FY23 NIKE Impact Report, 2024). </a:t>
            </a:r>
          </a:p>
          <a:p>
            <a:pPr algn="just">
              <a:lnSpc>
                <a:spcPts val="2933"/>
              </a:lnSpc>
              <a:spcBef>
                <a:spcPct val="0"/>
              </a:spcBef>
            </a:pPr>
            <a:r>
              <a:rPr lang="en-US" sz="2596" dirty="0">
                <a:solidFill>
                  <a:srgbClr val="0555A3"/>
                </a:solidFill>
                <a:latin typeface="Ruda"/>
                <a:ea typeface="Ruda"/>
                <a:cs typeface="Ruda"/>
                <a:sym typeface="Ruda"/>
              </a:rPr>
              <a:t>Those drivers are converted into competitive advantages by making the potential threats into AI-driven predictions and integrating the circular economy.</a:t>
            </a:r>
          </a:p>
        </p:txBody>
      </p:sp>
      <p:sp>
        <p:nvSpPr>
          <p:cNvPr id="11" name="TextBox 11"/>
          <p:cNvSpPr txBox="1"/>
          <p:nvPr/>
        </p:nvSpPr>
        <p:spPr>
          <a:xfrm>
            <a:off x="6346001" y="7708970"/>
            <a:ext cx="12369589" cy="1870961"/>
          </a:xfrm>
          <a:prstGeom prst="rect">
            <a:avLst/>
          </a:prstGeom>
        </p:spPr>
        <p:txBody>
          <a:bodyPr wrap="square" lIns="0" tIns="0" rIns="0" bIns="0" rtlCol="0" anchor="t">
            <a:spAutoFit/>
          </a:bodyPr>
          <a:lstStyle/>
          <a:p>
            <a:pPr>
              <a:lnSpc>
                <a:spcPts val="2933"/>
              </a:lnSpc>
              <a:spcBef>
                <a:spcPct val="0"/>
              </a:spcBef>
            </a:pPr>
            <a:r>
              <a:rPr lang="en-US" sz="2596" b="1" dirty="0">
                <a:solidFill>
                  <a:srgbClr val="0555A3"/>
                </a:solidFill>
                <a:latin typeface="Ruda" panose="020B0604020202020204" charset="0"/>
                <a:ea typeface="Ruda Bold"/>
                <a:cs typeface="Ruda Bold"/>
                <a:sym typeface="Ruda Bold"/>
              </a:rPr>
              <a:t>Evaluation: </a:t>
            </a:r>
            <a:r>
              <a:rPr lang="en-GB" sz="2800" dirty="0">
                <a:solidFill>
                  <a:schemeClr val="accent1">
                    <a:lumMod val="75000"/>
                  </a:schemeClr>
                </a:solidFill>
                <a:latin typeface="Ruda" panose="020B0604020202020204" charset="0"/>
              </a:rPr>
              <a:t>The current trends of digital disruption, sustainability, and supply chain issues are on the move, and Nike should be innovative and agile. Its good value chain and brand equity enable it to convert these issues into a competitive edge, besides enabling it to offer its differentiation strategy in the UK.</a:t>
            </a:r>
            <a:endParaRPr lang="en-US" sz="2596" b="1" dirty="0">
              <a:solidFill>
                <a:schemeClr val="accent1">
                  <a:lumMod val="75000"/>
                </a:schemeClr>
              </a:solidFill>
              <a:latin typeface="Ruda" panose="020B0604020202020204" charset="0"/>
              <a:ea typeface="Ruda Bold"/>
              <a:cs typeface="Ruda Bold"/>
              <a:sym typeface="Ruda Bold"/>
            </a:endParaRPr>
          </a:p>
        </p:txBody>
      </p:sp>
      <p:sp>
        <p:nvSpPr>
          <p:cNvPr id="12" name="Freeform 7">
            <a:extLst>
              <a:ext uri="{FF2B5EF4-FFF2-40B4-BE49-F238E27FC236}">
                <a16:creationId xmlns:a16="http://schemas.microsoft.com/office/drawing/2014/main" id="{CE5E0DAE-18EC-D1A3-6EFD-3D8312F3BA31}"/>
              </a:ext>
            </a:extLst>
          </p:cNvPr>
          <p:cNvSpPr/>
          <p:nvPr/>
        </p:nvSpPr>
        <p:spPr>
          <a:xfrm>
            <a:off x="4113" y="7490415"/>
            <a:ext cx="5343425" cy="3118942"/>
          </a:xfrm>
          <a:custGeom>
            <a:avLst/>
            <a:gdLst/>
            <a:ahLst/>
            <a:cxnLst/>
            <a:rect l="l" t="t" r="r" b="b"/>
            <a:pathLst>
              <a:path w="5343425" h="3118942">
                <a:moveTo>
                  <a:pt x="0" y="0"/>
                </a:moveTo>
                <a:lnTo>
                  <a:pt x="5343425" y="0"/>
                </a:lnTo>
                <a:lnTo>
                  <a:pt x="5343425" y="3118942"/>
                </a:lnTo>
                <a:lnTo>
                  <a:pt x="0" y="3118942"/>
                </a:lnTo>
                <a:lnTo>
                  <a:pt x="0" y="0"/>
                </a:lnTo>
                <a:close/>
              </a:path>
            </a:pathLst>
          </a:custGeom>
          <a:blipFill>
            <a:blip r:embed="rId10"/>
            <a:stretch>
              <a:fillRect/>
            </a:stretch>
          </a:blipFill>
        </p:spPr>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952731" flipV="1">
            <a:off x="13641633" y="-2223965"/>
            <a:ext cx="3035227" cy="6468151"/>
          </a:xfrm>
          <a:custGeom>
            <a:avLst/>
            <a:gdLst/>
            <a:ahLst/>
            <a:cxnLst/>
            <a:rect l="l" t="t" r="r" b="b"/>
            <a:pathLst>
              <a:path w="5624098" h="9208083">
                <a:moveTo>
                  <a:pt x="0" y="9208083"/>
                </a:moveTo>
                <a:lnTo>
                  <a:pt x="5624098" y="9208083"/>
                </a:lnTo>
                <a:lnTo>
                  <a:pt x="5624098" y="0"/>
                </a:lnTo>
                <a:lnTo>
                  <a:pt x="0" y="0"/>
                </a:lnTo>
                <a:lnTo>
                  <a:pt x="0" y="920808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58074">
            <a:off x="-4495902" y="7402646"/>
            <a:ext cx="18937445" cy="7859040"/>
          </a:xfrm>
          <a:custGeom>
            <a:avLst/>
            <a:gdLst/>
            <a:ahLst/>
            <a:cxnLst/>
            <a:rect l="l" t="t" r="r" b="b"/>
            <a:pathLst>
              <a:path w="18937445" h="7859040">
                <a:moveTo>
                  <a:pt x="0" y="0"/>
                </a:moveTo>
                <a:lnTo>
                  <a:pt x="18937445" y="0"/>
                </a:lnTo>
                <a:lnTo>
                  <a:pt x="18937445" y="7859040"/>
                </a:lnTo>
                <a:lnTo>
                  <a:pt x="0" y="78590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040408" y="190706"/>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2242784" y="8580408"/>
            <a:ext cx="5945570" cy="3940643"/>
          </a:xfrm>
          <a:custGeom>
            <a:avLst/>
            <a:gdLst/>
            <a:ahLst/>
            <a:cxnLst/>
            <a:rect l="l" t="t" r="r" b="b"/>
            <a:pathLst>
              <a:path w="7471993" h="4968876">
                <a:moveTo>
                  <a:pt x="7471993" y="0"/>
                </a:moveTo>
                <a:lnTo>
                  <a:pt x="0" y="0"/>
                </a:lnTo>
                <a:lnTo>
                  <a:pt x="0" y="4968875"/>
                </a:lnTo>
                <a:lnTo>
                  <a:pt x="7471993" y="4968875"/>
                </a:lnTo>
                <a:lnTo>
                  <a:pt x="7471993" y="0"/>
                </a:lnTo>
                <a:close/>
              </a:path>
            </a:pathLst>
          </a:custGeom>
          <a:blipFill>
            <a:blip r:embed="rId8"/>
            <a:stretch>
              <a:fillRect/>
            </a:stretch>
          </a:blipFill>
        </p:spPr>
      </p:sp>
      <p:sp>
        <p:nvSpPr>
          <p:cNvPr id="7" name="TextBox 7"/>
          <p:cNvSpPr txBox="1"/>
          <p:nvPr/>
        </p:nvSpPr>
        <p:spPr>
          <a:xfrm>
            <a:off x="531771" y="88980"/>
            <a:ext cx="12202648" cy="857298"/>
          </a:xfrm>
          <a:prstGeom prst="rect">
            <a:avLst/>
          </a:prstGeom>
        </p:spPr>
        <p:txBody>
          <a:bodyPr lIns="0" tIns="0" rIns="0" bIns="0" rtlCol="0" anchor="t">
            <a:spAutoFit/>
          </a:bodyPr>
          <a:lstStyle/>
          <a:p>
            <a:pPr algn="l">
              <a:lnSpc>
                <a:spcPts val="7064"/>
              </a:lnSpc>
              <a:spcBef>
                <a:spcPct val="0"/>
              </a:spcBef>
            </a:pPr>
            <a:r>
              <a:rPr lang="en-US" sz="5046" b="1" dirty="0">
                <a:solidFill>
                  <a:srgbClr val="0555A3"/>
                </a:solidFill>
                <a:latin typeface="Ruda Bold"/>
                <a:ea typeface="Ruda Bold"/>
                <a:cs typeface="Ruda Bold"/>
                <a:sym typeface="Ruda Bold"/>
              </a:rPr>
              <a:t>INDUSTRY ATTRACTIVENESS: FIVE FORCES</a:t>
            </a:r>
          </a:p>
        </p:txBody>
      </p:sp>
      <p:sp>
        <p:nvSpPr>
          <p:cNvPr id="8" name="TextBox 8"/>
          <p:cNvSpPr txBox="1"/>
          <p:nvPr/>
        </p:nvSpPr>
        <p:spPr>
          <a:xfrm>
            <a:off x="531771" y="893764"/>
            <a:ext cx="8882098" cy="7755969"/>
          </a:xfrm>
          <a:prstGeom prst="rect">
            <a:avLst/>
          </a:prstGeom>
        </p:spPr>
        <p:txBody>
          <a:bodyPr wrap="square" lIns="0" tIns="0" rIns="0" bIns="0" rtlCol="0" anchor="t">
            <a:spAutoFit/>
          </a:bodyPr>
          <a:lstStyle/>
          <a:p>
            <a:r>
              <a:rPr lang="en-GB" sz="2800" b="1" dirty="0">
                <a:solidFill>
                  <a:schemeClr val="accent1">
                    <a:lumMod val="75000"/>
                  </a:schemeClr>
                </a:solidFill>
                <a:latin typeface="Ruda" panose="020B0604020202020204" charset="0"/>
              </a:rPr>
              <a:t>1. Threat of New Entrants – Medium</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High capital needed for national presence (£50m+)</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Strong brand equity of incumbents</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Online platforms allow niche entry</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Economies of scale favour established brands</a:t>
            </a:r>
          </a:p>
          <a:p>
            <a:pPr marL="457200" indent="-457200">
              <a:buFont typeface="Arial" panose="020B0604020202020204" pitchFamily="34" charset="0"/>
              <a:buChar char="•"/>
            </a:pPr>
            <a:endParaRPr lang="en-GB" sz="2800" dirty="0">
              <a:solidFill>
                <a:schemeClr val="accent1">
                  <a:lumMod val="75000"/>
                </a:schemeClr>
              </a:solidFill>
              <a:latin typeface="Ruda" panose="020B0604020202020204" charset="0"/>
            </a:endParaRPr>
          </a:p>
          <a:p>
            <a:r>
              <a:rPr lang="en-GB" sz="2800" b="1" dirty="0">
                <a:solidFill>
                  <a:schemeClr val="accent1">
                    <a:lumMod val="75000"/>
                  </a:schemeClr>
                </a:solidFill>
                <a:latin typeface="Ruda" panose="020B0604020202020204" charset="0"/>
              </a:rPr>
              <a:t>2. Threat of Substitutes – High</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Fast-fashion offers cheaper trend-driven apparel</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Low switching costs</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Online leisure/athleisure brands emerging</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Rapid fashion trend changes</a:t>
            </a:r>
          </a:p>
          <a:p>
            <a:pPr marL="457200" indent="-457200">
              <a:buFont typeface="Arial" panose="020B0604020202020204" pitchFamily="34" charset="0"/>
              <a:buChar char="•"/>
            </a:pPr>
            <a:endParaRPr lang="en-GB" sz="2800" dirty="0">
              <a:solidFill>
                <a:schemeClr val="accent1">
                  <a:lumMod val="75000"/>
                </a:schemeClr>
              </a:solidFill>
              <a:latin typeface="Ruda" panose="020B0604020202020204" charset="0"/>
            </a:endParaRPr>
          </a:p>
          <a:p>
            <a:r>
              <a:rPr lang="en-GB" sz="2800" b="1" dirty="0">
                <a:solidFill>
                  <a:schemeClr val="accent1">
                    <a:lumMod val="75000"/>
                  </a:schemeClr>
                </a:solidFill>
                <a:latin typeface="Ruda" panose="020B0604020202020204" charset="0"/>
              </a:rPr>
              <a:t>3. Buyer Power – Strong</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Consumers: teens to athletes</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Apps, reviews, and social media increase leverage</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Sustainability demands impact choices</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Easy brand switching (Euromonitor International, 2025)</a:t>
            </a:r>
          </a:p>
        </p:txBody>
      </p:sp>
      <p:sp>
        <p:nvSpPr>
          <p:cNvPr id="10" name="Rectangle 9">
            <a:extLst>
              <a:ext uri="{FF2B5EF4-FFF2-40B4-BE49-F238E27FC236}">
                <a16:creationId xmlns:a16="http://schemas.microsoft.com/office/drawing/2014/main" id="{88635A36-B7F1-89B0-1038-F3B25C68261F}"/>
              </a:ext>
            </a:extLst>
          </p:cNvPr>
          <p:cNvSpPr/>
          <p:nvPr/>
        </p:nvSpPr>
        <p:spPr>
          <a:xfrm>
            <a:off x="10014109" y="2075185"/>
            <a:ext cx="8045292" cy="256059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500" b="1" dirty="0">
                <a:solidFill>
                  <a:schemeClr val="accent1">
                    <a:lumMod val="75000"/>
                  </a:schemeClr>
                </a:solidFill>
                <a:latin typeface="Ruda" panose="020B0604020202020204" charset="0"/>
              </a:rPr>
              <a:t>4. Supplier Power – Medium</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Sourcing from multiple regions reduces dependency</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Moderate supplier differentiation</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Backward integration possible</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Supply chain disruptions risk production</a:t>
            </a:r>
          </a:p>
        </p:txBody>
      </p:sp>
      <p:sp>
        <p:nvSpPr>
          <p:cNvPr id="11" name="Rectangle 10">
            <a:extLst>
              <a:ext uri="{FF2B5EF4-FFF2-40B4-BE49-F238E27FC236}">
                <a16:creationId xmlns:a16="http://schemas.microsoft.com/office/drawing/2014/main" id="{54293C11-7930-3C2D-C313-8CBBCCCF0E70}"/>
              </a:ext>
            </a:extLst>
          </p:cNvPr>
          <p:cNvSpPr/>
          <p:nvPr/>
        </p:nvSpPr>
        <p:spPr>
          <a:xfrm>
            <a:off x="10014109" y="5448300"/>
            <a:ext cx="7435691" cy="24488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500" b="1" dirty="0">
                <a:solidFill>
                  <a:schemeClr val="accent1">
                    <a:lumMod val="75000"/>
                  </a:schemeClr>
                </a:solidFill>
                <a:latin typeface="Ruda" panose="020B0604020202020204" charset="0"/>
              </a:rPr>
              <a:t>5. Competitive Rivalry – High</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Slow market growth (~3.39%)</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Promotional wars among Adidas, Puma, others</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Differentiation and innovation critical</a:t>
            </a:r>
          </a:p>
          <a:p>
            <a:pPr marL="342900" indent="-342900">
              <a:buFont typeface="Arial" panose="020B0604020202020204" pitchFamily="34" charset="0"/>
              <a:buChar char="•"/>
            </a:pPr>
            <a:r>
              <a:rPr lang="en-GB" sz="2500" dirty="0">
                <a:solidFill>
                  <a:schemeClr val="accent1">
                    <a:lumMod val="75000"/>
                  </a:schemeClr>
                </a:solidFill>
                <a:latin typeface="Ruda" panose="020B0604020202020204" charset="0"/>
              </a:rPr>
              <a:t>High marketing spend needed</a:t>
            </a:r>
          </a:p>
        </p:txBody>
      </p:sp>
      <p:sp>
        <p:nvSpPr>
          <p:cNvPr id="12" name="Freeform 6"/>
          <p:cNvSpPr/>
          <p:nvPr/>
        </p:nvSpPr>
        <p:spPr>
          <a:xfrm>
            <a:off x="15968752" y="19304"/>
            <a:ext cx="2303959" cy="2486729"/>
          </a:xfrm>
          <a:custGeom>
            <a:avLst/>
            <a:gdLst/>
            <a:ahLst/>
            <a:cxnLst/>
            <a:rect l="l" t="t" r="r" b="b"/>
            <a:pathLst>
              <a:path w="4495185" h="4804451">
                <a:moveTo>
                  <a:pt x="0" y="0"/>
                </a:moveTo>
                <a:lnTo>
                  <a:pt x="4495185" y="0"/>
                </a:lnTo>
                <a:lnTo>
                  <a:pt x="4495185" y="4804451"/>
                </a:lnTo>
                <a:lnTo>
                  <a:pt x="0" y="4804451"/>
                </a:lnTo>
                <a:lnTo>
                  <a:pt x="0" y="0"/>
                </a:lnTo>
                <a:close/>
              </a:path>
            </a:pathLst>
          </a:custGeom>
          <a:blipFill>
            <a:blip r:embed="rId9"/>
            <a:stretch>
              <a:fillRect l="-3770" r="-5904" b="-10507"/>
            </a:stretch>
          </a:blipFill>
        </p:spPr>
      </p:sp>
      <p:sp>
        <p:nvSpPr>
          <p:cNvPr id="13" name="TextBox 12">
            <a:extLst>
              <a:ext uri="{FF2B5EF4-FFF2-40B4-BE49-F238E27FC236}">
                <a16:creationId xmlns:a16="http://schemas.microsoft.com/office/drawing/2014/main" id="{AC033EA6-1E34-D1DE-C26F-ABD47DDC5FBD}"/>
              </a:ext>
            </a:extLst>
          </p:cNvPr>
          <p:cNvSpPr txBox="1"/>
          <p:nvPr/>
        </p:nvSpPr>
        <p:spPr>
          <a:xfrm>
            <a:off x="531771" y="8439129"/>
            <a:ext cx="17527629" cy="954107"/>
          </a:xfrm>
          <a:prstGeom prst="rect">
            <a:avLst/>
          </a:prstGeom>
          <a:noFill/>
        </p:spPr>
        <p:txBody>
          <a:bodyPr wrap="square" rtlCol="0">
            <a:spAutoFit/>
          </a:bodyPr>
          <a:lstStyle/>
          <a:p>
            <a:r>
              <a:rPr lang="en-GB" sz="2800" b="1" dirty="0">
                <a:solidFill>
                  <a:schemeClr val="accent1">
                    <a:lumMod val="75000"/>
                  </a:schemeClr>
                </a:solidFill>
                <a:latin typeface="Ruda" panose="020B0604020202020204" charset="0"/>
              </a:rPr>
              <a:t>Evaluation</a:t>
            </a:r>
            <a:r>
              <a:rPr lang="en-GB" sz="2800" dirty="0">
                <a:solidFill>
                  <a:schemeClr val="accent1">
                    <a:lumMod val="75000"/>
                  </a:schemeClr>
                </a:solidFill>
                <a:latin typeface="Ruda" panose="020B0604020202020204" charset="0"/>
              </a:rPr>
              <a:t>: Nike needs to innovate continuously in order to remain differentiated and protect its position in the market.</a:t>
            </a:r>
            <a:endParaRPr lang="LID4096" sz="2800" dirty="0">
              <a:solidFill>
                <a:schemeClr val="accent1">
                  <a:lumMod val="75000"/>
                </a:schemeClr>
              </a:solidFill>
              <a:latin typeface="Ruda"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374154" y="-3600451"/>
            <a:ext cx="4537216" cy="7428579"/>
          </a:xfrm>
          <a:custGeom>
            <a:avLst/>
            <a:gdLst/>
            <a:ahLst/>
            <a:cxnLst/>
            <a:rect l="l" t="t" r="r" b="b"/>
            <a:pathLst>
              <a:path w="4537216" h="7428579">
                <a:moveTo>
                  <a:pt x="0" y="0"/>
                </a:moveTo>
                <a:lnTo>
                  <a:pt x="4537216" y="0"/>
                </a:lnTo>
                <a:lnTo>
                  <a:pt x="4537216" y="7428579"/>
                </a:lnTo>
                <a:lnTo>
                  <a:pt x="0" y="74285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99461" flipH="1">
            <a:off x="2382000" y="7117711"/>
            <a:ext cx="18937445" cy="7859040"/>
          </a:xfrm>
          <a:custGeom>
            <a:avLst/>
            <a:gdLst/>
            <a:ahLst/>
            <a:cxnLst/>
            <a:rect l="l" t="t" r="r" b="b"/>
            <a:pathLst>
              <a:path w="18937445" h="7859040">
                <a:moveTo>
                  <a:pt x="18937445" y="0"/>
                </a:moveTo>
                <a:lnTo>
                  <a:pt x="0" y="0"/>
                </a:lnTo>
                <a:lnTo>
                  <a:pt x="0" y="7859039"/>
                </a:lnTo>
                <a:lnTo>
                  <a:pt x="18937445" y="7859039"/>
                </a:lnTo>
                <a:lnTo>
                  <a:pt x="1893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26318" y="236247"/>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8"/>
            <a:stretch>
              <a:fillRect/>
            </a:stretch>
          </a:blipFill>
        </p:spPr>
      </p:sp>
      <p:sp>
        <p:nvSpPr>
          <p:cNvPr id="8" name="TextBox 8"/>
          <p:cNvSpPr txBox="1"/>
          <p:nvPr/>
        </p:nvSpPr>
        <p:spPr>
          <a:xfrm>
            <a:off x="4097348" y="552426"/>
            <a:ext cx="13490638" cy="857298"/>
          </a:xfrm>
          <a:prstGeom prst="rect">
            <a:avLst/>
          </a:prstGeom>
        </p:spPr>
        <p:txBody>
          <a:bodyPr lIns="0" tIns="0" rIns="0" bIns="0" rtlCol="0" anchor="t">
            <a:spAutoFit/>
          </a:bodyPr>
          <a:lstStyle/>
          <a:p>
            <a:pPr algn="ctr">
              <a:lnSpc>
                <a:spcPts val="7064"/>
              </a:lnSpc>
              <a:spcBef>
                <a:spcPct val="0"/>
              </a:spcBef>
            </a:pPr>
            <a:r>
              <a:rPr lang="en-US" sz="5046" b="1">
                <a:solidFill>
                  <a:srgbClr val="0555A3"/>
                </a:solidFill>
                <a:latin typeface="Ruda Bold"/>
                <a:ea typeface="Ruda Bold"/>
                <a:cs typeface="Ruda Bold"/>
                <a:sym typeface="Ruda Bold"/>
              </a:rPr>
              <a:t>STRATEGIC GROUP AND COMPETITOR ANALYSIS</a:t>
            </a:r>
          </a:p>
        </p:txBody>
      </p:sp>
      <p:graphicFrame>
        <p:nvGraphicFramePr>
          <p:cNvPr id="9" name="Table 8">
            <a:extLst>
              <a:ext uri="{FF2B5EF4-FFF2-40B4-BE49-F238E27FC236}">
                <a16:creationId xmlns:a16="http://schemas.microsoft.com/office/drawing/2014/main" id="{5C7E5C83-0558-FE95-FF3C-736A248CD633}"/>
              </a:ext>
            </a:extLst>
          </p:cNvPr>
          <p:cNvGraphicFramePr>
            <a:graphicFrameLocks noGrp="1"/>
          </p:cNvGraphicFramePr>
          <p:nvPr>
            <p:extLst>
              <p:ext uri="{D42A27DB-BD31-4B8C-83A1-F6EECF244321}">
                <p14:modId xmlns:p14="http://schemas.microsoft.com/office/powerpoint/2010/main" val="1285485590"/>
              </p:ext>
            </p:extLst>
          </p:nvPr>
        </p:nvGraphicFramePr>
        <p:xfrm>
          <a:off x="552258" y="1408046"/>
          <a:ext cx="17228282" cy="4370402"/>
        </p:xfrm>
        <a:graphic>
          <a:graphicData uri="http://schemas.openxmlformats.org/drawingml/2006/table">
            <a:tbl>
              <a:tblPr lastCol="1">
                <a:tableStyleId>{35758FB7-9AC5-4552-8A53-C91805E547FA}</a:tableStyleId>
              </a:tblPr>
              <a:tblGrid>
                <a:gridCol w="2315475">
                  <a:extLst>
                    <a:ext uri="{9D8B030D-6E8A-4147-A177-3AD203B41FA5}">
                      <a16:colId xmlns:a16="http://schemas.microsoft.com/office/drawing/2014/main" val="1879309871"/>
                    </a:ext>
                  </a:extLst>
                </a:gridCol>
                <a:gridCol w="5819067">
                  <a:extLst>
                    <a:ext uri="{9D8B030D-6E8A-4147-A177-3AD203B41FA5}">
                      <a16:colId xmlns:a16="http://schemas.microsoft.com/office/drawing/2014/main" val="4184387035"/>
                    </a:ext>
                  </a:extLst>
                </a:gridCol>
                <a:gridCol w="5105400">
                  <a:extLst>
                    <a:ext uri="{9D8B030D-6E8A-4147-A177-3AD203B41FA5}">
                      <a16:colId xmlns:a16="http://schemas.microsoft.com/office/drawing/2014/main" val="436040139"/>
                    </a:ext>
                  </a:extLst>
                </a:gridCol>
                <a:gridCol w="3831071">
                  <a:extLst>
                    <a:ext uri="{9D8B030D-6E8A-4147-A177-3AD203B41FA5}">
                      <a16:colId xmlns:a16="http://schemas.microsoft.com/office/drawing/2014/main" val="1336789248"/>
                    </a:ext>
                  </a:extLst>
                </a:gridCol>
                <a:gridCol w="157269">
                  <a:extLst>
                    <a:ext uri="{9D8B030D-6E8A-4147-A177-3AD203B41FA5}">
                      <a16:colId xmlns:a16="http://schemas.microsoft.com/office/drawing/2014/main" val="4060735736"/>
                    </a:ext>
                  </a:extLst>
                </a:gridCol>
              </a:tblGrid>
              <a:tr h="368421">
                <a:tc>
                  <a:txBody>
                    <a:bodyPr/>
                    <a:lstStyle/>
                    <a:p>
                      <a:pPr>
                        <a:buNone/>
                      </a:pPr>
                      <a:r>
                        <a:rPr lang="en-US" sz="2200" b="1">
                          <a:solidFill>
                            <a:schemeClr val="accent1">
                              <a:lumMod val="75000"/>
                            </a:schemeClr>
                          </a:solidFill>
                          <a:latin typeface="Ruda" panose="020B0604020202020204" charset="0"/>
                        </a:rPr>
                        <a:t>Feature</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US" sz="2200" b="1">
                          <a:solidFill>
                            <a:schemeClr val="accent1">
                              <a:lumMod val="75000"/>
                            </a:schemeClr>
                          </a:solidFill>
                          <a:latin typeface="Ruda" panose="020B0604020202020204" charset="0"/>
                        </a:rPr>
                        <a:t>Nike</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US" sz="2200" b="1">
                          <a:solidFill>
                            <a:schemeClr val="accent1">
                              <a:lumMod val="75000"/>
                            </a:schemeClr>
                          </a:solidFill>
                          <a:latin typeface="Ruda" panose="020B0604020202020204" charset="0"/>
                        </a:rPr>
                        <a:t>Adidas</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US" sz="2200" b="1">
                          <a:solidFill>
                            <a:schemeClr val="accent1">
                              <a:lumMod val="75000"/>
                            </a:schemeClr>
                          </a:solidFill>
                          <a:latin typeface="Ruda" panose="020B0604020202020204" charset="0"/>
                        </a:rPr>
                        <a:t>Puma</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endParaRPr lang="en-US" sz="2200" dirty="0">
                        <a:solidFill>
                          <a:schemeClr val="accent1">
                            <a:lumMod val="75000"/>
                          </a:schemeClr>
                        </a:solidFill>
                        <a:latin typeface="Ruda" panose="020B0604020202020204" charset="0"/>
                      </a:endParaRPr>
                    </a:p>
                  </a:txBody>
                  <a:tcPr marL="47642" marR="47642" marT="23821" marB="23821" anchor="ctr"/>
                </a:tc>
                <a:extLst>
                  <a:ext uri="{0D108BD9-81ED-4DB2-BD59-A6C34878D82A}">
                    <a16:rowId xmlns:a16="http://schemas.microsoft.com/office/drawing/2014/main" val="1964596316"/>
                  </a:ext>
                </a:extLst>
              </a:tr>
              <a:tr h="1013586">
                <a:tc>
                  <a:txBody>
                    <a:bodyPr/>
                    <a:lstStyle/>
                    <a:p>
                      <a:pPr>
                        <a:buNone/>
                      </a:pPr>
                      <a:r>
                        <a:rPr lang="en-US" sz="2200" b="1">
                          <a:solidFill>
                            <a:schemeClr val="accent1">
                              <a:lumMod val="75000"/>
                            </a:schemeClr>
                          </a:solidFill>
                          <a:latin typeface="Ruda" panose="020B0604020202020204" charset="0"/>
                        </a:rPr>
                        <a:t>Current Strategy</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High-price, high-innovation; differentiation; sustainable apparel (Move to Zero) (</a:t>
                      </a:r>
                      <a:r>
                        <a:rPr lang="en-GB" sz="2200" dirty="0">
                          <a:latin typeface="Ruda" panose="020B0604020202020204" charset="0"/>
                        </a:rPr>
                        <a:t>Euromonitor International, 2024</a:t>
                      </a:r>
                      <a:r>
                        <a:rPr lang="en-GB" sz="2200" dirty="0">
                          <a:solidFill>
                            <a:schemeClr val="accent1">
                              <a:lumMod val="75000"/>
                            </a:schemeClr>
                          </a:solidFill>
                          <a:latin typeface="Ruda" panose="020B0604020202020204" charset="0"/>
                        </a:rPr>
                        <a:t>)</a:t>
                      </a: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High-price, high-innovation; focus on sports equipment and performance</a:t>
                      </a:r>
                    </a:p>
                  </a:txBody>
                  <a:tcPr marL="47642" marR="47642" marT="23821" marB="23821" anchor="ctr"/>
                </a:tc>
                <a:tc>
                  <a:txBody>
                    <a:bodyPr/>
                    <a:lstStyle/>
                    <a:p>
                      <a:pPr>
                        <a:buNone/>
                      </a:pPr>
                      <a:r>
                        <a:rPr lang="en-US" sz="2200">
                          <a:solidFill>
                            <a:schemeClr val="accent1">
                              <a:lumMod val="75000"/>
                            </a:schemeClr>
                          </a:solidFill>
                          <a:latin typeface="Ruda" panose="020B0604020202020204" charset="0"/>
                        </a:rPr>
                        <a:t>Urban &amp; fashion-oriented; trend-driven apparel</a:t>
                      </a:r>
                    </a:p>
                  </a:txBody>
                  <a:tcPr marL="47642" marR="47642" marT="23821" marB="23821" anchor="ctr"/>
                </a:tc>
                <a:tc>
                  <a:txBody>
                    <a:bodyPr/>
                    <a:lstStyle/>
                    <a:p>
                      <a:pPr>
                        <a:buNone/>
                      </a:pPr>
                      <a:endParaRPr lang="en-US" sz="2200" dirty="0">
                        <a:solidFill>
                          <a:schemeClr val="accent1">
                            <a:lumMod val="75000"/>
                          </a:schemeClr>
                        </a:solidFill>
                        <a:latin typeface="Ruda" panose="020B0604020202020204" charset="0"/>
                      </a:endParaRPr>
                    </a:p>
                  </a:txBody>
                  <a:tcPr marL="47642" marR="47642" marT="23821" marB="23821" anchor="ctr"/>
                </a:tc>
                <a:extLst>
                  <a:ext uri="{0D108BD9-81ED-4DB2-BD59-A6C34878D82A}">
                    <a16:rowId xmlns:a16="http://schemas.microsoft.com/office/drawing/2014/main" val="687680507"/>
                  </a:ext>
                </a:extLst>
              </a:tr>
              <a:tr h="1013586">
                <a:tc>
                  <a:txBody>
                    <a:bodyPr/>
                    <a:lstStyle/>
                    <a:p>
                      <a:pPr>
                        <a:buNone/>
                      </a:pPr>
                      <a:r>
                        <a:rPr lang="en-US" sz="2200" b="1">
                          <a:solidFill>
                            <a:schemeClr val="accent1">
                              <a:lumMod val="75000"/>
                            </a:schemeClr>
                          </a:solidFill>
                          <a:latin typeface="Ruda" panose="020B0604020202020204" charset="0"/>
                        </a:rPr>
                        <a:t>Capabilities</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Strong brand equity ($36bn); advanced tech (</a:t>
                      </a:r>
                      <a:r>
                        <a:rPr lang="en-GB" sz="2200" dirty="0" err="1">
                          <a:solidFill>
                            <a:schemeClr val="accent1">
                              <a:lumMod val="75000"/>
                            </a:schemeClr>
                          </a:solidFill>
                          <a:latin typeface="Ruda" panose="020B0604020202020204" charset="0"/>
                        </a:rPr>
                        <a:t>Flyknit</a:t>
                      </a:r>
                      <a:r>
                        <a:rPr lang="en-GB" sz="2200" dirty="0">
                          <a:solidFill>
                            <a:schemeClr val="accent1">
                              <a:lumMod val="75000"/>
                            </a:schemeClr>
                          </a:solidFill>
                          <a:latin typeface="Ruda" panose="020B0604020202020204" charset="0"/>
                        </a:rPr>
                        <a:t>); digital ecosystem; global supply chain </a:t>
                      </a:r>
                      <a:r>
                        <a:rPr lang="en-US" sz="2200" dirty="0">
                          <a:solidFill>
                            <a:schemeClr val="accent1">
                              <a:lumMod val="75000"/>
                            </a:schemeClr>
                          </a:solidFill>
                          <a:latin typeface="Ruda" panose="020B0604020202020204" charset="0"/>
                        </a:rPr>
                        <a:t>(Statista, 2025)</a:t>
                      </a:r>
                      <a:endParaRPr lang="en-GB" sz="2200" dirty="0">
                        <a:solidFill>
                          <a:schemeClr val="accent1">
                            <a:lumMod val="75000"/>
                          </a:schemeClr>
                        </a:solidFill>
                        <a:latin typeface="Ruda" panose="020B0604020202020204" charset="0"/>
                      </a:endParaRP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Strong brand equity ($15bn); sports equipment expertise; global presence </a:t>
                      </a:r>
                      <a:r>
                        <a:rPr lang="en-US" sz="2200" dirty="0">
                          <a:solidFill>
                            <a:schemeClr val="accent1">
                              <a:lumMod val="75000"/>
                            </a:schemeClr>
                          </a:solidFill>
                          <a:latin typeface="Ruda" panose="020B0604020202020204" charset="0"/>
                        </a:rPr>
                        <a:t>(Statista, 2025)</a:t>
                      </a:r>
                      <a:endParaRPr lang="en-GB" sz="2200" dirty="0">
                        <a:solidFill>
                          <a:schemeClr val="accent1">
                            <a:lumMod val="75000"/>
                          </a:schemeClr>
                        </a:solidFill>
                        <a:latin typeface="Ruda" panose="020B0604020202020204" charset="0"/>
                      </a:endParaRPr>
                    </a:p>
                  </a:txBody>
                  <a:tcPr marL="47642" marR="47642" marT="23821" marB="23821" anchor="ctr"/>
                </a:tc>
                <a:tc>
                  <a:txBody>
                    <a:bodyPr/>
                    <a:lstStyle/>
                    <a:p>
                      <a:pPr>
                        <a:buNone/>
                      </a:pPr>
                      <a:r>
                        <a:rPr lang="en-US" sz="2200">
                          <a:solidFill>
                            <a:schemeClr val="accent1">
                              <a:lumMod val="75000"/>
                            </a:schemeClr>
                          </a:solidFill>
                          <a:latin typeface="Ruda" panose="020B0604020202020204" charset="0"/>
                        </a:rPr>
                        <a:t>Trend responsiveness; urban marketing; moderate digital presence</a:t>
                      </a:r>
                    </a:p>
                  </a:txBody>
                  <a:tcPr marL="47642" marR="47642" marT="23821" marB="23821" anchor="ctr"/>
                </a:tc>
                <a:tc>
                  <a:txBody>
                    <a:bodyPr/>
                    <a:lstStyle/>
                    <a:p>
                      <a:pPr>
                        <a:buNone/>
                      </a:pPr>
                      <a:endParaRPr lang="en-GB" sz="2200">
                        <a:solidFill>
                          <a:schemeClr val="accent1">
                            <a:lumMod val="75000"/>
                          </a:schemeClr>
                        </a:solidFill>
                        <a:latin typeface="Ruda" panose="020B0604020202020204" charset="0"/>
                      </a:endParaRPr>
                    </a:p>
                  </a:txBody>
                  <a:tcPr marL="47642" marR="47642" marT="23821" marB="23821" anchor="ctr"/>
                </a:tc>
                <a:extLst>
                  <a:ext uri="{0D108BD9-81ED-4DB2-BD59-A6C34878D82A}">
                    <a16:rowId xmlns:a16="http://schemas.microsoft.com/office/drawing/2014/main" val="2599371506"/>
                  </a:ext>
                </a:extLst>
              </a:tr>
              <a:tr h="812041">
                <a:tc>
                  <a:txBody>
                    <a:bodyPr/>
                    <a:lstStyle/>
                    <a:p>
                      <a:pPr>
                        <a:buNone/>
                      </a:pPr>
                      <a:r>
                        <a:rPr lang="en-US" sz="2200" b="1">
                          <a:solidFill>
                            <a:schemeClr val="accent1">
                              <a:lumMod val="75000"/>
                            </a:schemeClr>
                          </a:solidFill>
                          <a:latin typeface="Ruda" panose="020B0604020202020204" charset="0"/>
                        </a:rPr>
                        <a:t>Assumptions</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Consumers value innovation, sustainability, and performance</a:t>
                      </a:r>
                    </a:p>
                  </a:txBody>
                  <a:tcPr marL="47642" marR="47642" marT="23821" marB="23821" anchor="ctr"/>
                </a:tc>
                <a:tc>
                  <a:txBody>
                    <a:bodyPr/>
                    <a:lstStyle/>
                    <a:p>
                      <a:pPr>
                        <a:buNone/>
                      </a:pPr>
                      <a:r>
                        <a:rPr lang="en-GB" sz="2200">
                          <a:solidFill>
                            <a:schemeClr val="accent1">
                              <a:lumMod val="75000"/>
                            </a:schemeClr>
                          </a:solidFill>
                          <a:latin typeface="Ruda" panose="020B0604020202020204" charset="0"/>
                        </a:rPr>
                        <a:t>Consumers value equipment performance and trusted sports brand</a:t>
                      </a:r>
                    </a:p>
                  </a:txBody>
                  <a:tcPr marL="47642" marR="47642" marT="23821" marB="23821" anchor="ctr"/>
                </a:tc>
                <a:tc>
                  <a:txBody>
                    <a:bodyPr/>
                    <a:lstStyle/>
                    <a:p>
                      <a:pPr>
                        <a:buNone/>
                      </a:pPr>
                      <a:r>
                        <a:rPr lang="en-GB" sz="2200">
                          <a:solidFill>
                            <a:schemeClr val="accent1">
                              <a:lumMod val="75000"/>
                            </a:schemeClr>
                          </a:solidFill>
                          <a:latin typeface="Ruda" panose="020B0604020202020204" charset="0"/>
                        </a:rPr>
                        <a:t>Consumers follow urban fashion and trends</a:t>
                      </a:r>
                    </a:p>
                  </a:txBody>
                  <a:tcPr marL="47642" marR="47642" marT="23821" marB="23821" anchor="ctr"/>
                </a:tc>
                <a:tc>
                  <a:txBody>
                    <a:bodyPr/>
                    <a:lstStyle/>
                    <a:p>
                      <a:pPr>
                        <a:buNone/>
                      </a:pPr>
                      <a:endParaRPr lang="en-GB" sz="2200">
                        <a:solidFill>
                          <a:schemeClr val="accent1">
                            <a:lumMod val="75000"/>
                          </a:schemeClr>
                        </a:solidFill>
                        <a:latin typeface="Ruda" panose="020B0604020202020204" charset="0"/>
                      </a:endParaRPr>
                    </a:p>
                  </a:txBody>
                  <a:tcPr marL="47642" marR="47642" marT="23821" marB="23821" anchor="ctr"/>
                </a:tc>
                <a:extLst>
                  <a:ext uri="{0D108BD9-81ED-4DB2-BD59-A6C34878D82A}">
                    <a16:rowId xmlns:a16="http://schemas.microsoft.com/office/drawing/2014/main" val="3898293073"/>
                  </a:ext>
                </a:extLst>
              </a:tr>
              <a:tr h="1068475">
                <a:tc>
                  <a:txBody>
                    <a:bodyPr/>
                    <a:lstStyle/>
                    <a:p>
                      <a:pPr>
                        <a:buNone/>
                      </a:pPr>
                      <a:r>
                        <a:rPr lang="en-US" sz="2200" b="1">
                          <a:solidFill>
                            <a:schemeClr val="accent1">
                              <a:lumMod val="75000"/>
                            </a:schemeClr>
                          </a:solidFill>
                          <a:latin typeface="Ruda" panose="020B0604020202020204" charset="0"/>
                        </a:rPr>
                        <a:t>Future Goals</a:t>
                      </a:r>
                      <a:endParaRPr lang="en-US" sz="2200">
                        <a:solidFill>
                          <a:schemeClr val="accent1">
                            <a:lumMod val="75000"/>
                          </a:schemeClr>
                        </a:solidFill>
                        <a:latin typeface="Ruda" panose="020B0604020202020204" charset="0"/>
                      </a:endParaRP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Maintain differentiation, expand sustainability, lead in digital engagement, strengthen UK leadership</a:t>
                      </a: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Expand product offerings, maintain global market share, leverage brand equity</a:t>
                      </a:r>
                    </a:p>
                  </a:txBody>
                  <a:tcPr marL="47642" marR="47642" marT="23821" marB="23821" anchor="ctr"/>
                </a:tc>
                <a:tc>
                  <a:txBody>
                    <a:bodyPr/>
                    <a:lstStyle/>
                    <a:p>
                      <a:pPr>
                        <a:buNone/>
                      </a:pPr>
                      <a:r>
                        <a:rPr lang="en-GB" sz="2200" dirty="0">
                          <a:solidFill>
                            <a:schemeClr val="accent1">
                              <a:lumMod val="75000"/>
                            </a:schemeClr>
                          </a:solidFill>
                          <a:latin typeface="Ruda" panose="020B0604020202020204" charset="0"/>
                        </a:rPr>
                        <a:t>Increase urban market share, strengthen digital sales</a:t>
                      </a:r>
                    </a:p>
                  </a:txBody>
                  <a:tcPr marL="47642" marR="47642" marT="23821" marB="23821" anchor="ctr"/>
                </a:tc>
                <a:tc>
                  <a:txBody>
                    <a:bodyPr/>
                    <a:lstStyle/>
                    <a:p>
                      <a:pPr>
                        <a:buNone/>
                      </a:pPr>
                      <a:endParaRPr lang="en-GB" sz="2200" dirty="0">
                        <a:solidFill>
                          <a:schemeClr val="accent1">
                            <a:lumMod val="75000"/>
                          </a:schemeClr>
                        </a:solidFill>
                        <a:latin typeface="Ruda" panose="020B0604020202020204" charset="0"/>
                      </a:endParaRPr>
                    </a:p>
                  </a:txBody>
                  <a:tcPr marL="47642" marR="47642" marT="23821" marB="23821" anchor="ctr"/>
                </a:tc>
                <a:extLst>
                  <a:ext uri="{0D108BD9-81ED-4DB2-BD59-A6C34878D82A}">
                    <a16:rowId xmlns:a16="http://schemas.microsoft.com/office/drawing/2014/main" val="1108058700"/>
                  </a:ext>
                </a:extLst>
              </a:tr>
            </a:tbl>
          </a:graphicData>
        </a:graphic>
      </p:graphicFrame>
      <p:sp>
        <p:nvSpPr>
          <p:cNvPr id="10" name="TextBox 9">
            <a:extLst>
              <a:ext uri="{FF2B5EF4-FFF2-40B4-BE49-F238E27FC236}">
                <a16:creationId xmlns:a16="http://schemas.microsoft.com/office/drawing/2014/main" id="{5E185C38-1C73-41A5-02B5-727663E81E5A}"/>
              </a:ext>
            </a:extLst>
          </p:cNvPr>
          <p:cNvSpPr txBox="1"/>
          <p:nvPr/>
        </p:nvSpPr>
        <p:spPr>
          <a:xfrm>
            <a:off x="6354487" y="6376798"/>
            <a:ext cx="9492068" cy="2677656"/>
          </a:xfrm>
          <a:prstGeom prst="rect">
            <a:avLst/>
          </a:prstGeom>
          <a:noFill/>
        </p:spPr>
        <p:txBody>
          <a:bodyPr wrap="square" rtlCol="0">
            <a:spAutoFit/>
          </a:bodyPr>
          <a:lstStyle/>
          <a:p>
            <a:r>
              <a:rPr lang="en-GB" sz="2400" b="1" dirty="0">
                <a:solidFill>
                  <a:schemeClr val="accent1">
                    <a:lumMod val="75000"/>
                  </a:schemeClr>
                </a:solidFill>
                <a:latin typeface="Ruda" panose="020B0604020202020204" charset="0"/>
              </a:rPr>
              <a:t>Analysis &amp; conclusion: </a:t>
            </a:r>
            <a:r>
              <a:rPr lang="en-GB" sz="2400" dirty="0">
                <a:solidFill>
                  <a:schemeClr val="accent1">
                    <a:lumMod val="75000"/>
                  </a:schemeClr>
                </a:solidFill>
                <a:latin typeface="Ruda" panose="020B0604020202020204" charset="0"/>
              </a:rPr>
              <a:t>Against Adidas and Puma, Nike competes in the high-price, high-innovation segment, and has a high brand equity, first-mover advantages, and digital ecosystem. Competitors vary in terms of focus, and this creates overlaps in terms of resources and consumers. Innovation, brand strength, and sustainability initiatives can help Nike to remain differentiated and lead in the UK market (Lecture06, 2025, p.2).</a:t>
            </a:r>
            <a:endParaRPr lang="LID4096" sz="2400" dirty="0">
              <a:solidFill>
                <a:schemeClr val="accent1">
                  <a:lumMod val="75000"/>
                </a:schemeClr>
              </a:solidFill>
              <a:latin typeface="Ruda" panose="020B0604020202020204" charset="0"/>
            </a:endParaRPr>
          </a:p>
        </p:txBody>
      </p:sp>
      <p:pic>
        <p:nvPicPr>
          <p:cNvPr id="11" name="Picture 10" descr="A diagram of company logos&#10;&#10;AI-generated content may be incorrect.">
            <a:extLst>
              <a:ext uri="{FF2B5EF4-FFF2-40B4-BE49-F238E27FC236}">
                <a16:creationId xmlns:a16="http://schemas.microsoft.com/office/drawing/2014/main" id="{BF86C53B-20D0-B96F-47FA-FD0E83029620}"/>
              </a:ext>
            </a:extLst>
          </p:cNvPr>
          <p:cNvPicPr>
            <a:picLocks noChangeAspect="1"/>
          </p:cNvPicPr>
          <p:nvPr/>
        </p:nvPicPr>
        <p:blipFill>
          <a:blip r:embed="rId9"/>
          <a:stretch>
            <a:fillRect/>
          </a:stretch>
        </p:blipFill>
        <p:spPr>
          <a:xfrm>
            <a:off x="832059" y="5813305"/>
            <a:ext cx="4572638" cy="44106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87317">
            <a:off x="-5009415" y="7991506"/>
            <a:ext cx="18937445" cy="7859040"/>
          </a:xfrm>
          <a:custGeom>
            <a:avLst/>
            <a:gdLst/>
            <a:ahLst/>
            <a:cxnLst/>
            <a:rect l="l" t="t" r="r" b="b"/>
            <a:pathLst>
              <a:path w="18937445" h="7859040">
                <a:moveTo>
                  <a:pt x="0" y="0"/>
                </a:moveTo>
                <a:lnTo>
                  <a:pt x="18937445" y="0"/>
                </a:lnTo>
                <a:lnTo>
                  <a:pt x="18937445" y="7859040"/>
                </a:lnTo>
                <a:lnTo>
                  <a:pt x="0" y="78590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6164161" y="619561"/>
            <a:ext cx="1792207" cy="918561"/>
          </a:xfrm>
          <a:prstGeom prst="rect">
            <a:avLst/>
          </a:prstGeom>
        </p:spPr>
        <p:txBody>
          <a:bodyPr lIns="0" tIns="0" rIns="0" bIns="0" rtlCol="0" anchor="t">
            <a:spAutoFit/>
          </a:bodyPr>
          <a:lstStyle/>
          <a:p>
            <a:pPr algn="just">
              <a:lnSpc>
                <a:spcPts val="3717"/>
              </a:lnSpc>
            </a:pPr>
            <a:r>
              <a:rPr lang="en-US" sz="2655">
                <a:solidFill>
                  <a:srgbClr val="FFFFFF"/>
                </a:solidFill>
                <a:latin typeface="Ruda"/>
                <a:ea typeface="Ruda"/>
                <a:cs typeface="Ruda"/>
                <a:sym typeface="Ruda"/>
              </a:rPr>
              <a:t>INGOUDE</a:t>
            </a:r>
          </a:p>
          <a:p>
            <a:pPr algn="just">
              <a:lnSpc>
                <a:spcPts val="3717"/>
              </a:lnSpc>
            </a:pPr>
            <a:r>
              <a:rPr lang="en-US" sz="2655">
                <a:solidFill>
                  <a:srgbClr val="FFFFFF"/>
                </a:solidFill>
                <a:latin typeface="Ruda"/>
                <a:ea typeface="Ruda"/>
                <a:cs typeface="Ruda"/>
                <a:sym typeface="Ruda"/>
              </a:rPr>
              <a:t>COMPANY</a:t>
            </a:r>
          </a:p>
        </p:txBody>
      </p:sp>
      <p:sp>
        <p:nvSpPr>
          <p:cNvPr id="6" name="TextBox 6"/>
          <p:cNvSpPr txBox="1"/>
          <p:nvPr/>
        </p:nvSpPr>
        <p:spPr>
          <a:xfrm>
            <a:off x="741376" y="171402"/>
            <a:ext cx="13693433" cy="857298"/>
          </a:xfrm>
          <a:prstGeom prst="rect">
            <a:avLst/>
          </a:prstGeom>
        </p:spPr>
        <p:txBody>
          <a:bodyPr lIns="0" tIns="0" rIns="0" bIns="0" rtlCol="0" anchor="t">
            <a:spAutoFit/>
          </a:bodyPr>
          <a:lstStyle/>
          <a:p>
            <a:pPr algn="l">
              <a:lnSpc>
                <a:spcPts val="7064"/>
              </a:lnSpc>
              <a:spcBef>
                <a:spcPct val="0"/>
              </a:spcBef>
            </a:pPr>
            <a:r>
              <a:rPr lang="en-US" sz="5046" b="1" dirty="0">
                <a:solidFill>
                  <a:srgbClr val="0555A3"/>
                </a:solidFill>
                <a:latin typeface="Ruda Bold"/>
                <a:ea typeface="Ruda Bold"/>
                <a:cs typeface="Ruda Bold"/>
                <a:sym typeface="Ruda Bold"/>
              </a:rPr>
              <a:t>RESOURCES, CAPABILITIES, AND VRIO ANALYSIS</a:t>
            </a:r>
          </a:p>
        </p:txBody>
      </p:sp>
      <p:sp>
        <p:nvSpPr>
          <p:cNvPr id="7" name="TextBox 7"/>
          <p:cNvSpPr txBox="1"/>
          <p:nvPr/>
        </p:nvSpPr>
        <p:spPr>
          <a:xfrm>
            <a:off x="741376" y="1038225"/>
            <a:ext cx="11069624" cy="4739759"/>
          </a:xfrm>
          <a:prstGeom prst="rect">
            <a:avLst/>
          </a:prstGeom>
        </p:spPr>
        <p:txBody>
          <a:bodyPr wrap="square" lIns="0" tIns="0" rIns="0" bIns="0" rtlCol="0" anchor="t">
            <a:spAutoFit/>
          </a:bodyPr>
          <a:lstStyle/>
          <a:p>
            <a:r>
              <a:rPr lang="en-US" sz="2800" b="1" dirty="0">
                <a:solidFill>
                  <a:schemeClr val="accent1">
                    <a:lumMod val="75000"/>
                  </a:schemeClr>
                </a:solidFill>
                <a:latin typeface="Ruda" panose="020B0604020202020204" charset="0"/>
              </a:rPr>
              <a:t>1. Resources</a:t>
            </a:r>
          </a:p>
          <a:p>
            <a:pPr marL="457200" indent="-457200">
              <a:buFont typeface="Arial" panose="020B0604020202020204" pitchFamily="34" charset="0"/>
              <a:buChar char="•"/>
            </a:pPr>
            <a:r>
              <a:rPr lang="en-US" sz="2800" b="1" dirty="0">
                <a:solidFill>
                  <a:schemeClr val="accent1">
                    <a:lumMod val="75000"/>
                  </a:schemeClr>
                </a:solidFill>
                <a:latin typeface="Ruda" panose="020B0604020202020204" charset="0"/>
              </a:rPr>
              <a:t>Physical:</a:t>
            </a:r>
            <a:r>
              <a:rPr lang="en-US" sz="2800" dirty="0">
                <a:solidFill>
                  <a:schemeClr val="accent1">
                    <a:lumMod val="75000"/>
                  </a:schemeClr>
                </a:solidFill>
                <a:latin typeface="Ruda" panose="020B0604020202020204" charset="0"/>
              </a:rPr>
              <a:t> $10bn cash, 1,200 UK outlets → financial &amp; distribution power</a:t>
            </a:r>
          </a:p>
          <a:p>
            <a:pPr marL="457200" indent="-457200">
              <a:buFont typeface="Arial" panose="020B0604020202020204" pitchFamily="34" charset="0"/>
              <a:buChar char="•"/>
            </a:pPr>
            <a:r>
              <a:rPr lang="en-US" sz="2800" b="1" dirty="0">
                <a:solidFill>
                  <a:schemeClr val="accent1">
                    <a:lumMod val="75000"/>
                  </a:schemeClr>
                </a:solidFill>
                <a:latin typeface="Ruda" panose="020B0604020202020204" charset="0"/>
              </a:rPr>
              <a:t>Intangible:</a:t>
            </a:r>
            <a:r>
              <a:rPr lang="en-US" sz="2800" dirty="0">
                <a:solidFill>
                  <a:schemeClr val="accent1">
                    <a:lumMod val="75000"/>
                  </a:schemeClr>
                </a:solidFill>
                <a:latin typeface="Ruda" panose="020B0604020202020204" charset="0"/>
              </a:rPr>
              <a:t> Swoosh brand → valuable, rare, strong recognition</a:t>
            </a:r>
          </a:p>
          <a:p>
            <a:pPr marL="457200" indent="-457200">
              <a:buFont typeface="Arial" panose="020B0604020202020204" pitchFamily="34" charset="0"/>
              <a:buChar char="•"/>
            </a:pPr>
            <a:r>
              <a:rPr lang="en-US" sz="2800" b="1" dirty="0">
                <a:solidFill>
                  <a:schemeClr val="accent1">
                    <a:lumMod val="75000"/>
                  </a:schemeClr>
                </a:solidFill>
                <a:latin typeface="Ruda" panose="020B0604020202020204" charset="0"/>
              </a:rPr>
              <a:t>Technological:</a:t>
            </a:r>
            <a:r>
              <a:rPr lang="en-US" sz="2800" dirty="0">
                <a:solidFill>
                  <a:schemeClr val="accent1">
                    <a:lumMod val="75000"/>
                  </a:schemeClr>
                </a:solidFill>
                <a:latin typeface="Ruda" panose="020B0604020202020204" charset="0"/>
              </a:rPr>
              <a:t> AI tools, digital platforms support customization and engagement (</a:t>
            </a:r>
            <a:r>
              <a:rPr lang="en-GB" sz="2800" dirty="0">
                <a:solidFill>
                  <a:schemeClr val="accent1">
                    <a:lumMod val="75000"/>
                  </a:schemeClr>
                </a:solidFill>
                <a:latin typeface="Ruda" panose="020B0604020202020204" charset="0"/>
              </a:rPr>
              <a:t>MarketLine, 2024</a:t>
            </a:r>
            <a:r>
              <a:rPr lang="en-US" sz="2800" dirty="0">
                <a:solidFill>
                  <a:schemeClr val="accent1">
                    <a:lumMod val="75000"/>
                  </a:schemeClr>
                </a:solidFill>
                <a:latin typeface="Ruda" panose="020B0604020202020204" charset="0"/>
              </a:rPr>
              <a:t>)</a:t>
            </a:r>
          </a:p>
          <a:p>
            <a:r>
              <a:rPr lang="en-US" sz="2800" b="1" dirty="0">
                <a:solidFill>
                  <a:schemeClr val="accent1">
                    <a:lumMod val="75000"/>
                  </a:schemeClr>
                </a:solidFill>
                <a:latin typeface="Ruda" panose="020B0604020202020204" charset="0"/>
              </a:rPr>
              <a:t>2. Capabilities</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Global supply chain → responsive to market changes</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Marketing → celebrity endorsements, strong brand campaigns</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Innovation &amp; R&amp;D → breakthrough products (high-performance &amp; recycled fabrics)</a:t>
            </a:r>
          </a:p>
        </p:txBody>
      </p:sp>
      <p:sp>
        <p:nvSpPr>
          <p:cNvPr id="9" name="TextBox 9"/>
          <p:cNvSpPr txBox="1"/>
          <p:nvPr/>
        </p:nvSpPr>
        <p:spPr>
          <a:xfrm>
            <a:off x="12210877" y="1434435"/>
            <a:ext cx="5335748" cy="3877985"/>
          </a:xfrm>
          <a:prstGeom prst="rect">
            <a:avLst/>
          </a:prstGeom>
        </p:spPr>
        <p:txBody>
          <a:bodyPr wrap="square" lIns="0" tIns="0" rIns="0" bIns="0" rtlCol="0" anchor="t">
            <a:spAutoFit/>
          </a:bodyPr>
          <a:lstStyle/>
          <a:p>
            <a:r>
              <a:rPr lang="en-US" sz="2800" b="1" dirty="0">
                <a:solidFill>
                  <a:schemeClr val="accent1">
                    <a:lumMod val="75000"/>
                  </a:schemeClr>
                </a:solidFill>
                <a:latin typeface="Ruda" panose="020B0604020202020204" charset="0"/>
              </a:rPr>
              <a:t>3. Core Competencies</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Innovation-driven differentiation</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Sustainability initiatives (Move to Zero, recycled fabrics) (</a:t>
            </a:r>
            <a:r>
              <a:rPr lang="en-GB" sz="2800" dirty="0">
                <a:solidFill>
                  <a:schemeClr val="accent1">
                    <a:lumMod val="75000"/>
                  </a:schemeClr>
                </a:solidFill>
                <a:latin typeface="Ruda" panose="020B0604020202020204" charset="0"/>
              </a:rPr>
              <a:t>Mintel Academic, 2025</a:t>
            </a:r>
            <a:r>
              <a:rPr lang="en-US" sz="2800" dirty="0">
                <a:solidFill>
                  <a:schemeClr val="accent1">
                    <a:lumMod val="75000"/>
                  </a:schemeClr>
                </a:solidFill>
                <a:latin typeface="Ruda" panose="020B0604020202020204" charset="0"/>
              </a:rPr>
              <a:t>)</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Creativity and AI-enabled product customization</a:t>
            </a:r>
          </a:p>
        </p:txBody>
      </p:sp>
      <p:graphicFrame>
        <p:nvGraphicFramePr>
          <p:cNvPr id="12" name="Table 11">
            <a:extLst>
              <a:ext uri="{FF2B5EF4-FFF2-40B4-BE49-F238E27FC236}">
                <a16:creationId xmlns:a16="http://schemas.microsoft.com/office/drawing/2014/main" id="{DF4BAADE-5AD1-423F-A49B-D51C6C4FA747}"/>
              </a:ext>
            </a:extLst>
          </p:cNvPr>
          <p:cNvGraphicFramePr>
            <a:graphicFrameLocks noGrp="1"/>
          </p:cNvGraphicFramePr>
          <p:nvPr>
            <p:extLst>
              <p:ext uri="{D42A27DB-BD31-4B8C-83A1-F6EECF244321}">
                <p14:modId xmlns:p14="http://schemas.microsoft.com/office/powerpoint/2010/main" val="41099712"/>
              </p:ext>
            </p:extLst>
          </p:nvPr>
        </p:nvGraphicFramePr>
        <p:xfrm>
          <a:off x="914400" y="5887681"/>
          <a:ext cx="16827780" cy="2468880"/>
        </p:xfrm>
        <a:graphic>
          <a:graphicData uri="http://schemas.openxmlformats.org/drawingml/2006/table">
            <a:tbl>
              <a:tblPr>
                <a:tableStyleId>{08FB837D-C827-4EFA-A057-4D05807E0F7C}</a:tableStyleId>
              </a:tblPr>
              <a:tblGrid>
                <a:gridCol w="2804630">
                  <a:extLst>
                    <a:ext uri="{9D8B030D-6E8A-4147-A177-3AD203B41FA5}">
                      <a16:colId xmlns:a16="http://schemas.microsoft.com/office/drawing/2014/main" val="3186298661"/>
                    </a:ext>
                  </a:extLst>
                </a:gridCol>
                <a:gridCol w="1553182">
                  <a:extLst>
                    <a:ext uri="{9D8B030D-6E8A-4147-A177-3AD203B41FA5}">
                      <a16:colId xmlns:a16="http://schemas.microsoft.com/office/drawing/2014/main" val="4230294790"/>
                    </a:ext>
                  </a:extLst>
                </a:gridCol>
                <a:gridCol w="2514600">
                  <a:extLst>
                    <a:ext uri="{9D8B030D-6E8A-4147-A177-3AD203B41FA5}">
                      <a16:colId xmlns:a16="http://schemas.microsoft.com/office/drawing/2014/main" val="2538348714"/>
                    </a:ext>
                  </a:extLst>
                </a:gridCol>
                <a:gridCol w="1905000">
                  <a:extLst>
                    <a:ext uri="{9D8B030D-6E8A-4147-A177-3AD203B41FA5}">
                      <a16:colId xmlns:a16="http://schemas.microsoft.com/office/drawing/2014/main" val="1751397536"/>
                    </a:ext>
                  </a:extLst>
                </a:gridCol>
                <a:gridCol w="3886200">
                  <a:extLst>
                    <a:ext uri="{9D8B030D-6E8A-4147-A177-3AD203B41FA5}">
                      <a16:colId xmlns:a16="http://schemas.microsoft.com/office/drawing/2014/main" val="3767549104"/>
                    </a:ext>
                  </a:extLst>
                </a:gridCol>
                <a:gridCol w="4164168">
                  <a:extLst>
                    <a:ext uri="{9D8B030D-6E8A-4147-A177-3AD203B41FA5}">
                      <a16:colId xmlns:a16="http://schemas.microsoft.com/office/drawing/2014/main" val="3234777546"/>
                    </a:ext>
                  </a:extLst>
                </a:gridCol>
              </a:tblGrid>
              <a:tr h="0">
                <a:tc>
                  <a:txBody>
                    <a:bodyPr/>
                    <a:lstStyle/>
                    <a:p>
                      <a:pPr>
                        <a:buNone/>
                      </a:pPr>
                      <a:r>
                        <a:rPr lang="en-US" sz="2200" b="1" dirty="0">
                          <a:solidFill>
                            <a:schemeClr val="accent1">
                              <a:lumMod val="75000"/>
                            </a:schemeClr>
                          </a:solidFill>
                        </a:rPr>
                        <a:t>Resource/Capability</a:t>
                      </a:r>
                      <a:endParaRPr lang="en-US" sz="2200" dirty="0">
                        <a:solidFill>
                          <a:schemeClr val="accent1">
                            <a:lumMod val="75000"/>
                          </a:schemeClr>
                        </a:solidFill>
                        <a:latin typeface="Ruda" panose="020B0604020202020204" charset="0"/>
                      </a:endParaRPr>
                    </a:p>
                  </a:txBody>
                  <a:tcPr anchor="ctr"/>
                </a:tc>
                <a:tc>
                  <a:txBody>
                    <a:bodyPr/>
                    <a:lstStyle/>
                    <a:p>
                      <a:pPr>
                        <a:buNone/>
                      </a:pPr>
                      <a:r>
                        <a:rPr lang="en-US" sz="2200" b="1" dirty="0">
                          <a:solidFill>
                            <a:schemeClr val="accent1">
                              <a:lumMod val="75000"/>
                            </a:schemeClr>
                          </a:solidFill>
                        </a:rPr>
                        <a:t>Valuable</a:t>
                      </a:r>
                      <a:endParaRPr lang="en-US" sz="2200" dirty="0">
                        <a:solidFill>
                          <a:schemeClr val="accent1">
                            <a:lumMod val="75000"/>
                          </a:schemeClr>
                        </a:solidFill>
                        <a:latin typeface="Ruda" panose="020B0604020202020204" charset="0"/>
                      </a:endParaRPr>
                    </a:p>
                  </a:txBody>
                  <a:tcPr anchor="ctr"/>
                </a:tc>
                <a:tc>
                  <a:txBody>
                    <a:bodyPr/>
                    <a:lstStyle/>
                    <a:p>
                      <a:pPr>
                        <a:buNone/>
                      </a:pPr>
                      <a:r>
                        <a:rPr lang="en-US" sz="2200" b="1">
                          <a:solidFill>
                            <a:schemeClr val="accent1">
                              <a:lumMod val="75000"/>
                            </a:schemeClr>
                          </a:solidFill>
                        </a:rPr>
                        <a:t>Rare</a:t>
                      </a:r>
                      <a:endParaRPr lang="en-US" sz="2200">
                        <a:solidFill>
                          <a:schemeClr val="accent1">
                            <a:lumMod val="75000"/>
                          </a:schemeClr>
                        </a:solidFill>
                        <a:latin typeface="Ruda" panose="020B0604020202020204" charset="0"/>
                      </a:endParaRPr>
                    </a:p>
                  </a:txBody>
                  <a:tcPr anchor="ctr"/>
                </a:tc>
                <a:tc>
                  <a:txBody>
                    <a:bodyPr/>
                    <a:lstStyle/>
                    <a:p>
                      <a:pPr>
                        <a:buNone/>
                      </a:pPr>
                      <a:r>
                        <a:rPr lang="en-US" sz="2200" b="1" dirty="0">
                          <a:solidFill>
                            <a:schemeClr val="accent1">
                              <a:lumMod val="75000"/>
                            </a:schemeClr>
                          </a:solidFill>
                        </a:rPr>
                        <a:t>Inimitable</a:t>
                      </a:r>
                      <a:endParaRPr lang="en-US" sz="2200" dirty="0">
                        <a:solidFill>
                          <a:schemeClr val="accent1">
                            <a:lumMod val="75000"/>
                          </a:schemeClr>
                        </a:solidFill>
                        <a:latin typeface="Ruda" panose="020B0604020202020204" charset="0"/>
                      </a:endParaRPr>
                    </a:p>
                  </a:txBody>
                  <a:tcPr anchor="ctr"/>
                </a:tc>
                <a:tc>
                  <a:txBody>
                    <a:bodyPr/>
                    <a:lstStyle/>
                    <a:p>
                      <a:pPr>
                        <a:buNone/>
                      </a:pPr>
                      <a:r>
                        <a:rPr lang="en-US" sz="2200" b="1">
                          <a:solidFill>
                            <a:schemeClr val="accent1">
                              <a:lumMod val="75000"/>
                            </a:schemeClr>
                          </a:solidFill>
                        </a:rPr>
                        <a:t>Organized to Capture Value</a:t>
                      </a:r>
                      <a:endParaRPr lang="en-US" sz="2200">
                        <a:solidFill>
                          <a:schemeClr val="accent1">
                            <a:lumMod val="75000"/>
                          </a:schemeClr>
                        </a:solidFill>
                        <a:latin typeface="Ruda" panose="020B0604020202020204" charset="0"/>
                      </a:endParaRPr>
                    </a:p>
                  </a:txBody>
                  <a:tcPr anchor="ctr"/>
                </a:tc>
                <a:tc>
                  <a:txBody>
                    <a:bodyPr/>
                    <a:lstStyle/>
                    <a:p>
                      <a:pPr>
                        <a:buNone/>
                      </a:pPr>
                      <a:r>
                        <a:rPr lang="en-US" sz="2200" b="1" dirty="0">
                          <a:solidFill>
                            <a:schemeClr val="accent1">
                              <a:lumMod val="75000"/>
                            </a:schemeClr>
                          </a:solidFill>
                        </a:rPr>
                        <a:t>Competitive Advantage</a:t>
                      </a:r>
                      <a:endParaRPr lang="en-US" sz="2200" dirty="0">
                        <a:solidFill>
                          <a:schemeClr val="accent1">
                            <a:lumMod val="75000"/>
                          </a:schemeClr>
                        </a:solidFill>
                        <a:latin typeface="Ruda" panose="020B0604020202020204" charset="0"/>
                      </a:endParaRPr>
                    </a:p>
                  </a:txBody>
                  <a:tcPr anchor="ctr"/>
                </a:tc>
                <a:extLst>
                  <a:ext uri="{0D108BD9-81ED-4DB2-BD59-A6C34878D82A}">
                    <a16:rowId xmlns:a16="http://schemas.microsoft.com/office/drawing/2014/main" val="3359796435"/>
                  </a:ext>
                </a:extLst>
              </a:tr>
              <a:tr h="0">
                <a:tc>
                  <a:txBody>
                    <a:bodyPr/>
                    <a:lstStyle/>
                    <a:p>
                      <a:pPr>
                        <a:buNone/>
                      </a:pPr>
                      <a:r>
                        <a:rPr lang="en-US" sz="2200"/>
                        <a:t>Brand (Swoosh)</a:t>
                      </a:r>
                      <a:endParaRPr lang="en-US" sz="220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dirty="0"/>
                        <a:t>Yes</a:t>
                      </a:r>
                      <a:endParaRPr lang="en-US" sz="2200" dirty="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a:t>Sustained advantage</a:t>
                      </a:r>
                      <a:endParaRPr lang="en-US" sz="2200">
                        <a:latin typeface="Ruda" panose="020B0604020202020204" charset="0"/>
                      </a:endParaRPr>
                    </a:p>
                  </a:txBody>
                  <a:tcPr anchor="ctr"/>
                </a:tc>
                <a:extLst>
                  <a:ext uri="{0D108BD9-81ED-4DB2-BD59-A6C34878D82A}">
                    <a16:rowId xmlns:a16="http://schemas.microsoft.com/office/drawing/2014/main" val="1972494521"/>
                  </a:ext>
                </a:extLst>
              </a:tr>
              <a:tr h="0">
                <a:tc>
                  <a:txBody>
                    <a:bodyPr/>
                    <a:lstStyle/>
                    <a:p>
                      <a:pPr>
                        <a:buNone/>
                      </a:pPr>
                      <a:r>
                        <a:rPr lang="en-US" sz="2200"/>
                        <a:t>Supply chain</a:t>
                      </a:r>
                      <a:endParaRPr lang="en-US" sz="220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a:t>Partially</a:t>
                      </a:r>
                      <a:endParaRPr lang="en-US" sz="220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dirty="0"/>
                        <a:t>Temporary advantage</a:t>
                      </a:r>
                      <a:endParaRPr lang="en-US" sz="2200" dirty="0">
                        <a:latin typeface="Ruda" panose="020B0604020202020204" charset="0"/>
                      </a:endParaRPr>
                    </a:p>
                  </a:txBody>
                  <a:tcPr anchor="ctr"/>
                </a:tc>
                <a:extLst>
                  <a:ext uri="{0D108BD9-81ED-4DB2-BD59-A6C34878D82A}">
                    <a16:rowId xmlns:a16="http://schemas.microsoft.com/office/drawing/2014/main" val="496685504"/>
                  </a:ext>
                </a:extLst>
              </a:tr>
              <a:tr h="0">
                <a:tc>
                  <a:txBody>
                    <a:bodyPr/>
                    <a:lstStyle/>
                    <a:p>
                      <a:pPr>
                        <a:buNone/>
                      </a:pPr>
                      <a:r>
                        <a:rPr lang="en-US" sz="2200"/>
                        <a:t>Design/Innovation</a:t>
                      </a:r>
                      <a:endParaRPr lang="en-US" sz="2200">
                        <a:latin typeface="Ruda" panose="020B0604020202020204" charset="0"/>
                      </a:endParaRPr>
                    </a:p>
                  </a:txBody>
                  <a:tcPr anchor="ctr"/>
                </a:tc>
                <a:tc>
                  <a:txBody>
                    <a:bodyPr/>
                    <a:lstStyle/>
                    <a:p>
                      <a:pPr>
                        <a:buNone/>
                      </a:pPr>
                      <a:r>
                        <a:rPr lang="en-US" sz="2200" dirty="0"/>
                        <a:t>Yes</a:t>
                      </a:r>
                      <a:endParaRPr lang="en-US" sz="2200" dirty="0">
                        <a:latin typeface="Ruda" panose="020B0604020202020204" charset="0"/>
                      </a:endParaRPr>
                    </a:p>
                  </a:txBody>
                  <a:tcPr anchor="ctr"/>
                </a:tc>
                <a:tc>
                  <a:txBody>
                    <a:bodyPr/>
                    <a:lstStyle/>
                    <a:p>
                      <a:pPr>
                        <a:buNone/>
                      </a:pPr>
                      <a:r>
                        <a:rPr lang="en-US" sz="2200" dirty="0"/>
                        <a:t>Some</a:t>
                      </a:r>
                      <a:endParaRPr lang="en-US" sz="2200" dirty="0">
                        <a:latin typeface="Ruda" panose="020B0604020202020204" charset="0"/>
                      </a:endParaRPr>
                    </a:p>
                  </a:txBody>
                  <a:tcPr anchor="ctr"/>
                </a:tc>
                <a:tc>
                  <a:txBody>
                    <a:bodyPr/>
                    <a:lstStyle/>
                    <a:p>
                      <a:pPr>
                        <a:buNone/>
                      </a:pPr>
                      <a:r>
                        <a:rPr lang="en-US" sz="2200"/>
                        <a:t>Some</a:t>
                      </a:r>
                      <a:endParaRPr lang="en-US" sz="220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a:t>Parity / potential growth</a:t>
                      </a:r>
                      <a:endParaRPr lang="en-US" sz="2200">
                        <a:latin typeface="Ruda" panose="020B0604020202020204" charset="0"/>
                      </a:endParaRPr>
                    </a:p>
                  </a:txBody>
                  <a:tcPr anchor="ctr"/>
                </a:tc>
                <a:extLst>
                  <a:ext uri="{0D108BD9-81ED-4DB2-BD59-A6C34878D82A}">
                    <a16:rowId xmlns:a16="http://schemas.microsoft.com/office/drawing/2014/main" val="3721152317"/>
                  </a:ext>
                </a:extLst>
              </a:tr>
              <a:tr h="0">
                <a:tc>
                  <a:txBody>
                    <a:bodyPr/>
                    <a:lstStyle/>
                    <a:p>
                      <a:pPr>
                        <a:buNone/>
                      </a:pPr>
                      <a:r>
                        <a:rPr lang="en-US" sz="2200" dirty="0"/>
                        <a:t>Creativity (AI, marketing)</a:t>
                      </a:r>
                      <a:endParaRPr lang="en-US" sz="2200" dirty="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a:t>Some</a:t>
                      </a:r>
                      <a:endParaRPr lang="en-US" sz="2200">
                        <a:latin typeface="Ruda" panose="020B0604020202020204" charset="0"/>
                      </a:endParaRPr>
                    </a:p>
                  </a:txBody>
                  <a:tcPr anchor="ctr"/>
                </a:tc>
                <a:tc>
                  <a:txBody>
                    <a:bodyPr/>
                    <a:lstStyle/>
                    <a:p>
                      <a:pPr>
                        <a:buNone/>
                      </a:pPr>
                      <a:r>
                        <a:rPr lang="en-US" sz="2200" dirty="0"/>
                        <a:t>Some</a:t>
                      </a:r>
                      <a:endParaRPr lang="en-US" sz="2200" dirty="0">
                        <a:latin typeface="Ruda" panose="020B0604020202020204" charset="0"/>
                      </a:endParaRPr>
                    </a:p>
                  </a:txBody>
                  <a:tcPr anchor="ctr"/>
                </a:tc>
                <a:tc>
                  <a:txBody>
                    <a:bodyPr/>
                    <a:lstStyle/>
                    <a:p>
                      <a:pPr>
                        <a:buNone/>
                      </a:pPr>
                      <a:r>
                        <a:rPr lang="en-US" sz="2200"/>
                        <a:t>Yes</a:t>
                      </a:r>
                      <a:endParaRPr lang="en-US" sz="2200">
                        <a:latin typeface="Ruda" panose="020B0604020202020204" charset="0"/>
                      </a:endParaRPr>
                    </a:p>
                  </a:txBody>
                  <a:tcPr anchor="ctr"/>
                </a:tc>
                <a:tc>
                  <a:txBody>
                    <a:bodyPr/>
                    <a:lstStyle/>
                    <a:p>
                      <a:pPr>
                        <a:buNone/>
                      </a:pPr>
                      <a:r>
                        <a:rPr lang="en-US" sz="2200" dirty="0"/>
                        <a:t>Potential opportunity</a:t>
                      </a:r>
                      <a:endParaRPr lang="en-US" sz="2200" dirty="0">
                        <a:latin typeface="Ruda" panose="020B0604020202020204" charset="0"/>
                      </a:endParaRPr>
                    </a:p>
                  </a:txBody>
                  <a:tcPr anchor="ctr"/>
                </a:tc>
                <a:extLst>
                  <a:ext uri="{0D108BD9-81ED-4DB2-BD59-A6C34878D82A}">
                    <a16:rowId xmlns:a16="http://schemas.microsoft.com/office/drawing/2014/main" val="1178010024"/>
                  </a:ext>
                </a:extLst>
              </a:tr>
            </a:tbl>
          </a:graphicData>
        </a:graphic>
      </p:graphicFrame>
      <p:sp>
        <p:nvSpPr>
          <p:cNvPr id="13" name="TextBox 12">
            <a:extLst>
              <a:ext uri="{FF2B5EF4-FFF2-40B4-BE49-F238E27FC236}">
                <a16:creationId xmlns:a16="http://schemas.microsoft.com/office/drawing/2014/main" id="{BA82BAB2-103C-34F1-4AAF-625F21884305}"/>
              </a:ext>
            </a:extLst>
          </p:cNvPr>
          <p:cNvSpPr txBox="1"/>
          <p:nvPr/>
        </p:nvSpPr>
        <p:spPr>
          <a:xfrm>
            <a:off x="827888" y="8463327"/>
            <a:ext cx="17000804" cy="1508105"/>
          </a:xfrm>
          <a:prstGeom prst="rect">
            <a:avLst/>
          </a:prstGeom>
          <a:noFill/>
        </p:spPr>
        <p:txBody>
          <a:bodyPr wrap="square" rtlCol="0">
            <a:spAutoFit/>
          </a:bodyPr>
          <a:lstStyle/>
          <a:p>
            <a:r>
              <a:rPr lang="en-GB" sz="2300" b="1" dirty="0" err="1">
                <a:solidFill>
                  <a:schemeClr val="accent1">
                    <a:lumMod val="75000"/>
                  </a:schemeClr>
                </a:solidFill>
                <a:latin typeface="Ruda" panose="020B0604020202020204" charset="0"/>
              </a:rPr>
              <a:t>Eveluation</a:t>
            </a:r>
            <a:r>
              <a:rPr lang="en-GB" sz="2300" b="1" dirty="0">
                <a:solidFill>
                  <a:schemeClr val="accent1">
                    <a:lumMod val="75000"/>
                  </a:schemeClr>
                </a:solidFill>
                <a:latin typeface="Ruda" panose="020B0604020202020204" charset="0"/>
              </a:rPr>
              <a:t>: </a:t>
            </a:r>
            <a:r>
              <a:rPr lang="en-GB" sz="2300" dirty="0">
                <a:solidFill>
                  <a:schemeClr val="accent1">
                    <a:lumMod val="75000"/>
                  </a:schemeClr>
                </a:solidFill>
                <a:latin typeface="Ruda" panose="020B0604020202020204" charset="0"/>
              </a:rPr>
              <a:t>The internal fit between the differentiation strategy and the resources and capabilities of Nike is good, especially the brand equity, innovation, and responsive supply chain. In order to maximise these strengths, the firm should have an agile organisation, which is able to react swiftly and convert resources into a long-term competitive edge and play defence against competitors.</a:t>
            </a:r>
            <a:endParaRPr lang="en-GB" sz="2300" dirty="0">
              <a:solidFill>
                <a:schemeClr val="accent1">
                  <a:lumMod val="75000"/>
                </a:schemeClr>
              </a:solidFill>
              <a:effectLst/>
              <a:latin typeface="Ruda"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952731" flipV="1">
            <a:off x="11655995" y="-3950803"/>
            <a:ext cx="5624098" cy="9208083"/>
          </a:xfrm>
          <a:custGeom>
            <a:avLst/>
            <a:gdLst/>
            <a:ahLst/>
            <a:cxnLst/>
            <a:rect l="l" t="t" r="r" b="b"/>
            <a:pathLst>
              <a:path w="5624098" h="9208083">
                <a:moveTo>
                  <a:pt x="0" y="9208083"/>
                </a:moveTo>
                <a:lnTo>
                  <a:pt x="5624098" y="9208083"/>
                </a:lnTo>
                <a:lnTo>
                  <a:pt x="5624098" y="0"/>
                </a:lnTo>
                <a:lnTo>
                  <a:pt x="0" y="0"/>
                </a:lnTo>
                <a:lnTo>
                  <a:pt x="0" y="920808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837008">
            <a:off x="-4586124" y="7144191"/>
            <a:ext cx="18937445" cy="7859040"/>
          </a:xfrm>
          <a:custGeom>
            <a:avLst/>
            <a:gdLst/>
            <a:ahLst/>
            <a:cxnLst/>
            <a:rect l="l" t="t" r="r" b="b"/>
            <a:pathLst>
              <a:path w="18937445" h="7859040">
                <a:moveTo>
                  <a:pt x="0" y="0"/>
                </a:moveTo>
                <a:lnTo>
                  <a:pt x="18937445" y="0"/>
                </a:lnTo>
                <a:lnTo>
                  <a:pt x="18937445" y="7859040"/>
                </a:lnTo>
                <a:lnTo>
                  <a:pt x="0" y="78590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435047" y="653239"/>
            <a:ext cx="611483" cy="972011"/>
          </a:xfrm>
          <a:custGeom>
            <a:avLst/>
            <a:gdLst/>
            <a:ahLst/>
            <a:cxnLst/>
            <a:rect l="l" t="t" r="r" b="b"/>
            <a:pathLst>
              <a:path w="611483" h="972011">
                <a:moveTo>
                  <a:pt x="0" y="0"/>
                </a:moveTo>
                <a:lnTo>
                  <a:pt x="611483" y="0"/>
                </a:lnTo>
                <a:lnTo>
                  <a:pt x="611483" y="972010"/>
                </a:lnTo>
                <a:lnTo>
                  <a:pt x="0" y="9720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99644" y="2095583"/>
            <a:ext cx="17411700" cy="6463308"/>
          </a:xfrm>
          <a:prstGeom prst="rect">
            <a:avLst/>
          </a:prstGeom>
        </p:spPr>
        <p:txBody>
          <a:bodyPr wrap="square" lIns="0" tIns="0" rIns="0" bIns="0" rtlCol="0" anchor="t">
            <a:spAutoFit/>
          </a:bodyPr>
          <a:lstStyle/>
          <a:p>
            <a:r>
              <a:rPr lang="en-GB" sz="2800" b="1" dirty="0">
                <a:solidFill>
                  <a:schemeClr val="accent1">
                    <a:lumMod val="75000"/>
                  </a:schemeClr>
                </a:solidFill>
                <a:latin typeface="Ruda" panose="020B0604020202020204" charset="0"/>
              </a:rPr>
              <a:t>Strategy Overview</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Target reasonable performance and dreamlike-style clothes. </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Dri-FIT line: merges the performance technology and style for the sportsmen and the casual customers. </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Based on VRIO-strong brand and innovation potential; $2bn spent on R&amp;D to come up with unique features. </a:t>
            </a:r>
          </a:p>
          <a:p>
            <a:pPr marL="457200" indent="-457200">
              <a:buFont typeface="Arial" panose="020B0604020202020204" pitchFamily="34" charset="0"/>
              <a:buChar char="•"/>
            </a:pPr>
            <a:r>
              <a:rPr lang="en-GB" sz="2800" b="1" dirty="0">
                <a:solidFill>
                  <a:schemeClr val="accent1">
                    <a:lumMod val="75000"/>
                  </a:schemeClr>
                </a:solidFill>
                <a:latin typeface="Ruda" panose="020B0604020202020204" charset="0"/>
              </a:rPr>
              <a:t>Blue Ocean opportunities: </a:t>
            </a:r>
            <a:r>
              <a:rPr lang="en-GB" sz="2800" dirty="0">
                <a:solidFill>
                  <a:schemeClr val="accent1">
                    <a:lumMod val="75000"/>
                  </a:schemeClr>
                </a:solidFill>
                <a:latin typeface="Ruda" panose="020B0604020202020204" charset="0"/>
              </a:rPr>
              <a:t>developing uncontested markets (Lecture 07, 2025, p. 9)</a:t>
            </a:r>
          </a:p>
          <a:p>
            <a:endParaRPr lang="en-GB" sz="2800" b="1" dirty="0">
              <a:solidFill>
                <a:schemeClr val="accent1">
                  <a:lumMod val="75000"/>
                </a:schemeClr>
              </a:solidFill>
              <a:latin typeface="Ruda" panose="020B0604020202020204" charset="0"/>
            </a:endParaRPr>
          </a:p>
          <a:p>
            <a:r>
              <a:rPr lang="en-GB" sz="2800" b="1" dirty="0">
                <a:solidFill>
                  <a:schemeClr val="accent1">
                    <a:lumMod val="75000"/>
                  </a:schemeClr>
                </a:solidFill>
                <a:latin typeface="Ruda" panose="020B0604020202020204" charset="0"/>
              </a:rPr>
              <a:t>Competitive Advantage</a:t>
            </a:r>
          </a:p>
          <a:p>
            <a:pPr marL="457200" indent="-457200">
              <a:buFont typeface="Wingdings" panose="05000000000000000000" pitchFamily="2" charset="2"/>
              <a:buChar char="q"/>
            </a:pPr>
            <a:r>
              <a:rPr lang="en-GB" sz="2800" dirty="0">
                <a:solidFill>
                  <a:schemeClr val="accent1">
                    <a:lumMod val="75000"/>
                  </a:schemeClr>
                </a:solidFill>
                <a:latin typeface="Ruda" panose="020B0604020202020204" charset="0"/>
              </a:rPr>
              <a:t>Digital leadership: 40 per cent of UK online sales; the international market is superior to Puma. </a:t>
            </a:r>
          </a:p>
          <a:p>
            <a:pPr marL="457200" indent="-457200">
              <a:buFont typeface="Wingdings" panose="05000000000000000000" pitchFamily="2" charset="2"/>
              <a:buChar char="q"/>
            </a:pPr>
            <a:r>
              <a:rPr lang="en-GB" sz="2800" dirty="0">
                <a:solidFill>
                  <a:schemeClr val="accent1">
                    <a:lumMod val="75000"/>
                  </a:schemeClr>
                </a:solidFill>
                <a:latin typeface="Ruda" panose="020B0604020202020204" charset="0"/>
              </a:rPr>
              <a:t>Innovation contributes to the strength against the fast-fashion trends. </a:t>
            </a:r>
          </a:p>
          <a:p>
            <a:pPr marL="457200" indent="-457200">
              <a:buFont typeface="Wingdings" panose="05000000000000000000" pitchFamily="2" charset="2"/>
              <a:buChar char="q"/>
            </a:pPr>
            <a:r>
              <a:rPr lang="en-GB" sz="2800" dirty="0">
                <a:solidFill>
                  <a:schemeClr val="accent1">
                    <a:lumMod val="75000"/>
                  </a:schemeClr>
                </a:solidFill>
                <a:latin typeface="Ruda" panose="020B0604020202020204" charset="0"/>
              </a:rPr>
              <a:t>Sustainability initiatives lower expenses and enhance effectiveness (four-actions model). </a:t>
            </a:r>
          </a:p>
          <a:p>
            <a:pPr marL="457200" indent="-457200">
              <a:buFont typeface="Wingdings" panose="05000000000000000000" pitchFamily="2" charset="2"/>
              <a:buChar char="q"/>
            </a:pPr>
            <a:r>
              <a:rPr lang="en-GB" sz="2800" dirty="0">
                <a:solidFill>
                  <a:schemeClr val="accent1">
                    <a:lumMod val="75000"/>
                  </a:schemeClr>
                </a:solidFill>
                <a:latin typeface="Ruda" panose="020B0604020202020204" charset="0"/>
              </a:rPr>
              <a:t>Differentiation strategy is a strategic queen which dictates market positions.</a:t>
            </a:r>
          </a:p>
          <a:p>
            <a:pPr marL="457200" indent="-457200">
              <a:buFont typeface="Wingdings" panose="05000000000000000000" pitchFamily="2" charset="2"/>
              <a:buChar char="q"/>
            </a:pPr>
            <a:endParaRPr lang="en-GB" sz="2800" dirty="0">
              <a:solidFill>
                <a:schemeClr val="accent1">
                  <a:lumMod val="75000"/>
                </a:schemeClr>
              </a:solidFill>
              <a:latin typeface="Ruda" panose="020B0604020202020204" charset="0"/>
            </a:endParaRPr>
          </a:p>
          <a:p>
            <a:r>
              <a:rPr lang="en-GB" sz="2800" b="1" dirty="0">
                <a:solidFill>
                  <a:schemeClr val="accent1">
                    <a:lumMod val="75000"/>
                  </a:schemeClr>
                </a:solidFill>
                <a:latin typeface="Ruda" panose="020B0604020202020204" charset="0"/>
              </a:rPr>
              <a:t>Assessment: </a:t>
            </a:r>
            <a:r>
              <a:rPr lang="en-GB" sz="2800" dirty="0">
                <a:solidFill>
                  <a:schemeClr val="accent1">
                    <a:lumMod val="75000"/>
                  </a:schemeClr>
                </a:solidFill>
                <a:latin typeface="Ruda" panose="020B0604020202020204" charset="0"/>
              </a:rPr>
              <a:t>Good fit internally but, an agile organization will be required to make the most out of these resources. Resources are used as armour to protect against the undermining of competition.</a:t>
            </a:r>
          </a:p>
        </p:txBody>
      </p:sp>
      <p:sp>
        <p:nvSpPr>
          <p:cNvPr id="6" name="Freeform 6"/>
          <p:cNvSpPr/>
          <p:nvPr/>
        </p:nvSpPr>
        <p:spPr>
          <a:xfrm>
            <a:off x="13202064" y="8243094"/>
            <a:ext cx="5085936" cy="1830937"/>
          </a:xfrm>
          <a:custGeom>
            <a:avLst/>
            <a:gdLst/>
            <a:ahLst/>
            <a:cxnLst/>
            <a:rect l="l" t="t" r="r" b="b"/>
            <a:pathLst>
              <a:path w="5085936" h="1830937">
                <a:moveTo>
                  <a:pt x="0" y="0"/>
                </a:moveTo>
                <a:lnTo>
                  <a:pt x="5085936" y="0"/>
                </a:lnTo>
                <a:lnTo>
                  <a:pt x="5085936" y="1830937"/>
                </a:lnTo>
                <a:lnTo>
                  <a:pt x="0" y="1830937"/>
                </a:lnTo>
                <a:lnTo>
                  <a:pt x="0" y="0"/>
                </a:lnTo>
                <a:close/>
              </a:path>
            </a:pathLst>
          </a:custGeom>
          <a:blipFill>
            <a:blip r:embed="rId8"/>
            <a:stretch>
              <a:fillRect/>
            </a:stretch>
          </a:blipFill>
        </p:spPr>
      </p:sp>
      <p:sp>
        <p:nvSpPr>
          <p:cNvPr id="7" name="TextBox 7"/>
          <p:cNvSpPr txBox="1"/>
          <p:nvPr/>
        </p:nvSpPr>
        <p:spPr>
          <a:xfrm>
            <a:off x="599644" y="754178"/>
            <a:ext cx="13868400" cy="871072"/>
          </a:xfrm>
          <a:prstGeom prst="rect">
            <a:avLst/>
          </a:prstGeom>
        </p:spPr>
        <p:txBody>
          <a:bodyPr wrap="square" lIns="0" tIns="0" rIns="0" bIns="0" rtlCol="0" anchor="t">
            <a:spAutoFit/>
          </a:bodyPr>
          <a:lstStyle/>
          <a:p>
            <a:pPr algn="l">
              <a:lnSpc>
                <a:spcPts val="7064"/>
              </a:lnSpc>
              <a:spcBef>
                <a:spcPct val="0"/>
              </a:spcBef>
            </a:pPr>
            <a:r>
              <a:rPr lang="en-US" sz="5046" b="1" dirty="0">
                <a:solidFill>
                  <a:srgbClr val="0555A3"/>
                </a:solidFill>
                <a:latin typeface="Ruda Bold"/>
                <a:ea typeface="Ruda Bold"/>
                <a:cs typeface="Ruda Bold"/>
                <a:sym typeface="Ruda Bold"/>
              </a:rPr>
              <a:t>BUSINESS-LEVEL STRATEGY: DIFFERENTIATION</a:t>
            </a: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809046" y="-4132366"/>
            <a:ext cx="5625336" cy="9210109"/>
          </a:xfrm>
          <a:custGeom>
            <a:avLst/>
            <a:gdLst/>
            <a:ahLst/>
            <a:cxnLst/>
            <a:rect l="l" t="t" r="r" b="b"/>
            <a:pathLst>
              <a:path w="5625336" h="9210109">
                <a:moveTo>
                  <a:pt x="0" y="0"/>
                </a:moveTo>
                <a:lnTo>
                  <a:pt x="5625337" y="0"/>
                </a:lnTo>
                <a:lnTo>
                  <a:pt x="5625337" y="9210109"/>
                </a:lnTo>
                <a:lnTo>
                  <a:pt x="0" y="92101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99461" flipH="1">
            <a:off x="3836850" y="7412473"/>
            <a:ext cx="17527180" cy="7273780"/>
          </a:xfrm>
          <a:custGeom>
            <a:avLst/>
            <a:gdLst/>
            <a:ahLst/>
            <a:cxnLst/>
            <a:rect l="l" t="t" r="r" b="b"/>
            <a:pathLst>
              <a:path w="17527180" h="7273780">
                <a:moveTo>
                  <a:pt x="17527180" y="0"/>
                </a:moveTo>
                <a:lnTo>
                  <a:pt x="0" y="0"/>
                </a:lnTo>
                <a:lnTo>
                  <a:pt x="0" y="7273780"/>
                </a:lnTo>
                <a:lnTo>
                  <a:pt x="17527180" y="7273780"/>
                </a:lnTo>
                <a:lnTo>
                  <a:pt x="1752718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69709" y="449216"/>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8"/>
            <a:stretch>
              <a:fillRect/>
            </a:stretch>
          </a:blipFill>
        </p:spPr>
      </p:sp>
      <p:grpSp>
        <p:nvGrpSpPr>
          <p:cNvPr id="6" name="Group 6"/>
          <p:cNvGrpSpPr/>
          <p:nvPr/>
        </p:nvGrpSpPr>
        <p:grpSpPr>
          <a:xfrm>
            <a:off x="152400" y="2700903"/>
            <a:ext cx="5716831" cy="4647875"/>
            <a:chOff x="0" y="0"/>
            <a:chExt cx="1283515" cy="1224132"/>
          </a:xfrm>
        </p:grpSpPr>
        <p:sp>
          <p:nvSpPr>
            <p:cNvPr id="7" name="Freeform 7"/>
            <p:cNvSpPr/>
            <p:nvPr/>
          </p:nvSpPr>
          <p:spPr>
            <a:xfrm>
              <a:off x="0" y="0"/>
              <a:ext cx="1283515" cy="1224132"/>
            </a:xfrm>
            <a:custGeom>
              <a:avLst/>
              <a:gdLst/>
              <a:ahLst/>
              <a:cxnLst/>
              <a:rect l="l" t="t" r="r" b="b"/>
              <a:pathLst>
                <a:path w="1283515" h="1224132">
                  <a:moveTo>
                    <a:pt x="81020" y="0"/>
                  </a:moveTo>
                  <a:lnTo>
                    <a:pt x="1202495" y="0"/>
                  </a:lnTo>
                  <a:cubicBezTo>
                    <a:pt x="1247241" y="0"/>
                    <a:pt x="1283515" y="36274"/>
                    <a:pt x="1283515" y="81020"/>
                  </a:cubicBezTo>
                  <a:lnTo>
                    <a:pt x="1283515" y="1143112"/>
                  </a:lnTo>
                  <a:cubicBezTo>
                    <a:pt x="1283515" y="1187858"/>
                    <a:pt x="1247241" y="1224132"/>
                    <a:pt x="1202495" y="1224132"/>
                  </a:cubicBezTo>
                  <a:lnTo>
                    <a:pt x="81020" y="1224132"/>
                  </a:lnTo>
                  <a:cubicBezTo>
                    <a:pt x="59532" y="1224132"/>
                    <a:pt x="38924" y="1215596"/>
                    <a:pt x="23730" y="1200402"/>
                  </a:cubicBezTo>
                  <a:cubicBezTo>
                    <a:pt x="8536" y="1185207"/>
                    <a:pt x="0" y="1164600"/>
                    <a:pt x="0" y="1143112"/>
                  </a:cubicBezTo>
                  <a:lnTo>
                    <a:pt x="0" y="81020"/>
                  </a:lnTo>
                  <a:cubicBezTo>
                    <a:pt x="0" y="36274"/>
                    <a:pt x="36274" y="0"/>
                    <a:pt x="81020" y="0"/>
                  </a:cubicBezTo>
                  <a:close/>
                </a:path>
              </a:pathLst>
            </a:custGeom>
            <a:solidFill>
              <a:srgbClr val="0071BC"/>
            </a:solidFill>
          </p:spPr>
        </p:sp>
        <p:sp>
          <p:nvSpPr>
            <p:cNvPr id="8" name="TextBox 8"/>
            <p:cNvSpPr txBox="1"/>
            <p:nvPr/>
          </p:nvSpPr>
          <p:spPr>
            <a:xfrm>
              <a:off x="0" y="-57150"/>
              <a:ext cx="1283515" cy="1281282"/>
            </a:xfrm>
            <a:prstGeom prst="rect">
              <a:avLst/>
            </a:prstGeom>
          </p:spPr>
          <p:txBody>
            <a:bodyPr lIns="50800" tIns="50800" rIns="50800" bIns="50800" rtlCol="0" anchor="ctr"/>
            <a:lstStyle/>
            <a:p>
              <a:pPr algn="ctr">
                <a:lnSpc>
                  <a:spcPts val="3717"/>
                </a:lnSpc>
              </a:pPr>
              <a:endParaRPr/>
            </a:p>
          </p:txBody>
        </p:sp>
      </p:grpSp>
      <p:grpSp>
        <p:nvGrpSpPr>
          <p:cNvPr id="9" name="Group 9"/>
          <p:cNvGrpSpPr/>
          <p:nvPr/>
        </p:nvGrpSpPr>
        <p:grpSpPr>
          <a:xfrm>
            <a:off x="11344534" y="2015103"/>
            <a:ext cx="6364368" cy="5137663"/>
            <a:chOff x="0" y="0"/>
            <a:chExt cx="1719088" cy="913363"/>
          </a:xfrm>
        </p:grpSpPr>
        <p:sp>
          <p:nvSpPr>
            <p:cNvPr id="10" name="Freeform 10"/>
            <p:cNvSpPr/>
            <p:nvPr/>
          </p:nvSpPr>
          <p:spPr>
            <a:xfrm>
              <a:off x="0" y="0"/>
              <a:ext cx="1719088" cy="913363"/>
            </a:xfrm>
            <a:custGeom>
              <a:avLst/>
              <a:gdLst/>
              <a:ahLst/>
              <a:cxnLst/>
              <a:rect l="l" t="t" r="r" b="b"/>
              <a:pathLst>
                <a:path w="1719088" h="913363">
                  <a:moveTo>
                    <a:pt x="60492" y="0"/>
                  </a:moveTo>
                  <a:lnTo>
                    <a:pt x="1658597" y="0"/>
                  </a:lnTo>
                  <a:cubicBezTo>
                    <a:pt x="1674640" y="0"/>
                    <a:pt x="1690026" y="6373"/>
                    <a:pt x="1701371" y="17718"/>
                  </a:cubicBezTo>
                  <a:cubicBezTo>
                    <a:pt x="1712715" y="29062"/>
                    <a:pt x="1719088" y="44448"/>
                    <a:pt x="1719088" y="60492"/>
                  </a:cubicBezTo>
                  <a:lnTo>
                    <a:pt x="1719088" y="852871"/>
                  </a:lnTo>
                  <a:cubicBezTo>
                    <a:pt x="1719088" y="868915"/>
                    <a:pt x="1712715" y="884301"/>
                    <a:pt x="1701371" y="895645"/>
                  </a:cubicBezTo>
                  <a:cubicBezTo>
                    <a:pt x="1690026" y="906990"/>
                    <a:pt x="1674640" y="913363"/>
                    <a:pt x="1658597" y="913363"/>
                  </a:cubicBezTo>
                  <a:lnTo>
                    <a:pt x="60492" y="913363"/>
                  </a:lnTo>
                  <a:cubicBezTo>
                    <a:pt x="44448" y="913363"/>
                    <a:pt x="29062" y="906990"/>
                    <a:pt x="17718" y="895645"/>
                  </a:cubicBezTo>
                  <a:cubicBezTo>
                    <a:pt x="6373" y="884301"/>
                    <a:pt x="0" y="868915"/>
                    <a:pt x="0" y="852871"/>
                  </a:cubicBezTo>
                  <a:lnTo>
                    <a:pt x="0" y="60492"/>
                  </a:lnTo>
                  <a:cubicBezTo>
                    <a:pt x="0" y="44448"/>
                    <a:pt x="6373" y="29062"/>
                    <a:pt x="17718" y="17718"/>
                  </a:cubicBezTo>
                  <a:cubicBezTo>
                    <a:pt x="29062" y="6373"/>
                    <a:pt x="44448" y="0"/>
                    <a:pt x="60492" y="0"/>
                  </a:cubicBezTo>
                  <a:close/>
                </a:path>
              </a:pathLst>
            </a:custGeom>
            <a:solidFill>
              <a:srgbClr val="0071BC"/>
            </a:solidFill>
          </p:spPr>
        </p:sp>
        <p:sp>
          <p:nvSpPr>
            <p:cNvPr id="11" name="TextBox 11"/>
            <p:cNvSpPr txBox="1"/>
            <p:nvPr/>
          </p:nvSpPr>
          <p:spPr>
            <a:xfrm>
              <a:off x="0" y="-57150"/>
              <a:ext cx="1719088" cy="970513"/>
            </a:xfrm>
            <a:prstGeom prst="rect">
              <a:avLst/>
            </a:prstGeom>
          </p:spPr>
          <p:txBody>
            <a:bodyPr lIns="50800" tIns="50800" rIns="50800" bIns="50800" rtlCol="0" anchor="ctr"/>
            <a:lstStyle/>
            <a:p>
              <a:pPr algn="ctr">
                <a:lnSpc>
                  <a:spcPts val="3717"/>
                </a:lnSpc>
              </a:pPr>
              <a:endParaRPr/>
            </a:p>
          </p:txBody>
        </p:sp>
      </p:grpSp>
      <p:sp>
        <p:nvSpPr>
          <p:cNvPr id="12" name="Freeform 12"/>
          <p:cNvSpPr/>
          <p:nvPr/>
        </p:nvSpPr>
        <p:spPr>
          <a:xfrm>
            <a:off x="526318" y="7399865"/>
            <a:ext cx="4569863" cy="2579271"/>
          </a:xfrm>
          <a:custGeom>
            <a:avLst/>
            <a:gdLst/>
            <a:ahLst/>
            <a:cxnLst/>
            <a:rect l="l" t="t" r="r" b="b"/>
            <a:pathLst>
              <a:path w="4569863" h="2579271">
                <a:moveTo>
                  <a:pt x="0" y="0"/>
                </a:moveTo>
                <a:lnTo>
                  <a:pt x="4569863" y="0"/>
                </a:lnTo>
                <a:lnTo>
                  <a:pt x="4569863" y="2579271"/>
                </a:lnTo>
                <a:lnTo>
                  <a:pt x="0" y="2579271"/>
                </a:lnTo>
                <a:lnTo>
                  <a:pt x="0" y="0"/>
                </a:lnTo>
                <a:close/>
              </a:path>
            </a:pathLst>
          </a:custGeom>
          <a:blipFill>
            <a:blip r:embed="rId9"/>
            <a:stretch>
              <a:fillRect l="-10104" t="-22799" r="-10739" b="-20116"/>
            </a:stretch>
          </a:blipFill>
        </p:spPr>
      </p:sp>
      <p:sp>
        <p:nvSpPr>
          <p:cNvPr id="13" name="Freeform 13"/>
          <p:cNvSpPr/>
          <p:nvPr/>
        </p:nvSpPr>
        <p:spPr>
          <a:xfrm>
            <a:off x="15692982" y="48699"/>
            <a:ext cx="2015920" cy="1966404"/>
          </a:xfrm>
          <a:custGeom>
            <a:avLst/>
            <a:gdLst/>
            <a:ahLst/>
            <a:cxnLst/>
            <a:rect l="l" t="t" r="r" b="b"/>
            <a:pathLst>
              <a:path w="2015920" h="1966404">
                <a:moveTo>
                  <a:pt x="0" y="0"/>
                </a:moveTo>
                <a:lnTo>
                  <a:pt x="2015920" y="0"/>
                </a:lnTo>
                <a:lnTo>
                  <a:pt x="2015920" y="1966404"/>
                </a:lnTo>
                <a:lnTo>
                  <a:pt x="0" y="1966404"/>
                </a:lnTo>
                <a:lnTo>
                  <a:pt x="0" y="0"/>
                </a:lnTo>
                <a:close/>
              </a:path>
            </a:pathLst>
          </a:custGeom>
          <a:blipFill>
            <a:blip r:embed="rId10"/>
            <a:stretch>
              <a:fillRect l="-19737" t="-21401" r="-24084" b="-26041"/>
            </a:stretch>
          </a:blipFill>
        </p:spPr>
      </p:sp>
      <p:sp>
        <p:nvSpPr>
          <p:cNvPr id="14" name="TextBox 14"/>
          <p:cNvSpPr txBox="1"/>
          <p:nvPr/>
        </p:nvSpPr>
        <p:spPr>
          <a:xfrm>
            <a:off x="6228991" y="2700399"/>
            <a:ext cx="4932315" cy="5115503"/>
          </a:xfrm>
          <a:prstGeom prst="rect">
            <a:avLst/>
          </a:prstGeom>
        </p:spPr>
        <p:txBody>
          <a:bodyPr wrap="square" lIns="0" tIns="0" rIns="0" bIns="0" rtlCol="0" anchor="t">
            <a:spAutoFit/>
          </a:bodyPr>
          <a:lstStyle/>
          <a:p>
            <a:r>
              <a:rPr lang="en-GB" sz="2800" b="1" dirty="0">
                <a:solidFill>
                  <a:schemeClr val="accent1">
                    <a:lumMod val="75000"/>
                  </a:schemeClr>
                </a:solidFill>
                <a:latin typeface="Ruda" panose="020B0604020202020204" charset="0"/>
              </a:rPr>
              <a:t>Social Initiatives</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Diversity programmes: 50 per cent women in leadership and governance. </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Supply chain ethical sourcing audits. </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Strike a balance between profit and purpose to establish long-term stakeholder confidence.</a:t>
            </a:r>
          </a:p>
          <a:p>
            <a:pPr algn="just">
              <a:lnSpc>
                <a:spcPts val="2933"/>
              </a:lnSpc>
              <a:spcBef>
                <a:spcPct val="0"/>
              </a:spcBef>
            </a:pPr>
            <a:endParaRPr lang="en-US" sz="2596" b="1" dirty="0">
              <a:solidFill>
                <a:schemeClr val="accent1">
                  <a:lumMod val="75000"/>
                </a:schemeClr>
              </a:solidFill>
              <a:latin typeface="Ruda" panose="020B0604020202020204" charset="0"/>
              <a:ea typeface="Ruda Bold"/>
              <a:cs typeface="Ruda Bold"/>
              <a:sym typeface="Ruda Bold"/>
            </a:endParaRPr>
          </a:p>
        </p:txBody>
      </p:sp>
      <p:sp>
        <p:nvSpPr>
          <p:cNvPr id="15" name="TextBox 15"/>
          <p:cNvSpPr txBox="1"/>
          <p:nvPr/>
        </p:nvSpPr>
        <p:spPr>
          <a:xfrm>
            <a:off x="4154849" y="839972"/>
            <a:ext cx="11516413" cy="857298"/>
          </a:xfrm>
          <a:prstGeom prst="rect">
            <a:avLst/>
          </a:prstGeom>
        </p:spPr>
        <p:txBody>
          <a:bodyPr lIns="0" tIns="0" rIns="0" bIns="0" rtlCol="0" anchor="t">
            <a:spAutoFit/>
          </a:bodyPr>
          <a:lstStyle/>
          <a:p>
            <a:pPr algn="ctr">
              <a:lnSpc>
                <a:spcPts val="7064"/>
              </a:lnSpc>
              <a:spcBef>
                <a:spcPct val="0"/>
              </a:spcBef>
            </a:pPr>
            <a:r>
              <a:rPr lang="en-US" sz="5046" b="1">
                <a:solidFill>
                  <a:srgbClr val="0555A3"/>
                </a:solidFill>
                <a:latin typeface="Ruda Bold"/>
                <a:ea typeface="Ruda Bold"/>
                <a:cs typeface="Ruda Bold"/>
                <a:sym typeface="Ruda Bold"/>
              </a:rPr>
              <a:t>NON-MARKET STRATEGY: ESG AND SDGS</a:t>
            </a:r>
          </a:p>
        </p:txBody>
      </p:sp>
      <p:sp>
        <p:nvSpPr>
          <p:cNvPr id="16" name="TextBox 16"/>
          <p:cNvSpPr txBox="1"/>
          <p:nvPr/>
        </p:nvSpPr>
        <p:spPr>
          <a:xfrm>
            <a:off x="526318" y="2874672"/>
            <a:ext cx="5342913" cy="4278094"/>
          </a:xfrm>
          <a:prstGeom prst="rect">
            <a:avLst/>
          </a:prstGeom>
        </p:spPr>
        <p:txBody>
          <a:bodyPr wrap="square" lIns="0" tIns="0" rIns="0" bIns="0" rtlCol="0" anchor="t">
            <a:spAutoFit/>
          </a:bodyPr>
          <a:lstStyle/>
          <a:p>
            <a:r>
              <a:rPr lang="en-GB" sz="2800" b="1" dirty="0">
                <a:solidFill>
                  <a:schemeClr val="bg1"/>
                </a:solidFill>
              </a:rPr>
              <a:t>Environmental Initiatives</a:t>
            </a:r>
            <a:endParaRPr lang="en-GB" sz="2500" b="1" dirty="0">
              <a:solidFill>
                <a:schemeClr val="bg1"/>
              </a:solidFill>
            </a:endParaRPr>
          </a:p>
          <a:p>
            <a:pPr marL="342900" indent="-342900">
              <a:buFont typeface="Arial" panose="020B0604020202020204" pitchFamily="34" charset="0"/>
              <a:buChar char="•"/>
            </a:pPr>
            <a:r>
              <a:rPr lang="en-GB" sz="2500" b="1" dirty="0">
                <a:solidFill>
                  <a:schemeClr val="bg1"/>
                </a:solidFill>
              </a:rPr>
              <a:t>Move to Zero:</a:t>
            </a:r>
            <a:r>
              <a:rPr lang="en-GB" sz="2500" dirty="0">
                <a:solidFill>
                  <a:schemeClr val="bg1"/>
                </a:solidFill>
              </a:rPr>
              <a:t> targets zero waste and carbon neutrality by 2050 (Nike Inc, 2021)</a:t>
            </a:r>
          </a:p>
          <a:p>
            <a:pPr marL="342900" indent="-342900">
              <a:buFont typeface="Arial" panose="020B0604020202020204" pitchFamily="34" charset="0"/>
              <a:buChar char="•"/>
            </a:pPr>
            <a:r>
              <a:rPr lang="en-GB" sz="2500" dirty="0">
                <a:solidFill>
                  <a:schemeClr val="bg1"/>
                </a:solidFill>
              </a:rPr>
              <a:t>Aligns with </a:t>
            </a:r>
            <a:r>
              <a:rPr lang="en-GB" sz="2500" b="1" dirty="0">
                <a:solidFill>
                  <a:schemeClr val="bg1"/>
                </a:solidFill>
              </a:rPr>
              <a:t>SDG 12 (responsible consumption)</a:t>
            </a:r>
            <a:r>
              <a:rPr lang="en-GB" sz="2500" dirty="0">
                <a:solidFill>
                  <a:schemeClr val="bg1"/>
                </a:solidFill>
              </a:rPr>
              <a:t> and </a:t>
            </a:r>
            <a:r>
              <a:rPr lang="en-GB" sz="2500" b="1" dirty="0">
                <a:solidFill>
                  <a:schemeClr val="bg1"/>
                </a:solidFill>
              </a:rPr>
              <a:t>SDG 13 (climate action)</a:t>
            </a:r>
            <a:endParaRPr lang="en-GB" sz="2500" dirty="0">
              <a:solidFill>
                <a:schemeClr val="bg1"/>
              </a:solidFill>
            </a:endParaRPr>
          </a:p>
          <a:p>
            <a:pPr marL="342900" indent="-342900">
              <a:buFont typeface="Arial" panose="020B0604020202020204" pitchFamily="34" charset="0"/>
              <a:buChar char="•"/>
            </a:pPr>
            <a:r>
              <a:rPr lang="en-GB" sz="2500" dirty="0">
                <a:solidFill>
                  <a:schemeClr val="bg1"/>
                </a:solidFill>
              </a:rPr>
              <a:t>100% renewable facilities expected by 2025 (About Nike, n.d.)</a:t>
            </a:r>
          </a:p>
          <a:p>
            <a:pPr marL="342900" indent="-342900">
              <a:buFont typeface="Arial" panose="020B0604020202020204" pitchFamily="34" charset="0"/>
              <a:buChar char="•"/>
            </a:pPr>
            <a:r>
              <a:rPr lang="en-GB" sz="2500" dirty="0">
                <a:solidFill>
                  <a:schemeClr val="bg1"/>
                </a:solidFill>
              </a:rPr>
              <a:t>Rapid implementation of sustainability programs, faster than rivals</a:t>
            </a:r>
          </a:p>
        </p:txBody>
      </p:sp>
      <p:sp>
        <p:nvSpPr>
          <p:cNvPr id="17" name="TextBox 17"/>
          <p:cNvSpPr txBox="1"/>
          <p:nvPr/>
        </p:nvSpPr>
        <p:spPr>
          <a:xfrm>
            <a:off x="11637447" y="2126198"/>
            <a:ext cx="5905812" cy="4739759"/>
          </a:xfrm>
          <a:prstGeom prst="rect">
            <a:avLst/>
          </a:prstGeom>
        </p:spPr>
        <p:txBody>
          <a:bodyPr lIns="0" tIns="0" rIns="0" bIns="0" rtlCol="0" anchor="t">
            <a:spAutoFit/>
          </a:bodyPr>
          <a:lstStyle/>
          <a:p>
            <a:r>
              <a:rPr lang="en-GB" sz="2800" b="1" dirty="0">
                <a:solidFill>
                  <a:schemeClr val="bg1"/>
                </a:solidFill>
                <a:latin typeface="Ruda" panose="020B0604020202020204" charset="0"/>
              </a:rPr>
              <a:t>Performance Compared to Competitors </a:t>
            </a:r>
          </a:p>
          <a:p>
            <a:pPr marL="457200" indent="-457200">
              <a:buFont typeface="Wingdings" panose="05000000000000000000" pitchFamily="2" charset="2"/>
              <a:buChar char="v"/>
            </a:pPr>
            <a:r>
              <a:rPr lang="en-GB" sz="2800" dirty="0">
                <a:solidFill>
                  <a:schemeClr val="bg1"/>
                </a:solidFill>
                <a:latin typeface="Ruda" panose="020B0604020202020204" charset="0"/>
              </a:rPr>
              <a:t>ESG integration is faster than the majority of competitors. </a:t>
            </a:r>
          </a:p>
          <a:p>
            <a:pPr marL="457200" indent="-457200">
              <a:buFont typeface="Wingdings" panose="05000000000000000000" pitchFamily="2" charset="2"/>
              <a:buChar char="v"/>
            </a:pPr>
            <a:r>
              <a:rPr lang="en-GB" sz="2800" dirty="0">
                <a:solidFill>
                  <a:schemeClr val="bg1"/>
                </a:solidFill>
                <a:latin typeface="Ruda" panose="020B0604020202020204" charset="0"/>
              </a:rPr>
              <a:t>Weak reporting as compared to Lululemon (Sustainabilitymag.com, 2024) </a:t>
            </a:r>
          </a:p>
          <a:p>
            <a:pPr marL="457200" indent="-457200">
              <a:buFont typeface="Wingdings" panose="05000000000000000000" pitchFamily="2" charset="2"/>
              <a:buChar char="v"/>
            </a:pPr>
            <a:r>
              <a:rPr lang="en-GB" sz="2800" dirty="0">
                <a:solidFill>
                  <a:schemeClr val="bg1"/>
                </a:solidFill>
                <a:latin typeface="Ruda" panose="020B0604020202020204" charset="0"/>
              </a:rPr>
              <a:t>The first company to incorporate SDG-related efforts, yet it has labour criticism issues. (ProPublica, 2024)</a:t>
            </a:r>
            <a:endParaRPr lang="en-GB" sz="2800" dirty="0">
              <a:solidFill>
                <a:schemeClr val="bg1"/>
              </a:solidFill>
              <a:effectLst/>
              <a:latin typeface="Ruda" panose="020B0604020202020204" charset="0"/>
            </a:endParaRPr>
          </a:p>
        </p:txBody>
      </p:sp>
      <p:sp>
        <p:nvSpPr>
          <p:cNvPr id="18" name="TextBox 18"/>
          <p:cNvSpPr txBox="1"/>
          <p:nvPr/>
        </p:nvSpPr>
        <p:spPr>
          <a:xfrm>
            <a:off x="5220437" y="7481275"/>
            <a:ext cx="12923290" cy="1948162"/>
          </a:xfrm>
          <a:prstGeom prst="rect">
            <a:avLst/>
          </a:prstGeom>
        </p:spPr>
        <p:txBody>
          <a:bodyPr wrap="square" lIns="0" tIns="0" rIns="0" bIns="0" rtlCol="0" anchor="t">
            <a:spAutoFit/>
          </a:bodyPr>
          <a:lstStyle/>
          <a:p>
            <a:pPr algn="l">
              <a:lnSpc>
                <a:spcPts val="2933"/>
              </a:lnSpc>
              <a:spcBef>
                <a:spcPct val="0"/>
              </a:spcBef>
            </a:pPr>
            <a:endParaRPr lang="en-US" sz="2600" dirty="0">
              <a:solidFill>
                <a:schemeClr val="accent2">
                  <a:lumMod val="75000"/>
                </a:schemeClr>
              </a:solidFill>
              <a:latin typeface="Ruda" panose="020B0604020202020204" charset="0"/>
              <a:ea typeface="Ruda"/>
              <a:cs typeface="Ruda"/>
              <a:sym typeface="Ruda"/>
            </a:endParaRPr>
          </a:p>
          <a:p>
            <a:r>
              <a:rPr lang="en-US" sz="2600" b="1" dirty="0">
                <a:solidFill>
                  <a:schemeClr val="accent2">
                    <a:lumMod val="75000"/>
                  </a:schemeClr>
                </a:solidFill>
                <a:latin typeface="Ruda" panose="020B0604020202020204" charset="0"/>
                <a:ea typeface="Ruda Bold"/>
                <a:cs typeface="Ruda Bold"/>
                <a:sym typeface="Ruda Bold"/>
              </a:rPr>
              <a:t>Analysis:</a:t>
            </a:r>
            <a:r>
              <a:rPr lang="en-US" sz="2600" dirty="0">
                <a:solidFill>
                  <a:schemeClr val="accent2">
                    <a:lumMod val="75000"/>
                  </a:schemeClr>
                </a:solidFill>
                <a:latin typeface="Ruda" panose="020B0604020202020204" charset="0"/>
                <a:ea typeface="Ruda"/>
                <a:cs typeface="Ruda"/>
                <a:sym typeface="Ruda"/>
              </a:rPr>
              <a:t> </a:t>
            </a:r>
            <a:r>
              <a:rPr lang="en-GB" sz="2600" dirty="0">
                <a:solidFill>
                  <a:schemeClr val="accent2">
                    <a:lumMod val="75000"/>
                  </a:schemeClr>
                </a:solidFill>
                <a:latin typeface="Ruda" panose="020B0604020202020204" charset="0"/>
              </a:rPr>
              <a:t>These structural forecasts are in high congruence with environmental and social demands, which enhance the competitive edge of Nike and help to strategically position it in the UK market (Lecture01, 2025, p. 2).</a:t>
            </a:r>
          </a:p>
          <a:p>
            <a:pPr algn="l">
              <a:lnSpc>
                <a:spcPts val="2933"/>
              </a:lnSpc>
              <a:spcBef>
                <a:spcPct val="0"/>
              </a:spcBef>
            </a:pPr>
            <a:endParaRPr lang="en-US" sz="2600" dirty="0">
              <a:solidFill>
                <a:schemeClr val="accent2">
                  <a:lumMod val="75000"/>
                </a:schemeClr>
              </a:solidFill>
              <a:latin typeface="Ruda" panose="020B0604020202020204" charset="0"/>
              <a:ea typeface="Ruda"/>
              <a:cs typeface="Ruda"/>
              <a:sym typeface="Ruda"/>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85830" flipV="1">
            <a:off x="11655995" y="-3950803"/>
            <a:ext cx="5624098" cy="9208083"/>
          </a:xfrm>
          <a:custGeom>
            <a:avLst/>
            <a:gdLst/>
            <a:ahLst/>
            <a:cxnLst/>
            <a:rect l="l" t="t" r="r" b="b"/>
            <a:pathLst>
              <a:path w="5624098" h="9208083">
                <a:moveTo>
                  <a:pt x="0" y="9208083"/>
                </a:moveTo>
                <a:lnTo>
                  <a:pt x="5624098" y="9208083"/>
                </a:lnTo>
                <a:lnTo>
                  <a:pt x="5624098" y="0"/>
                </a:lnTo>
                <a:lnTo>
                  <a:pt x="0" y="0"/>
                </a:lnTo>
                <a:lnTo>
                  <a:pt x="0" y="920808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53173">
            <a:off x="-4686071" y="7255395"/>
            <a:ext cx="18937445" cy="7859040"/>
          </a:xfrm>
          <a:custGeom>
            <a:avLst/>
            <a:gdLst/>
            <a:ahLst/>
            <a:cxnLst/>
            <a:rect l="l" t="t" r="r" b="b"/>
            <a:pathLst>
              <a:path w="18937445" h="7859040">
                <a:moveTo>
                  <a:pt x="0" y="0"/>
                </a:moveTo>
                <a:lnTo>
                  <a:pt x="18937445" y="0"/>
                </a:lnTo>
                <a:lnTo>
                  <a:pt x="18937445" y="7859039"/>
                </a:lnTo>
                <a:lnTo>
                  <a:pt x="0" y="785903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302334" y="47107"/>
            <a:ext cx="611483" cy="972011"/>
          </a:xfrm>
          <a:custGeom>
            <a:avLst/>
            <a:gdLst/>
            <a:ahLst/>
            <a:cxnLst/>
            <a:rect l="l" t="t" r="r" b="b"/>
            <a:pathLst>
              <a:path w="611483" h="972011">
                <a:moveTo>
                  <a:pt x="0" y="0"/>
                </a:moveTo>
                <a:lnTo>
                  <a:pt x="611483" y="0"/>
                </a:lnTo>
                <a:lnTo>
                  <a:pt x="611483" y="972010"/>
                </a:lnTo>
                <a:lnTo>
                  <a:pt x="0" y="9720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6182996" y="1963256"/>
            <a:ext cx="5508354" cy="6232475"/>
          </a:xfrm>
          <a:prstGeom prst="rect">
            <a:avLst/>
          </a:prstGeom>
        </p:spPr>
        <p:txBody>
          <a:bodyPr wrap="square" lIns="0" tIns="0" rIns="0" bIns="0" rtlCol="0" anchor="t">
            <a:spAutoFit/>
          </a:bodyPr>
          <a:lstStyle/>
          <a:p>
            <a:r>
              <a:rPr lang="en-GB" sz="2700" b="1" dirty="0">
                <a:solidFill>
                  <a:schemeClr val="accent1">
                    <a:lumMod val="75000"/>
                  </a:schemeClr>
                </a:solidFill>
                <a:latin typeface="Ruda" panose="020B0604020202020204" charset="0"/>
              </a:rPr>
              <a:t>Innovation Capabilities</a:t>
            </a:r>
          </a:p>
          <a:p>
            <a:pPr marL="457200" indent="-457200">
              <a:buFont typeface="Wingdings" panose="05000000000000000000" pitchFamily="2" charset="2"/>
              <a:buChar char="v"/>
            </a:pPr>
            <a:r>
              <a:rPr lang="en-GB" sz="2700" dirty="0" err="1">
                <a:solidFill>
                  <a:schemeClr val="accent1">
                    <a:lumMod val="75000"/>
                  </a:schemeClr>
                </a:solidFill>
                <a:latin typeface="Ruda" panose="020B0604020202020204" charset="0"/>
              </a:rPr>
              <a:t>Flyknit</a:t>
            </a:r>
            <a:r>
              <a:rPr lang="en-GB" sz="2700" dirty="0">
                <a:solidFill>
                  <a:schemeClr val="accent1">
                    <a:lumMod val="75000"/>
                  </a:schemeClr>
                </a:solidFill>
                <a:latin typeface="Ruda" panose="020B0604020202020204" charset="0"/>
              </a:rPr>
              <a:t> sustainable materials and materials integration. </a:t>
            </a:r>
          </a:p>
          <a:p>
            <a:pPr marL="457200" indent="-457200">
              <a:buFont typeface="Wingdings" panose="05000000000000000000" pitchFamily="2" charset="2"/>
              <a:buChar char="v"/>
            </a:pPr>
            <a:r>
              <a:rPr lang="en-GB" sz="2700" dirty="0">
                <a:solidFill>
                  <a:schemeClr val="accent1">
                    <a:lumMod val="75000"/>
                  </a:schemeClr>
                </a:solidFill>
                <a:latin typeface="Ruda" panose="020B0604020202020204" charset="0"/>
              </a:rPr>
              <a:t>Customer loyalty and brand differentiation become stronger with the help of app-based engagement (</a:t>
            </a:r>
            <a:r>
              <a:rPr lang="en-US" sz="2700" dirty="0" err="1">
                <a:solidFill>
                  <a:schemeClr val="accent1">
                    <a:lumMod val="75000"/>
                  </a:schemeClr>
                </a:solidFill>
                <a:latin typeface="Ruda" panose="020B0604020202020204" charset="0"/>
              </a:rPr>
              <a:t>Ouahchi</a:t>
            </a:r>
            <a:r>
              <a:rPr lang="en-US" sz="2700" dirty="0">
                <a:solidFill>
                  <a:schemeClr val="accent1">
                    <a:lumMod val="75000"/>
                  </a:schemeClr>
                </a:solidFill>
                <a:latin typeface="Ruda" panose="020B0604020202020204" charset="0"/>
              </a:rPr>
              <a:t> &amp; </a:t>
            </a:r>
            <a:r>
              <a:rPr lang="en-US" sz="2700" dirty="0" err="1">
                <a:solidFill>
                  <a:schemeClr val="accent1">
                    <a:lumMod val="75000"/>
                  </a:schemeClr>
                </a:solidFill>
                <a:latin typeface="Ruda" panose="020B0604020202020204" charset="0"/>
              </a:rPr>
              <a:t>Chouchane</a:t>
            </a:r>
            <a:r>
              <a:rPr lang="en-US" sz="2700" dirty="0">
                <a:solidFill>
                  <a:schemeClr val="accent1">
                    <a:lumMod val="75000"/>
                  </a:schemeClr>
                </a:solidFill>
                <a:latin typeface="Ruda" panose="020B0604020202020204" charset="0"/>
              </a:rPr>
              <a:t>, 2025</a:t>
            </a:r>
            <a:r>
              <a:rPr lang="en-GB" sz="2700" dirty="0">
                <a:solidFill>
                  <a:schemeClr val="accent1">
                    <a:lumMod val="75000"/>
                  </a:schemeClr>
                </a:solidFill>
                <a:latin typeface="Ruda" panose="020B0604020202020204" charset="0"/>
              </a:rPr>
              <a:t>). </a:t>
            </a:r>
          </a:p>
          <a:p>
            <a:pPr marL="457200" indent="-457200">
              <a:buFont typeface="Wingdings" panose="05000000000000000000" pitchFamily="2" charset="2"/>
              <a:buChar char="v"/>
            </a:pPr>
            <a:r>
              <a:rPr lang="en-GB" sz="2700" dirty="0">
                <a:solidFill>
                  <a:schemeClr val="accent1">
                    <a:lumMod val="75000"/>
                  </a:schemeClr>
                </a:solidFill>
                <a:latin typeface="Ruda" panose="020B0604020202020204" charset="0"/>
              </a:rPr>
              <a:t>The combination of technology and resources that are VRIO-driven with strategy would result in the achievement of sustained competitive advantage (Lecture 08, 2025, p. 2).</a:t>
            </a:r>
          </a:p>
        </p:txBody>
      </p:sp>
      <p:sp>
        <p:nvSpPr>
          <p:cNvPr id="6" name="Freeform 6"/>
          <p:cNvSpPr/>
          <p:nvPr/>
        </p:nvSpPr>
        <p:spPr>
          <a:xfrm>
            <a:off x="16344166" y="28254"/>
            <a:ext cx="1678434" cy="1587501"/>
          </a:xfrm>
          <a:custGeom>
            <a:avLst/>
            <a:gdLst/>
            <a:ahLst/>
            <a:cxnLst/>
            <a:rect l="l" t="t" r="r" b="b"/>
            <a:pathLst>
              <a:path w="2399327" h="2399327">
                <a:moveTo>
                  <a:pt x="0" y="0"/>
                </a:moveTo>
                <a:lnTo>
                  <a:pt x="2399327" y="0"/>
                </a:lnTo>
                <a:lnTo>
                  <a:pt x="2399327" y="2399327"/>
                </a:lnTo>
                <a:lnTo>
                  <a:pt x="0" y="2399327"/>
                </a:lnTo>
                <a:lnTo>
                  <a:pt x="0" y="0"/>
                </a:lnTo>
                <a:close/>
              </a:path>
            </a:pathLst>
          </a:custGeom>
          <a:blipFill>
            <a:blip r:embed="rId8"/>
            <a:stretch>
              <a:fillRect/>
            </a:stretch>
          </a:blipFill>
        </p:spPr>
      </p:sp>
      <p:sp>
        <p:nvSpPr>
          <p:cNvPr id="7" name="Freeform 7"/>
          <p:cNvSpPr/>
          <p:nvPr/>
        </p:nvSpPr>
        <p:spPr>
          <a:xfrm>
            <a:off x="12115800" y="-75740"/>
            <a:ext cx="1916968" cy="1906407"/>
          </a:xfrm>
          <a:custGeom>
            <a:avLst/>
            <a:gdLst/>
            <a:ahLst/>
            <a:cxnLst/>
            <a:rect l="l" t="t" r="r" b="b"/>
            <a:pathLst>
              <a:path w="2383769" h="2383769">
                <a:moveTo>
                  <a:pt x="0" y="0"/>
                </a:moveTo>
                <a:lnTo>
                  <a:pt x="2383770" y="0"/>
                </a:lnTo>
                <a:lnTo>
                  <a:pt x="2383770" y="2383769"/>
                </a:lnTo>
                <a:lnTo>
                  <a:pt x="0" y="2383769"/>
                </a:lnTo>
                <a:lnTo>
                  <a:pt x="0" y="0"/>
                </a:lnTo>
                <a:close/>
              </a:path>
            </a:pathLst>
          </a:custGeom>
          <a:blipFill>
            <a:blip r:embed="rId9"/>
            <a:stretch>
              <a:fillRect/>
            </a:stretch>
          </a:blipFill>
        </p:spPr>
      </p:sp>
      <p:sp>
        <p:nvSpPr>
          <p:cNvPr id="8" name="TextBox 8"/>
          <p:cNvSpPr txBox="1"/>
          <p:nvPr/>
        </p:nvSpPr>
        <p:spPr>
          <a:xfrm>
            <a:off x="1072662" y="933450"/>
            <a:ext cx="10494230" cy="857298"/>
          </a:xfrm>
          <a:prstGeom prst="rect">
            <a:avLst/>
          </a:prstGeom>
        </p:spPr>
        <p:txBody>
          <a:bodyPr lIns="0" tIns="0" rIns="0" bIns="0" rtlCol="0" anchor="t">
            <a:spAutoFit/>
          </a:bodyPr>
          <a:lstStyle/>
          <a:p>
            <a:pPr algn="l">
              <a:lnSpc>
                <a:spcPts val="7064"/>
              </a:lnSpc>
              <a:spcBef>
                <a:spcPct val="0"/>
              </a:spcBef>
            </a:pPr>
            <a:r>
              <a:rPr lang="en-US" sz="5046" b="1">
                <a:solidFill>
                  <a:srgbClr val="0555A3"/>
                </a:solidFill>
                <a:latin typeface="Ruda Bold"/>
                <a:ea typeface="Ruda Bold"/>
                <a:cs typeface="Ruda Bold"/>
                <a:sym typeface="Ruda Bold"/>
              </a:rPr>
              <a:t>DIGITAL AND INNOVATION STRATEGY</a:t>
            </a:r>
          </a:p>
        </p:txBody>
      </p:sp>
      <p:sp>
        <p:nvSpPr>
          <p:cNvPr id="9" name="TextBox 9"/>
          <p:cNvSpPr txBox="1"/>
          <p:nvPr/>
        </p:nvSpPr>
        <p:spPr>
          <a:xfrm>
            <a:off x="228600" y="2077167"/>
            <a:ext cx="5816234" cy="6415795"/>
          </a:xfrm>
          <a:prstGeom prst="rect">
            <a:avLst/>
          </a:prstGeom>
        </p:spPr>
        <p:txBody>
          <a:bodyPr wrap="square" lIns="0" tIns="0" rIns="0" bIns="0" rtlCol="0" anchor="t">
            <a:spAutoFit/>
          </a:bodyPr>
          <a:lstStyle/>
          <a:p>
            <a:r>
              <a:rPr lang="en-US" sz="2800" b="1" dirty="0">
                <a:solidFill>
                  <a:schemeClr val="accent1">
                    <a:lumMod val="75000"/>
                  </a:schemeClr>
                </a:solidFill>
                <a:latin typeface="Ruda" panose="020B0604020202020204" charset="0"/>
              </a:rPr>
              <a:t>Digital Transformation</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Digital sales account for </a:t>
            </a:r>
            <a:r>
              <a:rPr lang="en-US" sz="2800" b="1" dirty="0">
                <a:solidFill>
                  <a:schemeClr val="accent1">
                    <a:lumMod val="75000"/>
                  </a:schemeClr>
                </a:solidFill>
                <a:latin typeface="Ruda" panose="020B0604020202020204" charset="0"/>
              </a:rPr>
              <a:t>40% of UK revenue</a:t>
            </a:r>
            <a:r>
              <a:rPr lang="en-US" sz="2800" dirty="0">
                <a:solidFill>
                  <a:schemeClr val="accent1">
                    <a:lumMod val="75000"/>
                  </a:schemeClr>
                </a:solidFill>
                <a:latin typeface="Ruda" panose="020B0604020202020204" charset="0"/>
              </a:rPr>
              <a:t> (Nike Inc., 2025)</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AI-driven tools enhance customer experience:</a:t>
            </a:r>
          </a:p>
          <a:p>
            <a:pPr marL="914400" lvl="1" indent="-457200">
              <a:buFont typeface="Courier New" panose="02070309020205020404" pitchFamily="49" charset="0"/>
              <a:buChar char="o"/>
            </a:pPr>
            <a:r>
              <a:rPr lang="en-US" sz="2800" dirty="0">
                <a:solidFill>
                  <a:schemeClr val="accent1">
                    <a:lumMod val="75000"/>
                  </a:schemeClr>
                </a:solidFill>
                <a:latin typeface="Ruda" panose="020B0604020202020204" charset="0"/>
              </a:rPr>
              <a:t>Virtual fitting</a:t>
            </a:r>
          </a:p>
          <a:p>
            <a:pPr marL="914400" lvl="1" indent="-457200">
              <a:buFont typeface="Courier New" panose="02070309020205020404" pitchFamily="49" charset="0"/>
              <a:buChar char="o"/>
            </a:pPr>
            <a:r>
              <a:rPr lang="en-US" sz="2800" dirty="0">
                <a:solidFill>
                  <a:schemeClr val="accent1">
                    <a:lumMod val="75000"/>
                  </a:schemeClr>
                </a:solidFill>
                <a:latin typeface="Ruda" panose="020B0604020202020204" charset="0"/>
              </a:rPr>
              <a:t>Personalized recommendations</a:t>
            </a:r>
          </a:p>
          <a:p>
            <a:pPr marL="914400" lvl="1" indent="-457200">
              <a:buFont typeface="Courier New" panose="02070309020205020404" pitchFamily="49" charset="0"/>
              <a:buChar char="o"/>
            </a:pPr>
            <a:r>
              <a:rPr lang="en-US" sz="2800" dirty="0">
                <a:solidFill>
                  <a:schemeClr val="accent1">
                    <a:lumMod val="75000"/>
                  </a:schemeClr>
                </a:solidFill>
                <a:latin typeface="Ruda" panose="020B0604020202020204" charset="0"/>
              </a:rPr>
              <a:t>Targeted marketing applications</a:t>
            </a:r>
          </a:p>
          <a:p>
            <a:pPr marL="457200" indent="-457200">
              <a:buFont typeface="Arial" panose="020B0604020202020204" pitchFamily="34" charset="0"/>
              <a:buChar char="•"/>
            </a:pPr>
            <a:r>
              <a:rPr lang="en-US" sz="2800" dirty="0">
                <a:solidFill>
                  <a:schemeClr val="accent1">
                    <a:lumMod val="75000"/>
                  </a:schemeClr>
                </a:solidFill>
                <a:latin typeface="Ruda" panose="020B0604020202020204" charset="0"/>
              </a:rPr>
              <a:t>Supply chain innovation: predictive analytics, inventory optimization, circular economy principles</a:t>
            </a:r>
          </a:p>
          <a:p>
            <a:pPr algn="just">
              <a:lnSpc>
                <a:spcPts val="2933"/>
              </a:lnSpc>
              <a:spcBef>
                <a:spcPct val="0"/>
              </a:spcBef>
            </a:pPr>
            <a:endParaRPr lang="en-US" sz="2800" dirty="0">
              <a:solidFill>
                <a:schemeClr val="accent1">
                  <a:lumMod val="75000"/>
                </a:schemeClr>
              </a:solidFill>
              <a:latin typeface="Ruda" panose="020B0604020202020204" charset="0"/>
              <a:ea typeface="Ruda"/>
              <a:cs typeface="Ruda"/>
              <a:sym typeface="Ruda"/>
            </a:endParaRPr>
          </a:p>
        </p:txBody>
      </p:sp>
      <p:sp>
        <p:nvSpPr>
          <p:cNvPr id="10" name="TextBox 10"/>
          <p:cNvSpPr txBox="1"/>
          <p:nvPr/>
        </p:nvSpPr>
        <p:spPr>
          <a:xfrm>
            <a:off x="11881392" y="1948353"/>
            <a:ext cx="5508354" cy="5977277"/>
          </a:xfrm>
          <a:prstGeom prst="rect">
            <a:avLst/>
          </a:prstGeom>
        </p:spPr>
        <p:txBody>
          <a:bodyPr lIns="0" tIns="0" rIns="0" bIns="0" rtlCol="0" anchor="t">
            <a:spAutoFit/>
          </a:bodyPr>
          <a:lstStyle/>
          <a:p>
            <a:r>
              <a:rPr lang="en-US" sz="2800" b="1" dirty="0">
                <a:solidFill>
                  <a:schemeClr val="accent1">
                    <a:lumMod val="75000"/>
                  </a:schemeClr>
                </a:solidFill>
                <a:latin typeface="Ruda" panose="020B0604020202020204" charset="0"/>
              </a:rPr>
              <a:t>Strategic Alignment</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Differentiation is enhanced by digital and innovation strategies. </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Helps to maintain the consumer base and minimises the threat of the fashion rivals. </a:t>
            </a:r>
          </a:p>
          <a:p>
            <a:pPr marL="457200" indent="-457200">
              <a:buFont typeface="Arial" panose="020B0604020202020204" pitchFamily="34" charset="0"/>
              <a:buChar char="•"/>
            </a:pPr>
            <a:r>
              <a:rPr lang="en-GB" sz="2800" dirty="0">
                <a:solidFill>
                  <a:schemeClr val="accent1">
                    <a:lumMod val="75000"/>
                  </a:schemeClr>
                </a:solidFill>
                <a:latin typeface="Ruda" panose="020B0604020202020204" charset="0"/>
              </a:rPr>
              <a:t>Digital ecosystems transform the strategic possibilities into market challenges and vice versa. Enhances agility, adaptability, and long-term resilience (IBISWorld, 2025).</a:t>
            </a:r>
          </a:p>
          <a:p>
            <a:pPr marL="457200" indent="-457200" algn="just">
              <a:lnSpc>
                <a:spcPts val="2933"/>
              </a:lnSpc>
              <a:spcBef>
                <a:spcPct val="0"/>
              </a:spcBef>
              <a:buFont typeface="Arial" panose="020B0604020202020204" pitchFamily="34" charset="0"/>
              <a:buChar char="•"/>
            </a:pPr>
            <a:endParaRPr lang="en-US" sz="2596" dirty="0">
              <a:solidFill>
                <a:schemeClr val="accent1">
                  <a:lumMod val="75000"/>
                </a:schemeClr>
              </a:solidFill>
              <a:latin typeface="Ruda" panose="020B0604020202020204" charset="0"/>
              <a:ea typeface="Ruda"/>
              <a:cs typeface="Ruda"/>
              <a:sym typeface="Ruda"/>
            </a:endParaRPr>
          </a:p>
        </p:txBody>
      </p:sp>
      <p:sp>
        <p:nvSpPr>
          <p:cNvPr id="11" name="TextBox 10">
            <a:extLst>
              <a:ext uri="{FF2B5EF4-FFF2-40B4-BE49-F238E27FC236}">
                <a16:creationId xmlns:a16="http://schemas.microsoft.com/office/drawing/2014/main" id="{73F9AB71-CE02-7C45-02DB-8E3D189AAE6A}"/>
              </a:ext>
            </a:extLst>
          </p:cNvPr>
          <p:cNvSpPr txBox="1"/>
          <p:nvPr/>
        </p:nvSpPr>
        <p:spPr>
          <a:xfrm>
            <a:off x="647700" y="8272557"/>
            <a:ext cx="16992600" cy="861774"/>
          </a:xfrm>
          <a:prstGeom prst="rect">
            <a:avLst/>
          </a:prstGeom>
          <a:noFill/>
        </p:spPr>
        <p:txBody>
          <a:bodyPr wrap="square" rtlCol="0">
            <a:spAutoFit/>
          </a:bodyPr>
          <a:lstStyle/>
          <a:p>
            <a:r>
              <a:rPr lang="en-GB" sz="2500" dirty="0">
                <a:solidFill>
                  <a:schemeClr val="accent1">
                    <a:lumMod val="75000"/>
                  </a:schemeClr>
                </a:solidFill>
                <a:latin typeface="Ruda" panose="020B0604020202020204" charset="0"/>
              </a:rPr>
              <a:t>Evaluation: The digital and innovation value chain offers Nike a good competitive advantage, enabling the company to differentiate products, build customer loyalty, and maintain growth in the UK retail clothing market.</a:t>
            </a:r>
            <a:endParaRPr lang="en-GB" sz="2500" dirty="0">
              <a:solidFill>
                <a:schemeClr val="accent1">
                  <a:lumMod val="75000"/>
                </a:schemeClr>
              </a:solidFill>
              <a:effectLst/>
              <a:latin typeface="Ruda" panose="020B06040202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498920">
            <a:off x="537972" y="-4002747"/>
            <a:ext cx="5625336" cy="9210109"/>
          </a:xfrm>
          <a:custGeom>
            <a:avLst/>
            <a:gdLst/>
            <a:ahLst/>
            <a:cxnLst/>
            <a:rect l="l" t="t" r="r" b="b"/>
            <a:pathLst>
              <a:path w="5625336" h="9210109">
                <a:moveTo>
                  <a:pt x="0" y="0"/>
                </a:moveTo>
                <a:lnTo>
                  <a:pt x="5625336" y="0"/>
                </a:lnTo>
                <a:lnTo>
                  <a:pt x="5625336" y="9210110"/>
                </a:lnTo>
                <a:lnTo>
                  <a:pt x="0" y="9210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469709" y="449216"/>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6"/>
            <a:stretch>
              <a:fillRect/>
            </a:stretch>
          </a:blipFill>
        </p:spPr>
      </p:sp>
      <p:sp>
        <p:nvSpPr>
          <p:cNvPr id="6" name="Freeform 6"/>
          <p:cNvSpPr/>
          <p:nvPr/>
        </p:nvSpPr>
        <p:spPr>
          <a:xfrm>
            <a:off x="268584" y="2922635"/>
            <a:ext cx="1625218" cy="1625218"/>
          </a:xfrm>
          <a:custGeom>
            <a:avLst/>
            <a:gdLst/>
            <a:ahLst/>
            <a:cxnLst/>
            <a:rect l="l" t="t" r="r" b="b"/>
            <a:pathLst>
              <a:path w="1625218" h="1625218">
                <a:moveTo>
                  <a:pt x="0" y="0"/>
                </a:moveTo>
                <a:lnTo>
                  <a:pt x="1625217" y="0"/>
                </a:lnTo>
                <a:lnTo>
                  <a:pt x="1625217" y="1625218"/>
                </a:lnTo>
                <a:lnTo>
                  <a:pt x="0" y="1625218"/>
                </a:lnTo>
                <a:lnTo>
                  <a:pt x="0" y="0"/>
                </a:lnTo>
                <a:close/>
              </a:path>
            </a:pathLst>
          </a:custGeom>
          <a:blipFill>
            <a:blip r:embed="rId7"/>
            <a:stretch>
              <a:fillRect/>
            </a:stretch>
          </a:blipFill>
        </p:spPr>
      </p:sp>
      <p:sp>
        <p:nvSpPr>
          <p:cNvPr id="7" name="Freeform 7"/>
          <p:cNvSpPr/>
          <p:nvPr/>
        </p:nvSpPr>
        <p:spPr>
          <a:xfrm>
            <a:off x="197622" y="5309461"/>
            <a:ext cx="1767140" cy="1767140"/>
          </a:xfrm>
          <a:custGeom>
            <a:avLst/>
            <a:gdLst/>
            <a:ahLst/>
            <a:cxnLst/>
            <a:rect l="l" t="t" r="r" b="b"/>
            <a:pathLst>
              <a:path w="1767140" h="1767140">
                <a:moveTo>
                  <a:pt x="0" y="0"/>
                </a:moveTo>
                <a:lnTo>
                  <a:pt x="1767141" y="0"/>
                </a:lnTo>
                <a:lnTo>
                  <a:pt x="1767141" y="1767140"/>
                </a:lnTo>
                <a:lnTo>
                  <a:pt x="0" y="1767140"/>
                </a:lnTo>
                <a:lnTo>
                  <a:pt x="0" y="0"/>
                </a:lnTo>
                <a:close/>
              </a:path>
            </a:pathLst>
          </a:custGeom>
          <a:blipFill>
            <a:blip r:embed="rId8"/>
            <a:stretch>
              <a:fillRect/>
            </a:stretch>
          </a:blipFill>
        </p:spPr>
      </p:sp>
      <p:sp>
        <p:nvSpPr>
          <p:cNvPr id="8" name="Freeform 8"/>
          <p:cNvSpPr/>
          <p:nvPr/>
        </p:nvSpPr>
        <p:spPr>
          <a:xfrm>
            <a:off x="234483" y="7838601"/>
            <a:ext cx="1693419" cy="1693419"/>
          </a:xfrm>
          <a:custGeom>
            <a:avLst/>
            <a:gdLst/>
            <a:ahLst/>
            <a:cxnLst/>
            <a:rect l="l" t="t" r="r" b="b"/>
            <a:pathLst>
              <a:path w="1693419" h="1693419">
                <a:moveTo>
                  <a:pt x="0" y="0"/>
                </a:moveTo>
                <a:lnTo>
                  <a:pt x="1693419" y="0"/>
                </a:lnTo>
                <a:lnTo>
                  <a:pt x="1693419" y="1693419"/>
                </a:lnTo>
                <a:lnTo>
                  <a:pt x="0" y="1693419"/>
                </a:lnTo>
                <a:lnTo>
                  <a:pt x="0" y="0"/>
                </a:lnTo>
                <a:close/>
              </a:path>
            </a:pathLst>
          </a:custGeom>
          <a:blipFill>
            <a:blip r:embed="rId9"/>
            <a:stretch>
              <a:fillRect/>
            </a:stretch>
          </a:blipFill>
        </p:spPr>
      </p:sp>
      <p:sp>
        <p:nvSpPr>
          <p:cNvPr id="9" name="TextBox 9"/>
          <p:cNvSpPr txBox="1"/>
          <p:nvPr/>
        </p:nvSpPr>
        <p:spPr>
          <a:xfrm>
            <a:off x="5219696" y="1068305"/>
            <a:ext cx="8463853" cy="857298"/>
          </a:xfrm>
          <a:prstGeom prst="rect">
            <a:avLst/>
          </a:prstGeom>
        </p:spPr>
        <p:txBody>
          <a:bodyPr lIns="0" tIns="0" rIns="0" bIns="0" rtlCol="0" anchor="t">
            <a:spAutoFit/>
          </a:bodyPr>
          <a:lstStyle/>
          <a:p>
            <a:pPr algn="ctr">
              <a:lnSpc>
                <a:spcPts val="7064"/>
              </a:lnSpc>
              <a:spcBef>
                <a:spcPct val="0"/>
              </a:spcBef>
            </a:pPr>
            <a:r>
              <a:rPr lang="en-US" sz="5046" b="1">
                <a:solidFill>
                  <a:srgbClr val="0555A3"/>
                </a:solidFill>
                <a:latin typeface="Ruda Bold"/>
                <a:ea typeface="Ruda Bold"/>
                <a:cs typeface="Ruda Bold"/>
                <a:sym typeface="Ruda Bold"/>
              </a:rPr>
              <a:t>CONCLUSION: STRATEGIC FIT</a:t>
            </a:r>
          </a:p>
        </p:txBody>
      </p:sp>
      <p:sp>
        <p:nvSpPr>
          <p:cNvPr id="10" name="TextBox 10"/>
          <p:cNvSpPr txBox="1"/>
          <p:nvPr/>
        </p:nvSpPr>
        <p:spPr>
          <a:xfrm>
            <a:off x="2171196" y="1828973"/>
            <a:ext cx="8463853" cy="8186857"/>
          </a:xfrm>
          <a:prstGeom prst="rect">
            <a:avLst/>
          </a:prstGeom>
        </p:spPr>
        <p:txBody>
          <a:bodyPr wrap="square" lIns="0" tIns="0" rIns="0" bIns="0" rtlCol="0" anchor="t">
            <a:spAutoFit/>
          </a:bodyPr>
          <a:lstStyle/>
          <a:p>
            <a:r>
              <a:rPr lang="en-GB" sz="2800" b="1" dirty="0">
                <a:solidFill>
                  <a:schemeClr val="accent1">
                    <a:lumMod val="75000"/>
                  </a:schemeClr>
                </a:solidFill>
                <a:latin typeface="Ruda" panose="020B0604020202020204" charset="0"/>
              </a:rPr>
              <a:t>Strategic Alignment</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Nike successfully integrates business-level differentiation and non-market strategies with high internal resources and capability in order to attain strategic fit (</a:t>
            </a:r>
            <a:r>
              <a:rPr lang="en-GB" sz="2800" dirty="0" err="1">
                <a:solidFill>
                  <a:schemeClr val="accent1">
                    <a:lumMod val="75000"/>
                  </a:schemeClr>
                </a:solidFill>
                <a:latin typeface="Ruda" panose="020B0604020202020204" charset="0"/>
              </a:rPr>
              <a:t>Germano</a:t>
            </a:r>
            <a:r>
              <a:rPr lang="en-GB" sz="2800" dirty="0">
                <a:solidFill>
                  <a:schemeClr val="accent1">
                    <a:lumMod val="75000"/>
                  </a:schemeClr>
                </a:solidFill>
                <a:latin typeface="Ruda" panose="020B0604020202020204" charset="0"/>
              </a:rPr>
              <a:t>, 2024). </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The differentiation strategy is consistent with the macroeconomic forces, social tendencies and industry dynamics.</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Nike has strengths in its supply chain, including agility and R&amp;D that enable it to capitalise on the opportunities presented by the market, as demonstrated by VRIO strengths.</a:t>
            </a:r>
          </a:p>
          <a:p>
            <a:endParaRPr lang="en-GB" sz="2800" dirty="0">
              <a:solidFill>
                <a:schemeClr val="accent1">
                  <a:lumMod val="75000"/>
                </a:schemeClr>
              </a:solidFill>
              <a:latin typeface="Ruda" panose="020B0604020202020204" charset="0"/>
            </a:endParaRPr>
          </a:p>
          <a:p>
            <a:r>
              <a:rPr lang="en-GB" sz="2800" b="1" dirty="0">
                <a:solidFill>
                  <a:schemeClr val="accent1">
                    <a:lumMod val="75000"/>
                  </a:schemeClr>
                </a:solidFill>
                <a:latin typeface="Ruda" panose="020B0604020202020204" charset="0"/>
              </a:rPr>
              <a:t>ESG and Non-Market Fit</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Other ESG programmes and the Move to Zero programme satisfy all the environmental and social demands.</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Increases trust of stakeholders and strengthens the position of Nike on the map of competitors.</a:t>
            </a:r>
          </a:p>
        </p:txBody>
      </p:sp>
      <p:sp>
        <p:nvSpPr>
          <p:cNvPr id="11" name="TextBox 11"/>
          <p:cNvSpPr txBox="1"/>
          <p:nvPr/>
        </p:nvSpPr>
        <p:spPr>
          <a:xfrm>
            <a:off x="11090109" y="1831991"/>
            <a:ext cx="6929307" cy="8155759"/>
          </a:xfrm>
          <a:prstGeom prst="rect">
            <a:avLst/>
          </a:prstGeom>
        </p:spPr>
        <p:txBody>
          <a:bodyPr wrap="square" lIns="0" tIns="0" rIns="0" bIns="0" rtlCol="0" anchor="t">
            <a:spAutoFit/>
          </a:bodyPr>
          <a:lstStyle/>
          <a:p>
            <a:r>
              <a:rPr lang="en-GB" sz="2800" b="1" dirty="0">
                <a:solidFill>
                  <a:schemeClr val="accent1">
                    <a:lumMod val="75000"/>
                  </a:schemeClr>
                </a:solidFill>
                <a:latin typeface="Ruda" panose="020B0604020202020204" charset="0"/>
              </a:rPr>
              <a:t>Challenges and Strategic Response</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Substitutes and the imitation of supply are still a threat and demand agile innovations and rapid changes in the strategy (</a:t>
            </a:r>
            <a:r>
              <a:rPr lang="en-GB" sz="2800" dirty="0" err="1">
                <a:solidFill>
                  <a:schemeClr val="accent1">
                    <a:lumMod val="75000"/>
                  </a:schemeClr>
                </a:solidFill>
                <a:latin typeface="Ruda" panose="020B0604020202020204" charset="0"/>
              </a:rPr>
              <a:t>Shahmm</a:t>
            </a:r>
            <a:r>
              <a:rPr lang="en-GB" sz="2800" dirty="0">
                <a:solidFill>
                  <a:schemeClr val="accent1">
                    <a:lumMod val="75000"/>
                  </a:schemeClr>
                </a:solidFill>
                <a:latin typeface="Ruda" panose="020B0604020202020204" charset="0"/>
              </a:rPr>
              <a:t>, 2025). </a:t>
            </a:r>
          </a:p>
          <a:p>
            <a:pPr marL="457200" indent="-457200">
              <a:buFont typeface="Wingdings" panose="05000000000000000000" pitchFamily="2" charset="2"/>
              <a:buChar char="ü"/>
            </a:pPr>
            <a:r>
              <a:rPr lang="en-GB" sz="2800" dirty="0">
                <a:solidFill>
                  <a:schemeClr val="accent1">
                    <a:lumMod val="75000"/>
                  </a:schemeClr>
                </a:solidFill>
                <a:latin typeface="Ruda" panose="020B0604020202020204" charset="0"/>
              </a:rPr>
              <a:t>Strategic fit related capabilities to the external opportunities thereby improving resilience (Lecture01, 2025, p.2). </a:t>
            </a:r>
          </a:p>
          <a:p>
            <a:endParaRPr lang="en-GB" sz="2800" b="1" dirty="0">
              <a:solidFill>
                <a:schemeClr val="accent1">
                  <a:lumMod val="75000"/>
                </a:schemeClr>
              </a:solidFill>
              <a:latin typeface="Ruda" panose="020B0604020202020204" charset="0"/>
            </a:endParaRPr>
          </a:p>
          <a:p>
            <a:r>
              <a:rPr lang="en-GB" sz="2800" b="1" dirty="0">
                <a:solidFill>
                  <a:srgbClr val="00B0F0"/>
                </a:solidFill>
                <a:latin typeface="Ruda" panose="020B0604020202020204" charset="0"/>
              </a:rPr>
              <a:t>Final Insight</a:t>
            </a:r>
          </a:p>
          <a:p>
            <a:pPr marL="457200" indent="-457200">
              <a:buFont typeface="Wingdings" panose="05000000000000000000" pitchFamily="2" charset="2"/>
              <a:buChar char="Ø"/>
            </a:pPr>
            <a:r>
              <a:rPr lang="en-GB" sz="2800" dirty="0">
                <a:solidFill>
                  <a:srgbClr val="00B0F0"/>
                </a:solidFill>
                <a:latin typeface="Ruda" panose="020B0604020202020204" charset="0"/>
              </a:rPr>
              <a:t>The strategy of Nike can be compared to that of a phoenix, as it conducts itself to fit in every changing situation by means of innovations, sustainability, and digital leadership to guarantee the ongoing growth, market relevance, and competitive advantage.</a:t>
            </a:r>
          </a:p>
          <a:p>
            <a:pPr algn="just">
              <a:lnSpc>
                <a:spcPts val="3080"/>
              </a:lnSpc>
              <a:spcBef>
                <a:spcPct val="0"/>
              </a:spcBef>
            </a:pPr>
            <a:endParaRPr lang="en-US" sz="2725" dirty="0">
              <a:solidFill>
                <a:schemeClr val="accent1">
                  <a:lumMod val="75000"/>
                </a:schemeClr>
              </a:solidFill>
              <a:latin typeface="Ruda" panose="020B0604020202020204" charset="0"/>
              <a:ea typeface="Ruda"/>
              <a:cs typeface="Ruda"/>
              <a:sym typeface="Rud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76DD"/>
        </a:solidFill>
        <a:effectLst/>
      </p:bgPr>
    </p:bg>
    <p:spTree>
      <p:nvGrpSpPr>
        <p:cNvPr id="1" name=""/>
        <p:cNvGrpSpPr/>
        <p:nvPr/>
      </p:nvGrpSpPr>
      <p:grpSpPr>
        <a:xfrm>
          <a:off x="0" y="0"/>
          <a:ext cx="0" cy="0"/>
          <a:chOff x="0" y="0"/>
          <a:chExt cx="0" cy="0"/>
        </a:xfrm>
      </p:grpSpPr>
      <p:sp>
        <p:nvSpPr>
          <p:cNvPr id="2" name="Freeform 2"/>
          <p:cNvSpPr/>
          <p:nvPr/>
        </p:nvSpPr>
        <p:spPr>
          <a:xfrm>
            <a:off x="6856536" y="1028700"/>
            <a:ext cx="4953540" cy="4953540"/>
          </a:xfrm>
          <a:custGeom>
            <a:avLst/>
            <a:gdLst/>
            <a:ahLst/>
            <a:cxnLst/>
            <a:rect l="l" t="t" r="r" b="b"/>
            <a:pathLst>
              <a:path w="4953540" h="4953540">
                <a:moveTo>
                  <a:pt x="0" y="0"/>
                </a:moveTo>
                <a:lnTo>
                  <a:pt x="4953540" y="0"/>
                </a:lnTo>
                <a:lnTo>
                  <a:pt x="4953540" y="4953540"/>
                </a:lnTo>
                <a:lnTo>
                  <a:pt x="0" y="4953540"/>
                </a:lnTo>
                <a:lnTo>
                  <a:pt x="0" y="0"/>
                </a:lnTo>
                <a:close/>
              </a:path>
            </a:pathLst>
          </a:custGeom>
          <a:blipFill>
            <a:blip r:embed="rId2"/>
            <a:stretch>
              <a:fillRect/>
            </a:stretch>
          </a:blipFill>
        </p:spPr>
      </p:sp>
      <p:sp>
        <p:nvSpPr>
          <p:cNvPr id="3" name="TextBox 3"/>
          <p:cNvSpPr txBox="1"/>
          <p:nvPr/>
        </p:nvSpPr>
        <p:spPr>
          <a:xfrm>
            <a:off x="3400050" y="6131784"/>
            <a:ext cx="11866513" cy="862427"/>
          </a:xfrm>
          <a:prstGeom prst="rect">
            <a:avLst/>
          </a:prstGeom>
        </p:spPr>
        <p:txBody>
          <a:bodyPr lIns="0" tIns="0" rIns="0" bIns="0" rtlCol="0" anchor="t">
            <a:spAutoFit/>
          </a:bodyPr>
          <a:lstStyle/>
          <a:p>
            <a:pPr algn="ctr">
              <a:lnSpc>
                <a:spcPts val="7064"/>
              </a:lnSpc>
              <a:spcBef>
                <a:spcPct val="0"/>
              </a:spcBef>
            </a:pPr>
            <a:r>
              <a:rPr lang="en-US" sz="5046" b="1">
                <a:solidFill>
                  <a:srgbClr val="FFFFFF"/>
                </a:solidFill>
                <a:latin typeface="Ruda Bold"/>
                <a:ea typeface="Ruda Bold"/>
                <a:cs typeface="Ruda Bold"/>
                <a:sym typeface="Ruda Bold"/>
              </a:rPr>
              <a:t>PART II. REFLECTION ON THE SIMULATION</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952731" flipV="1">
            <a:off x="11655995" y="-3950803"/>
            <a:ext cx="5624098" cy="9208083"/>
          </a:xfrm>
          <a:custGeom>
            <a:avLst/>
            <a:gdLst/>
            <a:ahLst/>
            <a:cxnLst/>
            <a:rect l="l" t="t" r="r" b="b"/>
            <a:pathLst>
              <a:path w="5624098" h="9208083">
                <a:moveTo>
                  <a:pt x="0" y="9208083"/>
                </a:moveTo>
                <a:lnTo>
                  <a:pt x="5624098" y="9208083"/>
                </a:lnTo>
                <a:lnTo>
                  <a:pt x="5624098" y="0"/>
                </a:lnTo>
                <a:lnTo>
                  <a:pt x="0" y="0"/>
                </a:lnTo>
                <a:lnTo>
                  <a:pt x="0" y="920808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837008">
            <a:off x="-4586124" y="7144191"/>
            <a:ext cx="18937445" cy="7859040"/>
          </a:xfrm>
          <a:custGeom>
            <a:avLst/>
            <a:gdLst/>
            <a:ahLst/>
            <a:cxnLst/>
            <a:rect l="l" t="t" r="r" b="b"/>
            <a:pathLst>
              <a:path w="18937445" h="7859040">
                <a:moveTo>
                  <a:pt x="0" y="0"/>
                </a:moveTo>
                <a:lnTo>
                  <a:pt x="18937445" y="0"/>
                </a:lnTo>
                <a:lnTo>
                  <a:pt x="18937445" y="7859040"/>
                </a:lnTo>
                <a:lnTo>
                  <a:pt x="0" y="78590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5435047" y="653239"/>
            <a:ext cx="611483" cy="972011"/>
          </a:xfrm>
          <a:custGeom>
            <a:avLst/>
            <a:gdLst/>
            <a:ahLst/>
            <a:cxnLst/>
            <a:rect l="l" t="t" r="r" b="b"/>
            <a:pathLst>
              <a:path w="611483" h="972011">
                <a:moveTo>
                  <a:pt x="0" y="0"/>
                </a:moveTo>
                <a:lnTo>
                  <a:pt x="611483" y="0"/>
                </a:lnTo>
                <a:lnTo>
                  <a:pt x="611483" y="972010"/>
                </a:lnTo>
                <a:lnTo>
                  <a:pt x="0" y="9720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958294" y="557989"/>
            <a:ext cx="7848609" cy="1747519"/>
          </a:xfrm>
          <a:prstGeom prst="rect">
            <a:avLst/>
          </a:prstGeom>
        </p:spPr>
        <p:txBody>
          <a:bodyPr lIns="0" tIns="0" rIns="0" bIns="0" rtlCol="0" anchor="t">
            <a:spAutoFit/>
          </a:bodyPr>
          <a:lstStyle/>
          <a:p>
            <a:pPr algn="l">
              <a:lnSpc>
                <a:spcPts val="7064"/>
              </a:lnSpc>
              <a:spcBef>
                <a:spcPct val="0"/>
              </a:spcBef>
            </a:pPr>
            <a:r>
              <a:rPr lang="en-US" sz="5046" b="1" dirty="0">
                <a:solidFill>
                  <a:srgbClr val="0555A3"/>
                </a:solidFill>
                <a:latin typeface="Ruda Bold"/>
                <a:ea typeface="Ruda Bold"/>
                <a:cs typeface="Ruda Bold"/>
                <a:sym typeface="Ruda Bold"/>
              </a:rPr>
              <a:t>SIMULATION REFLECTION: ROUND 3 DECISIONS</a:t>
            </a:r>
          </a:p>
        </p:txBody>
      </p:sp>
      <p:sp>
        <p:nvSpPr>
          <p:cNvPr id="6" name="TextBox 6"/>
          <p:cNvSpPr txBox="1"/>
          <p:nvPr/>
        </p:nvSpPr>
        <p:spPr>
          <a:xfrm>
            <a:off x="406183" y="2563801"/>
            <a:ext cx="17475634" cy="6432210"/>
          </a:xfrm>
          <a:prstGeom prst="rect">
            <a:avLst/>
          </a:prstGeom>
        </p:spPr>
        <p:txBody>
          <a:bodyPr wrap="square" lIns="0" tIns="0" rIns="0" bIns="0" rtlCol="0" anchor="t">
            <a:spAutoFit/>
          </a:bodyPr>
          <a:lstStyle/>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Role: Midsize sedan price setter; the company will do the price analysis and positioning on the market.</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Key Decision: 15 per cent price cut to gain the economy segment, given that demand would fall by 20 per cent due to excess inventory by the competitors.</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Strategy Alignment: Adhered to cost-leadership strategy, taking into consideration competitor bids, customer trends, and inventory projections.</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Team Challenge: It emerged that there was debate on whether to go on aggressive discounting or to continue at premium pricing.</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Mistake: Ignored fuel efficiency improvements, which meant a loss of 10 per cent of sales.</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Lessons Learnt: Preliminary analytics, precise cooperation, and the ability to predict the actions of competitors are the key factors to successful decision-making.</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Insight: Strategic actions are fundamental to competitive dynamics; hence, adaptation is important (Lecture 06, 2025, p. 32).</a:t>
            </a:r>
          </a:p>
          <a:p>
            <a:pPr marL="457200" indent="-457200">
              <a:buFont typeface="Wingdings" panose="05000000000000000000" pitchFamily="2" charset="2"/>
              <a:buChar char="v"/>
            </a:pPr>
            <a:r>
              <a:rPr lang="en-GB" sz="2800" dirty="0">
                <a:solidFill>
                  <a:schemeClr val="accent1">
                    <a:lumMod val="75000"/>
                  </a:schemeClr>
                </a:solidFill>
                <a:latin typeface="Ruda" panose="020B0604020202020204" charset="0"/>
              </a:rPr>
              <a:t>Overall Experience: Round was the one that demanded foresight, speed of adaptation and cooperation with other team members, like passing a relay baton.</a:t>
            </a:r>
          </a:p>
          <a:p>
            <a:pPr marL="457200" indent="-457200" algn="just">
              <a:lnSpc>
                <a:spcPts val="3080"/>
              </a:lnSpc>
              <a:spcBef>
                <a:spcPct val="0"/>
              </a:spcBef>
              <a:buFont typeface="Wingdings" panose="05000000000000000000" pitchFamily="2" charset="2"/>
              <a:buChar char="v"/>
            </a:pPr>
            <a:endParaRPr lang="en-US" sz="2725" dirty="0">
              <a:solidFill>
                <a:schemeClr val="accent1">
                  <a:lumMod val="75000"/>
                </a:schemeClr>
              </a:solidFill>
              <a:latin typeface="Ruda" panose="020B0604020202020204" charset="0"/>
              <a:ea typeface="Ruda"/>
              <a:cs typeface="Ruda"/>
              <a:sym typeface="Ruda"/>
            </a:endParaRPr>
          </a:p>
        </p:txBody>
      </p:sp>
      <p:sp>
        <p:nvSpPr>
          <p:cNvPr id="8" name="Freeform 8"/>
          <p:cNvSpPr/>
          <p:nvPr/>
        </p:nvSpPr>
        <p:spPr>
          <a:xfrm rot="756465" flipH="1">
            <a:off x="11283371" y="7635326"/>
            <a:ext cx="7471993" cy="4968876"/>
          </a:xfrm>
          <a:custGeom>
            <a:avLst/>
            <a:gdLst/>
            <a:ahLst/>
            <a:cxnLst/>
            <a:rect l="l" t="t" r="r" b="b"/>
            <a:pathLst>
              <a:path w="7471993" h="4968876">
                <a:moveTo>
                  <a:pt x="7471993" y="0"/>
                </a:moveTo>
                <a:lnTo>
                  <a:pt x="0" y="0"/>
                </a:lnTo>
                <a:lnTo>
                  <a:pt x="0" y="4968875"/>
                </a:lnTo>
                <a:lnTo>
                  <a:pt x="7471993" y="4968875"/>
                </a:lnTo>
                <a:lnTo>
                  <a:pt x="7471993" y="0"/>
                </a:lnTo>
                <a:close/>
              </a:path>
            </a:pathLst>
          </a:custGeom>
          <a:blipFill>
            <a:blip r:embed="rId8"/>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631869" y="-3822919"/>
            <a:ext cx="5625336" cy="9210109"/>
          </a:xfrm>
          <a:custGeom>
            <a:avLst/>
            <a:gdLst/>
            <a:ahLst/>
            <a:cxnLst/>
            <a:rect l="l" t="t" r="r" b="b"/>
            <a:pathLst>
              <a:path w="5625336" h="9210109">
                <a:moveTo>
                  <a:pt x="0" y="0"/>
                </a:moveTo>
                <a:lnTo>
                  <a:pt x="5625336" y="0"/>
                </a:lnTo>
                <a:lnTo>
                  <a:pt x="5625336" y="9210110"/>
                </a:lnTo>
                <a:lnTo>
                  <a:pt x="0" y="9210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99461" flipH="1">
            <a:off x="2382000" y="6975731"/>
            <a:ext cx="18937445" cy="7859040"/>
          </a:xfrm>
          <a:custGeom>
            <a:avLst/>
            <a:gdLst/>
            <a:ahLst/>
            <a:cxnLst/>
            <a:rect l="l" t="t" r="r" b="b"/>
            <a:pathLst>
              <a:path w="18937445" h="7859040">
                <a:moveTo>
                  <a:pt x="18937445" y="0"/>
                </a:moveTo>
                <a:lnTo>
                  <a:pt x="0" y="0"/>
                </a:lnTo>
                <a:lnTo>
                  <a:pt x="0" y="7859040"/>
                </a:lnTo>
                <a:lnTo>
                  <a:pt x="18937445" y="7859040"/>
                </a:lnTo>
                <a:lnTo>
                  <a:pt x="1893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69709" y="449216"/>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7027589" y="3231020"/>
            <a:ext cx="4325191" cy="5577437"/>
          </a:xfrm>
          <a:prstGeom prst="rect">
            <a:avLst/>
          </a:prstGeom>
        </p:spPr>
        <p:txBody>
          <a:bodyPr lIns="0" tIns="0" rIns="0" bIns="0" rtlCol="0" anchor="t">
            <a:spAutoFit/>
          </a:bodyPr>
          <a:lstStyle/>
          <a:p>
            <a:pPr algn="ctr">
              <a:lnSpc>
                <a:spcPts val="2933"/>
              </a:lnSpc>
              <a:spcBef>
                <a:spcPct val="0"/>
              </a:spcBef>
            </a:pPr>
            <a:r>
              <a:rPr lang="en-US" sz="2596" b="1" dirty="0">
                <a:solidFill>
                  <a:srgbClr val="0555A3"/>
                </a:solidFill>
                <a:latin typeface="Ruda Bold"/>
                <a:ea typeface="Ruda Bold"/>
                <a:cs typeface="Ruda Bold"/>
                <a:sym typeface="Ruda Bold"/>
              </a:rPr>
              <a:t>If given a second opportunity, I would establish better coordination, apply VRIO-type evaluation to </a:t>
            </a:r>
            <a:r>
              <a:rPr lang="en-US" sz="2596" b="1" dirty="0" err="1">
                <a:solidFill>
                  <a:srgbClr val="0555A3"/>
                </a:solidFill>
                <a:latin typeface="Ruda Bold"/>
                <a:ea typeface="Ruda Bold"/>
                <a:cs typeface="Ruda Bold"/>
                <a:sym typeface="Ruda Bold"/>
              </a:rPr>
              <a:t>organise</a:t>
            </a:r>
            <a:r>
              <a:rPr lang="en-US" sz="2596" b="1" dirty="0">
                <a:solidFill>
                  <a:srgbClr val="0555A3"/>
                </a:solidFill>
                <a:latin typeface="Ruda Bold"/>
                <a:ea typeface="Ruda Bold"/>
                <a:cs typeface="Ruda Bold"/>
                <a:sym typeface="Ruda Bold"/>
              </a:rPr>
              <a:t> the use of resources, and provide access to data dashboards to all team members to avoid oversights. Prior convergence of market analytics and systematic debate would have enhanced conformity.</a:t>
            </a:r>
          </a:p>
          <a:p>
            <a:pPr algn="just">
              <a:lnSpc>
                <a:spcPts val="2933"/>
              </a:lnSpc>
              <a:spcBef>
                <a:spcPct val="0"/>
              </a:spcBef>
            </a:pPr>
            <a:endParaRPr lang="en-US" sz="2596" b="1" dirty="0">
              <a:solidFill>
                <a:srgbClr val="0555A3"/>
              </a:solidFill>
              <a:latin typeface="Ruda Bold"/>
              <a:ea typeface="Ruda Bold"/>
              <a:cs typeface="Ruda Bold"/>
              <a:sym typeface="Ruda Bold"/>
            </a:endParaRPr>
          </a:p>
        </p:txBody>
      </p:sp>
      <p:sp>
        <p:nvSpPr>
          <p:cNvPr id="6" name="Freeform 6"/>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8"/>
            <a:stretch>
              <a:fillRect/>
            </a:stretch>
          </a:blipFill>
        </p:spPr>
      </p:sp>
      <p:grpSp>
        <p:nvGrpSpPr>
          <p:cNvPr id="7" name="Group 7"/>
          <p:cNvGrpSpPr/>
          <p:nvPr/>
        </p:nvGrpSpPr>
        <p:grpSpPr>
          <a:xfrm>
            <a:off x="0" y="3077183"/>
            <a:ext cx="6796019" cy="7063733"/>
            <a:chOff x="0" y="0"/>
            <a:chExt cx="1690581" cy="1627948"/>
          </a:xfrm>
        </p:grpSpPr>
        <p:sp>
          <p:nvSpPr>
            <p:cNvPr id="8" name="Freeform 8"/>
            <p:cNvSpPr/>
            <p:nvPr/>
          </p:nvSpPr>
          <p:spPr>
            <a:xfrm>
              <a:off x="0" y="0"/>
              <a:ext cx="1690581" cy="1627948"/>
            </a:xfrm>
            <a:custGeom>
              <a:avLst/>
              <a:gdLst/>
              <a:ahLst/>
              <a:cxnLst/>
              <a:rect l="l" t="t" r="r" b="b"/>
              <a:pathLst>
                <a:path w="1690581" h="1627948">
                  <a:moveTo>
                    <a:pt x="61512" y="0"/>
                  </a:moveTo>
                  <a:lnTo>
                    <a:pt x="1629069" y="0"/>
                  </a:lnTo>
                  <a:cubicBezTo>
                    <a:pt x="1645383" y="0"/>
                    <a:pt x="1661029" y="6481"/>
                    <a:pt x="1672564" y="18016"/>
                  </a:cubicBezTo>
                  <a:cubicBezTo>
                    <a:pt x="1684100" y="29552"/>
                    <a:pt x="1690581" y="45198"/>
                    <a:pt x="1690581" y="61512"/>
                  </a:cubicBezTo>
                  <a:lnTo>
                    <a:pt x="1690581" y="1566437"/>
                  </a:lnTo>
                  <a:cubicBezTo>
                    <a:pt x="1690581" y="1582751"/>
                    <a:pt x="1684100" y="1598396"/>
                    <a:pt x="1672564" y="1609932"/>
                  </a:cubicBezTo>
                  <a:cubicBezTo>
                    <a:pt x="1661029" y="1621468"/>
                    <a:pt x="1645383" y="1627948"/>
                    <a:pt x="1629069" y="1627948"/>
                  </a:cubicBezTo>
                  <a:lnTo>
                    <a:pt x="61512" y="1627948"/>
                  </a:lnTo>
                  <a:cubicBezTo>
                    <a:pt x="45198" y="1627948"/>
                    <a:pt x="29552" y="1621468"/>
                    <a:pt x="18016" y="1609932"/>
                  </a:cubicBezTo>
                  <a:cubicBezTo>
                    <a:pt x="6481" y="1598396"/>
                    <a:pt x="0" y="1582751"/>
                    <a:pt x="0" y="1566437"/>
                  </a:cubicBezTo>
                  <a:lnTo>
                    <a:pt x="0" y="61512"/>
                  </a:lnTo>
                  <a:cubicBezTo>
                    <a:pt x="0" y="45198"/>
                    <a:pt x="6481" y="29552"/>
                    <a:pt x="18016" y="18016"/>
                  </a:cubicBezTo>
                  <a:cubicBezTo>
                    <a:pt x="29552" y="6481"/>
                    <a:pt x="45198" y="0"/>
                    <a:pt x="61512" y="0"/>
                  </a:cubicBezTo>
                  <a:close/>
                </a:path>
              </a:pathLst>
            </a:custGeom>
            <a:solidFill>
              <a:srgbClr val="0071BC"/>
            </a:solidFill>
          </p:spPr>
        </p:sp>
        <p:sp>
          <p:nvSpPr>
            <p:cNvPr id="9" name="TextBox 9"/>
            <p:cNvSpPr txBox="1"/>
            <p:nvPr/>
          </p:nvSpPr>
          <p:spPr>
            <a:xfrm>
              <a:off x="0" y="-57150"/>
              <a:ext cx="1690581" cy="1685098"/>
            </a:xfrm>
            <a:prstGeom prst="rect">
              <a:avLst/>
            </a:prstGeom>
          </p:spPr>
          <p:txBody>
            <a:bodyPr lIns="50800" tIns="50800" rIns="50800" bIns="50800" rtlCol="0" anchor="ctr"/>
            <a:lstStyle/>
            <a:p>
              <a:pPr algn="ctr">
                <a:lnSpc>
                  <a:spcPts val="3717"/>
                </a:lnSpc>
              </a:pPr>
              <a:endParaRPr/>
            </a:p>
          </p:txBody>
        </p:sp>
      </p:grpSp>
      <p:grpSp>
        <p:nvGrpSpPr>
          <p:cNvPr id="10" name="Group 10"/>
          <p:cNvGrpSpPr/>
          <p:nvPr/>
        </p:nvGrpSpPr>
        <p:grpSpPr>
          <a:xfrm>
            <a:off x="11581380" y="2824983"/>
            <a:ext cx="6413183" cy="5966592"/>
            <a:chOff x="0" y="0"/>
            <a:chExt cx="1689069" cy="1571448"/>
          </a:xfrm>
        </p:grpSpPr>
        <p:sp>
          <p:nvSpPr>
            <p:cNvPr id="11" name="Freeform 11"/>
            <p:cNvSpPr/>
            <p:nvPr/>
          </p:nvSpPr>
          <p:spPr>
            <a:xfrm>
              <a:off x="0" y="0"/>
              <a:ext cx="1689069" cy="1571448"/>
            </a:xfrm>
            <a:custGeom>
              <a:avLst/>
              <a:gdLst/>
              <a:ahLst/>
              <a:cxnLst/>
              <a:rect l="l" t="t" r="r" b="b"/>
              <a:pathLst>
                <a:path w="1689069" h="1571448">
                  <a:moveTo>
                    <a:pt x="61567" y="0"/>
                  </a:moveTo>
                  <a:lnTo>
                    <a:pt x="1627502" y="0"/>
                  </a:lnTo>
                  <a:cubicBezTo>
                    <a:pt x="1661505" y="0"/>
                    <a:pt x="1689069" y="27564"/>
                    <a:pt x="1689069" y="61567"/>
                  </a:cubicBezTo>
                  <a:lnTo>
                    <a:pt x="1689069" y="1509881"/>
                  </a:lnTo>
                  <a:cubicBezTo>
                    <a:pt x="1689069" y="1543884"/>
                    <a:pt x="1661505" y="1571448"/>
                    <a:pt x="1627502" y="1571448"/>
                  </a:cubicBezTo>
                  <a:lnTo>
                    <a:pt x="61567" y="1571448"/>
                  </a:lnTo>
                  <a:cubicBezTo>
                    <a:pt x="27564" y="1571448"/>
                    <a:pt x="0" y="1543884"/>
                    <a:pt x="0" y="1509881"/>
                  </a:cubicBezTo>
                  <a:lnTo>
                    <a:pt x="0" y="61567"/>
                  </a:lnTo>
                  <a:cubicBezTo>
                    <a:pt x="0" y="27564"/>
                    <a:pt x="27564" y="0"/>
                    <a:pt x="61567" y="0"/>
                  </a:cubicBezTo>
                  <a:close/>
                </a:path>
              </a:pathLst>
            </a:custGeom>
            <a:solidFill>
              <a:srgbClr val="0071BC"/>
            </a:solidFill>
          </p:spPr>
        </p:sp>
        <p:sp>
          <p:nvSpPr>
            <p:cNvPr id="12" name="TextBox 12"/>
            <p:cNvSpPr txBox="1"/>
            <p:nvPr/>
          </p:nvSpPr>
          <p:spPr>
            <a:xfrm>
              <a:off x="0" y="-57150"/>
              <a:ext cx="1689069" cy="1628598"/>
            </a:xfrm>
            <a:prstGeom prst="rect">
              <a:avLst/>
            </a:prstGeom>
          </p:spPr>
          <p:txBody>
            <a:bodyPr lIns="50800" tIns="50800" rIns="50800" bIns="50800" rtlCol="0" anchor="ctr"/>
            <a:lstStyle/>
            <a:p>
              <a:pPr algn="ctr">
                <a:lnSpc>
                  <a:spcPts val="3640"/>
                </a:lnSpc>
              </a:pPr>
              <a:r>
                <a:rPr lang="en-US" sz="2600" b="1" dirty="0">
                  <a:solidFill>
                    <a:srgbClr val="FFFFFF"/>
                  </a:solidFill>
                  <a:latin typeface="Ruda Bold"/>
                  <a:ea typeface="Ruda Bold"/>
                  <a:cs typeface="Ruda Bold"/>
                  <a:sym typeface="Ruda Bold"/>
                </a:rPr>
                <a:t>THE SKILLS THAT WERE REINFORCED BY THE SIMULATION INCLUDE ADAPTIVE LEADERSHIP, INTERPRETATION OF DATA, AND NEGOTIATING A SOLUTION TO CONFLICT INTO A REVELATION. ACCORDING TO LECTURE 8 (2025, P.2), WHICH STATES THAT “ADAPTIVE LEADERSHIP... IMPROVES ANALYTICAL THINKING. ALL IN ALL, THE EXPERIENCE UPHELD THE IMPORTANCE OF TEAMWORK, FORESIGHT, AND RAPID STRATEGIC CHANGES.</a:t>
              </a:r>
            </a:p>
          </p:txBody>
        </p:sp>
      </p:grpSp>
      <p:sp>
        <p:nvSpPr>
          <p:cNvPr id="13" name="TextBox 13"/>
          <p:cNvSpPr txBox="1"/>
          <p:nvPr/>
        </p:nvSpPr>
        <p:spPr>
          <a:xfrm>
            <a:off x="4345801" y="686886"/>
            <a:ext cx="12746903" cy="1747519"/>
          </a:xfrm>
          <a:prstGeom prst="rect">
            <a:avLst/>
          </a:prstGeom>
        </p:spPr>
        <p:txBody>
          <a:bodyPr lIns="0" tIns="0" rIns="0" bIns="0" rtlCol="0" anchor="t">
            <a:spAutoFit/>
          </a:bodyPr>
          <a:lstStyle/>
          <a:p>
            <a:pPr algn="ctr">
              <a:lnSpc>
                <a:spcPts val="7064"/>
              </a:lnSpc>
              <a:spcBef>
                <a:spcPct val="0"/>
              </a:spcBef>
            </a:pPr>
            <a:r>
              <a:rPr lang="en-US" sz="5046" b="1">
                <a:solidFill>
                  <a:srgbClr val="0555A3"/>
                </a:solidFill>
                <a:latin typeface="Ruda Bold"/>
                <a:ea typeface="Ruda Bold"/>
                <a:cs typeface="Ruda Bold"/>
                <a:sym typeface="Ruda Bold"/>
              </a:rPr>
              <a:t>SIMULATION REFLECTION: TEAMWORK, MISTAKES, AND SKILLS LEARNED</a:t>
            </a:r>
          </a:p>
        </p:txBody>
      </p:sp>
      <p:sp>
        <p:nvSpPr>
          <p:cNvPr id="14" name="TextBox 14"/>
          <p:cNvSpPr txBox="1"/>
          <p:nvPr/>
        </p:nvSpPr>
        <p:spPr>
          <a:xfrm>
            <a:off x="293437" y="3231020"/>
            <a:ext cx="6360603" cy="7069884"/>
          </a:xfrm>
          <a:prstGeom prst="rect">
            <a:avLst/>
          </a:prstGeom>
        </p:spPr>
        <p:txBody>
          <a:bodyPr wrap="square" lIns="0" tIns="0" rIns="0" bIns="0" rtlCol="0" anchor="t">
            <a:spAutoFit/>
          </a:bodyPr>
          <a:lstStyle/>
          <a:p>
            <a:pPr marL="457200" indent="-457200">
              <a:lnSpc>
                <a:spcPts val="2933"/>
              </a:lnSpc>
              <a:spcBef>
                <a:spcPct val="0"/>
              </a:spcBef>
              <a:buFont typeface="Wingdings" panose="05000000000000000000" pitchFamily="2" charset="2"/>
              <a:buChar char="§"/>
            </a:pPr>
            <a:r>
              <a:rPr lang="en-US" sz="2596" b="1" dirty="0">
                <a:solidFill>
                  <a:srgbClr val="FFFFFF"/>
                </a:solidFill>
                <a:latin typeface="Ruda Bold"/>
                <a:ea typeface="Ruda Bold"/>
                <a:cs typeface="Ruda Bold"/>
                <a:sym typeface="Ruda Bold"/>
              </a:rPr>
              <a:t>The Round 3 performance reflected a decrease of 8% in profits, which was mainly due to siloed decision-making, uneven discounting and a lack of input in our inventory, which undermined our response in the market. </a:t>
            </a:r>
          </a:p>
          <a:p>
            <a:pPr marL="457200" indent="-457200">
              <a:lnSpc>
                <a:spcPts val="2933"/>
              </a:lnSpc>
              <a:spcBef>
                <a:spcPct val="0"/>
              </a:spcBef>
              <a:buFont typeface="Wingdings" panose="05000000000000000000" pitchFamily="2" charset="2"/>
              <a:buChar char="§"/>
            </a:pPr>
            <a:r>
              <a:rPr lang="en-US" sz="2596" b="1" dirty="0">
                <a:solidFill>
                  <a:srgbClr val="FFFFFF"/>
                </a:solidFill>
                <a:latin typeface="Ruda Bold"/>
                <a:ea typeface="Ruda Bold"/>
                <a:cs typeface="Ruda Bold"/>
                <a:sym typeface="Ruda Bold"/>
              </a:rPr>
              <a:t>The process of interacting as a team was not always cordial, and consensus can be delayed sometimes, and opinions are highly held, which resembles the competitive rivalry in the real world. </a:t>
            </a:r>
          </a:p>
          <a:p>
            <a:pPr marL="457200" indent="-457200">
              <a:lnSpc>
                <a:spcPts val="2933"/>
              </a:lnSpc>
              <a:spcBef>
                <a:spcPct val="0"/>
              </a:spcBef>
              <a:buFont typeface="Wingdings" panose="05000000000000000000" pitchFamily="2" charset="2"/>
              <a:buChar char="§"/>
            </a:pPr>
            <a:r>
              <a:rPr lang="en-US" sz="2596" b="1" dirty="0">
                <a:solidFill>
                  <a:srgbClr val="FFFFFF"/>
                </a:solidFill>
                <a:latin typeface="Ruda Bold"/>
                <a:ea typeface="Ruda Bold"/>
                <a:cs typeface="Ruda Bold"/>
                <a:sym typeface="Ruda Bold"/>
              </a:rPr>
              <a:t>According to Qu in (Lecture05, 2025, p.2), the performance of the firms is determined by rivalry between the firms, and it was observed in our own group as well.</a:t>
            </a:r>
          </a:p>
          <a:p>
            <a:pPr marL="457200" indent="-457200">
              <a:lnSpc>
                <a:spcPts val="2933"/>
              </a:lnSpc>
              <a:spcBef>
                <a:spcPct val="0"/>
              </a:spcBef>
              <a:buFont typeface="Wingdings" panose="05000000000000000000" pitchFamily="2" charset="2"/>
              <a:buChar char="§"/>
            </a:pPr>
            <a:endParaRPr lang="en-US" sz="2596" b="1" dirty="0">
              <a:solidFill>
                <a:srgbClr val="FFFFFF"/>
              </a:solidFill>
              <a:latin typeface="Ruda Bold"/>
              <a:ea typeface="Ruda Bold"/>
              <a:cs typeface="Ruda Bold"/>
              <a:sym typeface="Ruda Bold"/>
            </a:endParaRPr>
          </a:p>
        </p:txBody>
      </p:sp>
    </p:spTree>
  </p:cSld>
  <p:clrMapOvr>
    <a:masterClrMapping/>
  </p:clrMapOvr>
  <p:transition spd="slow">
    <p:wheel spokes="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A9DE-D0FE-BE24-BA55-013560BA840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50CEC974-F0E8-4446-0F69-E770E6A9BEB5}"/>
              </a:ext>
            </a:extLst>
          </p:cNvPr>
          <p:cNvSpPr/>
          <p:nvPr/>
        </p:nvSpPr>
        <p:spPr>
          <a:xfrm>
            <a:off x="469709" y="449216"/>
            <a:ext cx="611483" cy="972011"/>
          </a:xfrm>
          <a:custGeom>
            <a:avLst/>
            <a:gdLst/>
            <a:ahLst/>
            <a:cxnLst/>
            <a:rect l="l" t="t" r="r" b="b"/>
            <a:pathLst>
              <a:path w="611483" h="972011">
                <a:moveTo>
                  <a:pt x="0" y="0"/>
                </a:moveTo>
                <a:lnTo>
                  <a:pt x="611483" y="0"/>
                </a:lnTo>
                <a:lnTo>
                  <a:pt x="611483" y="972011"/>
                </a:lnTo>
                <a:lnTo>
                  <a:pt x="0" y="9720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6B21BB2B-548E-F17B-A871-DB9EC923A9AA}"/>
              </a:ext>
            </a:extLst>
          </p:cNvPr>
          <p:cNvSpPr/>
          <p:nvPr/>
        </p:nvSpPr>
        <p:spPr>
          <a:xfrm>
            <a:off x="377096" y="9780903"/>
            <a:ext cx="4449203" cy="506097"/>
          </a:xfrm>
          <a:custGeom>
            <a:avLst/>
            <a:gdLst/>
            <a:ahLst/>
            <a:cxnLst/>
            <a:rect l="l" t="t" r="r" b="b"/>
            <a:pathLst>
              <a:path w="4449203" h="506097">
                <a:moveTo>
                  <a:pt x="0" y="0"/>
                </a:moveTo>
                <a:lnTo>
                  <a:pt x="4449203" y="0"/>
                </a:lnTo>
                <a:lnTo>
                  <a:pt x="4449203" y="506097"/>
                </a:lnTo>
                <a:lnTo>
                  <a:pt x="0" y="506097"/>
                </a:lnTo>
                <a:lnTo>
                  <a:pt x="0" y="0"/>
                </a:lnTo>
                <a:close/>
              </a:path>
            </a:pathLst>
          </a:custGeom>
          <a:blipFill>
            <a:blip r:embed="rId4"/>
            <a:stretch>
              <a:fillRect/>
            </a:stretch>
          </a:blipFill>
        </p:spPr>
      </p:sp>
      <p:sp>
        <p:nvSpPr>
          <p:cNvPr id="13" name="TextBox 13">
            <a:extLst>
              <a:ext uri="{FF2B5EF4-FFF2-40B4-BE49-F238E27FC236}">
                <a16:creationId xmlns:a16="http://schemas.microsoft.com/office/drawing/2014/main" id="{E00E4E08-D9B6-A25B-8EC6-FCCB4FF7E3A5}"/>
              </a:ext>
            </a:extLst>
          </p:cNvPr>
          <p:cNvSpPr txBox="1"/>
          <p:nvPr/>
        </p:nvSpPr>
        <p:spPr>
          <a:xfrm>
            <a:off x="2613420" y="190121"/>
            <a:ext cx="13942199" cy="1231106"/>
          </a:xfrm>
          <a:prstGeom prst="rect">
            <a:avLst/>
          </a:prstGeom>
        </p:spPr>
        <p:txBody>
          <a:bodyPr wrap="square" lIns="0" tIns="0" rIns="0" bIns="0" rtlCol="0" anchor="t">
            <a:spAutoFit/>
          </a:bodyPr>
          <a:lstStyle/>
          <a:p>
            <a:r>
              <a:rPr lang="en-GB" sz="4000" b="1" dirty="0">
                <a:solidFill>
                  <a:schemeClr val="accent1">
                    <a:lumMod val="75000"/>
                  </a:schemeClr>
                </a:solidFill>
              </a:rPr>
              <a:t>Simulation game summary: Alen Josta Zhao’s Journey: Key Decisions, Performance Trends, and Lessons</a:t>
            </a:r>
          </a:p>
        </p:txBody>
      </p:sp>
      <p:graphicFrame>
        <p:nvGraphicFramePr>
          <p:cNvPr id="15" name="Table 14">
            <a:extLst>
              <a:ext uri="{FF2B5EF4-FFF2-40B4-BE49-F238E27FC236}">
                <a16:creationId xmlns:a16="http://schemas.microsoft.com/office/drawing/2014/main" id="{867A7090-AE10-891B-1B21-0490D3C2F68D}"/>
              </a:ext>
            </a:extLst>
          </p:cNvPr>
          <p:cNvGraphicFramePr>
            <a:graphicFrameLocks noGrp="1"/>
          </p:cNvGraphicFramePr>
          <p:nvPr>
            <p:extLst>
              <p:ext uri="{D42A27DB-BD31-4B8C-83A1-F6EECF244321}">
                <p14:modId xmlns:p14="http://schemas.microsoft.com/office/powerpoint/2010/main" val="3532037747"/>
              </p:ext>
            </p:extLst>
          </p:nvPr>
        </p:nvGraphicFramePr>
        <p:xfrm>
          <a:off x="1290430" y="1421227"/>
          <a:ext cx="14865036" cy="4819799"/>
        </p:xfrm>
        <a:graphic>
          <a:graphicData uri="http://schemas.openxmlformats.org/drawingml/2006/table">
            <a:tbl>
              <a:tblPr>
                <a:tableStyleId>{08FB837D-C827-4EFA-A057-4D05807E0F7C}</a:tableStyleId>
              </a:tblPr>
              <a:tblGrid>
                <a:gridCol w="1072836">
                  <a:extLst>
                    <a:ext uri="{9D8B030D-6E8A-4147-A177-3AD203B41FA5}">
                      <a16:colId xmlns:a16="http://schemas.microsoft.com/office/drawing/2014/main" val="4038627016"/>
                    </a:ext>
                  </a:extLst>
                </a:gridCol>
                <a:gridCol w="2133600">
                  <a:extLst>
                    <a:ext uri="{9D8B030D-6E8A-4147-A177-3AD203B41FA5}">
                      <a16:colId xmlns:a16="http://schemas.microsoft.com/office/drawing/2014/main" val="3866250745"/>
                    </a:ext>
                  </a:extLst>
                </a:gridCol>
                <a:gridCol w="1524000">
                  <a:extLst>
                    <a:ext uri="{9D8B030D-6E8A-4147-A177-3AD203B41FA5}">
                      <a16:colId xmlns:a16="http://schemas.microsoft.com/office/drawing/2014/main" val="2190107439"/>
                    </a:ext>
                  </a:extLst>
                </a:gridCol>
                <a:gridCol w="2438400">
                  <a:extLst>
                    <a:ext uri="{9D8B030D-6E8A-4147-A177-3AD203B41FA5}">
                      <a16:colId xmlns:a16="http://schemas.microsoft.com/office/drawing/2014/main" val="228782420"/>
                    </a:ext>
                  </a:extLst>
                </a:gridCol>
                <a:gridCol w="1752600">
                  <a:extLst>
                    <a:ext uri="{9D8B030D-6E8A-4147-A177-3AD203B41FA5}">
                      <a16:colId xmlns:a16="http://schemas.microsoft.com/office/drawing/2014/main" val="1013325199"/>
                    </a:ext>
                  </a:extLst>
                </a:gridCol>
                <a:gridCol w="5943600">
                  <a:extLst>
                    <a:ext uri="{9D8B030D-6E8A-4147-A177-3AD203B41FA5}">
                      <a16:colId xmlns:a16="http://schemas.microsoft.com/office/drawing/2014/main" val="1480507417"/>
                    </a:ext>
                  </a:extLst>
                </a:gridCol>
              </a:tblGrid>
              <a:tr h="368392">
                <a:tc>
                  <a:txBody>
                    <a:bodyPr/>
                    <a:lstStyle/>
                    <a:p>
                      <a:pPr>
                        <a:buNone/>
                      </a:pPr>
                      <a:r>
                        <a:rPr lang="en-US" sz="2000"/>
                        <a:t>Year</a:t>
                      </a:r>
                      <a:endParaRPr lang="en-US" sz="2000">
                        <a:latin typeface="Ruda" panose="020B0604020202020204" charset="0"/>
                      </a:endParaRPr>
                    </a:p>
                  </a:txBody>
                  <a:tcPr marL="52627" marR="52627" marT="26314" marB="26314" anchor="ctr"/>
                </a:tc>
                <a:tc>
                  <a:txBody>
                    <a:bodyPr/>
                    <a:lstStyle/>
                    <a:p>
                      <a:pPr>
                        <a:buNone/>
                      </a:pPr>
                      <a:r>
                        <a:rPr lang="en-US" sz="2000"/>
                        <a:t>Net Income (M)</a:t>
                      </a:r>
                      <a:endParaRPr lang="en-US" sz="2000">
                        <a:latin typeface="Ruda" panose="020B0604020202020204" charset="0"/>
                      </a:endParaRPr>
                    </a:p>
                  </a:txBody>
                  <a:tcPr marL="52627" marR="52627" marT="26314" marB="26314" anchor="ctr"/>
                </a:tc>
                <a:tc>
                  <a:txBody>
                    <a:bodyPr/>
                    <a:lstStyle/>
                    <a:p>
                      <a:pPr>
                        <a:buNone/>
                      </a:pPr>
                      <a:r>
                        <a:rPr lang="en-US" sz="2000"/>
                        <a:t>Stock Price</a:t>
                      </a:r>
                      <a:endParaRPr lang="en-US" sz="2000">
                        <a:latin typeface="Ruda" panose="020B0604020202020204" charset="0"/>
                      </a:endParaRPr>
                    </a:p>
                  </a:txBody>
                  <a:tcPr marL="52627" marR="52627" marT="26314" marB="26314" anchor="ctr"/>
                </a:tc>
                <a:tc>
                  <a:txBody>
                    <a:bodyPr/>
                    <a:lstStyle/>
                    <a:p>
                      <a:pPr>
                        <a:buNone/>
                      </a:pPr>
                      <a:r>
                        <a:rPr lang="en-US" sz="2000" dirty="0"/>
                        <a:t>Market Share (%)</a:t>
                      </a:r>
                      <a:endParaRPr lang="en-US" sz="2000" dirty="0">
                        <a:latin typeface="Ruda" panose="020B0604020202020204" charset="0"/>
                      </a:endParaRPr>
                    </a:p>
                  </a:txBody>
                  <a:tcPr marL="52627" marR="52627" marT="26314" marB="26314" anchor="ctr"/>
                </a:tc>
                <a:tc>
                  <a:txBody>
                    <a:bodyPr/>
                    <a:lstStyle/>
                    <a:p>
                      <a:pPr>
                        <a:buNone/>
                      </a:pPr>
                      <a:r>
                        <a:rPr lang="en-US" sz="2000"/>
                        <a:t>Cum. Net Income (M)</a:t>
                      </a:r>
                      <a:endParaRPr lang="en-US" sz="2000">
                        <a:latin typeface="Ruda" panose="020B0604020202020204" charset="0"/>
                      </a:endParaRPr>
                    </a:p>
                  </a:txBody>
                  <a:tcPr marL="52627" marR="52627" marT="26314" marB="26314" anchor="ctr"/>
                </a:tc>
                <a:tc>
                  <a:txBody>
                    <a:bodyPr/>
                    <a:lstStyle/>
                    <a:p>
                      <a:pPr>
                        <a:buNone/>
                      </a:pPr>
                      <a:r>
                        <a:rPr lang="en-US" sz="2000"/>
                        <a:t>Key Trend</a:t>
                      </a:r>
                      <a:endParaRPr lang="en-US" sz="2000">
                        <a:latin typeface="Ruda" panose="020B0604020202020204" charset="0"/>
                      </a:endParaRPr>
                    </a:p>
                  </a:txBody>
                  <a:tcPr marL="52627" marR="52627" marT="26314" marB="26314" anchor="ctr"/>
                </a:tc>
                <a:extLst>
                  <a:ext uri="{0D108BD9-81ED-4DB2-BD59-A6C34878D82A}">
                    <a16:rowId xmlns:a16="http://schemas.microsoft.com/office/drawing/2014/main" val="1910992411"/>
                  </a:ext>
                </a:extLst>
              </a:tr>
              <a:tr h="526275">
                <a:tc>
                  <a:txBody>
                    <a:bodyPr/>
                    <a:lstStyle/>
                    <a:p>
                      <a:pPr>
                        <a:buNone/>
                      </a:pPr>
                      <a:r>
                        <a:rPr lang="en-KE" sz="2000"/>
                        <a:t>1</a:t>
                      </a:r>
                      <a:endParaRPr lang="en-KE" sz="2000">
                        <a:latin typeface="Ruda" panose="020B0604020202020204" charset="0"/>
                      </a:endParaRPr>
                    </a:p>
                  </a:txBody>
                  <a:tcPr marL="52627" marR="52627" marT="26314" marB="26314" anchor="ctr"/>
                </a:tc>
                <a:tc>
                  <a:txBody>
                    <a:bodyPr/>
                    <a:lstStyle/>
                    <a:p>
                      <a:pPr>
                        <a:buNone/>
                      </a:pPr>
                      <a:r>
                        <a:rPr lang="en-KE" sz="2000" dirty="0"/>
                        <a:t>1,316</a:t>
                      </a:r>
                      <a:endParaRPr lang="en-KE" sz="2000" dirty="0">
                        <a:latin typeface="Ruda" panose="020B0604020202020204" charset="0"/>
                      </a:endParaRPr>
                    </a:p>
                  </a:txBody>
                  <a:tcPr marL="52627" marR="52627" marT="26314" marB="26314" anchor="ctr"/>
                </a:tc>
                <a:tc>
                  <a:txBody>
                    <a:bodyPr/>
                    <a:lstStyle/>
                    <a:p>
                      <a:pPr>
                        <a:buNone/>
                      </a:pPr>
                      <a:r>
                        <a:rPr lang="en-KE" sz="2000"/>
                        <a:t>50.20</a:t>
                      </a:r>
                      <a:endParaRPr lang="en-KE" sz="2000">
                        <a:latin typeface="Ruda" panose="020B0604020202020204" charset="0"/>
                      </a:endParaRPr>
                    </a:p>
                  </a:txBody>
                  <a:tcPr marL="52627" marR="52627" marT="26314" marB="26314" anchor="ctr"/>
                </a:tc>
                <a:tc>
                  <a:txBody>
                    <a:bodyPr/>
                    <a:lstStyle/>
                    <a:p>
                      <a:pPr>
                        <a:buNone/>
                      </a:pPr>
                      <a:r>
                        <a:rPr lang="en-KE" sz="2000"/>
                        <a:t>16.2</a:t>
                      </a:r>
                      <a:endParaRPr lang="en-KE" sz="2000">
                        <a:latin typeface="Ruda" panose="020B0604020202020204" charset="0"/>
                      </a:endParaRPr>
                    </a:p>
                  </a:txBody>
                  <a:tcPr marL="52627" marR="52627" marT="26314" marB="26314" anchor="ctr"/>
                </a:tc>
                <a:tc>
                  <a:txBody>
                    <a:bodyPr/>
                    <a:lstStyle/>
                    <a:p>
                      <a:pPr>
                        <a:buNone/>
                      </a:pPr>
                      <a:r>
                        <a:rPr lang="en-KE" sz="2000"/>
                        <a:t>2,527</a:t>
                      </a:r>
                      <a:endParaRPr lang="en-KE" sz="2000">
                        <a:latin typeface="Ruda" panose="020B0604020202020204" charset="0"/>
                      </a:endParaRPr>
                    </a:p>
                  </a:txBody>
                  <a:tcPr marL="52627" marR="52627" marT="26314" marB="26314" anchor="ctr"/>
                </a:tc>
                <a:tc>
                  <a:txBody>
                    <a:bodyPr/>
                    <a:lstStyle/>
                    <a:p>
                      <a:pPr>
                        <a:buNone/>
                      </a:pPr>
                      <a:r>
                        <a:rPr lang="en-GB" sz="2000"/>
                        <a:t>Strong start with safety focus</a:t>
                      </a:r>
                      <a:endParaRPr lang="en-GB" sz="2000">
                        <a:latin typeface="Ruda" panose="020B0604020202020204" charset="0"/>
                      </a:endParaRPr>
                    </a:p>
                  </a:txBody>
                  <a:tcPr marL="52627" marR="52627" marT="26314" marB="26314" anchor="ctr"/>
                </a:tc>
                <a:extLst>
                  <a:ext uri="{0D108BD9-81ED-4DB2-BD59-A6C34878D82A}">
                    <a16:rowId xmlns:a16="http://schemas.microsoft.com/office/drawing/2014/main" val="802107975"/>
                  </a:ext>
                </a:extLst>
              </a:tr>
              <a:tr h="526275">
                <a:tc>
                  <a:txBody>
                    <a:bodyPr/>
                    <a:lstStyle/>
                    <a:p>
                      <a:pPr>
                        <a:buNone/>
                      </a:pPr>
                      <a:r>
                        <a:rPr lang="en-KE" sz="2000"/>
                        <a:t>2</a:t>
                      </a:r>
                      <a:endParaRPr lang="en-KE" sz="2000">
                        <a:latin typeface="Ruda" panose="020B0604020202020204" charset="0"/>
                      </a:endParaRPr>
                    </a:p>
                  </a:txBody>
                  <a:tcPr marL="52627" marR="52627" marT="26314" marB="26314" anchor="ctr"/>
                </a:tc>
                <a:tc>
                  <a:txBody>
                    <a:bodyPr/>
                    <a:lstStyle/>
                    <a:p>
                      <a:pPr>
                        <a:buNone/>
                      </a:pPr>
                      <a:r>
                        <a:rPr lang="en-KE" sz="2000"/>
                        <a:t>1,477</a:t>
                      </a:r>
                      <a:endParaRPr lang="en-KE" sz="2000">
                        <a:latin typeface="Ruda" panose="020B0604020202020204" charset="0"/>
                      </a:endParaRPr>
                    </a:p>
                  </a:txBody>
                  <a:tcPr marL="52627" marR="52627" marT="26314" marB="26314" anchor="ctr"/>
                </a:tc>
                <a:tc>
                  <a:txBody>
                    <a:bodyPr/>
                    <a:lstStyle/>
                    <a:p>
                      <a:pPr>
                        <a:buNone/>
                      </a:pPr>
                      <a:r>
                        <a:rPr lang="en-KE" sz="2000"/>
                        <a:t>58.12</a:t>
                      </a:r>
                      <a:endParaRPr lang="en-KE" sz="2000">
                        <a:latin typeface="Ruda" panose="020B0604020202020204" charset="0"/>
                      </a:endParaRPr>
                    </a:p>
                  </a:txBody>
                  <a:tcPr marL="52627" marR="52627" marT="26314" marB="26314" anchor="ctr"/>
                </a:tc>
                <a:tc>
                  <a:txBody>
                    <a:bodyPr/>
                    <a:lstStyle/>
                    <a:p>
                      <a:pPr>
                        <a:buNone/>
                      </a:pPr>
                      <a:r>
                        <a:rPr lang="en-KE" sz="2000"/>
                        <a:t>16.3</a:t>
                      </a:r>
                      <a:endParaRPr lang="en-KE" sz="2000">
                        <a:latin typeface="Ruda" panose="020B0604020202020204" charset="0"/>
                      </a:endParaRPr>
                    </a:p>
                  </a:txBody>
                  <a:tcPr marL="52627" marR="52627" marT="26314" marB="26314" anchor="ctr"/>
                </a:tc>
                <a:tc>
                  <a:txBody>
                    <a:bodyPr/>
                    <a:lstStyle/>
                    <a:p>
                      <a:pPr>
                        <a:buNone/>
                      </a:pPr>
                      <a:r>
                        <a:rPr lang="en-KE" sz="2000"/>
                        <a:t>4,004</a:t>
                      </a:r>
                      <a:endParaRPr lang="en-KE" sz="2000">
                        <a:latin typeface="Ruda" panose="020B0604020202020204" charset="0"/>
                      </a:endParaRPr>
                    </a:p>
                  </a:txBody>
                  <a:tcPr marL="52627" marR="52627" marT="26314" marB="26314" anchor="ctr"/>
                </a:tc>
                <a:tc>
                  <a:txBody>
                    <a:bodyPr/>
                    <a:lstStyle/>
                    <a:p>
                      <a:pPr>
                        <a:buNone/>
                      </a:pPr>
                      <a:r>
                        <a:rPr lang="en-US" sz="2000"/>
                        <a:t>Peak growth through upgrades</a:t>
                      </a:r>
                      <a:endParaRPr lang="en-US" sz="2000">
                        <a:latin typeface="Ruda" panose="020B0604020202020204" charset="0"/>
                      </a:endParaRPr>
                    </a:p>
                  </a:txBody>
                  <a:tcPr marL="52627" marR="52627" marT="26314" marB="26314" anchor="ctr"/>
                </a:tc>
                <a:extLst>
                  <a:ext uri="{0D108BD9-81ED-4DB2-BD59-A6C34878D82A}">
                    <a16:rowId xmlns:a16="http://schemas.microsoft.com/office/drawing/2014/main" val="3732083351"/>
                  </a:ext>
                </a:extLst>
              </a:tr>
              <a:tr h="684157">
                <a:tc>
                  <a:txBody>
                    <a:bodyPr/>
                    <a:lstStyle/>
                    <a:p>
                      <a:pPr>
                        <a:buNone/>
                      </a:pPr>
                      <a:r>
                        <a:rPr lang="en-KE" sz="2000"/>
                        <a:t>3</a:t>
                      </a:r>
                      <a:endParaRPr lang="en-KE" sz="2000">
                        <a:latin typeface="Ruda" panose="020B0604020202020204" charset="0"/>
                      </a:endParaRPr>
                    </a:p>
                  </a:txBody>
                  <a:tcPr marL="52627" marR="52627" marT="26314" marB="26314" anchor="ctr"/>
                </a:tc>
                <a:tc>
                  <a:txBody>
                    <a:bodyPr/>
                    <a:lstStyle/>
                    <a:p>
                      <a:pPr>
                        <a:buNone/>
                      </a:pPr>
                      <a:r>
                        <a:rPr lang="en-KE" sz="2000"/>
                        <a:t>1,277</a:t>
                      </a:r>
                      <a:endParaRPr lang="en-KE" sz="2000">
                        <a:latin typeface="Ruda" panose="020B0604020202020204" charset="0"/>
                      </a:endParaRPr>
                    </a:p>
                  </a:txBody>
                  <a:tcPr marL="52627" marR="52627" marT="26314" marB="26314" anchor="ctr"/>
                </a:tc>
                <a:tc>
                  <a:txBody>
                    <a:bodyPr/>
                    <a:lstStyle/>
                    <a:p>
                      <a:pPr>
                        <a:buNone/>
                      </a:pPr>
                      <a:r>
                        <a:rPr lang="en-KE" sz="2000" dirty="0"/>
                        <a:t>62.03</a:t>
                      </a:r>
                      <a:endParaRPr lang="en-KE" sz="2000" dirty="0">
                        <a:latin typeface="Ruda" panose="020B0604020202020204" charset="0"/>
                      </a:endParaRPr>
                    </a:p>
                  </a:txBody>
                  <a:tcPr marL="52627" marR="52627" marT="26314" marB="26314" anchor="ctr"/>
                </a:tc>
                <a:tc>
                  <a:txBody>
                    <a:bodyPr/>
                    <a:lstStyle/>
                    <a:p>
                      <a:pPr>
                        <a:buNone/>
                      </a:pPr>
                      <a:r>
                        <a:rPr lang="en-KE" sz="2000"/>
                        <a:t>15.9</a:t>
                      </a:r>
                      <a:endParaRPr lang="en-KE" sz="2000">
                        <a:latin typeface="Ruda" panose="020B0604020202020204" charset="0"/>
                      </a:endParaRPr>
                    </a:p>
                  </a:txBody>
                  <a:tcPr marL="52627" marR="52627" marT="26314" marB="26314" anchor="ctr"/>
                </a:tc>
                <a:tc>
                  <a:txBody>
                    <a:bodyPr/>
                    <a:lstStyle/>
                    <a:p>
                      <a:pPr>
                        <a:buNone/>
                      </a:pPr>
                      <a:r>
                        <a:rPr lang="en-KE" sz="2000"/>
                        <a:t>5,281</a:t>
                      </a:r>
                      <a:endParaRPr lang="en-KE" sz="2000">
                        <a:latin typeface="Ruda" panose="020B0604020202020204" charset="0"/>
                      </a:endParaRPr>
                    </a:p>
                  </a:txBody>
                  <a:tcPr marL="52627" marR="52627" marT="26314" marB="26314" anchor="ctr"/>
                </a:tc>
                <a:tc>
                  <a:txBody>
                    <a:bodyPr/>
                    <a:lstStyle/>
                    <a:p>
                      <a:pPr>
                        <a:buNone/>
                      </a:pPr>
                      <a:r>
                        <a:rPr lang="en-GB" sz="2000"/>
                        <a:t>Expansion high, new vehicles launched</a:t>
                      </a:r>
                      <a:endParaRPr lang="en-GB" sz="2000">
                        <a:latin typeface="Ruda" panose="020B0604020202020204" charset="0"/>
                      </a:endParaRPr>
                    </a:p>
                  </a:txBody>
                  <a:tcPr marL="52627" marR="52627" marT="26314" marB="26314" anchor="ctr"/>
                </a:tc>
                <a:extLst>
                  <a:ext uri="{0D108BD9-81ED-4DB2-BD59-A6C34878D82A}">
                    <a16:rowId xmlns:a16="http://schemas.microsoft.com/office/drawing/2014/main" val="4278923034"/>
                  </a:ext>
                </a:extLst>
              </a:tr>
              <a:tr h="526275">
                <a:tc>
                  <a:txBody>
                    <a:bodyPr/>
                    <a:lstStyle/>
                    <a:p>
                      <a:pPr>
                        <a:buNone/>
                      </a:pPr>
                      <a:r>
                        <a:rPr lang="en-KE" sz="2000"/>
                        <a:t>4</a:t>
                      </a:r>
                      <a:endParaRPr lang="en-KE" sz="2000">
                        <a:latin typeface="Ruda" panose="020B0604020202020204" charset="0"/>
                      </a:endParaRPr>
                    </a:p>
                  </a:txBody>
                  <a:tcPr marL="52627" marR="52627" marT="26314" marB="26314" anchor="ctr"/>
                </a:tc>
                <a:tc>
                  <a:txBody>
                    <a:bodyPr/>
                    <a:lstStyle/>
                    <a:p>
                      <a:pPr>
                        <a:buNone/>
                      </a:pPr>
                      <a:r>
                        <a:rPr lang="en-KE" sz="2000"/>
                        <a:t>1,100</a:t>
                      </a:r>
                      <a:endParaRPr lang="en-KE" sz="2000">
                        <a:latin typeface="Ruda" panose="020B0604020202020204" charset="0"/>
                      </a:endParaRPr>
                    </a:p>
                  </a:txBody>
                  <a:tcPr marL="52627" marR="52627" marT="26314" marB="26314" anchor="ctr"/>
                </a:tc>
                <a:tc>
                  <a:txBody>
                    <a:bodyPr/>
                    <a:lstStyle/>
                    <a:p>
                      <a:pPr>
                        <a:buNone/>
                      </a:pPr>
                      <a:r>
                        <a:rPr lang="en-KE" sz="2000"/>
                        <a:t>59.43</a:t>
                      </a:r>
                      <a:endParaRPr lang="en-KE" sz="2000">
                        <a:latin typeface="Ruda" panose="020B0604020202020204" charset="0"/>
                      </a:endParaRPr>
                    </a:p>
                  </a:txBody>
                  <a:tcPr marL="52627" marR="52627" marT="26314" marB="26314" anchor="ctr"/>
                </a:tc>
                <a:tc>
                  <a:txBody>
                    <a:bodyPr/>
                    <a:lstStyle/>
                    <a:p>
                      <a:pPr>
                        <a:buNone/>
                      </a:pPr>
                      <a:r>
                        <a:rPr lang="en-KE" sz="2000"/>
                        <a:t>15.3</a:t>
                      </a:r>
                      <a:endParaRPr lang="en-KE" sz="2000">
                        <a:latin typeface="Ruda" panose="020B0604020202020204" charset="0"/>
                      </a:endParaRPr>
                    </a:p>
                  </a:txBody>
                  <a:tcPr marL="52627" marR="52627" marT="26314" marB="26314" anchor="ctr"/>
                </a:tc>
                <a:tc>
                  <a:txBody>
                    <a:bodyPr/>
                    <a:lstStyle/>
                    <a:p>
                      <a:pPr>
                        <a:buNone/>
                      </a:pPr>
                      <a:r>
                        <a:rPr lang="en-KE" sz="2000"/>
                        <a:t>6,381</a:t>
                      </a:r>
                      <a:endParaRPr lang="en-KE" sz="2000">
                        <a:latin typeface="Ruda" panose="020B0604020202020204" charset="0"/>
                      </a:endParaRPr>
                    </a:p>
                  </a:txBody>
                  <a:tcPr marL="52627" marR="52627" marT="26314" marB="26314" anchor="ctr"/>
                </a:tc>
                <a:tc>
                  <a:txBody>
                    <a:bodyPr/>
                    <a:lstStyle/>
                    <a:p>
                      <a:pPr>
                        <a:buNone/>
                      </a:pPr>
                      <a:r>
                        <a:rPr lang="en-US" sz="2000"/>
                        <a:t>Overproduction strains emerge</a:t>
                      </a:r>
                      <a:endParaRPr lang="en-US" sz="2000">
                        <a:latin typeface="Ruda" panose="020B0604020202020204" charset="0"/>
                      </a:endParaRPr>
                    </a:p>
                  </a:txBody>
                  <a:tcPr marL="52627" marR="52627" marT="26314" marB="26314" anchor="ctr"/>
                </a:tc>
                <a:extLst>
                  <a:ext uri="{0D108BD9-81ED-4DB2-BD59-A6C34878D82A}">
                    <a16:rowId xmlns:a16="http://schemas.microsoft.com/office/drawing/2014/main" val="638392721"/>
                  </a:ext>
                </a:extLst>
              </a:tr>
              <a:tr h="684157">
                <a:tc>
                  <a:txBody>
                    <a:bodyPr/>
                    <a:lstStyle/>
                    <a:p>
                      <a:pPr>
                        <a:buNone/>
                      </a:pPr>
                      <a:r>
                        <a:rPr lang="en-KE" sz="2000"/>
                        <a:t>5</a:t>
                      </a:r>
                      <a:endParaRPr lang="en-KE" sz="2000">
                        <a:latin typeface="Ruda" panose="020B0604020202020204" charset="0"/>
                      </a:endParaRPr>
                    </a:p>
                  </a:txBody>
                  <a:tcPr marL="52627" marR="52627" marT="26314" marB="26314" anchor="ctr"/>
                </a:tc>
                <a:tc>
                  <a:txBody>
                    <a:bodyPr/>
                    <a:lstStyle/>
                    <a:p>
                      <a:pPr>
                        <a:buNone/>
                      </a:pPr>
                      <a:r>
                        <a:rPr lang="en-KE" sz="2000" dirty="0"/>
                        <a:t>28</a:t>
                      </a:r>
                      <a:r>
                        <a:rPr lang="en-US" sz="2000" dirty="0"/>
                        <a:t>1</a:t>
                      </a:r>
                      <a:endParaRPr lang="en-KE" sz="2000" dirty="0">
                        <a:latin typeface="Ruda" panose="020B0604020202020204" charset="0"/>
                      </a:endParaRPr>
                    </a:p>
                  </a:txBody>
                  <a:tcPr marL="52627" marR="52627" marT="26314" marB="26314" anchor="ctr"/>
                </a:tc>
                <a:tc>
                  <a:txBody>
                    <a:bodyPr/>
                    <a:lstStyle/>
                    <a:p>
                      <a:pPr>
                        <a:buNone/>
                      </a:pPr>
                      <a:r>
                        <a:rPr lang="en-KE" sz="2000"/>
                        <a:t>37.26</a:t>
                      </a:r>
                      <a:endParaRPr lang="en-KE" sz="2000">
                        <a:latin typeface="Ruda" panose="020B0604020202020204" charset="0"/>
                      </a:endParaRPr>
                    </a:p>
                  </a:txBody>
                  <a:tcPr marL="52627" marR="52627" marT="26314" marB="26314" anchor="ctr"/>
                </a:tc>
                <a:tc>
                  <a:txBody>
                    <a:bodyPr/>
                    <a:lstStyle/>
                    <a:p>
                      <a:pPr>
                        <a:buNone/>
                      </a:pPr>
                      <a:r>
                        <a:rPr lang="en-KE" sz="2000"/>
                        <a:t>13.1</a:t>
                      </a:r>
                      <a:endParaRPr lang="en-KE" sz="2000">
                        <a:latin typeface="Ruda" panose="020B0604020202020204" charset="0"/>
                      </a:endParaRPr>
                    </a:p>
                  </a:txBody>
                  <a:tcPr marL="52627" marR="52627" marT="26314" marB="26314" anchor="ctr"/>
                </a:tc>
                <a:tc>
                  <a:txBody>
                    <a:bodyPr/>
                    <a:lstStyle/>
                    <a:p>
                      <a:pPr>
                        <a:buNone/>
                      </a:pPr>
                      <a:r>
                        <a:rPr lang="en-KE" sz="2000"/>
                        <a:t>6,662</a:t>
                      </a:r>
                      <a:endParaRPr lang="en-KE" sz="2000">
                        <a:latin typeface="Ruda" panose="020B0604020202020204" charset="0"/>
                      </a:endParaRPr>
                    </a:p>
                  </a:txBody>
                  <a:tcPr marL="52627" marR="52627" marT="26314" marB="26314" anchor="ctr"/>
                </a:tc>
                <a:tc>
                  <a:txBody>
                    <a:bodyPr/>
                    <a:lstStyle/>
                    <a:p>
                      <a:pPr>
                        <a:buNone/>
                      </a:pPr>
                      <a:r>
                        <a:rPr lang="en-US" sz="2000"/>
                        <a:t>Sharp decline, financing volatility</a:t>
                      </a:r>
                      <a:endParaRPr lang="en-US" sz="2000">
                        <a:latin typeface="Ruda" panose="020B0604020202020204" charset="0"/>
                      </a:endParaRPr>
                    </a:p>
                  </a:txBody>
                  <a:tcPr marL="52627" marR="52627" marT="26314" marB="26314" anchor="ctr"/>
                </a:tc>
                <a:extLst>
                  <a:ext uri="{0D108BD9-81ED-4DB2-BD59-A6C34878D82A}">
                    <a16:rowId xmlns:a16="http://schemas.microsoft.com/office/drawing/2014/main" val="2914221718"/>
                  </a:ext>
                </a:extLst>
              </a:tr>
              <a:tr h="684157">
                <a:tc>
                  <a:txBody>
                    <a:bodyPr/>
                    <a:lstStyle/>
                    <a:p>
                      <a:pPr>
                        <a:buNone/>
                      </a:pPr>
                      <a:r>
                        <a:rPr lang="en-KE" sz="2000"/>
                        <a:t>6</a:t>
                      </a:r>
                      <a:endParaRPr lang="en-KE" sz="2000">
                        <a:latin typeface="Ruda" panose="020B0604020202020204" charset="0"/>
                      </a:endParaRPr>
                    </a:p>
                  </a:txBody>
                  <a:tcPr marL="52627" marR="52627" marT="26314" marB="26314" anchor="ctr"/>
                </a:tc>
                <a:tc>
                  <a:txBody>
                    <a:bodyPr/>
                    <a:lstStyle/>
                    <a:p>
                      <a:pPr>
                        <a:buNone/>
                      </a:pPr>
                      <a:r>
                        <a:rPr lang="en-KE" sz="2000"/>
                        <a:t>-772</a:t>
                      </a:r>
                      <a:endParaRPr lang="en-KE" sz="2000">
                        <a:latin typeface="Ruda" panose="020B0604020202020204" charset="0"/>
                      </a:endParaRPr>
                    </a:p>
                  </a:txBody>
                  <a:tcPr marL="52627" marR="52627" marT="26314" marB="26314" anchor="ctr"/>
                </a:tc>
                <a:tc>
                  <a:txBody>
                    <a:bodyPr/>
                    <a:lstStyle/>
                    <a:p>
                      <a:pPr>
                        <a:buNone/>
                      </a:pPr>
                      <a:r>
                        <a:rPr lang="en-KE" sz="2000"/>
                        <a:t>19.56</a:t>
                      </a:r>
                      <a:endParaRPr lang="en-KE" sz="2000">
                        <a:latin typeface="Ruda" panose="020B0604020202020204" charset="0"/>
                      </a:endParaRPr>
                    </a:p>
                  </a:txBody>
                  <a:tcPr marL="52627" marR="52627" marT="26314" marB="26314" anchor="ctr"/>
                </a:tc>
                <a:tc>
                  <a:txBody>
                    <a:bodyPr/>
                    <a:lstStyle/>
                    <a:p>
                      <a:pPr>
                        <a:buNone/>
                      </a:pPr>
                      <a:r>
                        <a:rPr lang="en-KE" sz="2000"/>
                        <a:t>11.2</a:t>
                      </a:r>
                      <a:endParaRPr lang="en-KE" sz="2000">
                        <a:latin typeface="Ruda" panose="020B0604020202020204" charset="0"/>
                      </a:endParaRPr>
                    </a:p>
                  </a:txBody>
                  <a:tcPr marL="52627" marR="52627" marT="26314" marB="26314" anchor="ctr"/>
                </a:tc>
                <a:tc>
                  <a:txBody>
                    <a:bodyPr/>
                    <a:lstStyle/>
                    <a:p>
                      <a:pPr>
                        <a:buNone/>
                      </a:pPr>
                      <a:r>
                        <a:rPr lang="en-KE" sz="2000"/>
                        <a:t>5,890</a:t>
                      </a:r>
                      <a:endParaRPr lang="en-KE" sz="2000">
                        <a:latin typeface="Ruda" panose="020B0604020202020204" charset="0"/>
                      </a:endParaRPr>
                    </a:p>
                  </a:txBody>
                  <a:tcPr marL="52627" marR="52627" marT="26314" marB="26314" anchor="ctr"/>
                </a:tc>
                <a:tc>
                  <a:txBody>
                    <a:bodyPr/>
                    <a:lstStyle/>
                    <a:p>
                      <a:pPr>
                        <a:buNone/>
                      </a:pPr>
                      <a:r>
                        <a:rPr lang="en-US" sz="2000"/>
                        <a:t>Losses mount, production cuts</a:t>
                      </a:r>
                      <a:endParaRPr lang="en-US" sz="2000">
                        <a:latin typeface="Ruda" panose="020B0604020202020204" charset="0"/>
                      </a:endParaRPr>
                    </a:p>
                  </a:txBody>
                  <a:tcPr marL="52627" marR="52627" marT="26314" marB="26314" anchor="ctr"/>
                </a:tc>
                <a:extLst>
                  <a:ext uri="{0D108BD9-81ED-4DB2-BD59-A6C34878D82A}">
                    <a16:rowId xmlns:a16="http://schemas.microsoft.com/office/drawing/2014/main" val="3494188101"/>
                  </a:ext>
                </a:extLst>
              </a:tr>
              <a:tr h="526275">
                <a:tc>
                  <a:txBody>
                    <a:bodyPr/>
                    <a:lstStyle/>
                    <a:p>
                      <a:pPr>
                        <a:buNone/>
                      </a:pPr>
                      <a:r>
                        <a:rPr lang="en-KE" sz="2000"/>
                        <a:t>7</a:t>
                      </a:r>
                      <a:endParaRPr lang="en-KE" sz="2000">
                        <a:latin typeface="Ruda" panose="020B0604020202020204" charset="0"/>
                      </a:endParaRPr>
                    </a:p>
                  </a:txBody>
                  <a:tcPr marL="52627" marR="52627" marT="26314" marB="26314" anchor="ctr"/>
                </a:tc>
                <a:tc>
                  <a:txBody>
                    <a:bodyPr/>
                    <a:lstStyle/>
                    <a:p>
                      <a:pPr>
                        <a:buNone/>
                      </a:pPr>
                      <a:r>
                        <a:rPr lang="en-KE" sz="2000"/>
                        <a:t>-2,196</a:t>
                      </a:r>
                      <a:endParaRPr lang="en-KE" sz="2000">
                        <a:latin typeface="Ruda" panose="020B0604020202020204" charset="0"/>
                      </a:endParaRPr>
                    </a:p>
                  </a:txBody>
                  <a:tcPr marL="52627" marR="52627" marT="26314" marB="26314" anchor="ctr"/>
                </a:tc>
                <a:tc>
                  <a:txBody>
                    <a:bodyPr/>
                    <a:lstStyle/>
                    <a:p>
                      <a:pPr>
                        <a:buNone/>
                      </a:pPr>
                      <a:r>
                        <a:rPr lang="en-KE" sz="2000"/>
                        <a:t>7.26</a:t>
                      </a:r>
                      <a:endParaRPr lang="en-KE" sz="2000">
                        <a:latin typeface="Ruda" panose="020B0604020202020204" charset="0"/>
                      </a:endParaRPr>
                    </a:p>
                  </a:txBody>
                  <a:tcPr marL="52627" marR="52627" marT="26314" marB="26314" anchor="ctr"/>
                </a:tc>
                <a:tc>
                  <a:txBody>
                    <a:bodyPr/>
                    <a:lstStyle/>
                    <a:p>
                      <a:pPr>
                        <a:buNone/>
                      </a:pPr>
                      <a:r>
                        <a:rPr lang="en-KE" sz="2000"/>
                        <a:t>10.9</a:t>
                      </a:r>
                      <a:endParaRPr lang="en-KE" sz="2000">
                        <a:latin typeface="Ruda" panose="020B0604020202020204" charset="0"/>
                      </a:endParaRPr>
                    </a:p>
                  </a:txBody>
                  <a:tcPr marL="52627" marR="52627" marT="26314" marB="26314" anchor="ctr"/>
                </a:tc>
                <a:tc>
                  <a:txBody>
                    <a:bodyPr/>
                    <a:lstStyle/>
                    <a:p>
                      <a:pPr>
                        <a:buNone/>
                      </a:pPr>
                      <a:r>
                        <a:rPr lang="en-KE" sz="2000"/>
                        <a:t>3,694</a:t>
                      </a:r>
                      <a:endParaRPr lang="en-KE" sz="2000">
                        <a:latin typeface="Ruda" panose="020B0604020202020204" charset="0"/>
                      </a:endParaRPr>
                    </a:p>
                  </a:txBody>
                  <a:tcPr marL="52627" marR="52627" marT="26314" marB="26314" anchor="ctr"/>
                </a:tc>
                <a:tc>
                  <a:txBody>
                    <a:bodyPr/>
                    <a:lstStyle/>
                    <a:p>
                      <a:pPr>
                        <a:buNone/>
                      </a:pPr>
                      <a:r>
                        <a:rPr lang="en-US" sz="2000" dirty="0"/>
                        <a:t>Bust phase, market erosion</a:t>
                      </a:r>
                      <a:endParaRPr lang="en-US" sz="2000" dirty="0">
                        <a:latin typeface="Ruda" panose="020B0604020202020204" charset="0"/>
                      </a:endParaRPr>
                    </a:p>
                  </a:txBody>
                  <a:tcPr marL="52627" marR="52627" marT="26314" marB="26314" anchor="ctr"/>
                </a:tc>
                <a:extLst>
                  <a:ext uri="{0D108BD9-81ED-4DB2-BD59-A6C34878D82A}">
                    <a16:rowId xmlns:a16="http://schemas.microsoft.com/office/drawing/2014/main" val="3737674211"/>
                  </a:ext>
                </a:extLst>
              </a:tr>
            </a:tbl>
          </a:graphicData>
        </a:graphic>
      </p:graphicFrame>
      <p:sp>
        <p:nvSpPr>
          <p:cNvPr id="16" name="TextBox 15">
            <a:extLst>
              <a:ext uri="{FF2B5EF4-FFF2-40B4-BE49-F238E27FC236}">
                <a16:creationId xmlns:a16="http://schemas.microsoft.com/office/drawing/2014/main" id="{53E4C457-33C0-81DA-DAFA-046655AF0401}"/>
              </a:ext>
            </a:extLst>
          </p:cNvPr>
          <p:cNvSpPr txBox="1"/>
          <p:nvPr/>
        </p:nvSpPr>
        <p:spPr>
          <a:xfrm>
            <a:off x="377096" y="6422909"/>
            <a:ext cx="17910904" cy="3816429"/>
          </a:xfrm>
          <a:prstGeom prst="rect">
            <a:avLst/>
          </a:prstGeom>
          <a:noFill/>
        </p:spPr>
        <p:txBody>
          <a:bodyPr wrap="square" rtlCol="0">
            <a:spAutoFit/>
          </a:bodyPr>
          <a:lstStyle/>
          <a:p>
            <a:r>
              <a:rPr lang="en-GB" sz="2200" b="1" dirty="0">
                <a:solidFill>
                  <a:schemeClr val="accent1">
                    <a:lumMod val="75000"/>
                  </a:schemeClr>
                </a:solidFill>
                <a:latin typeface="Ruda" panose="020B0604020202020204" charset="0"/>
              </a:rPr>
              <a:t>Strategic Highlights &amp; Insights</a:t>
            </a:r>
          </a:p>
          <a:p>
            <a:pPr marL="342900" indent="-342900">
              <a:buFont typeface="Wingdings" panose="05000000000000000000" pitchFamily="2" charset="2"/>
              <a:buChar char="Ø"/>
            </a:pPr>
            <a:r>
              <a:rPr lang="en-GB" sz="2200" dirty="0">
                <a:solidFill>
                  <a:schemeClr val="accent1">
                    <a:lumMod val="75000"/>
                  </a:schemeClr>
                </a:solidFill>
                <a:latin typeface="Ruda" panose="020B0604020202020204" charset="0"/>
              </a:rPr>
              <a:t>The initial wave was based on robust marketing, technology improvements, and new base models; concept cars provided innovation, but with minimal success. </a:t>
            </a:r>
          </a:p>
          <a:p>
            <a:pPr marL="342900" indent="-342900">
              <a:buFont typeface="Wingdings" panose="05000000000000000000" pitchFamily="2" charset="2"/>
              <a:buChar char="Ø"/>
            </a:pPr>
            <a:r>
              <a:rPr lang="en-GB" sz="2200" dirty="0">
                <a:solidFill>
                  <a:schemeClr val="accent1">
                    <a:lumMod val="75000"/>
                  </a:schemeClr>
                </a:solidFill>
                <a:latin typeface="Ruda" panose="020B0604020202020204" charset="0"/>
              </a:rPr>
              <a:t>The new launches and expanded coverage of dealers in the middle of the game did not offer a steady demand pattern with unstable swings of the prices. </a:t>
            </a:r>
          </a:p>
          <a:p>
            <a:pPr marL="342900" indent="-342900">
              <a:buFont typeface="Wingdings" panose="05000000000000000000" pitchFamily="2" charset="2"/>
              <a:buChar char="Ø"/>
            </a:pPr>
            <a:r>
              <a:rPr lang="en-GB" sz="2200" dirty="0">
                <a:solidFill>
                  <a:schemeClr val="accent1">
                    <a:lumMod val="75000"/>
                  </a:schemeClr>
                </a:solidFill>
                <a:latin typeface="Ruda" panose="020B0604020202020204" charset="0"/>
              </a:rPr>
              <a:t>Performance was adversely affected by a pace in capacity increase that was excessively rapid, rising financing costs, and decision-making based on reaction in place of planned strategy. </a:t>
            </a:r>
          </a:p>
          <a:p>
            <a:pPr marL="342900" indent="-342900">
              <a:buFont typeface="Wingdings" panose="05000000000000000000" pitchFamily="2" charset="2"/>
              <a:buChar char="Ø"/>
            </a:pPr>
            <a:r>
              <a:rPr lang="en-GB" sz="2200" dirty="0">
                <a:solidFill>
                  <a:schemeClr val="accent1">
                    <a:lumMod val="75000"/>
                  </a:schemeClr>
                </a:solidFill>
                <a:latin typeface="Ruda" panose="020B0604020202020204" charset="0"/>
              </a:rPr>
              <a:t>Lesson learnt: ambitious actions should be backed by solid data, such as forecasting and focus groups, and keeping a better rein on debt would have stabilised performance. </a:t>
            </a:r>
          </a:p>
          <a:p>
            <a:pPr marL="342900" indent="-342900">
              <a:buFont typeface="Wingdings" panose="05000000000000000000" pitchFamily="2" charset="2"/>
              <a:buChar char="Ø"/>
            </a:pPr>
            <a:r>
              <a:rPr lang="en-GB" sz="2200" dirty="0">
                <a:solidFill>
                  <a:schemeClr val="accent1">
                    <a:lumMod val="75000"/>
                  </a:schemeClr>
                </a:solidFill>
                <a:latin typeface="Ruda" panose="020B0604020202020204" charset="0"/>
              </a:rPr>
              <a:t>General plot: increasing and then decreasing over a period of seven years, with share percentage going down to 11% and accumulated income reaching its peak and then plummeting.</a:t>
            </a:r>
          </a:p>
        </p:txBody>
      </p:sp>
    </p:spTree>
    <p:extLst>
      <p:ext uri="{BB962C8B-B14F-4D97-AF65-F5344CB8AC3E}">
        <p14:creationId xmlns:p14="http://schemas.microsoft.com/office/powerpoint/2010/main" val="2495316442"/>
      </p:ext>
    </p:extLst>
  </p:cSld>
  <p:clrMapOvr>
    <a:masterClrMapping/>
  </p:clrMapOvr>
  <p:transition spd="slow">
    <p:wheel spokes="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39000" y="-406714"/>
            <a:ext cx="2420059" cy="813428"/>
          </a:xfrm>
          <a:prstGeom prst="rect">
            <a:avLst/>
          </a:prstGeom>
        </p:spPr>
        <p:txBody>
          <a:bodyPr wrap="square" lIns="0" tIns="0" rIns="0" bIns="0" rtlCol="0" anchor="t">
            <a:spAutoFit/>
          </a:bodyPr>
          <a:lstStyle/>
          <a:p>
            <a:pPr algn="l">
              <a:lnSpc>
                <a:spcPts val="7064"/>
              </a:lnSpc>
              <a:spcBef>
                <a:spcPct val="0"/>
              </a:spcBef>
            </a:pPr>
            <a:r>
              <a:rPr lang="en-US" sz="3000" b="1" dirty="0">
                <a:solidFill>
                  <a:srgbClr val="0555A3"/>
                </a:solidFill>
                <a:latin typeface="Ruda Bold"/>
                <a:ea typeface="Ruda Bold"/>
                <a:cs typeface="Ruda Bold"/>
                <a:sym typeface="Ruda Bold"/>
              </a:rPr>
              <a:t>REFERENCES</a:t>
            </a:r>
          </a:p>
        </p:txBody>
      </p:sp>
      <p:sp>
        <p:nvSpPr>
          <p:cNvPr id="3" name="TextBox 3"/>
          <p:cNvSpPr txBox="1"/>
          <p:nvPr/>
        </p:nvSpPr>
        <p:spPr>
          <a:xfrm>
            <a:off x="266700" y="266700"/>
            <a:ext cx="17754600" cy="10324045"/>
          </a:xfrm>
          <a:prstGeom prst="rect">
            <a:avLst/>
          </a:prstGeom>
        </p:spPr>
        <p:txBody>
          <a:bodyPr wrap="square" lIns="0" tIns="0" rIns="0" bIns="0" rtlCol="0" anchor="t">
            <a:spAutoFit/>
          </a:bodyPr>
          <a:lstStyle/>
          <a:p>
            <a:pPr algn="just">
              <a:lnSpc>
                <a:spcPts val="2372"/>
              </a:lnSpc>
            </a:pPr>
            <a:r>
              <a:rPr lang="en-GB" sz="1600" dirty="0">
                <a:latin typeface="Ruda" panose="020B0604020202020204" charset="0"/>
              </a:rPr>
              <a:t>ADEC Innovations (n.d.) </a:t>
            </a:r>
            <a:r>
              <a:rPr lang="en-GB" sz="1600" i="1" dirty="0">
                <a:latin typeface="Ruda" panose="020B0604020202020204" charset="0"/>
              </a:rPr>
              <a:t>How does Nike’s supply chain work?</a:t>
            </a:r>
            <a:r>
              <a:rPr lang="en-GB" sz="1600" dirty="0">
                <a:latin typeface="Ruda" panose="020B0604020202020204" charset="0"/>
              </a:rPr>
              <a:t> Available at: </a:t>
            </a:r>
            <a:r>
              <a:rPr lang="en-GB" sz="1600" dirty="0">
                <a:latin typeface="Ruda" panose="020B0604020202020204" charset="0"/>
                <a:hlinkClick r:id="rId2"/>
              </a:rPr>
              <a:t>https://www.adec-innovations.com/blogs/how-does-nikes-supply-chain-work/</a:t>
            </a:r>
            <a:r>
              <a:rPr lang="en-GB" sz="1600" dirty="0">
                <a:latin typeface="Ruda" panose="020B0604020202020204" charset="0"/>
              </a:rPr>
              <a:t> </a:t>
            </a:r>
            <a:r>
              <a:rPr lang="en-US" sz="1600" dirty="0">
                <a:latin typeface="Ruda" panose="020B0604020202020204" charset="0"/>
              </a:rPr>
              <a:t>.</a:t>
            </a:r>
            <a:endParaRPr lang="en-GB" sz="1600" dirty="0">
              <a:latin typeface="Ruda" panose="020B0604020202020204" charset="0"/>
            </a:endParaRPr>
          </a:p>
          <a:p>
            <a:pPr algn="just">
              <a:lnSpc>
                <a:spcPts val="2372"/>
              </a:lnSpc>
            </a:pPr>
            <a:r>
              <a:rPr lang="en-GB" sz="1600" dirty="0">
                <a:latin typeface="Ruda" panose="020B0604020202020204" charset="0"/>
              </a:rPr>
              <a:t>About Nike (n.d.) </a:t>
            </a:r>
            <a:r>
              <a:rPr lang="en-GB" sz="1600" i="1" dirty="0">
                <a:latin typeface="Ruda" panose="020B0604020202020204" charset="0"/>
              </a:rPr>
              <a:t>Sustainable Development Goals</a:t>
            </a:r>
            <a:r>
              <a:rPr lang="en-GB" sz="1600" dirty="0">
                <a:latin typeface="Ruda" panose="020B0604020202020204" charset="0"/>
              </a:rPr>
              <a:t>. Available at: </a:t>
            </a:r>
            <a:r>
              <a:rPr lang="en-GB" sz="1600" dirty="0">
                <a:latin typeface="Ruda" panose="020B0604020202020204" charset="0"/>
                <a:hlinkClick r:id="rId3"/>
              </a:rPr>
              <a:t>https://about.nike.com/en/resources/sustainable-development-goals-sdgs</a:t>
            </a:r>
            <a:r>
              <a:rPr lang="en-GB" sz="1600" dirty="0">
                <a:latin typeface="Ruda" panose="020B0604020202020204" charset="0"/>
              </a:rPr>
              <a:t> .</a:t>
            </a:r>
          </a:p>
          <a:p>
            <a:pPr algn="just">
              <a:lnSpc>
                <a:spcPts val="2372"/>
              </a:lnSpc>
            </a:pPr>
            <a:r>
              <a:rPr lang="en-US" sz="1600" dirty="0">
                <a:latin typeface="Ruda" panose="020B0604020202020204" charset="0"/>
              </a:rPr>
              <a:t>Business Model Analyst (2025) </a:t>
            </a:r>
            <a:r>
              <a:rPr lang="en-US" sz="1600" i="1" dirty="0">
                <a:latin typeface="Ruda" panose="020B0604020202020204" charset="0"/>
              </a:rPr>
              <a:t>Nike PESTLE Analysis</a:t>
            </a:r>
            <a:r>
              <a:rPr lang="en-US" sz="1600" dirty="0">
                <a:latin typeface="Ruda" panose="020B0604020202020204" charset="0"/>
              </a:rPr>
              <a:t>. Available at: </a:t>
            </a:r>
            <a:r>
              <a:rPr lang="en-US" sz="1600" dirty="0">
                <a:latin typeface="Ruda" panose="020B0604020202020204" charset="0"/>
                <a:hlinkClick r:id="rId4"/>
              </a:rPr>
              <a:t>https://businessmodelanalyst.com/nike-pestle-analysis/</a:t>
            </a:r>
            <a:r>
              <a:rPr lang="en-US" sz="1600" dirty="0">
                <a:latin typeface="Ruda" panose="020B0604020202020204" charset="0"/>
              </a:rPr>
              <a:t>.</a:t>
            </a:r>
          </a:p>
          <a:p>
            <a:pPr algn="just">
              <a:lnSpc>
                <a:spcPts val="2372"/>
              </a:lnSpc>
            </a:pPr>
            <a:r>
              <a:rPr lang="en-US" sz="1600" dirty="0">
                <a:latin typeface="Ruda" panose="020B0604020202020204" charset="0"/>
              </a:rPr>
              <a:t>DCFmodeling.com (n.d.) </a:t>
            </a:r>
            <a:r>
              <a:rPr lang="en-US" sz="1600" i="1" dirty="0">
                <a:latin typeface="Ruda" panose="020B0604020202020204" charset="0"/>
              </a:rPr>
              <a:t>NIKE, Inc. (NKE) PESTLE Analysis</a:t>
            </a:r>
            <a:r>
              <a:rPr lang="en-US" sz="1600" dirty="0">
                <a:latin typeface="Ruda" panose="020B0604020202020204" charset="0"/>
              </a:rPr>
              <a:t>. Available at: </a:t>
            </a:r>
            <a:r>
              <a:rPr lang="en-US" sz="1600" dirty="0">
                <a:latin typeface="Ruda" panose="020B0604020202020204" charset="0"/>
                <a:hlinkClick r:id="rId5"/>
              </a:rPr>
              <a:t>https://dcfmodeling.com/products/nke-pestel-analysis</a:t>
            </a:r>
            <a:r>
              <a:rPr lang="en-US" sz="1600" dirty="0">
                <a:latin typeface="Ruda" panose="020B0604020202020204" charset="0"/>
              </a:rPr>
              <a:t> </a:t>
            </a:r>
          </a:p>
          <a:p>
            <a:pPr algn="just">
              <a:lnSpc>
                <a:spcPts val="2372"/>
              </a:lnSpc>
            </a:pPr>
            <a:r>
              <a:rPr lang="en-GB" sz="1600" dirty="0">
                <a:latin typeface="Ruda" panose="020B0604020202020204" charset="0"/>
              </a:rPr>
              <a:t>FY23 Nike Impact Report (2024) </a:t>
            </a:r>
            <a:r>
              <a:rPr lang="en-GB" sz="1600" i="1" dirty="0">
                <a:latin typeface="Ruda" panose="020B0604020202020204" charset="0"/>
              </a:rPr>
              <a:t>Nike Impact Report 2024</a:t>
            </a:r>
            <a:r>
              <a:rPr lang="en-GB" sz="1600" dirty="0">
                <a:latin typeface="Ruda" panose="020B0604020202020204" charset="0"/>
              </a:rPr>
              <a:t>. Available at: </a:t>
            </a:r>
            <a:r>
              <a:rPr lang="en-GB" sz="1600" dirty="0">
                <a:latin typeface="Ruda" panose="020B0604020202020204" charset="0"/>
                <a:hlinkClick r:id="rId6"/>
              </a:rPr>
              <a:t>https://media.about.nike.com/files/2fd5f76d-50a2-4906-b30b-3b6046f36ebf/FY23_Nike_Impact_Report.pdf</a:t>
            </a:r>
            <a:r>
              <a:rPr lang="en-GB" sz="1600" dirty="0">
                <a:latin typeface="Ruda" panose="020B0604020202020204" charset="0"/>
              </a:rPr>
              <a:t> </a:t>
            </a:r>
          </a:p>
          <a:p>
            <a:pPr algn="just">
              <a:lnSpc>
                <a:spcPts val="2372"/>
              </a:lnSpc>
            </a:pPr>
            <a:r>
              <a:rPr lang="en-GB" sz="1600" dirty="0">
                <a:latin typeface="Ruda" panose="020B0604020202020204" charset="0"/>
              </a:rPr>
              <a:t>Nike Inc. (2025) </a:t>
            </a:r>
            <a:r>
              <a:rPr lang="en-GB" sz="1600" i="1" dirty="0">
                <a:latin typeface="Ruda" panose="020B0604020202020204" charset="0"/>
              </a:rPr>
              <a:t>Annual Report 2025</a:t>
            </a:r>
            <a:r>
              <a:rPr lang="en-GB" sz="1600" dirty="0">
                <a:latin typeface="Ruda" panose="020B0604020202020204" charset="0"/>
              </a:rPr>
              <a:t>. Available at: </a:t>
            </a:r>
            <a:r>
              <a:rPr lang="en-GB" sz="1600" dirty="0">
                <a:latin typeface="Ruda" panose="020B0604020202020204" charset="0"/>
                <a:hlinkClick r:id="rId7"/>
              </a:rPr>
              <a:t>https://www.sec.gov/Archives/edgar/data/320187/000032018725000047/nke-20250531.htm</a:t>
            </a:r>
            <a:r>
              <a:rPr lang="en-GB" sz="1600" dirty="0">
                <a:latin typeface="Ruda" panose="020B0604020202020204" charset="0"/>
              </a:rPr>
              <a:t> </a:t>
            </a:r>
          </a:p>
          <a:p>
            <a:pPr algn="just">
              <a:lnSpc>
                <a:spcPts val="2372"/>
              </a:lnSpc>
            </a:pPr>
            <a:r>
              <a:rPr lang="en-US" sz="1600" dirty="0" err="1">
                <a:latin typeface="Ruda" panose="020B0604020202020204" charset="0"/>
              </a:rPr>
              <a:t>Panmore</a:t>
            </a:r>
            <a:r>
              <a:rPr lang="en-US" sz="1600" dirty="0">
                <a:latin typeface="Ruda" panose="020B0604020202020204" charset="0"/>
              </a:rPr>
              <a:t> (2024) </a:t>
            </a:r>
            <a:r>
              <a:rPr lang="en-US" sz="1600" i="1" dirty="0">
                <a:latin typeface="Ruda" panose="020B0604020202020204" charset="0"/>
              </a:rPr>
              <a:t>Nike PESTEL/PESTLE Analysis</a:t>
            </a:r>
            <a:r>
              <a:rPr lang="en-US" sz="1600" dirty="0">
                <a:latin typeface="Ruda" panose="020B0604020202020204" charset="0"/>
              </a:rPr>
              <a:t>. Available at: </a:t>
            </a:r>
            <a:r>
              <a:rPr lang="en-US" sz="1600" dirty="0">
                <a:latin typeface="Ruda" panose="020B0604020202020204" charset="0"/>
                <a:hlinkClick r:id="rId8"/>
              </a:rPr>
              <a:t>https://panmore.com/nike-inc-pestel-pestle-analysis-recommendations</a:t>
            </a:r>
            <a:r>
              <a:rPr lang="en-US" sz="1600" dirty="0">
                <a:latin typeface="Ruda" panose="020B0604020202020204" charset="0"/>
              </a:rPr>
              <a:t> </a:t>
            </a:r>
          </a:p>
          <a:p>
            <a:pPr algn="just">
              <a:lnSpc>
                <a:spcPts val="2372"/>
              </a:lnSpc>
            </a:pPr>
            <a:r>
              <a:rPr lang="en-GB" sz="1600" dirty="0">
                <a:latin typeface="Ruda" panose="020B0604020202020204" charset="0"/>
              </a:rPr>
              <a:t>ProPublica (2024) </a:t>
            </a:r>
            <a:r>
              <a:rPr lang="en-GB" sz="1600" i="1" dirty="0">
                <a:latin typeface="Ruda" panose="020B0604020202020204" charset="0"/>
              </a:rPr>
              <a:t>Nike pledged to shrink its carbon footprint</a:t>
            </a:r>
            <a:r>
              <a:rPr lang="en-GB" sz="1600" dirty="0">
                <a:latin typeface="Ruda" panose="020B0604020202020204" charset="0"/>
              </a:rPr>
              <a:t>. Available at: </a:t>
            </a:r>
            <a:r>
              <a:rPr lang="en-GB" sz="1600" dirty="0">
                <a:latin typeface="Ruda" panose="020B0604020202020204" charset="0"/>
                <a:hlinkClick r:id="rId9"/>
              </a:rPr>
              <a:t>https://www.propublica.org/article/nike-layoffs-sustainability-climate-change</a:t>
            </a:r>
            <a:r>
              <a:rPr lang="en-GB" sz="1600" dirty="0">
                <a:latin typeface="Ruda" panose="020B0604020202020204" charset="0"/>
              </a:rPr>
              <a:t> </a:t>
            </a:r>
          </a:p>
          <a:p>
            <a:r>
              <a:rPr lang="en-GB" sz="1600" dirty="0">
                <a:latin typeface="Ruda" panose="020B0604020202020204" charset="0"/>
              </a:rPr>
              <a:t>Qu, H. (2025) </a:t>
            </a:r>
            <a:r>
              <a:rPr lang="en-GB" sz="1600" i="1" dirty="0">
                <a:latin typeface="Ruda" panose="020B0604020202020204" charset="0"/>
              </a:rPr>
              <a:t>MGT3173 Lecture 01 – Introduction to this module</a:t>
            </a:r>
            <a:r>
              <a:rPr lang="en-GB" sz="1600" dirty="0">
                <a:latin typeface="Ruda" panose="020B0604020202020204" charset="0"/>
              </a:rPr>
              <a:t>. Middlesex University London.</a:t>
            </a:r>
          </a:p>
          <a:p>
            <a:r>
              <a:rPr lang="en-US" sz="1600" dirty="0">
                <a:latin typeface="Ruda" panose="020B0604020202020204" charset="0"/>
              </a:rPr>
              <a:t>Qu, H. (2025) </a:t>
            </a:r>
            <a:r>
              <a:rPr lang="en-US" sz="1600" i="1" dirty="0">
                <a:latin typeface="Ruda" panose="020B0604020202020204" charset="0"/>
              </a:rPr>
              <a:t>MGT3173 Lecture 02 – Macro environment</a:t>
            </a:r>
            <a:r>
              <a:rPr lang="en-US" sz="1600" dirty="0">
                <a:latin typeface="Ruda" panose="020B0604020202020204" charset="0"/>
              </a:rPr>
              <a:t>. Middlesex University London.</a:t>
            </a:r>
          </a:p>
          <a:p>
            <a:r>
              <a:rPr lang="en-GB" sz="1600" dirty="0">
                <a:latin typeface="Ruda" panose="020B0604020202020204" charset="0"/>
              </a:rPr>
              <a:t>Qu, H. (2025) </a:t>
            </a:r>
            <a:r>
              <a:rPr lang="en-GB" sz="1600" i="1" dirty="0">
                <a:latin typeface="Ruda" panose="020B0604020202020204" charset="0"/>
              </a:rPr>
              <a:t>MGT3173 Lecture 04 – Industry analysis I</a:t>
            </a:r>
            <a:r>
              <a:rPr lang="en-GB" sz="1600" dirty="0">
                <a:latin typeface="Ruda" panose="020B0604020202020204" charset="0"/>
              </a:rPr>
              <a:t>. Middlesex University London.</a:t>
            </a:r>
          </a:p>
          <a:p>
            <a:r>
              <a:rPr lang="en-GB" sz="1600" dirty="0">
                <a:latin typeface="Ruda" panose="020B0604020202020204" charset="0"/>
              </a:rPr>
              <a:t>Qu, H. (2025) </a:t>
            </a:r>
            <a:r>
              <a:rPr lang="en-GB" sz="1600" i="1" dirty="0">
                <a:latin typeface="Ruda" panose="020B0604020202020204" charset="0"/>
              </a:rPr>
              <a:t>MGT3173 Lecture 05 – Industry analysis II: Five Forces</a:t>
            </a:r>
            <a:r>
              <a:rPr lang="en-GB" sz="1600" dirty="0">
                <a:latin typeface="Ruda" panose="020B0604020202020204" charset="0"/>
              </a:rPr>
              <a:t>. Middlesex University London.</a:t>
            </a:r>
          </a:p>
          <a:p>
            <a:r>
              <a:rPr lang="en-GB" sz="1600" dirty="0">
                <a:latin typeface="Ruda" panose="020B0604020202020204" charset="0"/>
              </a:rPr>
              <a:t>Qu, H. (2025) </a:t>
            </a:r>
            <a:r>
              <a:rPr lang="en-GB" sz="1600" i="1" dirty="0">
                <a:latin typeface="Ruda" panose="020B0604020202020204" charset="0"/>
              </a:rPr>
              <a:t>MGT3173 Lecture 06 – Strategic groups and industry dynamics</a:t>
            </a:r>
            <a:r>
              <a:rPr lang="en-GB" sz="1600" dirty="0">
                <a:latin typeface="Ruda" panose="020B0604020202020204" charset="0"/>
              </a:rPr>
              <a:t>. Middlesex University London.</a:t>
            </a:r>
          </a:p>
          <a:p>
            <a:r>
              <a:rPr lang="en-GB" sz="1600" dirty="0">
                <a:latin typeface="Ruda" panose="020B0604020202020204" charset="0"/>
              </a:rPr>
              <a:t>Qu, H. (2025) </a:t>
            </a:r>
            <a:r>
              <a:rPr lang="en-GB" sz="1600" i="1" dirty="0">
                <a:latin typeface="Ruda" panose="020B0604020202020204" charset="0"/>
              </a:rPr>
              <a:t>MGT3173 Lecture 07 – Blue Ocean Strategy: Strategic Canvas</a:t>
            </a:r>
            <a:r>
              <a:rPr lang="en-GB" sz="1600" dirty="0">
                <a:latin typeface="Ruda" panose="020B0604020202020204" charset="0"/>
              </a:rPr>
              <a:t>. Middlesex University London.</a:t>
            </a:r>
          </a:p>
          <a:p>
            <a:r>
              <a:rPr lang="en-GB" sz="1600" dirty="0">
                <a:latin typeface="Ruda" panose="020B0604020202020204" charset="0"/>
              </a:rPr>
              <a:t>Qu, H. (2025) </a:t>
            </a:r>
            <a:r>
              <a:rPr lang="en-GB" sz="1600" i="1" dirty="0">
                <a:latin typeface="Ruda" panose="020B0604020202020204" charset="0"/>
              </a:rPr>
              <a:t>MGT3173 Lecture 08 – Resources and capabilities</a:t>
            </a:r>
            <a:r>
              <a:rPr lang="en-GB" sz="1600" dirty="0">
                <a:latin typeface="Ruda" panose="020B0604020202020204" charset="0"/>
              </a:rPr>
              <a:t>. Middlesex University London.</a:t>
            </a:r>
          </a:p>
          <a:p>
            <a:pPr algn="just">
              <a:lnSpc>
                <a:spcPts val="2372"/>
              </a:lnSpc>
            </a:pPr>
            <a:r>
              <a:rPr lang="en-GB" sz="1600" dirty="0" err="1">
                <a:latin typeface="Ruda" panose="020B0604020202020204" charset="0"/>
              </a:rPr>
              <a:t>Shahmm</a:t>
            </a:r>
            <a:r>
              <a:rPr lang="en-GB" sz="1600" dirty="0">
                <a:latin typeface="Ruda" panose="020B0604020202020204" charset="0"/>
              </a:rPr>
              <a:t> (2025) </a:t>
            </a:r>
            <a:r>
              <a:rPr lang="en-GB" sz="1600" i="1" dirty="0">
                <a:latin typeface="Ruda" panose="020B0604020202020204" charset="0"/>
              </a:rPr>
              <a:t>Nike’s strategic missteps: Lessons from a giant’s stumble (2017–2025)</a:t>
            </a:r>
            <a:r>
              <a:rPr lang="en-GB" sz="1600" dirty="0">
                <a:latin typeface="Ruda" panose="020B0604020202020204" charset="0"/>
              </a:rPr>
              <a:t>. Available at: </a:t>
            </a:r>
            <a:r>
              <a:rPr lang="en-GB" sz="1600" dirty="0">
                <a:latin typeface="Ruda" panose="020B0604020202020204" charset="0"/>
                <a:hlinkClick r:id="rId10"/>
              </a:rPr>
              <a:t>https://shahmm.medium.com/nikes-strategic-missteps-lessons-from-a-giant-s-stumble-2017-2025-04c2e45065b8</a:t>
            </a:r>
            <a:r>
              <a:rPr lang="en-GB" sz="1600" dirty="0">
                <a:latin typeface="Ruda" panose="020B0604020202020204" charset="0"/>
              </a:rPr>
              <a:t> .</a:t>
            </a:r>
          </a:p>
          <a:p>
            <a:pPr algn="just">
              <a:lnSpc>
                <a:spcPts val="2372"/>
              </a:lnSpc>
            </a:pPr>
            <a:r>
              <a:rPr lang="en-GB" sz="1600" dirty="0">
                <a:latin typeface="Ruda" panose="020B0604020202020204" charset="0"/>
              </a:rPr>
              <a:t>Statista (2025) </a:t>
            </a:r>
            <a:r>
              <a:rPr lang="en-GB" sz="1600" i="1" dirty="0">
                <a:latin typeface="Ruda" panose="020B0604020202020204" charset="0"/>
              </a:rPr>
              <a:t>Apparel – United Kingdom</a:t>
            </a:r>
            <a:r>
              <a:rPr lang="en-GB" sz="1600" dirty="0">
                <a:latin typeface="Ruda" panose="020B0604020202020204" charset="0"/>
              </a:rPr>
              <a:t>. Available at: </a:t>
            </a:r>
            <a:r>
              <a:rPr lang="en-GB" sz="1600" dirty="0">
                <a:latin typeface="Ruda" panose="020B0604020202020204" charset="0"/>
                <a:hlinkClick r:id="rId11"/>
              </a:rPr>
              <a:t>https://www.statista.com/outlook/cmo/apparel/united-kingdom</a:t>
            </a:r>
            <a:r>
              <a:rPr lang="en-GB" sz="1600" dirty="0">
                <a:latin typeface="Ruda" panose="020B0604020202020204" charset="0"/>
              </a:rPr>
              <a:t> </a:t>
            </a:r>
          </a:p>
          <a:p>
            <a:pPr algn="just">
              <a:lnSpc>
                <a:spcPts val="2372"/>
              </a:lnSpc>
            </a:pPr>
            <a:r>
              <a:rPr lang="en-GB" sz="1600" dirty="0">
                <a:latin typeface="Ruda" panose="020B0604020202020204" charset="0"/>
              </a:rPr>
              <a:t>Sustainability Magazine (2024) </a:t>
            </a:r>
            <a:r>
              <a:rPr lang="en-GB" sz="1600" i="1" dirty="0">
                <a:latin typeface="Ruda" panose="020B0604020202020204" charset="0"/>
              </a:rPr>
              <a:t>Tackling climate change in sport</a:t>
            </a:r>
            <a:r>
              <a:rPr lang="en-GB" sz="1600" dirty="0">
                <a:latin typeface="Ruda" panose="020B0604020202020204" charset="0"/>
              </a:rPr>
              <a:t>. Available at: </a:t>
            </a:r>
            <a:r>
              <a:rPr lang="en-GB" sz="1600" dirty="0">
                <a:latin typeface="Ruda" panose="020B0604020202020204" charset="0"/>
                <a:hlinkClick r:id="rId12"/>
              </a:rPr>
              <a:t>https://sustainabilitymag.com/news/tackling-climate-change-in-sport-nikes-sustainable-impact</a:t>
            </a:r>
            <a:r>
              <a:rPr lang="en-GB" sz="1600" dirty="0">
                <a:latin typeface="Ruda" panose="020B0604020202020204" charset="0"/>
              </a:rPr>
              <a:t> </a:t>
            </a:r>
          </a:p>
          <a:p>
            <a:pPr algn="just">
              <a:lnSpc>
                <a:spcPts val="2372"/>
              </a:lnSpc>
            </a:pPr>
            <a:r>
              <a:rPr lang="en-GB" sz="1600" dirty="0">
                <a:latin typeface="Ruda" panose="020B0604020202020204" charset="0"/>
              </a:rPr>
              <a:t>Tutor2u (2024) </a:t>
            </a:r>
            <a:r>
              <a:rPr lang="en-GB" sz="1600" i="1" dirty="0">
                <a:latin typeface="Ruda" panose="020B0604020202020204" charset="0"/>
              </a:rPr>
              <a:t>Economics of market power – Nike’s market dominance</a:t>
            </a:r>
            <a:r>
              <a:rPr lang="en-GB" sz="1600" dirty="0">
                <a:latin typeface="Ruda" panose="020B0604020202020204" charset="0"/>
              </a:rPr>
              <a:t>. Available at: </a:t>
            </a:r>
            <a:r>
              <a:rPr lang="en-GB" sz="1600" dirty="0">
                <a:latin typeface="Ruda" panose="020B0604020202020204" charset="0"/>
                <a:hlinkClick r:id="rId13"/>
              </a:rPr>
              <a:t>https://www.tutor2u.net/economics/reference/economic-factors-giving-market-power-to-nike-in-the-sports-apparel-industry</a:t>
            </a:r>
            <a:r>
              <a:rPr lang="en-GB" sz="1600" dirty="0">
                <a:latin typeface="Ruda" panose="020B0604020202020204" charset="0"/>
              </a:rPr>
              <a:t> </a:t>
            </a:r>
          </a:p>
          <a:p>
            <a:pPr algn="just">
              <a:lnSpc>
                <a:spcPts val="2372"/>
              </a:lnSpc>
            </a:pPr>
            <a:r>
              <a:rPr lang="en-US" sz="1600" dirty="0">
                <a:latin typeface="Ruda" panose="020B0604020202020204" charset="0"/>
              </a:rPr>
              <a:t>UKessays.com (2015) </a:t>
            </a:r>
            <a:r>
              <a:rPr lang="en-US" sz="1600" i="1" dirty="0">
                <a:latin typeface="Ruda" panose="020B0604020202020204" charset="0"/>
              </a:rPr>
              <a:t>Porter’s Five Forces Analysis for Nike</a:t>
            </a:r>
            <a:r>
              <a:rPr lang="en-US" sz="1600" dirty="0">
                <a:latin typeface="Ruda" panose="020B0604020202020204" charset="0"/>
              </a:rPr>
              <a:t>. Available at: </a:t>
            </a:r>
            <a:r>
              <a:rPr lang="en-US" sz="1600" dirty="0">
                <a:latin typeface="Ruda" panose="020B0604020202020204" charset="0"/>
                <a:hlinkClick r:id="rId14"/>
              </a:rPr>
              <a:t>https://www.ukessays.com/essays/marketing/porters-five-forces-analysis-for-nike.php</a:t>
            </a:r>
            <a:r>
              <a:rPr lang="en-US" sz="1600" dirty="0">
                <a:latin typeface="Ruda" panose="020B0604020202020204" charset="0"/>
              </a:rPr>
              <a:t> </a:t>
            </a:r>
          </a:p>
          <a:p>
            <a:pPr algn="just">
              <a:lnSpc>
                <a:spcPts val="2372"/>
              </a:lnSpc>
            </a:pPr>
            <a:r>
              <a:rPr lang="en-GB" sz="1600" dirty="0" err="1">
                <a:latin typeface="Ruda" panose="020B0604020202020204" charset="0"/>
              </a:rPr>
              <a:t>Ouahchi</a:t>
            </a:r>
            <a:r>
              <a:rPr lang="en-GB" sz="1600" dirty="0">
                <a:latin typeface="Ruda" panose="020B0604020202020204" charset="0"/>
              </a:rPr>
              <a:t>, A., &amp; </a:t>
            </a:r>
            <a:r>
              <a:rPr lang="en-GB" sz="1600" dirty="0" err="1">
                <a:latin typeface="Ruda" panose="020B0604020202020204" charset="0"/>
              </a:rPr>
              <a:t>Chouchane</a:t>
            </a:r>
            <a:r>
              <a:rPr lang="en-GB" sz="1600" dirty="0">
                <a:latin typeface="Ruda" panose="020B0604020202020204" charset="0"/>
              </a:rPr>
              <a:t>, S. (2025). </a:t>
            </a:r>
            <a:r>
              <a:rPr lang="en-GB" sz="1600" i="1" dirty="0">
                <a:latin typeface="Ruda" panose="020B0604020202020204" charset="0"/>
              </a:rPr>
              <a:t>The impact of digital marketing strategies on customer loyalty: A case study of Nike</a:t>
            </a:r>
            <a:r>
              <a:rPr lang="en-GB" sz="1600" dirty="0">
                <a:latin typeface="Ruda" panose="020B0604020202020204" charset="0"/>
              </a:rPr>
              <a:t>. </a:t>
            </a:r>
            <a:r>
              <a:rPr lang="en-GB" sz="1600" i="1" dirty="0">
                <a:latin typeface="Ruda" panose="020B0604020202020204" charset="0"/>
              </a:rPr>
              <a:t>Journal of Informatics Education and Research, 5</a:t>
            </a:r>
            <a:r>
              <a:rPr lang="en-GB" sz="1600" dirty="0">
                <a:latin typeface="Ruda" panose="020B0604020202020204" charset="0"/>
              </a:rPr>
              <a:t>(3). </a:t>
            </a:r>
            <a:r>
              <a:rPr lang="en-GB" sz="1600" dirty="0">
                <a:latin typeface="Ruda" panose="020B0604020202020204" charset="0"/>
                <a:hlinkClick r:id="rId15"/>
              </a:rPr>
              <a:t>https://jier.org/index.php/journal/article/view/3788</a:t>
            </a:r>
            <a:endParaRPr lang="en-GB" sz="1600" dirty="0">
              <a:latin typeface="Ruda" panose="020B0604020202020204" charset="0"/>
            </a:endParaRPr>
          </a:p>
          <a:p>
            <a:pPr algn="just">
              <a:lnSpc>
                <a:spcPts val="2372"/>
              </a:lnSpc>
            </a:pPr>
            <a:r>
              <a:rPr lang="en-GB" sz="1600" dirty="0">
                <a:latin typeface="Ruda" panose="020B0604020202020204" charset="0"/>
              </a:rPr>
              <a:t>Nike, Inc. (2021). Form 10-K annual report (Fiscal year ended May 31, 2021). </a:t>
            </a:r>
            <a:r>
              <a:rPr lang="en-GB" sz="1600" dirty="0">
                <a:latin typeface="Ruda" panose="020B0604020202020204" charset="0"/>
                <a:hlinkClick r:id="rId16"/>
              </a:rPr>
              <a:t>https://www.sec.gov/Archives/edgar/data/320187/000032018721000028/nke-20210531.htm</a:t>
            </a:r>
            <a:endParaRPr lang="en-GB" sz="1600" dirty="0">
              <a:latin typeface="Ruda" panose="020B0604020202020204" charset="0"/>
            </a:endParaRPr>
          </a:p>
          <a:p>
            <a:pPr algn="just">
              <a:lnSpc>
                <a:spcPts val="2372"/>
              </a:lnSpc>
            </a:pPr>
            <a:r>
              <a:rPr lang="en-GB" sz="1600" dirty="0" err="1">
                <a:latin typeface="Ruda" panose="020B0604020202020204" charset="0"/>
              </a:rPr>
              <a:t>Germano</a:t>
            </a:r>
            <a:r>
              <a:rPr lang="en-GB" sz="1600" dirty="0">
                <a:latin typeface="Ruda" panose="020B0604020202020204" charset="0"/>
              </a:rPr>
              <a:t>, S. (2024) ‘Nike withdraws full-year guidance ahead of CEO transition’, </a:t>
            </a:r>
            <a:r>
              <a:rPr lang="en-GB" sz="1600" i="1" dirty="0">
                <a:latin typeface="Ruda" panose="020B0604020202020204" charset="0"/>
              </a:rPr>
              <a:t>Financial Times</a:t>
            </a:r>
            <a:r>
              <a:rPr lang="en-GB" sz="1600" dirty="0">
                <a:latin typeface="Ruda" panose="020B0604020202020204" charset="0"/>
              </a:rPr>
              <a:t>, 1 October. Available at: </a:t>
            </a:r>
            <a:r>
              <a:rPr lang="en-GB" sz="1600" dirty="0">
                <a:latin typeface="Ruda" panose="020B0604020202020204" charset="0"/>
                <a:hlinkClick r:id="rId17"/>
              </a:rPr>
              <a:t>https://www.ft.com/content/94ff6b35-c9be-48e9-88a9-81a3b452033c</a:t>
            </a:r>
            <a:r>
              <a:rPr lang="en-GB" sz="1600" dirty="0">
                <a:latin typeface="Ruda" panose="020B0604020202020204" charset="0"/>
              </a:rPr>
              <a:t> (Accessed: 9 December 2025). </a:t>
            </a:r>
          </a:p>
          <a:p>
            <a:pPr algn="just">
              <a:lnSpc>
                <a:spcPts val="2372"/>
              </a:lnSpc>
            </a:pPr>
            <a:r>
              <a:rPr lang="en-GB" sz="1600" dirty="0">
                <a:latin typeface="Ruda" panose="020B0604020202020204" charset="0"/>
              </a:rPr>
              <a:t>MarketLine (2025) </a:t>
            </a:r>
            <a:r>
              <a:rPr lang="en-GB" sz="1600" i="1" dirty="0">
                <a:latin typeface="Ruda" panose="020B0604020202020204" charset="0"/>
              </a:rPr>
              <a:t>MarketLine Company Profile: Nike Inc</a:t>
            </a:r>
            <a:r>
              <a:rPr lang="en-GB" sz="1600" dirty="0">
                <a:latin typeface="Ruda" panose="020B0604020202020204" charset="0"/>
              </a:rPr>
              <a:t>. Available at: </a:t>
            </a:r>
            <a:r>
              <a:rPr lang="en-GB" sz="1600" dirty="0">
                <a:latin typeface="Ruda" panose="020B0604020202020204" charset="0"/>
                <a:hlinkClick r:id="rId18"/>
              </a:rPr>
              <a:t>https://search.ebscohost.com</a:t>
            </a:r>
            <a:r>
              <a:rPr lang="en-GB" sz="1600" dirty="0">
                <a:latin typeface="Ruda" panose="020B0604020202020204" charset="0"/>
              </a:rPr>
              <a:t> (Accessed: 9 December 2025).</a:t>
            </a:r>
          </a:p>
          <a:p>
            <a:pPr algn="just">
              <a:lnSpc>
                <a:spcPts val="2372"/>
              </a:lnSpc>
            </a:pPr>
            <a:r>
              <a:rPr lang="en-GB" sz="1600" dirty="0">
                <a:latin typeface="Ruda" panose="020B0604020202020204" charset="0"/>
              </a:rPr>
              <a:t>MarketLine (2024) </a:t>
            </a:r>
            <a:r>
              <a:rPr lang="en-GB" sz="1600" i="1" dirty="0">
                <a:latin typeface="Ruda" panose="020B0604020202020204" charset="0"/>
              </a:rPr>
              <a:t>MarketLine Industry Profile: Apparel Retail in China</a:t>
            </a:r>
            <a:r>
              <a:rPr lang="en-GB" sz="1600" dirty="0">
                <a:latin typeface="Ruda" panose="020B0604020202020204" charset="0"/>
              </a:rPr>
              <a:t>. Available at: </a:t>
            </a:r>
            <a:r>
              <a:rPr lang="en-GB" sz="1600" dirty="0">
                <a:latin typeface="Ruda" panose="020B0604020202020204" charset="0"/>
                <a:hlinkClick r:id="rId18"/>
              </a:rPr>
              <a:t>https://search.ebscohost.com</a:t>
            </a:r>
            <a:r>
              <a:rPr lang="en-GB" sz="1600" dirty="0">
                <a:latin typeface="Ruda" panose="020B0604020202020204" charset="0"/>
              </a:rPr>
              <a:t> (Accessed: 9 December 2025).</a:t>
            </a:r>
          </a:p>
          <a:p>
            <a:pPr algn="just">
              <a:lnSpc>
                <a:spcPts val="2372"/>
              </a:lnSpc>
            </a:pPr>
            <a:r>
              <a:rPr lang="en-GB" sz="1600" dirty="0">
                <a:latin typeface="Ruda" panose="020B0604020202020204" charset="0"/>
              </a:rPr>
              <a:t>IBISWorld (2025) </a:t>
            </a:r>
            <a:r>
              <a:rPr lang="en-GB" sz="1600" i="1" dirty="0">
                <a:latin typeface="Ruda" panose="020B0604020202020204" charset="0"/>
              </a:rPr>
              <a:t>Global Footwear Manufacturing</a:t>
            </a:r>
            <a:r>
              <a:rPr lang="en-GB" sz="1600" dirty="0">
                <a:latin typeface="Ruda" panose="020B0604020202020204" charset="0"/>
              </a:rPr>
              <a:t>. Available at: </a:t>
            </a:r>
            <a:r>
              <a:rPr lang="en-GB" sz="1600" dirty="0">
                <a:latin typeface="Ruda" panose="020B0604020202020204" charset="0"/>
                <a:hlinkClick r:id="rId19"/>
              </a:rPr>
              <a:t>https://my-ibisworld-com.ezproxy.mdx.ac.uk</a:t>
            </a:r>
            <a:r>
              <a:rPr lang="en-GB" sz="1600" dirty="0">
                <a:latin typeface="Ruda" panose="020B0604020202020204" charset="0"/>
              </a:rPr>
              <a:t> (Accessed: 9 December 2025). </a:t>
            </a:r>
          </a:p>
          <a:p>
            <a:pPr algn="just">
              <a:lnSpc>
                <a:spcPts val="2372"/>
              </a:lnSpc>
            </a:pPr>
            <a:r>
              <a:rPr lang="en-GB" sz="1600" dirty="0">
                <a:latin typeface="Ruda" panose="020B0604020202020204" charset="0"/>
              </a:rPr>
              <a:t>Mintel Academic (2025) </a:t>
            </a:r>
            <a:r>
              <a:rPr lang="en-GB" sz="1600" i="1" dirty="0">
                <a:latin typeface="Ruda" panose="020B0604020202020204" charset="0"/>
              </a:rPr>
              <a:t>The Chinese Consumer: Cultivating Value – China – 2025</a:t>
            </a:r>
            <a:r>
              <a:rPr lang="en-GB" sz="1600" dirty="0">
                <a:latin typeface="Ruda" panose="020B0604020202020204" charset="0"/>
              </a:rPr>
              <a:t>. Available at: </a:t>
            </a:r>
            <a:r>
              <a:rPr lang="en-GB" sz="1600" dirty="0">
                <a:latin typeface="Ruda" panose="020B0604020202020204" charset="0"/>
                <a:hlinkClick r:id="rId20"/>
              </a:rPr>
              <a:t>https://clients.mintel.com/</a:t>
            </a:r>
            <a:r>
              <a:rPr lang="en-GB" sz="1600" dirty="0">
                <a:latin typeface="Ruda" panose="020B0604020202020204" charset="0"/>
              </a:rPr>
              <a:t> (Accessed: 7 October 2025).</a:t>
            </a:r>
          </a:p>
          <a:p>
            <a:pPr algn="just">
              <a:lnSpc>
                <a:spcPts val="2372"/>
              </a:lnSpc>
            </a:pPr>
            <a:r>
              <a:rPr lang="en-GB" sz="1600" dirty="0">
                <a:latin typeface="Ruda" panose="020B0604020202020204" charset="0"/>
              </a:rPr>
              <a:t>Euromonitor International (2025) </a:t>
            </a:r>
            <a:r>
              <a:rPr lang="en-GB" sz="1600" i="1" dirty="0">
                <a:latin typeface="Ruda" panose="020B0604020202020204" charset="0"/>
              </a:rPr>
              <a:t>Nike in Apparel and Footwear (World)</a:t>
            </a:r>
            <a:r>
              <a:rPr lang="en-GB" sz="1600" dirty="0">
                <a:latin typeface="Ruda" panose="020B0604020202020204" charset="0"/>
              </a:rPr>
              <a:t>. Available at: </a:t>
            </a:r>
            <a:r>
              <a:rPr lang="en-GB" sz="1600" dirty="0">
                <a:latin typeface="Ruda" panose="020B0604020202020204" charset="0"/>
                <a:hlinkClick r:id="rId21"/>
              </a:rPr>
              <a:t>https://www-portal-euromonitor-com.ezproxy.mdx.ac.uk</a:t>
            </a:r>
            <a:r>
              <a:rPr lang="en-GB" sz="1600" dirty="0">
                <a:latin typeface="Ruda" panose="020B0604020202020204" charset="0"/>
              </a:rPr>
              <a:t> (Accessed: 7 October 2025). </a:t>
            </a:r>
          </a:p>
          <a:p>
            <a:pPr algn="just">
              <a:lnSpc>
                <a:spcPts val="2372"/>
              </a:lnSpc>
            </a:pPr>
            <a:r>
              <a:rPr lang="en-GB" sz="1600" dirty="0">
                <a:latin typeface="Ruda" panose="020B0604020202020204" charset="0"/>
              </a:rPr>
              <a:t>Euromonitor International (2024) </a:t>
            </a:r>
            <a:r>
              <a:rPr lang="en-GB" sz="1600" i="1" dirty="0">
                <a:latin typeface="Ruda" panose="020B0604020202020204" charset="0"/>
              </a:rPr>
              <a:t>Sportswear in China</a:t>
            </a:r>
            <a:r>
              <a:rPr lang="en-GB" sz="1600" dirty="0">
                <a:latin typeface="Ruda" panose="020B0604020202020204" charset="0"/>
              </a:rPr>
              <a:t>. Available at: </a:t>
            </a:r>
            <a:r>
              <a:rPr lang="en-GB" sz="1600" dirty="0">
                <a:latin typeface="Ruda" panose="020B0604020202020204" charset="0"/>
                <a:hlinkClick r:id="rId21"/>
              </a:rPr>
              <a:t>https://www-portal-euromonitor-com.ezproxy.mdx.ac.uk</a:t>
            </a:r>
            <a:r>
              <a:rPr lang="en-GB" sz="1600" dirty="0">
                <a:latin typeface="Ruda" panose="020B0604020202020204" charset="0"/>
              </a:rPr>
              <a:t> (Accessed: 7 October 2025).</a:t>
            </a:r>
          </a:p>
          <a:p>
            <a:pPr algn="just">
              <a:lnSpc>
                <a:spcPts val="2372"/>
              </a:lnSpc>
            </a:pPr>
            <a:r>
              <a:rPr lang="en-GB" sz="1600" dirty="0">
                <a:latin typeface="Ruda" panose="020B0604020202020204" charset="0"/>
              </a:rPr>
              <a:t>Nike, Inc. (2021). Annual report on Form 10-K for the fiscal year ended May 31, 2021. Retrieved December 9. </a:t>
            </a:r>
            <a:r>
              <a:rPr lang="en-GB" sz="1600" dirty="0">
                <a:latin typeface="Ruda" panose="020B0604020202020204" charset="0"/>
                <a:hlinkClick r:id="rId22"/>
              </a:rPr>
              <a:t>https://s1.q4cdn.com/806093406/files/doc_downloads/2021/08/Nike10k2021.pdf</a:t>
            </a:r>
            <a:endParaRPr lang="en-GB" sz="1600" dirty="0">
              <a:latin typeface="Ruda" panose="020B06040202020202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03779">
            <a:off x="855588" y="-4120529"/>
            <a:ext cx="8129674" cy="13310349"/>
          </a:xfrm>
          <a:custGeom>
            <a:avLst/>
            <a:gdLst/>
            <a:ahLst/>
            <a:cxnLst/>
            <a:rect l="l" t="t" r="r" b="b"/>
            <a:pathLst>
              <a:path w="8129674" h="13310349">
                <a:moveTo>
                  <a:pt x="0" y="0"/>
                </a:moveTo>
                <a:lnTo>
                  <a:pt x="8129674" y="0"/>
                </a:lnTo>
                <a:lnTo>
                  <a:pt x="8129674" y="13310349"/>
                </a:lnTo>
                <a:lnTo>
                  <a:pt x="0" y="133103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699461" flipH="1">
            <a:off x="-1041221" y="3544251"/>
            <a:ext cx="21692532" cy="9002401"/>
          </a:xfrm>
          <a:custGeom>
            <a:avLst/>
            <a:gdLst/>
            <a:ahLst/>
            <a:cxnLst/>
            <a:rect l="l" t="t" r="r" b="b"/>
            <a:pathLst>
              <a:path w="21692532" h="9002401">
                <a:moveTo>
                  <a:pt x="21692532" y="0"/>
                </a:moveTo>
                <a:lnTo>
                  <a:pt x="0" y="0"/>
                </a:lnTo>
                <a:lnTo>
                  <a:pt x="0" y="9002401"/>
                </a:lnTo>
                <a:lnTo>
                  <a:pt x="21692532" y="9002401"/>
                </a:lnTo>
                <a:lnTo>
                  <a:pt x="216925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70664" y="6562012"/>
            <a:ext cx="4044675" cy="3234922"/>
          </a:xfrm>
          <a:custGeom>
            <a:avLst/>
            <a:gdLst/>
            <a:ahLst/>
            <a:cxnLst/>
            <a:rect l="l" t="t" r="r" b="b"/>
            <a:pathLst>
              <a:path w="4044675" h="3234922">
                <a:moveTo>
                  <a:pt x="0" y="0"/>
                </a:moveTo>
                <a:lnTo>
                  <a:pt x="4044674" y="0"/>
                </a:lnTo>
                <a:lnTo>
                  <a:pt x="4044674" y="3234922"/>
                </a:lnTo>
                <a:lnTo>
                  <a:pt x="0" y="32349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21237" y="1611038"/>
            <a:ext cx="1162066" cy="1847215"/>
          </a:xfrm>
          <a:custGeom>
            <a:avLst/>
            <a:gdLst/>
            <a:ahLst/>
            <a:cxnLst/>
            <a:rect l="l" t="t" r="r" b="b"/>
            <a:pathLst>
              <a:path w="1162066" h="1847215">
                <a:moveTo>
                  <a:pt x="0" y="0"/>
                </a:moveTo>
                <a:lnTo>
                  <a:pt x="1162066" y="0"/>
                </a:lnTo>
                <a:lnTo>
                  <a:pt x="1162066" y="1847215"/>
                </a:lnTo>
                <a:lnTo>
                  <a:pt x="0" y="184721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6644289" y="757292"/>
            <a:ext cx="10272111" cy="5376808"/>
          </a:xfrm>
          <a:custGeom>
            <a:avLst/>
            <a:gdLst/>
            <a:ahLst/>
            <a:cxnLst/>
            <a:rect l="l" t="t" r="r" b="b"/>
            <a:pathLst>
              <a:path w="10272111" h="5376808">
                <a:moveTo>
                  <a:pt x="0" y="0"/>
                </a:moveTo>
                <a:lnTo>
                  <a:pt x="10272111" y="0"/>
                </a:lnTo>
                <a:lnTo>
                  <a:pt x="10272111" y="5376808"/>
                </a:lnTo>
                <a:lnTo>
                  <a:pt x="0" y="5376808"/>
                </a:lnTo>
                <a:lnTo>
                  <a:pt x="0" y="0"/>
                </a:lnTo>
                <a:close/>
              </a:path>
            </a:pathLst>
          </a:custGeom>
          <a:blipFill>
            <a:blip r:embed="rId10">
              <a:alphaModFix amt="81000"/>
            </a:blip>
            <a:stretch>
              <a:fillRect/>
            </a:stretch>
          </a:blipFill>
        </p:spPr>
      </p:sp>
      <p:sp>
        <p:nvSpPr>
          <p:cNvPr id="7" name="TextBox 7"/>
          <p:cNvSpPr txBox="1"/>
          <p:nvPr/>
        </p:nvSpPr>
        <p:spPr>
          <a:xfrm>
            <a:off x="3293272" y="7482229"/>
            <a:ext cx="8228699" cy="1767992"/>
          </a:xfrm>
          <a:prstGeom prst="rect">
            <a:avLst/>
          </a:prstGeom>
        </p:spPr>
        <p:txBody>
          <a:bodyPr lIns="0" tIns="0" rIns="0" bIns="0" rtlCol="0" anchor="t">
            <a:spAutoFit/>
          </a:bodyPr>
          <a:lstStyle/>
          <a:p>
            <a:pPr algn="l">
              <a:lnSpc>
                <a:spcPts val="14593"/>
              </a:lnSpc>
              <a:spcBef>
                <a:spcPct val="0"/>
              </a:spcBef>
            </a:pPr>
            <a:r>
              <a:rPr lang="en-US" sz="10424" b="1" dirty="0">
                <a:solidFill>
                  <a:srgbClr val="FFFFFF"/>
                </a:solidFill>
                <a:latin typeface="Ruda Bold"/>
                <a:ea typeface="Ruda Bold"/>
                <a:cs typeface="Ruda Bold"/>
                <a:sym typeface="Ruda Bold"/>
              </a:rPr>
              <a:t>Thank You</a:t>
            </a:r>
          </a:p>
        </p:txBody>
      </p:sp>
      <p:sp>
        <p:nvSpPr>
          <p:cNvPr id="8" name="TextBox 8"/>
          <p:cNvSpPr txBox="1"/>
          <p:nvPr/>
        </p:nvSpPr>
        <p:spPr>
          <a:xfrm>
            <a:off x="2006850" y="1844486"/>
            <a:ext cx="3405921" cy="1418418"/>
          </a:xfrm>
          <a:prstGeom prst="rect">
            <a:avLst/>
          </a:prstGeom>
        </p:spPr>
        <p:txBody>
          <a:bodyPr lIns="0" tIns="0" rIns="0" bIns="0" rtlCol="0" anchor="t">
            <a:spAutoFit/>
          </a:bodyPr>
          <a:lstStyle/>
          <a:p>
            <a:pPr algn="just">
              <a:lnSpc>
                <a:spcPts val="5601"/>
              </a:lnSpc>
            </a:pPr>
            <a:r>
              <a:rPr lang="en-US" sz="5046">
                <a:solidFill>
                  <a:srgbClr val="FFFFFF"/>
                </a:solidFill>
                <a:latin typeface="Ruda"/>
                <a:ea typeface="Ruda"/>
                <a:cs typeface="Ruda"/>
                <a:sym typeface="Ruda"/>
              </a:rPr>
              <a:t>NIKE</a:t>
            </a:r>
          </a:p>
          <a:p>
            <a:pPr marL="0" lvl="0" indent="0" algn="just">
              <a:lnSpc>
                <a:spcPts val="5601"/>
              </a:lnSpc>
              <a:spcBef>
                <a:spcPct val="0"/>
              </a:spcBef>
            </a:pPr>
            <a:r>
              <a:rPr lang="en-US" sz="5046">
                <a:solidFill>
                  <a:srgbClr val="FFFFFF"/>
                </a:solidFill>
                <a:latin typeface="Ruda"/>
                <a:ea typeface="Ruda"/>
                <a:cs typeface="Ruda"/>
                <a:sym typeface="Ruda"/>
              </a:rPr>
              <a:t>INC.</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4019</Words>
  <Application>Microsoft Office PowerPoint</Application>
  <PresentationFormat>Custom</PresentationFormat>
  <Paragraphs>350</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Ruda Bold</vt:lpstr>
      <vt:lpstr>Wingdings</vt:lpstr>
      <vt:lpstr>Calibri</vt:lpstr>
      <vt:lpstr>Ruda</vt:lpstr>
      <vt:lpstr>Aptos</vt:lpstr>
      <vt:lpstr>Courier New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Ingoude Company</dc:title>
  <dc:creator>ADMIN</dc:creator>
  <cp:lastModifiedBy>kelvin mwangi</cp:lastModifiedBy>
  <cp:revision>39</cp:revision>
  <dcterms:created xsi:type="dcterms:W3CDTF">2006-08-16T00:00:00Z</dcterms:created>
  <dcterms:modified xsi:type="dcterms:W3CDTF">2025-12-09T05:51:32Z</dcterms:modified>
  <dc:identifier>DAG4xxIrzAE</dc:identifier>
</cp:coreProperties>
</file>