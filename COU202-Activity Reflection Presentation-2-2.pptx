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Purpose: reflection of six tutorial activities.</a:t>
            </a:r>
            <a:endParaRPr/>
          </a:p>
          <a:p>
            <a:pPr indent="0" lvl="0" marL="0" rtl="0" algn="l">
              <a:spcBef>
                <a:spcPts val="0"/>
              </a:spcBef>
              <a:spcAft>
                <a:spcPts val="0"/>
              </a:spcAft>
              <a:buNone/>
            </a:pPr>
            <a:r>
              <a:rPr lang="en-US"/>
              <a:t>Focus on development of counselling skills and reflective practice.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 felt under a lot of pressure when elaborating on confidentiality, especially its legal and ethical boundaries. I experienced a bit of stress of not doing it right, which indicates an internalised conviction that a counsellor needs to be accurate and commanding at all times.</a:t>
            </a:r>
            <a:endParaRPr/>
          </a:p>
          <a:p>
            <a:pPr indent="0" lvl="0" marL="0" rtl="0" algn="l">
              <a:spcBef>
                <a:spcPts val="0"/>
              </a:spcBef>
              <a:spcAft>
                <a:spcPts val="0"/>
              </a:spcAft>
              <a:buNone/>
            </a:pPr>
            <a:r>
              <a:rPr lang="en-US"/>
              <a:t>This response was informed by the social construction of professionalism within which authority figures are supposed to be able to display some form of certainty and control. It is also indicative of a more general assumption that errors in the field of helping professions can be deadly.</a:t>
            </a:r>
            <a:endParaRPr/>
          </a:p>
          <a:p>
            <a:pPr indent="0" lvl="0" marL="0" rtl="0" algn="l">
              <a:spcBef>
                <a:spcPts val="0"/>
              </a:spcBef>
              <a:spcAft>
                <a:spcPts val="0"/>
              </a:spcAft>
              <a:buNone/>
            </a:pPr>
            <a:r>
              <a:rPr lang="en-US"/>
              <a:t>Most importantly, I realised that I was more concerned about pronouncing the information properly instead of making the client safe and understanding. This was a conflict between technical precision and interrelationship (Moon, 2020).</a:t>
            </a:r>
            <a:endParaRPr/>
          </a:p>
          <a:p>
            <a:pPr indent="0" lvl="0" marL="0" rtl="0" algn="l">
              <a:spcBef>
                <a:spcPts val="0"/>
              </a:spcBef>
              <a:spcAft>
                <a:spcPts val="0"/>
              </a:spcAft>
              <a:buNone/>
            </a:pPr>
            <a:r>
              <a:rPr lang="en-US"/>
              <a:t>Out of this, I realized that confidentiality is not merely an ethical provision but a process. In practice, I would strive to express these boundaries in a manner that is clear and emotionally sensitive in order to make sure that the client is informed and supported.</a:t>
            </a:r>
            <a:endParaRPr/>
          </a:p>
        </p:txBody>
      </p:sp>
      <p:sp>
        <p:nvSpPr>
          <p:cNvPr id="99" name="Google Shape;9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In this activity, I was not comfortable to remain silent and I felt a great need to speak, because I equated aiding to speaking.</a:t>
            </a:r>
            <a:endParaRPr/>
          </a:p>
          <a:p>
            <a:pPr indent="0" lvl="0" marL="0" rtl="0" algn="l">
              <a:lnSpc>
                <a:spcPct val="100000"/>
              </a:lnSpc>
              <a:spcBef>
                <a:spcPts val="0"/>
              </a:spcBef>
              <a:spcAft>
                <a:spcPts val="0"/>
              </a:spcAft>
              <a:buSzPts val="1100"/>
              <a:buNone/>
            </a:pPr>
            <a:r>
              <a:rPr lang="en-US"/>
              <a:t>This response was conditioned by social constructions which equate silence to disengagement or incompetence. In most social environments, it is appreciated when people actively contribute to the group rather than being silent and this influenced my unease </a:t>
            </a:r>
            <a:r>
              <a:rPr lang="en-US">
                <a:solidFill>
                  <a:schemeClr val="dk1"/>
                </a:solidFill>
              </a:rPr>
              <a:t>(Department of Health Victoria, 2020).</a:t>
            </a:r>
            <a:endParaRPr/>
          </a:p>
          <a:p>
            <a:pPr indent="0" lvl="0" marL="0" rtl="0" algn="l">
              <a:lnSpc>
                <a:spcPct val="100000"/>
              </a:lnSpc>
              <a:spcBef>
                <a:spcPts val="0"/>
              </a:spcBef>
              <a:spcAft>
                <a:spcPts val="0"/>
              </a:spcAft>
              <a:buSzPts val="1100"/>
              <a:buNone/>
            </a:pPr>
            <a:r>
              <a:rPr lang="en-US"/>
              <a:t>Importantly, I realised that this uncomfortable situation was more about my desire to be effective than the needs of the client. This made me realize that my identity as a helper might disrupt therapeutic presence.</a:t>
            </a:r>
            <a:endParaRPr/>
          </a:p>
          <a:p>
            <a:pPr indent="0" lvl="0" marL="0" rtl="0" algn="l">
              <a:lnSpc>
                <a:spcPct val="100000"/>
              </a:lnSpc>
              <a:spcBef>
                <a:spcPts val="0"/>
              </a:spcBef>
              <a:spcAft>
                <a:spcPts val="0"/>
              </a:spcAft>
              <a:buSzPts val="1100"/>
              <a:buNone/>
            </a:pPr>
            <a:r>
              <a:rPr lang="en-US"/>
              <a:t>I also got to know that silence is a potent counselling instrument that enables clients to work with feelings and own their story. In practice, I will strive to better endure silence and employ it consciously in the future, instead of evading.</a:t>
            </a:r>
            <a:endParaRPr/>
          </a:p>
        </p:txBody>
      </p:sp>
      <p:sp>
        <p:nvSpPr>
          <p:cNvPr id="227" name="Google Shape;227;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In the process of analysis of case notes, I realised the ease with which personal interpretations can affect documentation. I saw a propensity towards making inferences instead of being able to write down what I observed.</a:t>
            </a:r>
            <a:endParaRPr/>
          </a:p>
          <a:p>
            <a:pPr indent="0" lvl="0" marL="0" rtl="0" algn="l">
              <a:spcBef>
                <a:spcPts val="0"/>
              </a:spcBef>
              <a:spcAft>
                <a:spcPts val="0"/>
              </a:spcAft>
              <a:buNone/>
            </a:pPr>
            <a:r>
              <a:rPr lang="en-US"/>
              <a:t>This is a product of social constructions based on individual values, beliefs and past experiences which interpret behaviour.</a:t>
            </a:r>
            <a:endParaRPr/>
          </a:p>
          <a:p>
            <a:pPr indent="0" lvl="0" marL="0" rtl="0" algn="l">
              <a:spcBef>
                <a:spcPts val="0"/>
              </a:spcBef>
              <a:spcAft>
                <a:spcPts val="0"/>
              </a:spcAft>
              <a:buNone/>
            </a:pPr>
            <a:r>
              <a:rPr lang="en-US"/>
              <a:t>Importantly, this underscored the ethical danger of automatic inclusion of unconscious bias into professional documentation which could have an effect on the outcomes of clients and legal responsibility (Psychotherapy and Counselling Federation of Australia, 2026).</a:t>
            </a:r>
            <a:endParaRPr/>
          </a:p>
          <a:p>
            <a:pPr indent="0" lvl="0" marL="0" rtl="0" algn="l">
              <a:spcBef>
                <a:spcPts val="0"/>
              </a:spcBef>
              <a:spcAft>
                <a:spcPts val="0"/>
              </a:spcAft>
              <a:buNone/>
            </a:pPr>
            <a:r>
              <a:rPr lang="en-US"/>
              <a:t>I was taught the necessity to be objective and employ structured formats such as SOAP to make it clear and professional. I would be more conscious of the distinction between observation and interpretation in future practice.</a:t>
            </a:r>
            <a:endParaRPr/>
          </a:p>
        </p:txBody>
      </p:sp>
      <p:sp>
        <p:nvSpPr>
          <p:cNvPr id="128" name="Google Shape;12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I was deeply moved by the bad example of counselling, especially the emotions of being frustrated by the absence of empathy and connection.</a:t>
            </a:r>
            <a:endParaRPr/>
          </a:p>
          <a:p>
            <a:pPr indent="0" lvl="0" marL="0" rtl="0" algn="l">
              <a:lnSpc>
                <a:spcPct val="100000"/>
              </a:lnSpc>
              <a:spcBef>
                <a:spcPts val="0"/>
              </a:spcBef>
              <a:spcAft>
                <a:spcPts val="0"/>
              </a:spcAft>
              <a:buSzPts val="1100"/>
              <a:buNone/>
            </a:pPr>
            <a:r>
              <a:rPr lang="en-US"/>
              <a:t>This reaction was influenced by social constructs of what counselling ought to be like, with the anticipations of warmth, validation, and support.</a:t>
            </a:r>
            <a:endParaRPr/>
          </a:p>
          <a:p>
            <a:pPr indent="0" lvl="0" marL="0" rtl="0" algn="l">
              <a:lnSpc>
                <a:spcPct val="100000"/>
              </a:lnSpc>
              <a:spcBef>
                <a:spcPts val="0"/>
              </a:spcBef>
              <a:spcAft>
                <a:spcPts val="0"/>
              </a:spcAft>
              <a:buSzPts val="1100"/>
              <a:buNone/>
            </a:pPr>
            <a:r>
              <a:rPr lang="en-US"/>
              <a:t>Importantly, I have learned that my personal values affect my assessment of the effectiveness of counselling, and it is not always universal (Australian Institute of Health and Welfare, 2023).</a:t>
            </a:r>
            <a:endParaRPr/>
          </a:p>
          <a:p>
            <a:pPr indent="0" lvl="0" marL="0" rtl="0" algn="l">
              <a:lnSpc>
                <a:spcPct val="100000"/>
              </a:lnSpc>
              <a:spcBef>
                <a:spcPts val="0"/>
              </a:spcBef>
              <a:spcAft>
                <a:spcPts val="0"/>
              </a:spcAft>
              <a:buSzPts val="1100"/>
              <a:buNone/>
            </a:pPr>
            <a:r>
              <a:rPr lang="en-US"/>
              <a:t>The most important thing to learn was that effective counselling is not just a matter of techniques applied, but that it is a matter of showing true presence and being empathetic. Next time I will focus on the relational engagement and technical skills.</a:t>
            </a:r>
            <a:endParaRPr/>
          </a:p>
        </p:txBody>
      </p:sp>
      <p:sp>
        <p:nvSpPr>
          <p:cNvPr id="243" name="Google Shape;243;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 experienced anxiety and self-consciousness being observed by peers during the fishbowl activity, which influenced my confidence.</a:t>
            </a:r>
            <a:endParaRPr/>
          </a:p>
          <a:p>
            <a:pPr indent="0" lvl="0" marL="0" rtl="0" algn="l">
              <a:spcBef>
                <a:spcPts val="0"/>
              </a:spcBef>
              <a:spcAft>
                <a:spcPts val="0"/>
              </a:spcAft>
              <a:buNone/>
            </a:pPr>
            <a:r>
              <a:rPr lang="en-US"/>
              <a:t>This response was affected by social constructions on evaluation and performance whereby watching adds pressure to do things right.</a:t>
            </a:r>
            <a:endParaRPr/>
          </a:p>
          <a:p>
            <a:pPr indent="0" lvl="0" marL="0" rtl="0" algn="l">
              <a:spcBef>
                <a:spcPts val="0"/>
              </a:spcBef>
              <a:spcAft>
                <a:spcPts val="0"/>
              </a:spcAft>
              <a:buNone/>
            </a:pPr>
            <a:r>
              <a:rPr lang="en-US"/>
              <a:t>Importantly enough, I could observe that this pressure diminished my capacity to be fully present with the client as I became more preoccupied with the perception of myself.</a:t>
            </a:r>
            <a:endParaRPr/>
          </a:p>
          <a:p>
            <a:pPr indent="0" lvl="0" marL="0" rtl="0" algn="l">
              <a:spcBef>
                <a:spcPts val="0"/>
              </a:spcBef>
              <a:spcAft>
                <a:spcPts val="0"/>
              </a:spcAft>
              <a:buNone/>
            </a:pPr>
            <a:r>
              <a:rPr lang="en-US"/>
              <a:t>I got to know that in counselling, several skills need to be combined in a real-life situation, and that confidence is built by practising (Headspace Australia, 2021). Next time, I will strive to overcome performance anxiety to be authentic in sessions.</a:t>
            </a:r>
            <a:endParaRPr/>
          </a:p>
        </p:txBody>
      </p:sp>
      <p:sp>
        <p:nvSpPr>
          <p:cNvPr id="162" name="Google Shape;16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During this activity, I experienced a very strong empathy towards Tahlia in terms of her loss of identity and stability after being made redundant.</a:t>
            </a:r>
            <a:endParaRPr/>
          </a:p>
          <a:p>
            <a:pPr indent="0" lvl="0" marL="0" rtl="0" algn="l">
              <a:spcBef>
                <a:spcPts val="0"/>
              </a:spcBef>
              <a:spcAft>
                <a:spcPts val="0"/>
              </a:spcAft>
              <a:buNone/>
            </a:pPr>
            <a:r>
              <a:rPr lang="en-US"/>
              <a:t>This reaction was influenced by social constructs that associate work with individual value, meaning and identity. Furthermore, there are societal discourses in relation to age and employability that can support assumptions regarding discrimination and decreased opportunities (Beyond Blue, 2022).</a:t>
            </a:r>
            <a:endParaRPr/>
          </a:p>
          <a:p>
            <a:pPr indent="0" lvl="0" marL="0" rtl="0" algn="l">
              <a:spcBef>
                <a:spcPts val="0"/>
              </a:spcBef>
              <a:spcAft>
                <a:spcPts val="0"/>
              </a:spcAft>
              <a:buNone/>
            </a:pPr>
            <a:r>
              <a:rPr lang="en-US"/>
              <a:t>Importantly, I was aware of a possibility of projecting my own assumptions onto her experience, as opposed to exploring her personal meaning. This emphasized the need to be client-centred.</a:t>
            </a:r>
            <a:endParaRPr/>
          </a:p>
          <a:p>
            <a:pPr indent="0" lvl="0" marL="0" rtl="0" algn="l">
              <a:spcBef>
                <a:spcPts val="0"/>
              </a:spcBef>
              <a:spcAft>
                <a:spcPts val="0"/>
              </a:spcAft>
              <a:buNone/>
            </a:pPr>
            <a:r>
              <a:rPr lang="en-US"/>
              <a:t>I also came to understand the need to explore jointly the perspective of the client, as opposed to placing it into the framework of my own perspective. I would also use the strengths-based strategies to assist in restoring confidence and rejoining the important activities.</a:t>
            </a:r>
            <a:endParaRPr/>
          </a:p>
          <a:p>
            <a:pPr indent="0" lvl="0" marL="0" rtl="0" algn="l">
              <a:spcBef>
                <a:spcPts val="0"/>
              </a:spcBef>
              <a:spcAft>
                <a:spcPts val="0"/>
              </a:spcAft>
              <a:buNone/>
            </a:pPr>
            <a:r>
              <a:rPr lang="en-US"/>
              <a:t>I will be more concerned with the balancing of empathy and a sense of curiosity in the further practice, so that the voice of the client is not pushed to the background in a counselling process.</a:t>
            </a:r>
            <a:endParaRPr/>
          </a:p>
        </p:txBody>
      </p:sp>
      <p:sp>
        <p:nvSpPr>
          <p:cNvPr id="179" name="Google Shape;17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In all these activities, I saw the transition of practicing the techniques to the significance of being present and being aware of oneself.</a:t>
            </a:r>
            <a:endParaRPr/>
          </a:p>
          <a:p>
            <a:pPr indent="0" lvl="0" marL="0" rtl="0" algn="l">
              <a:spcBef>
                <a:spcPts val="0"/>
              </a:spcBef>
              <a:spcAft>
                <a:spcPts val="0"/>
              </a:spcAft>
              <a:buNone/>
            </a:pPr>
            <a:r>
              <a:rPr lang="en-US"/>
              <a:t>I realised more how my thoughts, feelings and my social conditioning affect my reactions in counselling situations.</a:t>
            </a:r>
            <a:endParaRPr/>
          </a:p>
          <a:p>
            <a:pPr indent="0" lvl="0" marL="0" rtl="0" algn="l">
              <a:spcBef>
                <a:spcPts val="0"/>
              </a:spcBef>
              <a:spcAft>
                <a:spcPts val="0"/>
              </a:spcAft>
              <a:buNone/>
            </a:pPr>
            <a:r>
              <a:rPr lang="en-US"/>
              <a:t>This goes in line with the reflective practice as defined by Donald Schon where continuous reflection promotes professional development (Australian Counselling Association, 2019).</a:t>
            </a:r>
            <a:endParaRPr/>
          </a:p>
          <a:p>
            <a:pPr indent="0" lvl="0" marL="0" rtl="0" algn="l">
              <a:spcBef>
                <a:spcPts val="0"/>
              </a:spcBef>
              <a:spcAft>
                <a:spcPts val="0"/>
              </a:spcAft>
              <a:buNone/>
            </a:pPr>
            <a:r>
              <a:rPr lang="en-US"/>
              <a:t>In the future, I would like to further my skill building with reflection, supervision, and practice to become more competent and ethical.</a:t>
            </a:r>
            <a:endParaRPr/>
          </a:p>
          <a:p>
            <a:pPr indent="0" lvl="0" marL="0" rtl="0" algn="l">
              <a:spcBef>
                <a:spcPts val="0"/>
              </a:spcBef>
              <a:spcAft>
                <a:spcPts val="0"/>
              </a:spcAft>
              <a:buNone/>
            </a:pPr>
            <a:r>
              <a:t/>
            </a:r>
            <a:endParaRPr/>
          </a:p>
        </p:txBody>
      </p:sp>
      <p:sp>
        <p:nvSpPr>
          <p:cNvPr id="196" name="Google Shape;19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23164" r="-25021" t="0"/>
            </a:stretch>
          </a:blipFill>
          <a:ln>
            <a:noFill/>
          </a:ln>
        </p:spPr>
      </p:sp>
      <p:grpSp>
        <p:nvGrpSpPr>
          <p:cNvPr id="85" name="Google Shape;85;p13"/>
          <p:cNvGrpSpPr/>
          <p:nvPr/>
        </p:nvGrpSpPr>
        <p:grpSpPr>
          <a:xfrm>
            <a:off x="7965681" y="-148812"/>
            <a:ext cx="2817630" cy="2465426"/>
            <a:chOff x="0" y="0"/>
            <a:chExt cx="812800" cy="711200"/>
          </a:xfrm>
        </p:grpSpPr>
        <p:sp>
          <p:nvSpPr>
            <p:cNvPr id="86" name="Google Shape;86;p13"/>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FFBC00"/>
            </a:solidFill>
            <a:ln>
              <a:noFill/>
            </a:ln>
          </p:spPr>
        </p:sp>
        <p:sp>
          <p:nvSpPr>
            <p:cNvPr id="87" name="Google Shape;87;p13"/>
            <p:cNvSpPr txBox="1"/>
            <p:nvPr/>
          </p:nvSpPr>
          <p:spPr>
            <a:xfrm>
              <a:off x="127000" y="273050"/>
              <a:ext cx="558800" cy="3873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 name="Google Shape;88;p13"/>
          <p:cNvGrpSpPr/>
          <p:nvPr/>
        </p:nvGrpSpPr>
        <p:grpSpPr>
          <a:xfrm rot="10800000">
            <a:off x="7965681" y="2306400"/>
            <a:ext cx="2817630" cy="2465426"/>
            <a:chOff x="0" y="0"/>
            <a:chExt cx="812800" cy="711200"/>
          </a:xfrm>
        </p:grpSpPr>
        <p:sp>
          <p:nvSpPr>
            <p:cNvPr id="89" name="Google Shape;89;p13"/>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ED9B0F"/>
            </a:solidFill>
            <a:ln>
              <a:noFill/>
            </a:ln>
          </p:spPr>
        </p:sp>
        <p:sp>
          <p:nvSpPr>
            <p:cNvPr id="90" name="Google Shape;90;p13"/>
            <p:cNvSpPr txBox="1"/>
            <p:nvPr/>
          </p:nvSpPr>
          <p:spPr>
            <a:xfrm>
              <a:off x="127000" y="273050"/>
              <a:ext cx="558800" cy="3873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1" name="Google Shape;91;p13"/>
          <p:cNvGrpSpPr/>
          <p:nvPr/>
        </p:nvGrpSpPr>
        <p:grpSpPr>
          <a:xfrm rot="10800000">
            <a:off x="9374496" y="-138597"/>
            <a:ext cx="2817630" cy="2465426"/>
            <a:chOff x="0" y="0"/>
            <a:chExt cx="812800" cy="711200"/>
          </a:xfrm>
        </p:grpSpPr>
        <p:sp>
          <p:nvSpPr>
            <p:cNvPr id="92" name="Google Shape;92;p13"/>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ED9B0F"/>
            </a:solidFill>
            <a:ln>
              <a:noFill/>
            </a:ln>
          </p:spPr>
        </p:sp>
        <p:sp>
          <p:nvSpPr>
            <p:cNvPr id="93" name="Google Shape;93;p13"/>
            <p:cNvSpPr txBox="1"/>
            <p:nvPr/>
          </p:nvSpPr>
          <p:spPr>
            <a:xfrm>
              <a:off x="127000" y="273050"/>
              <a:ext cx="558800" cy="38735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4" name="Google Shape;94;p13"/>
          <p:cNvSpPr txBox="1"/>
          <p:nvPr/>
        </p:nvSpPr>
        <p:spPr>
          <a:xfrm>
            <a:off x="384075" y="781050"/>
            <a:ext cx="11634900" cy="4329000"/>
          </a:xfrm>
          <a:prstGeom prst="rect">
            <a:avLst/>
          </a:prstGeom>
          <a:noFill/>
          <a:ln>
            <a:noFill/>
          </a:ln>
        </p:spPr>
        <p:txBody>
          <a:bodyPr anchorCtr="0" anchor="t" bIns="0" lIns="0" spcFirstLastPara="1" rIns="0" wrap="square" tIns="0">
            <a:spAutoFit/>
          </a:bodyPr>
          <a:lstStyle/>
          <a:p>
            <a:pPr indent="0" lvl="0" marL="0" marR="0" rtl="0" algn="l">
              <a:lnSpc>
                <a:spcPct val="154015"/>
              </a:lnSpc>
              <a:spcBef>
                <a:spcPts val="0"/>
              </a:spcBef>
              <a:spcAft>
                <a:spcPts val="0"/>
              </a:spcAft>
              <a:buNone/>
            </a:pPr>
            <a:r>
              <a:rPr b="1" lang="en-US" sz="6102">
                <a:solidFill>
                  <a:srgbClr val="FFFFFF"/>
                </a:solidFill>
                <a:latin typeface="Poppins"/>
                <a:ea typeface="Poppins"/>
                <a:cs typeface="Poppins"/>
                <a:sym typeface="Poppins"/>
              </a:rPr>
              <a:t>Activity Reflection Presentation</a:t>
            </a:r>
            <a:endParaRPr/>
          </a:p>
          <a:p>
            <a:pPr indent="0" lvl="0" marL="0" marR="0" rtl="0" algn="l">
              <a:lnSpc>
                <a:spcPct val="154015"/>
              </a:lnSpc>
              <a:spcBef>
                <a:spcPts val="0"/>
              </a:spcBef>
              <a:spcAft>
                <a:spcPts val="0"/>
              </a:spcAft>
              <a:buNone/>
            </a:pPr>
            <a:r>
              <a:t/>
            </a:r>
            <a:endParaRPr b="1" i="0" sz="6102" u="none" cap="none" strike="noStrike">
              <a:solidFill>
                <a:srgbClr val="FFFFFF"/>
              </a:solidFill>
              <a:latin typeface="Poppins"/>
              <a:ea typeface="Poppins"/>
              <a:cs typeface="Poppins"/>
              <a:sym typeface="Poppins"/>
            </a:endParaRPr>
          </a:p>
        </p:txBody>
      </p:sp>
      <p:sp>
        <p:nvSpPr>
          <p:cNvPr id="95" name="Google Shape;95;p13"/>
          <p:cNvSpPr txBox="1"/>
          <p:nvPr/>
        </p:nvSpPr>
        <p:spPr>
          <a:xfrm>
            <a:off x="1832175" y="4771828"/>
            <a:ext cx="5219100" cy="5002500"/>
          </a:xfrm>
          <a:prstGeom prst="rect">
            <a:avLst/>
          </a:prstGeom>
          <a:noFill/>
          <a:ln>
            <a:noFill/>
          </a:ln>
        </p:spPr>
        <p:txBody>
          <a:bodyPr anchorCtr="0" anchor="t" bIns="0" lIns="0" spcFirstLastPara="1" rIns="0" wrap="square" tIns="0">
            <a:spAutoFit/>
          </a:bodyPr>
          <a:lstStyle/>
          <a:p>
            <a:pPr indent="0" lvl="0" marL="0" marR="0" rtl="0" algn="ctr">
              <a:lnSpc>
                <a:spcPct val="249015"/>
              </a:lnSpc>
              <a:spcBef>
                <a:spcPts val="0"/>
              </a:spcBef>
              <a:spcAft>
                <a:spcPts val="0"/>
              </a:spcAft>
              <a:buNone/>
            </a:pPr>
            <a:r>
              <a:rPr b="1" lang="en-US" sz="3252">
                <a:solidFill>
                  <a:srgbClr val="FFFFFF"/>
                </a:solidFill>
                <a:latin typeface="Poppins SemiBold"/>
                <a:ea typeface="Poppins SemiBold"/>
                <a:cs typeface="Poppins SemiBold"/>
                <a:sym typeface="Poppins SemiBold"/>
              </a:rPr>
              <a:t>Student Name </a:t>
            </a:r>
            <a:endParaRPr/>
          </a:p>
          <a:p>
            <a:pPr indent="0" lvl="0" marL="0" marR="0" rtl="0" algn="ctr">
              <a:lnSpc>
                <a:spcPct val="249015"/>
              </a:lnSpc>
              <a:spcBef>
                <a:spcPts val="0"/>
              </a:spcBef>
              <a:spcAft>
                <a:spcPts val="0"/>
              </a:spcAft>
              <a:buNone/>
            </a:pPr>
            <a:r>
              <a:rPr b="1" i="0" lang="en-US" sz="3252" u="none" cap="none" strike="noStrike">
                <a:solidFill>
                  <a:srgbClr val="FFFFFF"/>
                </a:solidFill>
                <a:latin typeface="Poppins SemiBold"/>
                <a:ea typeface="Poppins SemiBold"/>
                <a:cs typeface="Poppins SemiBold"/>
                <a:sym typeface="Poppins SemiBold"/>
              </a:rPr>
              <a:t>Course</a:t>
            </a:r>
            <a:endParaRPr/>
          </a:p>
          <a:p>
            <a:pPr indent="0" lvl="0" marL="0" marR="0" rtl="0" algn="ctr">
              <a:lnSpc>
                <a:spcPct val="249015"/>
              </a:lnSpc>
              <a:spcBef>
                <a:spcPts val="0"/>
              </a:spcBef>
              <a:spcAft>
                <a:spcPts val="0"/>
              </a:spcAft>
              <a:buNone/>
            </a:pPr>
            <a:r>
              <a:rPr b="1" i="0" lang="en-US" sz="3252" u="none" cap="none" strike="noStrike">
                <a:solidFill>
                  <a:srgbClr val="FFFFFF"/>
                </a:solidFill>
                <a:latin typeface="Poppins SemiBold"/>
                <a:ea typeface="Poppins SemiBold"/>
                <a:cs typeface="Poppins SemiBold"/>
                <a:sym typeface="Poppins SemiBold"/>
              </a:rPr>
              <a:t>Professor</a:t>
            </a:r>
            <a:endParaRPr/>
          </a:p>
          <a:p>
            <a:pPr indent="0" lvl="0" marL="0" marR="0" rtl="0" algn="ctr">
              <a:lnSpc>
                <a:spcPct val="249015"/>
              </a:lnSpc>
              <a:spcBef>
                <a:spcPts val="0"/>
              </a:spcBef>
              <a:spcAft>
                <a:spcPts val="0"/>
              </a:spcAft>
              <a:buNone/>
            </a:pPr>
            <a:r>
              <a:rPr b="1" i="0" lang="en-US" sz="3252" u="none" cap="none" strike="noStrike">
                <a:solidFill>
                  <a:srgbClr val="FFFFFF"/>
                </a:solidFill>
                <a:latin typeface="Poppins SemiBold"/>
                <a:ea typeface="Poppins SemiBold"/>
                <a:cs typeface="Poppins SemiBold"/>
                <a:sym typeface="Poppins SemiBold"/>
              </a:rPr>
              <a:t>Due Date</a:t>
            </a:r>
            <a:endParaRPr/>
          </a:p>
        </p:txBody>
      </p:sp>
      <p:pic>
        <p:nvPicPr>
          <p:cNvPr id="96" name="Google Shape;96;p13"/>
          <p:cNvPicPr preferRelativeResize="0"/>
          <p:nvPr/>
        </p:nvPicPr>
        <p:blipFill>
          <a:blip r:embed="rId4">
            <a:alphaModFix/>
          </a:blip>
          <a:stretch>
            <a:fillRect/>
          </a:stretch>
        </p:blipFill>
        <p:spPr>
          <a:xfrm>
            <a:off x="9374475" y="0"/>
            <a:ext cx="8294050" cy="10287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23161" r="-25029" t="0"/>
            </a:stretch>
          </a:blipFill>
          <a:ln>
            <a:noFill/>
          </a:ln>
        </p:spPr>
      </p:sp>
      <p:grpSp>
        <p:nvGrpSpPr>
          <p:cNvPr id="212" name="Google Shape;212;p1"/>
          <p:cNvGrpSpPr/>
          <p:nvPr/>
        </p:nvGrpSpPr>
        <p:grpSpPr>
          <a:xfrm>
            <a:off x="6580354" y="-152494"/>
            <a:ext cx="1728257" cy="1512225"/>
            <a:chOff x="0" y="0"/>
            <a:chExt cx="812800" cy="711200"/>
          </a:xfrm>
        </p:grpSpPr>
        <p:sp>
          <p:nvSpPr>
            <p:cNvPr id="213" name="Google Shape;213;p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FFBC00"/>
            </a:solidFill>
            <a:ln>
              <a:noFill/>
            </a:ln>
          </p:spPr>
        </p:sp>
        <p:sp>
          <p:nvSpPr>
            <p:cNvPr id="214" name="Google Shape;214;p1"/>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5" name="Google Shape;215;p1"/>
          <p:cNvGrpSpPr/>
          <p:nvPr/>
        </p:nvGrpSpPr>
        <p:grpSpPr>
          <a:xfrm rot="10800000">
            <a:off x="6580379" y="1347667"/>
            <a:ext cx="1728257" cy="1512225"/>
            <a:chOff x="0" y="0"/>
            <a:chExt cx="812800" cy="711200"/>
          </a:xfrm>
        </p:grpSpPr>
        <p:sp>
          <p:nvSpPr>
            <p:cNvPr id="216" name="Google Shape;216;p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ED9B0F"/>
            </a:solidFill>
            <a:ln>
              <a:noFill/>
            </a:ln>
          </p:spPr>
        </p:sp>
        <p:sp>
          <p:nvSpPr>
            <p:cNvPr id="217" name="Google Shape;217;p1"/>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8" name="Google Shape;218;p1"/>
          <p:cNvGrpSpPr/>
          <p:nvPr/>
        </p:nvGrpSpPr>
        <p:grpSpPr>
          <a:xfrm rot="10800000">
            <a:off x="5722080" y="-158315"/>
            <a:ext cx="1728257" cy="1512225"/>
            <a:chOff x="0" y="0"/>
            <a:chExt cx="812800" cy="711200"/>
          </a:xfrm>
        </p:grpSpPr>
        <p:sp>
          <p:nvSpPr>
            <p:cNvPr id="219" name="Google Shape;219;p1"/>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ED9B0F"/>
            </a:solidFill>
            <a:ln>
              <a:noFill/>
            </a:ln>
          </p:spPr>
        </p:sp>
        <p:sp>
          <p:nvSpPr>
            <p:cNvPr id="220" name="Google Shape;220;p1"/>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1" name="Google Shape;221;p1"/>
          <p:cNvSpPr txBox="1"/>
          <p:nvPr/>
        </p:nvSpPr>
        <p:spPr>
          <a:xfrm>
            <a:off x="7450325" y="935949"/>
            <a:ext cx="9788700" cy="779100"/>
          </a:xfrm>
          <a:prstGeom prst="rect">
            <a:avLst/>
          </a:prstGeom>
          <a:noFill/>
          <a:ln>
            <a:noFill/>
          </a:ln>
        </p:spPr>
        <p:txBody>
          <a:bodyPr anchorCtr="0" anchor="t" bIns="0" lIns="0" spcFirstLastPara="1" rIns="0" wrap="square" tIns="0">
            <a:spAutoFit/>
          </a:bodyPr>
          <a:lstStyle/>
          <a:p>
            <a:pPr indent="0" lvl="0" marL="0" marR="0" rtl="0" algn="r">
              <a:lnSpc>
                <a:spcPct val="113002"/>
              </a:lnSpc>
              <a:spcBef>
                <a:spcPts val="0"/>
              </a:spcBef>
              <a:spcAft>
                <a:spcPts val="0"/>
              </a:spcAft>
              <a:buClr>
                <a:srgbClr val="000000"/>
              </a:buClr>
              <a:buSzPts val="4499"/>
              <a:buFont typeface="Arial"/>
              <a:buNone/>
            </a:pPr>
            <a:r>
              <a:rPr b="1" i="0" lang="en-US" sz="4499" u="none" cap="none" strike="noStrike">
                <a:solidFill>
                  <a:srgbClr val="FFFFFF"/>
                </a:solidFill>
                <a:latin typeface="Poppins"/>
                <a:ea typeface="Poppins"/>
                <a:cs typeface="Poppins"/>
                <a:sym typeface="Poppins"/>
              </a:rPr>
              <a:t>ACTIVITY 1 – CONFIDENTIALITY</a:t>
            </a:r>
            <a:endParaRPr b="0" i="0" sz="1400" u="none" cap="none" strike="noStrike">
              <a:solidFill>
                <a:srgbClr val="000000"/>
              </a:solidFill>
              <a:latin typeface="Arial"/>
              <a:ea typeface="Arial"/>
              <a:cs typeface="Arial"/>
              <a:sym typeface="Arial"/>
            </a:endParaRPr>
          </a:p>
        </p:txBody>
      </p:sp>
      <p:sp>
        <p:nvSpPr>
          <p:cNvPr id="222" name="Google Shape;222;p1"/>
          <p:cNvSpPr txBox="1"/>
          <p:nvPr/>
        </p:nvSpPr>
        <p:spPr>
          <a:xfrm>
            <a:off x="8308600" y="2859900"/>
            <a:ext cx="9788700" cy="7013100"/>
          </a:xfrm>
          <a:prstGeom prst="rect">
            <a:avLst/>
          </a:prstGeom>
          <a:noFill/>
          <a:ln>
            <a:noFill/>
          </a:ln>
        </p:spPr>
        <p:txBody>
          <a:bodyPr anchorCtr="0" anchor="t" bIns="0" lIns="0" spcFirstLastPara="1" rIns="0" wrap="square" tIns="0">
            <a:spAutoFit/>
          </a:bodyPr>
          <a:lstStyle/>
          <a:p>
            <a:pPr indent="-457200" lvl="0" marL="457200" marR="0" rtl="0" algn="l">
              <a:lnSpc>
                <a:spcPct val="140020"/>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Felt pressure to be accurate and professional</a:t>
            </a:r>
            <a:endParaRPr b="0" i="0" sz="3600" u="none" cap="none" strike="noStrike">
              <a:solidFill>
                <a:srgbClr val="FFFFFF"/>
              </a:solidFill>
              <a:latin typeface="Poppins"/>
              <a:ea typeface="Poppins"/>
              <a:cs typeface="Poppins"/>
              <a:sym typeface="Poppins"/>
            </a:endParaRPr>
          </a:p>
          <a:p>
            <a:pPr indent="-457200" lvl="0" marL="457200" marR="0" rtl="0" algn="l">
              <a:lnSpc>
                <a:spcPct val="140020"/>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Social constructions: power, accountability, fear of making a mistake.</a:t>
            </a:r>
            <a:endParaRPr b="0" i="0" sz="3600" u="none" cap="none" strike="noStrike">
              <a:solidFill>
                <a:srgbClr val="FFFFFF"/>
              </a:solidFill>
              <a:latin typeface="Poppins"/>
              <a:ea typeface="Poppins"/>
              <a:cs typeface="Poppins"/>
              <a:sym typeface="Poppins"/>
            </a:endParaRPr>
          </a:p>
          <a:p>
            <a:pPr indent="-457200" lvl="0" marL="457200" marR="0" rtl="0" algn="l">
              <a:lnSpc>
                <a:spcPct val="140020"/>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Lesson: excessive focus on being right vs related.</a:t>
            </a:r>
            <a:endParaRPr b="0" i="0" sz="3600" u="none" cap="none" strike="noStrike">
              <a:solidFill>
                <a:srgbClr val="FFFFFF"/>
              </a:solidFill>
              <a:latin typeface="Poppins"/>
              <a:ea typeface="Poppins"/>
              <a:cs typeface="Poppins"/>
              <a:sym typeface="Poppins"/>
            </a:endParaRPr>
          </a:p>
          <a:p>
            <a:pPr indent="-457200" lvl="0" marL="457200" marR="0" rtl="0" algn="l">
              <a:lnSpc>
                <a:spcPct val="140020"/>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Knowledge: explicit + interpersonal communication.</a:t>
            </a:r>
            <a:endParaRPr b="0" i="0" sz="3600" u="none" cap="none" strike="noStrike">
              <a:solidFill>
                <a:srgbClr val="FFFFFF"/>
              </a:solidFill>
              <a:latin typeface="Poppins"/>
              <a:ea typeface="Poppins"/>
              <a:cs typeface="Poppins"/>
              <a:sym typeface="Poppins"/>
            </a:endParaRPr>
          </a:p>
          <a:p>
            <a:pPr indent="0" lvl="0" marL="457200" marR="0" rtl="0" algn="l">
              <a:lnSpc>
                <a:spcPct val="140020"/>
              </a:lnSpc>
              <a:spcBef>
                <a:spcPts val="0"/>
              </a:spcBef>
              <a:spcAft>
                <a:spcPts val="0"/>
              </a:spcAft>
              <a:buNone/>
            </a:pPr>
            <a:r>
              <a:rPr lang="en-US" sz="3600">
                <a:solidFill>
                  <a:srgbClr val="FFFFFF"/>
                </a:solidFill>
                <a:latin typeface="Poppins"/>
                <a:ea typeface="Poppins"/>
                <a:cs typeface="Poppins"/>
                <a:sym typeface="Poppins"/>
              </a:rPr>
              <a:t>(Moon, 2020)</a:t>
            </a:r>
            <a:endParaRPr sz="3600">
              <a:solidFill>
                <a:srgbClr val="FFFFFF"/>
              </a:solidFill>
              <a:latin typeface="Poppins"/>
              <a:ea typeface="Poppins"/>
              <a:cs typeface="Poppins"/>
              <a:sym typeface="Poppins"/>
            </a:endParaRPr>
          </a:p>
        </p:txBody>
      </p:sp>
      <p:pic>
        <p:nvPicPr>
          <p:cNvPr id="223" name="Google Shape;223;p1"/>
          <p:cNvPicPr preferRelativeResize="0"/>
          <p:nvPr/>
        </p:nvPicPr>
        <p:blipFill rotWithShape="1">
          <a:blip r:embed="rId4">
            <a:alphaModFix/>
          </a:blip>
          <a:srcRect b="0" l="0" r="0" t="0"/>
          <a:stretch/>
        </p:blipFill>
        <p:spPr>
          <a:xfrm>
            <a:off x="383850" y="652563"/>
            <a:ext cx="7244701" cy="8981875"/>
          </a:xfrm>
          <a:prstGeom prst="rect">
            <a:avLst/>
          </a:prstGeom>
          <a:noFill/>
          <a:ln>
            <a:noFill/>
          </a:ln>
        </p:spPr>
      </p:pic>
      <p:sp>
        <p:nvSpPr>
          <p:cNvPr id="224" name="Google Shape;224;p1"/>
          <p:cNvSpPr txBox="1"/>
          <p:nvPr/>
        </p:nvSpPr>
        <p:spPr>
          <a:xfrm>
            <a:off x="0" y="0"/>
            <a:ext cx="3000000" cy="60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Lock symbol over a conversation or therapist-client illustration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23161" r="-25029" t="0"/>
            </a:stretch>
          </a:blipFill>
          <a:ln>
            <a:noFill/>
          </a:ln>
        </p:spPr>
      </p:sp>
      <p:grpSp>
        <p:nvGrpSpPr>
          <p:cNvPr id="230" name="Google Shape;230;p2"/>
          <p:cNvGrpSpPr/>
          <p:nvPr/>
        </p:nvGrpSpPr>
        <p:grpSpPr>
          <a:xfrm rot="10800000">
            <a:off x="10032458" y="1319290"/>
            <a:ext cx="1722811" cy="1507460"/>
            <a:chOff x="0" y="0"/>
            <a:chExt cx="812800" cy="711200"/>
          </a:xfrm>
        </p:grpSpPr>
        <p:sp>
          <p:nvSpPr>
            <p:cNvPr id="231" name="Google Shape;231;p2"/>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ED9B0F"/>
            </a:solidFill>
            <a:ln>
              <a:noFill/>
            </a:ln>
          </p:spPr>
        </p:sp>
        <p:sp>
          <p:nvSpPr>
            <p:cNvPr id="232" name="Google Shape;232;p2"/>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3" name="Google Shape;233;p2"/>
          <p:cNvSpPr txBox="1"/>
          <p:nvPr/>
        </p:nvSpPr>
        <p:spPr>
          <a:xfrm>
            <a:off x="1124972" y="1683474"/>
            <a:ext cx="13242000" cy="779100"/>
          </a:xfrm>
          <a:prstGeom prst="rect">
            <a:avLst/>
          </a:prstGeom>
          <a:noFill/>
          <a:ln>
            <a:noFill/>
          </a:ln>
        </p:spPr>
        <p:txBody>
          <a:bodyPr anchorCtr="0" anchor="t" bIns="0" lIns="0" spcFirstLastPara="1" rIns="0" wrap="square" tIns="0">
            <a:spAutoFit/>
          </a:bodyPr>
          <a:lstStyle/>
          <a:p>
            <a:pPr indent="0" lvl="0" marL="0" marR="0" rtl="0" algn="l">
              <a:lnSpc>
                <a:spcPct val="113002"/>
              </a:lnSpc>
              <a:spcBef>
                <a:spcPts val="0"/>
              </a:spcBef>
              <a:spcAft>
                <a:spcPts val="0"/>
              </a:spcAft>
              <a:buClr>
                <a:srgbClr val="000000"/>
              </a:buClr>
              <a:buSzPts val="4499"/>
              <a:buFont typeface="Arial"/>
              <a:buNone/>
            </a:pPr>
            <a:r>
              <a:rPr b="1" i="0" lang="en-US" sz="4499" u="none" cap="none" strike="noStrike">
                <a:solidFill>
                  <a:srgbClr val="FFFFFF"/>
                </a:solidFill>
                <a:latin typeface="Poppins"/>
                <a:ea typeface="Poppins"/>
                <a:cs typeface="Poppins"/>
                <a:sym typeface="Poppins"/>
              </a:rPr>
              <a:t>ACTIVITY 2 – SILENCE</a:t>
            </a:r>
            <a:endParaRPr b="0" i="0" sz="1400" u="none" cap="none" strike="noStrike">
              <a:solidFill>
                <a:srgbClr val="000000"/>
              </a:solidFill>
              <a:latin typeface="Arial"/>
              <a:ea typeface="Arial"/>
              <a:cs typeface="Arial"/>
              <a:sym typeface="Arial"/>
            </a:endParaRPr>
          </a:p>
        </p:txBody>
      </p:sp>
      <p:sp>
        <p:nvSpPr>
          <p:cNvPr id="234" name="Google Shape;234;p2"/>
          <p:cNvSpPr txBox="1"/>
          <p:nvPr/>
        </p:nvSpPr>
        <p:spPr>
          <a:xfrm>
            <a:off x="1124975" y="3429000"/>
            <a:ext cx="8901600" cy="7013100"/>
          </a:xfrm>
          <a:prstGeom prst="rect">
            <a:avLst/>
          </a:prstGeom>
          <a:noFill/>
          <a:ln>
            <a:noFill/>
          </a:ln>
        </p:spPr>
        <p:txBody>
          <a:bodyPr anchorCtr="0" anchor="t" bIns="0" lIns="0" spcFirstLastPara="1" rIns="0" wrap="square" tIns="0">
            <a:spAutoFit/>
          </a:bodyPr>
          <a:lstStyle/>
          <a:p>
            <a:pPr indent="-457200" lvl="0" marL="457200" marR="0" rtl="0" algn="l">
              <a:lnSpc>
                <a:spcPct val="140019"/>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Experience of pain and want to talk.</a:t>
            </a:r>
            <a:endParaRPr b="0" i="0" sz="3600" u="none" cap="none" strike="noStrike">
              <a:solidFill>
                <a:srgbClr val="FFFFFF"/>
              </a:solidFill>
              <a:latin typeface="Poppins"/>
              <a:ea typeface="Poppins"/>
              <a:cs typeface="Poppins"/>
              <a:sym typeface="Poppins"/>
            </a:endParaRPr>
          </a:p>
          <a:p>
            <a:pPr indent="-457200" lvl="0" marL="457200" marR="0" rtl="0" algn="l">
              <a:lnSpc>
                <a:spcPct val="140019"/>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Social constructs: silence = incompetence.</a:t>
            </a:r>
            <a:endParaRPr b="0" i="0" sz="3600" u="none" cap="none" strike="noStrike">
              <a:solidFill>
                <a:srgbClr val="FFFFFF"/>
              </a:solidFill>
              <a:latin typeface="Poppins"/>
              <a:ea typeface="Poppins"/>
              <a:cs typeface="Poppins"/>
              <a:sym typeface="Poppins"/>
            </a:endParaRPr>
          </a:p>
          <a:p>
            <a:pPr indent="-457200" lvl="0" marL="457200" marR="0" rtl="0" algn="l">
              <a:lnSpc>
                <a:spcPct val="140019"/>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Understanding: distress caused by helper identity.</a:t>
            </a:r>
            <a:endParaRPr b="0" i="0" sz="3600" u="none" cap="none" strike="noStrike">
              <a:solidFill>
                <a:srgbClr val="FFFFFF"/>
              </a:solidFill>
              <a:latin typeface="Poppins"/>
              <a:ea typeface="Poppins"/>
              <a:cs typeface="Poppins"/>
              <a:sym typeface="Poppins"/>
            </a:endParaRPr>
          </a:p>
          <a:p>
            <a:pPr indent="-457200" lvl="0" marL="457200" marR="0" rtl="0" algn="l">
              <a:lnSpc>
                <a:spcPct val="140019"/>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Knowledge: silence allows profundity.</a:t>
            </a:r>
            <a:endParaRPr b="0" i="0" sz="3600" u="none" cap="none" strike="noStrike">
              <a:solidFill>
                <a:srgbClr val="FFFFFF"/>
              </a:solidFill>
              <a:latin typeface="Poppins"/>
              <a:ea typeface="Poppins"/>
              <a:cs typeface="Poppins"/>
              <a:sym typeface="Poppins"/>
            </a:endParaRPr>
          </a:p>
          <a:p>
            <a:pPr indent="0" lvl="0" marL="457200" marR="0" rtl="0" algn="l">
              <a:lnSpc>
                <a:spcPct val="140019"/>
              </a:lnSpc>
              <a:spcBef>
                <a:spcPts val="0"/>
              </a:spcBef>
              <a:spcAft>
                <a:spcPts val="0"/>
              </a:spcAft>
              <a:buNone/>
            </a:pPr>
            <a:r>
              <a:rPr lang="en-US" sz="3600">
                <a:solidFill>
                  <a:srgbClr val="FFFFFF"/>
                </a:solidFill>
                <a:latin typeface="Poppins"/>
                <a:ea typeface="Poppins"/>
                <a:cs typeface="Poppins"/>
                <a:sym typeface="Poppins"/>
              </a:rPr>
              <a:t>(Department of Health Victoria, 2020)</a:t>
            </a:r>
            <a:endParaRPr sz="3600">
              <a:solidFill>
                <a:srgbClr val="FFFFFF"/>
              </a:solidFill>
              <a:latin typeface="Poppins"/>
              <a:ea typeface="Poppins"/>
              <a:cs typeface="Poppins"/>
              <a:sym typeface="Poppins"/>
            </a:endParaRPr>
          </a:p>
        </p:txBody>
      </p:sp>
      <p:pic>
        <p:nvPicPr>
          <p:cNvPr id="235" name="Google Shape;235;p2"/>
          <p:cNvPicPr preferRelativeResize="0"/>
          <p:nvPr/>
        </p:nvPicPr>
        <p:blipFill rotWithShape="1">
          <a:blip r:embed="rId4">
            <a:alphaModFix/>
          </a:blip>
          <a:srcRect b="0" l="0" r="0" t="0"/>
          <a:stretch/>
        </p:blipFill>
        <p:spPr>
          <a:xfrm>
            <a:off x="10026575" y="849975"/>
            <a:ext cx="7685650" cy="87184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23161" r="-25029" t="0"/>
            </a:stretch>
          </a:blipFill>
          <a:ln>
            <a:noFill/>
          </a:ln>
        </p:spPr>
      </p:sp>
      <p:sp>
        <p:nvSpPr>
          <p:cNvPr id="238" name="Google Shape;238;p3"/>
          <p:cNvSpPr txBox="1"/>
          <p:nvPr/>
        </p:nvSpPr>
        <p:spPr>
          <a:xfrm>
            <a:off x="3153100" y="1041900"/>
            <a:ext cx="10720500" cy="1558500"/>
          </a:xfrm>
          <a:prstGeom prst="rect">
            <a:avLst/>
          </a:prstGeom>
          <a:noFill/>
          <a:ln>
            <a:noFill/>
          </a:ln>
        </p:spPr>
        <p:txBody>
          <a:bodyPr anchorCtr="0" anchor="t" bIns="0" lIns="0" spcFirstLastPara="1" rIns="0" wrap="square" tIns="0">
            <a:spAutoFit/>
          </a:bodyPr>
          <a:lstStyle/>
          <a:p>
            <a:pPr indent="0" lvl="0" marL="0" marR="0" rtl="0" algn="ctr">
              <a:lnSpc>
                <a:spcPct val="113002"/>
              </a:lnSpc>
              <a:spcBef>
                <a:spcPts val="0"/>
              </a:spcBef>
              <a:spcAft>
                <a:spcPts val="0"/>
              </a:spcAft>
              <a:buClr>
                <a:srgbClr val="000000"/>
              </a:buClr>
              <a:buSzPts val="4499"/>
              <a:buFont typeface="Arial"/>
              <a:buNone/>
            </a:pPr>
            <a:r>
              <a:rPr b="1" i="0" lang="en-US" sz="4499" u="none" cap="none" strike="noStrike">
                <a:solidFill>
                  <a:srgbClr val="FFFFFF"/>
                </a:solidFill>
                <a:latin typeface="Poppins"/>
                <a:ea typeface="Poppins"/>
                <a:cs typeface="Poppins"/>
                <a:sym typeface="Poppins"/>
              </a:rPr>
              <a:t>ACTIVITY 3 – CASE NOTES</a:t>
            </a:r>
            <a:endParaRPr b="1" i="0" sz="4499" u="none" cap="none" strike="noStrike">
              <a:solidFill>
                <a:srgbClr val="FFFFFF"/>
              </a:solidFill>
              <a:latin typeface="Poppins"/>
              <a:ea typeface="Poppins"/>
              <a:cs typeface="Poppins"/>
              <a:sym typeface="Poppins"/>
            </a:endParaRPr>
          </a:p>
          <a:p>
            <a:pPr indent="0" lvl="0" marL="0" marR="0" rtl="0" algn="ctr">
              <a:lnSpc>
                <a:spcPct val="113002"/>
              </a:lnSpc>
              <a:spcBef>
                <a:spcPts val="0"/>
              </a:spcBef>
              <a:spcAft>
                <a:spcPts val="0"/>
              </a:spcAft>
              <a:buClr>
                <a:srgbClr val="000000"/>
              </a:buClr>
              <a:buSzPts val="4499"/>
              <a:buFont typeface="Arial"/>
              <a:buNone/>
            </a:pPr>
            <a:r>
              <a:t/>
            </a:r>
            <a:endParaRPr b="1" i="0" sz="4499" u="none" cap="none" strike="noStrike">
              <a:solidFill>
                <a:srgbClr val="FFFFFF"/>
              </a:solidFill>
              <a:latin typeface="Poppins"/>
              <a:ea typeface="Poppins"/>
              <a:cs typeface="Poppins"/>
              <a:sym typeface="Poppins"/>
            </a:endParaRPr>
          </a:p>
        </p:txBody>
      </p:sp>
      <p:sp>
        <p:nvSpPr>
          <p:cNvPr id="239" name="Google Shape;239;p3"/>
          <p:cNvSpPr txBox="1"/>
          <p:nvPr/>
        </p:nvSpPr>
        <p:spPr>
          <a:xfrm>
            <a:off x="1822575" y="2600402"/>
            <a:ext cx="7488300" cy="7792500"/>
          </a:xfrm>
          <a:prstGeom prst="rect">
            <a:avLst/>
          </a:prstGeom>
          <a:noFill/>
          <a:ln>
            <a:noFill/>
          </a:ln>
        </p:spPr>
        <p:txBody>
          <a:bodyPr anchorCtr="0" anchor="t" bIns="0" lIns="0" spcFirstLastPara="1" rIns="0" wrap="square" tIns="0">
            <a:spAutoFit/>
          </a:bodyPr>
          <a:lstStyle/>
          <a:p>
            <a:pPr indent="-457200" lvl="0" marL="457200" marR="0" rtl="0" algn="l">
              <a:lnSpc>
                <a:spcPct val="139987"/>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Noticed bias in interpretation</a:t>
            </a:r>
            <a:endParaRPr b="0" i="0" sz="3600" u="none" cap="none" strike="noStrike">
              <a:solidFill>
                <a:srgbClr val="FFFFFF"/>
              </a:solidFill>
              <a:latin typeface="Poppins"/>
              <a:ea typeface="Poppins"/>
              <a:cs typeface="Poppins"/>
              <a:sym typeface="Poppins"/>
            </a:endParaRPr>
          </a:p>
          <a:p>
            <a:pPr indent="-457200" lvl="0" marL="457200" marR="0" rtl="0" algn="l">
              <a:lnSpc>
                <a:spcPct val="139987"/>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Social constructions: personal values shaping perception</a:t>
            </a:r>
            <a:endParaRPr b="0" i="0" sz="3600" u="none" cap="none" strike="noStrike">
              <a:solidFill>
                <a:srgbClr val="FFFFFF"/>
              </a:solidFill>
              <a:latin typeface="Poppins"/>
              <a:ea typeface="Poppins"/>
              <a:cs typeface="Poppins"/>
              <a:sym typeface="Poppins"/>
            </a:endParaRPr>
          </a:p>
          <a:p>
            <a:pPr indent="-457200" lvl="0" marL="457200" marR="0" rtl="0" algn="l">
              <a:lnSpc>
                <a:spcPct val="139987"/>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Insight: risk of unconscious judgement</a:t>
            </a:r>
            <a:endParaRPr b="0" i="0" sz="3600" u="none" cap="none" strike="noStrike">
              <a:solidFill>
                <a:srgbClr val="FFFFFF"/>
              </a:solidFill>
              <a:latin typeface="Poppins"/>
              <a:ea typeface="Poppins"/>
              <a:cs typeface="Poppins"/>
              <a:sym typeface="Poppins"/>
            </a:endParaRPr>
          </a:p>
          <a:p>
            <a:pPr indent="-457200" lvl="0" marL="457200" marR="0" rtl="0" algn="l">
              <a:lnSpc>
                <a:spcPct val="139987"/>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Learning: objectivity + ethical accountability</a:t>
            </a:r>
            <a:endParaRPr b="0" i="0" sz="3600" u="none" cap="none" strike="noStrike">
              <a:solidFill>
                <a:srgbClr val="FFFFFF"/>
              </a:solidFill>
              <a:latin typeface="Poppins"/>
              <a:ea typeface="Poppins"/>
              <a:cs typeface="Poppins"/>
              <a:sym typeface="Poppins"/>
            </a:endParaRPr>
          </a:p>
          <a:p>
            <a:pPr indent="0" lvl="0" marL="457200" marR="0" rtl="0" algn="l">
              <a:lnSpc>
                <a:spcPct val="139987"/>
              </a:lnSpc>
              <a:spcBef>
                <a:spcPts val="0"/>
              </a:spcBef>
              <a:spcAft>
                <a:spcPts val="0"/>
              </a:spcAft>
              <a:buClr>
                <a:srgbClr val="000000"/>
              </a:buClr>
              <a:buSzPts val="3600"/>
              <a:buFont typeface="Arial"/>
              <a:buNone/>
            </a:pPr>
            <a:r>
              <a:rPr lang="en-US" sz="3600">
                <a:solidFill>
                  <a:srgbClr val="FFFFFF"/>
                </a:solidFill>
                <a:latin typeface="Poppins"/>
                <a:ea typeface="Poppins"/>
                <a:cs typeface="Poppins"/>
                <a:sym typeface="Poppins"/>
              </a:rPr>
              <a:t>(Psychotherapy and Counselling Federation of Australia, 2026)</a:t>
            </a:r>
            <a:endParaRPr b="0" i="0" sz="3600" u="none" cap="none" strike="noStrike">
              <a:solidFill>
                <a:srgbClr val="FFFFFF"/>
              </a:solidFill>
              <a:latin typeface="Poppins"/>
              <a:ea typeface="Poppins"/>
              <a:cs typeface="Poppins"/>
              <a:sym typeface="Poppins"/>
            </a:endParaRPr>
          </a:p>
        </p:txBody>
      </p:sp>
      <p:pic>
        <p:nvPicPr>
          <p:cNvPr id="240" name="Google Shape;240;p3"/>
          <p:cNvPicPr preferRelativeResize="0"/>
          <p:nvPr/>
        </p:nvPicPr>
        <p:blipFill rotWithShape="1">
          <a:blip r:embed="rId4">
            <a:alphaModFix/>
          </a:blip>
          <a:srcRect b="0" l="0" r="0" t="0"/>
          <a:stretch/>
        </p:blipFill>
        <p:spPr>
          <a:xfrm>
            <a:off x="10042052" y="2384286"/>
            <a:ext cx="7488300" cy="666622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23161" r="-25029" t="0"/>
            </a:stretch>
          </a:blipFill>
          <a:ln>
            <a:noFill/>
          </a:ln>
        </p:spPr>
      </p:sp>
      <p:grpSp>
        <p:nvGrpSpPr>
          <p:cNvPr id="246" name="Google Shape;246;p4"/>
          <p:cNvGrpSpPr/>
          <p:nvPr/>
        </p:nvGrpSpPr>
        <p:grpSpPr>
          <a:xfrm>
            <a:off x="16574435" y="0"/>
            <a:ext cx="1140115" cy="997600"/>
            <a:chOff x="0" y="0"/>
            <a:chExt cx="812800" cy="711200"/>
          </a:xfrm>
        </p:grpSpPr>
        <p:sp>
          <p:nvSpPr>
            <p:cNvPr id="247" name="Google Shape;247;p4"/>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FFBC00"/>
            </a:solidFill>
            <a:ln>
              <a:noFill/>
            </a:ln>
          </p:spPr>
        </p:sp>
        <p:sp>
          <p:nvSpPr>
            <p:cNvPr id="248" name="Google Shape;248;p4"/>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9" name="Google Shape;249;p4"/>
          <p:cNvGrpSpPr/>
          <p:nvPr/>
        </p:nvGrpSpPr>
        <p:grpSpPr>
          <a:xfrm>
            <a:off x="563886" y="0"/>
            <a:ext cx="1140115" cy="997600"/>
            <a:chOff x="0" y="0"/>
            <a:chExt cx="812800" cy="711200"/>
          </a:xfrm>
        </p:grpSpPr>
        <p:sp>
          <p:nvSpPr>
            <p:cNvPr id="250" name="Google Shape;250;p4"/>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FFBC00"/>
            </a:solidFill>
            <a:ln>
              <a:noFill/>
            </a:ln>
          </p:spPr>
        </p:sp>
        <p:sp>
          <p:nvSpPr>
            <p:cNvPr id="251" name="Google Shape;251;p4"/>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2" name="Google Shape;252;p4"/>
          <p:cNvGrpSpPr/>
          <p:nvPr/>
        </p:nvGrpSpPr>
        <p:grpSpPr>
          <a:xfrm rot="10800000">
            <a:off x="16574474" y="993536"/>
            <a:ext cx="1140115" cy="997600"/>
            <a:chOff x="0" y="0"/>
            <a:chExt cx="812800" cy="711200"/>
          </a:xfrm>
        </p:grpSpPr>
        <p:sp>
          <p:nvSpPr>
            <p:cNvPr id="253" name="Google Shape;253;p4"/>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ED9B0F"/>
            </a:solidFill>
            <a:ln>
              <a:noFill/>
            </a:ln>
          </p:spPr>
        </p:sp>
        <p:sp>
          <p:nvSpPr>
            <p:cNvPr id="254" name="Google Shape;254;p4"/>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5" name="Google Shape;255;p4"/>
          <p:cNvGrpSpPr/>
          <p:nvPr/>
        </p:nvGrpSpPr>
        <p:grpSpPr>
          <a:xfrm rot="10800000">
            <a:off x="563925" y="993536"/>
            <a:ext cx="1140115" cy="997600"/>
            <a:chOff x="0" y="0"/>
            <a:chExt cx="812800" cy="711200"/>
          </a:xfrm>
        </p:grpSpPr>
        <p:sp>
          <p:nvSpPr>
            <p:cNvPr id="256" name="Google Shape;256;p4"/>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ED9B0F"/>
            </a:solidFill>
            <a:ln>
              <a:noFill/>
            </a:ln>
          </p:spPr>
        </p:sp>
        <p:sp>
          <p:nvSpPr>
            <p:cNvPr id="257" name="Google Shape;257;p4"/>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8" name="Google Shape;258;p4"/>
          <p:cNvGrpSpPr/>
          <p:nvPr/>
        </p:nvGrpSpPr>
        <p:grpSpPr>
          <a:xfrm rot="10800000">
            <a:off x="17144551" y="4168"/>
            <a:ext cx="1140115" cy="997600"/>
            <a:chOff x="0" y="0"/>
            <a:chExt cx="812800" cy="711200"/>
          </a:xfrm>
        </p:grpSpPr>
        <p:sp>
          <p:nvSpPr>
            <p:cNvPr id="259" name="Google Shape;259;p4"/>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ED9B0F"/>
            </a:solidFill>
            <a:ln>
              <a:noFill/>
            </a:ln>
          </p:spPr>
        </p:sp>
        <p:sp>
          <p:nvSpPr>
            <p:cNvPr id="260" name="Google Shape;260;p4"/>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p4"/>
          <p:cNvGrpSpPr/>
          <p:nvPr/>
        </p:nvGrpSpPr>
        <p:grpSpPr>
          <a:xfrm rot="10800000">
            <a:off x="3373" y="-4098"/>
            <a:ext cx="1140115" cy="997600"/>
            <a:chOff x="0" y="0"/>
            <a:chExt cx="812800" cy="711200"/>
          </a:xfrm>
        </p:grpSpPr>
        <p:sp>
          <p:nvSpPr>
            <p:cNvPr id="262" name="Google Shape;262;p4"/>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ED9B0F"/>
            </a:solidFill>
            <a:ln>
              <a:noFill/>
            </a:ln>
          </p:spPr>
        </p:sp>
        <p:sp>
          <p:nvSpPr>
            <p:cNvPr id="263" name="Google Shape;263;p4"/>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4" name="Google Shape;264;p4"/>
          <p:cNvSpPr txBox="1"/>
          <p:nvPr/>
        </p:nvSpPr>
        <p:spPr>
          <a:xfrm>
            <a:off x="2126354" y="1145975"/>
            <a:ext cx="12873000" cy="692700"/>
          </a:xfrm>
          <a:prstGeom prst="rect">
            <a:avLst/>
          </a:prstGeom>
          <a:noFill/>
          <a:ln>
            <a:noFill/>
          </a:ln>
        </p:spPr>
        <p:txBody>
          <a:bodyPr anchorCtr="0" anchor="t" bIns="0" lIns="0" spcFirstLastPara="1" rIns="0" wrap="square" tIns="0">
            <a:spAutoFit/>
          </a:bodyPr>
          <a:lstStyle/>
          <a:p>
            <a:pPr indent="0" lvl="0" marL="0" marR="0" rtl="0" algn="l">
              <a:lnSpc>
                <a:spcPct val="113003"/>
              </a:lnSpc>
              <a:spcBef>
                <a:spcPts val="0"/>
              </a:spcBef>
              <a:spcAft>
                <a:spcPts val="0"/>
              </a:spcAft>
              <a:buClr>
                <a:srgbClr val="000000"/>
              </a:buClr>
              <a:buSzPts val="3999"/>
              <a:buFont typeface="Arial"/>
              <a:buNone/>
            </a:pPr>
            <a:r>
              <a:rPr b="1" i="0" lang="en-US" sz="3999" u="none" cap="none" strike="noStrike">
                <a:solidFill>
                  <a:srgbClr val="FFFFFF"/>
                </a:solidFill>
                <a:latin typeface="Poppins"/>
                <a:ea typeface="Poppins"/>
                <a:cs typeface="Poppins"/>
                <a:sym typeface="Poppins"/>
              </a:rPr>
              <a:t>ACTIVITY 4 – GOOD VS BAD COUNSELLING</a:t>
            </a:r>
            <a:endParaRPr b="0" i="0" sz="1400" u="none" cap="none" strike="noStrike">
              <a:solidFill>
                <a:srgbClr val="000000"/>
              </a:solidFill>
              <a:latin typeface="Arial"/>
              <a:ea typeface="Arial"/>
              <a:cs typeface="Arial"/>
              <a:sym typeface="Arial"/>
            </a:endParaRPr>
          </a:p>
        </p:txBody>
      </p:sp>
      <p:sp>
        <p:nvSpPr>
          <p:cNvPr id="265" name="Google Shape;265;p4"/>
          <p:cNvSpPr txBox="1"/>
          <p:nvPr/>
        </p:nvSpPr>
        <p:spPr>
          <a:xfrm>
            <a:off x="1143500" y="2633875"/>
            <a:ext cx="8890800" cy="6234000"/>
          </a:xfrm>
          <a:prstGeom prst="rect">
            <a:avLst/>
          </a:prstGeom>
          <a:noFill/>
          <a:ln>
            <a:noFill/>
          </a:ln>
        </p:spPr>
        <p:txBody>
          <a:bodyPr anchorCtr="0" anchor="t" bIns="0" lIns="0" spcFirstLastPara="1" rIns="0" wrap="square" tIns="0">
            <a:spAutoFit/>
          </a:bodyPr>
          <a:lstStyle/>
          <a:p>
            <a:pPr indent="-457200" lvl="0" marL="457200" marR="0" rtl="0" algn="l">
              <a:lnSpc>
                <a:spcPct val="140017"/>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Emotional reaction to poor practice</a:t>
            </a:r>
            <a:endParaRPr b="0" i="0" sz="3600" u="none" cap="none" strike="noStrike">
              <a:solidFill>
                <a:srgbClr val="FFFFFF"/>
              </a:solidFill>
              <a:latin typeface="Poppins"/>
              <a:ea typeface="Poppins"/>
              <a:cs typeface="Poppins"/>
              <a:sym typeface="Poppins"/>
            </a:endParaRPr>
          </a:p>
          <a:p>
            <a:pPr indent="-457200" lvl="0" marL="457200" marR="0" rtl="0" algn="l">
              <a:lnSpc>
                <a:spcPct val="140017"/>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Social constructions: expectations of empathy</a:t>
            </a:r>
            <a:endParaRPr b="0" i="0" sz="3600" u="none" cap="none" strike="noStrike">
              <a:solidFill>
                <a:srgbClr val="FFFFFF"/>
              </a:solidFill>
              <a:latin typeface="Poppins"/>
              <a:ea typeface="Poppins"/>
              <a:cs typeface="Poppins"/>
              <a:sym typeface="Poppins"/>
            </a:endParaRPr>
          </a:p>
          <a:p>
            <a:pPr indent="-457200" lvl="0" marL="457200" marR="0" rtl="0" algn="l">
              <a:lnSpc>
                <a:spcPct val="140017"/>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Insight: values influence evaluation</a:t>
            </a:r>
            <a:endParaRPr b="0" i="0" sz="3600" u="none" cap="none" strike="noStrike">
              <a:solidFill>
                <a:srgbClr val="FFFFFF"/>
              </a:solidFill>
              <a:latin typeface="Poppins"/>
              <a:ea typeface="Poppins"/>
              <a:cs typeface="Poppins"/>
              <a:sym typeface="Poppins"/>
            </a:endParaRPr>
          </a:p>
          <a:p>
            <a:pPr indent="-457200" lvl="0" marL="457200" marR="0" rtl="0" algn="l">
              <a:lnSpc>
                <a:spcPct val="140017"/>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Learning: presence over technique</a:t>
            </a:r>
            <a:endParaRPr b="0" i="0" sz="3600" u="none" cap="none" strike="noStrike">
              <a:solidFill>
                <a:srgbClr val="FFFFFF"/>
              </a:solidFill>
              <a:latin typeface="Poppins"/>
              <a:ea typeface="Poppins"/>
              <a:cs typeface="Poppins"/>
              <a:sym typeface="Poppins"/>
            </a:endParaRPr>
          </a:p>
          <a:p>
            <a:pPr indent="0" lvl="0" marL="457200" marR="0" rtl="0" algn="l">
              <a:lnSpc>
                <a:spcPct val="140017"/>
              </a:lnSpc>
              <a:spcBef>
                <a:spcPts val="0"/>
              </a:spcBef>
              <a:spcAft>
                <a:spcPts val="0"/>
              </a:spcAft>
              <a:buNone/>
            </a:pPr>
            <a:r>
              <a:rPr lang="en-US" sz="3600">
                <a:solidFill>
                  <a:srgbClr val="FFFFFF"/>
                </a:solidFill>
                <a:latin typeface="Poppins"/>
                <a:ea typeface="Poppins"/>
                <a:cs typeface="Poppins"/>
                <a:sym typeface="Poppins"/>
              </a:rPr>
              <a:t>(Australian Institute of Health and Welfare, 2023)</a:t>
            </a:r>
            <a:endParaRPr sz="3600">
              <a:solidFill>
                <a:srgbClr val="FFFFFF"/>
              </a:solidFill>
              <a:latin typeface="Poppins"/>
              <a:ea typeface="Poppins"/>
              <a:cs typeface="Poppins"/>
              <a:sym typeface="Poppins"/>
            </a:endParaRPr>
          </a:p>
          <a:p>
            <a:pPr indent="0" lvl="0" marL="457200" marR="0" rtl="0" algn="l">
              <a:lnSpc>
                <a:spcPct val="140017"/>
              </a:lnSpc>
              <a:spcBef>
                <a:spcPts val="0"/>
              </a:spcBef>
              <a:spcAft>
                <a:spcPts val="0"/>
              </a:spcAft>
              <a:buClr>
                <a:srgbClr val="000000"/>
              </a:buClr>
              <a:buSzPts val="3600"/>
              <a:buFont typeface="Arial"/>
              <a:buNone/>
            </a:pPr>
            <a:r>
              <a:t/>
            </a:r>
            <a:endParaRPr b="0" i="0" sz="3600" u="none" cap="none" strike="noStrike">
              <a:solidFill>
                <a:srgbClr val="FFFFFF"/>
              </a:solidFill>
              <a:latin typeface="Poppins"/>
              <a:ea typeface="Poppins"/>
              <a:cs typeface="Poppins"/>
              <a:sym typeface="Poppins"/>
            </a:endParaRPr>
          </a:p>
        </p:txBody>
      </p:sp>
      <p:pic>
        <p:nvPicPr>
          <p:cNvPr id="266" name="Google Shape;266;p4"/>
          <p:cNvPicPr preferRelativeResize="0"/>
          <p:nvPr/>
        </p:nvPicPr>
        <p:blipFill rotWithShape="1">
          <a:blip r:embed="rId4">
            <a:alphaModFix/>
          </a:blip>
          <a:srcRect b="0" l="0" r="0" t="0"/>
          <a:stretch/>
        </p:blipFill>
        <p:spPr>
          <a:xfrm>
            <a:off x="10678916" y="2633875"/>
            <a:ext cx="7938776" cy="7013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5"/>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23161" r="-25029" t="0"/>
            </a:stretch>
          </a:blipFill>
          <a:ln>
            <a:noFill/>
          </a:ln>
        </p:spPr>
      </p:sp>
      <p:sp>
        <p:nvSpPr>
          <p:cNvPr id="269" name="Google Shape;269;p5"/>
          <p:cNvSpPr txBox="1"/>
          <p:nvPr/>
        </p:nvSpPr>
        <p:spPr>
          <a:xfrm>
            <a:off x="2531404" y="1102779"/>
            <a:ext cx="15756600" cy="779100"/>
          </a:xfrm>
          <a:prstGeom prst="rect">
            <a:avLst/>
          </a:prstGeom>
          <a:noFill/>
          <a:ln>
            <a:noFill/>
          </a:ln>
        </p:spPr>
        <p:txBody>
          <a:bodyPr anchorCtr="0" anchor="t" bIns="0" lIns="0" spcFirstLastPara="1" rIns="0" wrap="square" tIns="0">
            <a:spAutoFit/>
          </a:bodyPr>
          <a:lstStyle/>
          <a:p>
            <a:pPr indent="0" lvl="0" marL="0" marR="0" rtl="0" algn="l">
              <a:lnSpc>
                <a:spcPct val="112977"/>
              </a:lnSpc>
              <a:spcBef>
                <a:spcPts val="0"/>
              </a:spcBef>
              <a:spcAft>
                <a:spcPts val="0"/>
              </a:spcAft>
              <a:buClr>
                <a:srgbClr val="000000"/>
              </a:buClr>
              <a:buSzPts val="4500"/>
              <a:buFont typeface="Arial"/>
              <a:buNone/>
            </a:pPr>
            <a:r>
              <a:rPr b="1" i="0" lang="en-US" sz="4500" u="none" cap="none" strike="noStrike">
                <a:solidFill>
                  <a:srgbClr val="FFFFFF"/>
                </a:solidFill>
                <a:latin typeface="Poppins"/>
                <a:ea typeface="Poppins"/>
                <a:cs typeface="Poppins"/>
                <a:sym typeface="Poppins"/>
              </a:rPr>
              <a:t>ACTIVITY 5 – FISHBOWL</a:t>
            </a:r>
            <a:endParaRPr b="0" i="0" sz="1400" u="none" cap="none" strike="noStrike">
              <a:solidFill>
                <a:srgbClr val="000000"/>
              </a:solidFill>
              <a:latin typeface="Arial"/>
              <a:ea typeface="Arial"/>
              <a:cs typeface="Arial"/>
              <a:sym typeface="Arial"/>
            </a:endParaRPr>
          </a:p>
        </p:txBody>
      </p:sp>
      <p:grpSp>
        <p:nvGrpSpPr>
          <p:cNvPr id="270" name="Google Shape;270;p5"/>
          <p:cNvGrpSpPr/>
          <p:nvPr/>
        </p:nvGrpSpPr>
        <p:grpSpPr>
          <a:xfrm>
            <a:off x="16474828" y="0"/>
            <a:ext cx="1140115" cy="997600"/>
            <a:chOff x="0" y="0"/>
            <a:chExt cx="812800" cy="711200"/>
          </a:xfrm>
        </p:grpSpPr>
        <p:sp>
          <p:nvSpPr>
            <p:cNvPr id="271" name="Google Shape;271;p5"/>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FFBC00"/>
            </a:solidFill>
            <a:ln>
              <a:noFill/>
            </a:ln>
          </p:spPr>
        </p:sp>
        <p:sp>
          <p:nvSpPr>
            <p:cNvPr id="272" name="Google Shape;272;p5"/>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3" name="Google Shape;273;p5"/>
          <p:cNvGrpSpPr/>
          <p:nvPr/>
        </p:nvGrpSpPr>
        <p:grpSpPr>
          <a:xfrm rot="10800000">
            <a:off x="16474867" y="993536"/>
            <a:ext cx="1140115" cy="997600"/>
            <a:chOff x="0" y="0"/>
            <a:chExt cx="812800" cy="711200"/>
          </a:xfrm>
        </p:grpSpPr>
        <p:sp>
          <p:nvSpPr>
            <p:cNvPr id="274" name="Google Shape;274;p5"/>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ED9B0F"/>
            </a:solidFill>
            <a:ln>
              <a:noFill/>
            </a:ln>
          </p:spPr>
        </p:sp>
        <p:sp>
          <p:nvSpPr>
            <p:cNvPr id="275" name="Google Shape;275;p5"/>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6" name="Google Shape;276;p5"/>
          <p:cNvGrpSpPr/>
          <p:nvPr/>
        </p:nvGrpSpPr>
        <p:grpSpPr>
          <a:xfrm rot="10800000">
            <a:off x="17044944" y="4168"/>
            <a:ext cx="1140115" cy="997600"/>
            <a:chOff x="0" y="0"/>
            <a:chExt cx="812800" cy="711200"/>
          </a:xfrm>
        </p:grpSpPr>
        <p:sp>
          <p:nvSpPr>
            <p:cNvPr id="277" name="Google Shape;277;p5"/>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ED9B0F"/>
            </a:solidFill>
            <a:ln>
              <a:noFill/>
            </a:ln>
          </p:spPr>
        </p:sp>
        <p:sp>
          <p:nvSpPr>
            <p:cNvPr id="278" name="Google Shape;278;p5"/>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9" name="Google Shape;279;p5"/>
          <p:cNvSpPr txBox="1"/>
          <p:nvPr/>
        </p:nvSpPr>
        <p:spPr>
          <a:xfrm>
            <a:off x="463475" y="2606200"/>
            <a:ext cx="8296800" cy="6234000"/>
          </a:xfrm>
          <a:prstGeom prst="rect">
            <a:avLst/>
          </a:prstGeom>
          <a:noFill/>
          <a:ln>
            <a:noFill/>
          </a:ln>
        </p:spPr>
        <p:txBody>
          <a:bodyPr anchorCtr="0" anchor="t" bIns="0" lIns="0" spcFirstLastPara="1" rIns="0" wrap="square" tIns="0">
            <a:spAutoFit/>
          </a:bodyPr>
          <a:lstStyle/>
          <a:p>
            <a:pPr indent="-457200" lvl="0" marL="457200" marR="0" rtl="0" algn="l">
              <a:lnSpc>
                <a:spcPct val="140011"/>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Felt anxious being observed</a:t>
            </a:r>
            <a:endParaRPr b="0" i="0" sz="3600" u="none" cap="none" strike="noStrike">
              <a:solidFill>
                <a:srgbClr val="FFFFFF"/>
              </a:solidFill>
              <a:latin typeface="Poppins"/>
              <a:ea typeface="Poppins"/>
              <a:cs typeface="Poppins"/>
              <a:sym typeface="Poppins"/>
            </a:endParaRPr>
          </a:p>
          <a:p>
            <a:pPr indent="-457200" lvl="0" marL="457200" marR="0" rtl="0" algn="l">
              <a:lnSpc>
                <a:spcPct val="140011"/>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Social constructions: fear of judgement</a:t>
            </a:r>
            <a:endParaRPr b="0" i="0" sz="3600" u="none" cap="none" strike="noStrike">
              <a:solidFill>
                <a:srgbClr val="FFFFFF"/>
              </a:solidFill>
              <a:latin typeface="Poppins"/>
              <a:ea typeface="Poppins"/>
              <a:cs typeface="Poppins"/>
              <a:sym typeface="Poppins"/>
            </a:endParaRPr>
          </a:p>
          <a:p>
            <a:pPr indent="-457200" lvl="0" marL="457200" marR="0" rtl="0" algn="l">
              <a:lnSpc>
                <a:spcPct val="140011"/>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Insight: performance impacts authenticity</a:t>
            </a:r>
            <a:endParaRPr b="0" i="0" sz="3600" u="none" cap="none" strike="noStrike">
              <a:solidFill>
                <a:srgbClr val="FFFFFF"/>
              </a:solidFill>
              <a:latin typeface="Poppins"/>
              <a:ea typeface="Poppins"/>
              <a:cs typeface="Poppins"/>
              <a:sym typeface="Poppins"/>
            </a:endParaRPr>
          </a:p>
          <a:p>
            <a:pPr indent="-457200" lvl="0" marL="457200" marR="0" rtl="0" algn="l">
              <a:lnSpc>
                <a:spcPct val="140011"/>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Learning: integration of skills</a:t>
            </a:r>
            <a:endParaRPr sz="3600">
              <a:solidFill>
                <a:srgbClr val="FFFFFF"/>
              </a:solidFill>
              <a:latin typeface="Poppins"/>
              <a:ea typeface="Poppins"/>
              <a:cs typeface="Poppins"/>
              <a:sym typeface="Poppins"/>
            </a:endParaRPr>
          </a:p>
          <a:p>
            <a:pPr indent="0" lvl="0" marL="457200" marR="0" rtl="0" algn="l">
              <a:lnSpc>
                <a:spcPct val="140011"/>
              </a:lnSpc>
              <a:spcBef>
                <a:spcPts val="0"/>
              </a:spcBef>
              <a:spcAft>
                <a:spcPts val="0"/>
              </a:spcAft>
              <a:buNone/>
            </a:pPr>
            <a:r>
              <a:rPr lang="en-US" sz="3600">
                <a:solidFill>
                  <a:srgbClr val="FFFFFF"/>
                </a:solidFill>
                <a:latin typeface="Poppins"/>
                <a:ea typeface="Poppins"/>
                <a:cs typeface="Poppins"/>
                <a:sym typeface="Poppins"/>
              </a:rPr>
              <a:t>(Headspace Australia, 2021).</a:t>
            </a:r>
            <a:endParaRPr sz="3600">
              <a:solidFill>
                <a:srgbClr val="FFFFFF"/>
              </a:solidFill>
              <a:latin typeface="Poppins"/>
              <a:ea typeface="Poppins"/>
              <a:cs typeface="Poppins"/>
              <a:sym typeface="Poppins"/>
            </a:endParaRPr>
          </a:p>
          <a:p>
            <a:pPr indent="0" lvl="0" marL="457200" marR="0" rtl="0" algn="l">
              <a:lnSpc>
                <a:spcPct val="140011"/>
              </a:lnSpc>
              <a:spcBef>
                <a:spcPts val="0"/>
              </a:spcBef>
              <a:spcAft>
                <a:spcPts val="0"/>
              </a:spcAft>
              <a:buClr>
                <a:srgbClr val="000000"/>
              </a:buClr>
              <a:buSzPts val="3600"/>
              <a:buFont typeface="Arial"/>
              <a:buNone/>
            </a:pPr>
            <a:r>
              <a:t/>
            </a:r>
            <a:endParaRPr b="0" i="0" sz="3600" u="none" cap="none" strike="noStrike">
              <a:solidFill>
                <a:srgbClr val="FFFFFF"/>
              </a:solidFill>
              <a:latin typeface="Poppins"/>
              <a:ea typeface="Poppins"/>
              <a:cs typeface="Poppins"/>
              <a:sym typeface="Poppins"/>
            </a:endParaRPr>
          </a:p>
        </p:txBody>
      </p:sp>
      <p:pic>
        <p:nvPicPr>
          <p:cNvPr id="280" name="Google Shape;280;p5"/>
          <p:cNvPicPr preferRelativeResize="0"/>
          <p:nvPr/>
        </p:nvPicPr>
        <p:blipFill rotWithShape="1">
          <a:blip r:embed="rId4">
            <a:alphaModFix/>
          </a:blip>
          <a:srcRect b="0" l="0" r="0" t="0"/>
          <a:stretch/>
        </p:blipFill>
        <p:spPr>
          <a:xfrm>
            <a:off x="9039225" y="2606200"/>
            <a:ext cx="8296800" cy="6524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6"/>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23161" r="-25029" t="0"/>
            </a:stretch>
          </a:blipFill>
          <a:ln>
            <a:noFill/>
          </a:ln>
        </p:spPr>
      </p:sp>
      <p:sp>
        <p:nvSpPr>
          <p:cNvPr id="283" name="Google Shape;283;p6"/>
          <p:cNvSpPr txBox="1"/>
          <p:nvPr/>
        </p:nvSpPr>
        <p:spPr>
          <a:xfrm>
            <a:off x="1028700" y="1143704"/>
            <a:ext cx="9850200" cy="779100"/>
          </a:xfrm>
          <a:prstGeom prst="rect">
            <a:avLst/>
          </a:prstGeom>
          <a:noFill/>
          <a:ln>
            <a:noFill/>
          </a:ln>
        </p:spPr>
        <p:txBody>
          <a:bodyPr anchorCtr="0" anchor="t" bIns="0" lIns="0" spcFirstLastPara="1" rIns="0" wrap="square" tIns="0">
            <a:spAutoFit/>
          </a:bodyPr>
          <a:lstStyle/>
          <a:p>
            <a:pPr indent="0" lvl="0" marL="0" marR="0" rtl="0" algn="ctr">
              <a:lnSpc>
                <a:spcPct val="112977"/>
              </a:lnSpc>
              <a:spcBef>
                <a:spcPts val="0"/>
              </a:spcBef>
              <a:spcAft>
                <a:spcPts val="0"/>
              </a:spcAft>
              <a:buClr>
                <a:srgbClr val="000000"/>
              </a:buClr>
              <a:buSzPts val="4500"/>
              <a:buFont typeface="Arial"/>
              <a:buNone/>
            </a:pPr>
            <a:r>
              <a:rPr b="1" i="0" lang="en-US" sz="4500" u="none" cap="none" strike="noStrike">
                <a:solidFill>
                  <a:srgbClr val="FFFFFF"/>
                </a:solidFill>
                <a:latin typeface="Poppins"/>
                <a:ea typeface="Poppins"/>
                <a:cs typeface="Poppins"/>
                <a:sym typeface="Poppins"/>
              </a:rPr>
              <a:t>ACTIVITY 6 – TAHLIA CASE STUDY</a:t>
            </a:r>
            <a:endParaRPr b="0" i="0" sz="1400" u="none" cap="none" strike="noStrike">
              <a:solidFill>
                <a:srgbClr val="000000"/>
              </a:solidFill>
              <a:latin typeface="Arial"/>
              <a:ea typeface="Arial"/>
              <a:cs typeface="Arial"/>
              <a:sym typeface="Arial"/>
            </a:endParaRPr>
          </a:p>
        </p:txBody>
      </p:sp>
      <p:sp>
        <p:nvSpPr>
          <p:cNvPr id="284" name="Google Shape;284;p6"/>
          <p:cNvSpPr txBox="1"/>
          <p:nvPr/>
        </p:nvSpPr>
        <p:spPr>
          <a:xfrm>
            <a:off x="1106849" y="2132025"/>
            <a:ext cx="7118700" cy="6618600"/>
          </a:xfrm>
          <a:prstGeom prst="rect">
            <a:avLst/>
          </a:prstGeom>
          <a:noFill/>
          <a:ln>
            <a:noFill/>
          </a:ln>
        </p:spPr>
        <p:txBody>
          <a:bodyPr anchorCtr="0" anchor="t" bIns="0" lIns="0" spcFirstLastPara="1" rIns="0" wrap="square" tIns="0">
            <a:spAutoFit/>
          </a:bodyPr>
          <a:lstStyle/>
          <a:p>
            <a:pPr indent="-457200" lvl="0" marL="457200" marR="0" rtl="0" algn="just">
              <a:lnSpc>
                <a:spcPct val="150000"/>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Compassion influenced by ideals on work and identity.</a:t>
            </a:r>
            <a:endParaRPr b="0" i="0" sz="3600" u="none" cap="none" strike="noStrike">
              <a:solidFill>
                <a:srgbClr val="FFFFFF"/>
              </a:solidFill>
              <a:latin typeface="Poppins"/>
              <a:ea typeface="Poppins"/>
              <a:cs typeface="Poppins"/>
              <a:sym typeface="Poppins"/>
            </a:endParaRPr>
          </a:p>
          <a:p>
            <a:pPr indent="-457200" lvl="0" marL="457200" marR="0" rtl="0" algn="just">
              <a:lnSpc>
                <a:spcPct val="150000"/>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Social constructions: work = self-esteem, age discrimination.</a:t>
            </a:r>
            <a:endParaRPr b="0" i="0" sz="3600" u="none" cap="none" strike="noStrike">
              <a:solidFill>
                <a:srgbClr val="FFFFFF"/>
              </a:solidFill>
              <a:latin typeface="Poppins"/>
              <a:ea typeface="Poppins"/>
              <a:cs typeface="Poppins"/>
              <a:sym typeface="Poppins"/>
            </a:endParaRPr>
          </a:p>
          <a:p>
            <a:pPr indent="-457200" lvl="0" marL="457200" marR="0" rtl="0" algn="just">
              <a:lnSpc>
                <a:spcPct val="150000"/>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Insight: danger of introducing assumptions.</a:t>
            </a:r>
            <a:endParaRPr b="0" i="0" sz="3600" u="none" cap="none" strike="noStrike">
              <a:solidFill>
                <a:srgbClr val="FFFFFF"/>
              </a:solidFill>
              <a:latin typeface="Poppins"/>
              <a:ea typeface="Poppins"/>
              <a:cs typeface="Poppins"/>
              <a:sym typeface="Poppins"/>
            </a:endParaRPr>
          </a:p>
          <a:p>
            <a:pPr indent="0" lvl="0" marL="457200" marR="0" rtl="0" algn="just">
              <a:lnSpc>
                <a:spcPct val="150000"/>
              </a:lnSpc>
              <a:spcBef>
                <a:spcPts val="0"/>
              </a:spcBef>
              <a:spcAft>
                <a:spcPts val="0"/>
              </a:spcAft>
              <a:buNone/>
            </a:pPr>
            <a:r>
              <a:rPr lang="en-US" sz="3600">
                <a:solidFill>
                  <a:srgbClr val="FFFFFF"/>
                </a:solidFill>
                <a:latin typeface="Poppins"/>
                <a:ea typeface="Poppins"/>
                <a:cs typeface="Poppins"/>
                <a:sym typeface="Poppins"/>
              </a:rPr>
              <a:t>(Beyond Blue, 2022)</a:t>
            </a:r>
            <a:endParaRPr sz="3600">
              <a:solidFill>
                <a:srgbClr val="FFFFFF"/>
              </a:solidFill>
              <a:latin typeface="Poppins"/>
              <a:ea typeface="Poppins"/>
              <a:cs typeface="Poppins"/>
              <a:sym typeface="Poppins"/>
            </a:endParaRPr>
          </a:p>
        </p:txBody>
      </p:sp>
      <p:grpSp>
        <p:nvGrpSpPr>
          <p:cNvPr id="285" name="Google Shape;285;p6"/>
          <p:cNvGrpSpPr/>
          <p:nvPr/>
        </p:nvGrpSpPr>
        <p:grpSpPr>
          <a:xfrm>
            <a:off x="16574435" y="0"/>
            <a:ext cx="1140115" cy="997600"/>
            <a:chOff x="0" y="0"/>
            <a:chExt cx="812800" cy="711200"/>
          </a:xfrm>
        </p:grpSpPr>
        <p:sp>
          <p:nvSpPr>
            <p:cNvPr id="286" name="Google Shape;286;p6"/>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FFBC00"/>
            </a:solidFill>
            <a:ln>
              <a:noFill/>
            </a:ln>
          </p:spPr>
        </p:sp>
        <p:sp>
          <p:nvSpPr>
            <p:cNvPr id="287" name="Google Shape;287;p6"/>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8" name="Google Shape;288;p6"/>
          <p:cNvGrpSpPr/>
          <p:nvPr/>
        </p:nvGrpSpPr>
        <p:grpSpPr>
          <a:xfrm rot="10800000">
            <a:off x="16574474" y="993536"/>
            <a:ext cx="1140115" cy="997600"/>
            <a:chOff x="0" y="0"/>
            <a:chExt cx="812800" cy="711200"/>
          </a:xfrm>
        </p:grpSpPr>
        <p:sp>
          <p:nvSpPr>
            <p:cNvPr id="289" name="Google Shape;289;p6"/>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ED9B0F"/>
            </a:solidFill>
            <a:ln>
              <a:noFill/>
            </a:ln>
          </p:spPr>
        </p:sp>
        <p:sp>
          <p:nvSpPr>
            <p:cNvPr id="290" name="Google Shape;290;p6"/>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1" name="Google Shape;291;p6"/>
          <p:cNvGrpSpPr/>
          <p:nvPr/>
        </p:nvGrpSpPr>
        <p:grpSpPr>
          <a:xfrm rot="10800000">
            <a:off x="17144551" y="4168"/>
            <a:ext cx="1140115" cy="997600"/>
            <a:chOff x="0" y="0"/>
            <a:chExt cx="812800" cy="711200"/>
          </a:xfrm>
        </p:grpSpPr>
        <p:sp>
          <p:nvSpPr>
            <p:cNvPr id="292" name="Google Shape;292;p6"/>
            <p:cNvSpPr/>
            <p:nvPr/>
          </p:nvSpPr>
          <p:spPr>
            <a:xfrm>
              <a:off x="0" y="0"/>
              <a:ext cx="812800" cy="711200"/>
            </a:xfrm>
            <a:custGeom>
              <a:rect b="b" l="l" r="r" t="t"/>
              <a:pathLst>
                <a:path extrusionOk="0" h="711200" w="812800">
                  <a:moveTo>
                    <a:pt x="406400" y="0"/>
                  </a:moveTo>
                  <a:lnTo>
                    <a:pt x="812800" y="711200"/>
                  </a:lnTo>
                  <a:lnTo>
                    <a:pt x="0" y="711200"/>
                  </a:lnTo>
                  <a:lnTo>
                    <a:pt x="406400" y="0"/>
                  </a:lnTo>
                  <a:close/>
                </a:path>
              </a:pathLst>
            </a:custGeom>
            <a:solidFill>
              <a:srgbClr val="ED9B0F"/>
            </a:solidFill>
            <a:ln>
              <a:noFill/>
            </a:ln>
          </p:spPr>
        </p:sp>
        <p:sp>
          <p:nvSpPr>
            <p:cNvPr id="293" name="Google Shape;293;p6"/>
            <p:cNvSpPr txBox="1"/>
            <p:nvPr/>
          </p:nvSpPr>
          <p:spPr>
            <a:xfrm>
              <a:off x="127000" y="273050"/>
              <a:ext cx="558900" cy="387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pic>
        <p:nvPicPr>
          <p:cNvPr id="294" name="Google Shape;294;p6"/>
          <p:cNvPicPr preferRelativeResize="0"/>
          <p:nvPr/>
        </p:nvPicPr>
        <p:blipFill rotWithShape="1">
          <a:blip r:embed="rId4">
            <a:alphaModFix/>
          </a:blip>
          <a:srcRect b="0" l="0" r="0" t="0"/>
          <a:stretch/>
        </p:blipFill>
        <p:spPr>
          <a:xfrm>
            <a:off x="10878900" y="1922800"/>
            <a:ext cx="7118701" cy="7450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7"/>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23161" r="-25029" t="0"/>
            </a:stretch>
          </a:blipFill>
          <a:ln>
            <a:noFill/>
          </a:ln>
        </p:spPr>
      </p:sp>
      <p:sp>
        <p:nvSpPr>
          <p:cNvPr id="297" name="Google Shape;297;p7"/>
          <p:cNvSpPr txBox="1"/>
          <p:nvPr/>
        </p:nvSpPr>
        <p:spPr>
          <a:xfrm>
            <a:off x="2534375" y="2376200"/>
            <a:ext cx="11432700" cy="692700"/>
          </a:xfrm>
          <a:prstGeom prst="rect">
            <a:avLst/>
          </a:prstGeom>
          <a:noFill/>
          <a:ln>
            <a:noFill/>
          </a:ln>
        </p:spPr>
        <p:txBody>
          <a:bodyPr anchorCtr="0" anchor="t" bIns="0" lIns="0" spcFirstLastPara="1" rIns="0" wrap="square" tIns="0">
            <a:spAutoFit/>
          </a:bodyPr>
          <a:lstStyle/>
          <a:p>
            <a:pPr indent="0" lvl="0" marL="0" marR="0" rtl="0" algn="l">
              <a:lnSpc>
                <a:spcPct val="113003"/>
              </a:lnSpc>
              <a:spcBef>
                <a:spcPts val="0"/>
              </a:spcBef>
              <a:spcAft>
                <a:spcPts val="0"/>
              </a:spcAft>
              <a:buClr>
                <a:srgbClr val="000000"/>
              </a:buClr>
              <a:buSzPts val="3999"/>
              <a:buFont typeface="Arial"/>
              <a:buNone/>
            </a:pPr>
            <a:r>
              <a:rPr b="1" i="0" lang="en-US" sz="3999" u="none" cap="none" strike="noStrike">
                <a:solidFill>
                  <a:srgbClr val="FFFFFF"/>
                </a:solidFill>
                <a:latin typeface="Poppins"/>
                <a:ea typeface="Poppins"/>
                <a:cs typeface="Poppins"/>
                <a:sym typeface="Poppins"/>
              </a:rPr>
              <a:t>OVERALL REFLECTION</a:t>
            </a:r>
            <a:endParaRPr b="0" i="0" sz="1400" u="none" cap="none" strike="noStrike">
              <a:solidFill>
                <a:srgbClr val="000000"/>
              </a:solidFill>
              <a:latin typeface="Arial"/>
              <a:ea typeface="Arial"/>
              <a:cs typeface="Arial"/>
              <a:sym typeface="Arial"/>
            </a:endParaRPr>
          </a:p>
        </p:txBody>
      </p:sp>
      <p:sp>
        <p:nvSpPr>
          <p:cNvPr id="298" name="Google Shape;298;p7"/>
          <p:cNvSpPr txBox="1"/>
          <p:nvPr/>
        </p:nvSpPr>
        <p:spPr>
          <a:xfrm>
            <a:off x="2534366" y="3982763"/>
            <a:ext cx="15014700" cy="5531700"/>
          </a:xfrm>
          <a:prstGeom prst="rect">
            <a:avLst/>
          </a:prstGeom>
          <a:noFill/>
          <a:ln>
            <a:noFill/>
          </a:ln>
        </p:spPr>
        <p:txBody>
          <a:bodyPr anchorCtr="0" anchor="t" bIns="0" lIns="0" spcFirstLastPara="1" rIns="0" wrap="square" tIns="0">
            <a:spAutoFit/>
          </a:bodyPr>
          <a:lstStyle/>
          <a:p>
            <a:pPr indent="-457200" lvl="0" marL="457200" marR="0" rtl="0" algn="l">
              <a:lnSpc>
                <a:spcPct val="200000"/>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Technique → presence</a:t>
            </a:r>
            <a:endParaRPr b="0" i="0" sz="3600" u="none" cap="none" strike="noStrike">
              <a:solidFill>
                <a:srgbClr val="FFFFFF"/>
              </a:solidFill>
              <a:latin typeface="Poppins"/>
              <a:ea typeface="Poppins"/>
              <a:cs typeface="Poppins"/>
              <a:sym typeface="Poppins"/>
            </a:endParaRPr>
          </a:p>
          <a:p>
            <a:pPr indent="-457200" lvl="0" marL="457200" marR="0" rtl="0" algn="l">
              <a:lnSpc>
                <a:spcPct val="200000"/>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Increased self-awareness</a:t>
            </a:r>
            <a:endParaRPr b="0" i="0" sz="3600" u="none" cap="none" strike="noStrike">
              <a:solidFill>
                <a:srgbClr val="FFFFFF"/>
              </a:solidFill>
              <a:latin typeface="Poppins"/>
              <a:ea typeface="Poppins"/>
              <a:cs typeface="Poppins"/>
              <a:sym typeface="Poppins"/>
            </a:endParaRPr>
          </a:p>
          <a:p>
            <a:pPr indent="-457200" lvl="0" marL="457200" marR="0" rtl="0" algn="l">
              <a:lnSpc>
                <a:spcPct val="200000"/>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Recognition of bias</a:t>
            </a:r>
            <a:endParaRPr b="0" i="0" sz="3600" u="none" cap="none" strike="noStrike">
              <a:solidFill>
                <a:srgbClr val="FFFFFF"/>
              </a:solidFill>
              <a:latin typeface="Poppins"/>
              <a:ea typeface="Poppins"/>
              <a:cs typeface="Poppins"/>
              <a:sym typeface="Poppins"/>
            </a:endParaRPr>
          </a:p>
          <a:p>
            <a:pPr indent="-457200" lvl="0" marL="457200" marR="0" rtl="0" algn="l">
              <a:lnSpc>
                <a:spcPct val="200000"/>
              </a:lnSpc>
              <a:spcBef>
                <a:spcPts val="0"/>
              </a:spcBef>
              <a:spcAft>
                <a:spcPts val="0"/>
              </a:spcAft>
              <a:buClr>
                <a:srgbClr val="FFFFFF"/>
              </a:buClr>
              <a:buSzPts val="3600"/>
              <a:buFont typeface="Poppins"/>
              <a:buChar char="●"/>
            </a:pPr>
            <a:r>
              <a:rPr b="0" i="0" lang="en-US" sz="3600" u="none" cap="none" strike="noStrike">
                <a:solidFill>
                  <a:srgbClr val="FFFFFF"/>
                </a:solidFill>
                <a:latin typeface="Poppins"/>
                <a:ea typeface="Poppins"/>
                <a:cs typeface="Poppins"/>
                <a:sym typeface="Poppins"/>
              </a:rPr>
              <a:t>Commitment to reflection</a:t>
            </a:r>
            <a:endParaRPr b="0" i="0" sz="3600" u="none" cap="none" strike="noStrike">
              <a:solidFill>
                <a:srgbClr val="FFFFFF"/>
              </a:solidFill>
              <a:latin typeface="Poppins"/>
              <a:ea typeface="Poppins"/>
              <a:cs typeface="Poppins"/>
              <a:sym typeface="Poppins"/>
            </a:endParaRPr>
          </a:p>
          <a:p>
            <a:pPr indent="0" lvl="0" marL="457200" marR="0" rtl="0" algn="l">
              <a:lnSpc>
                <a:spcPct val="200000"/>
              </a:lnSpc>
              <a:spcBef>
                <a:spcPts val="0"/>
              </a:spcBef>
              <a:spcAft>
                <a:spcPts val="0"/>
              </a:spcAft>
              <a:buNone/>
            </a:pPr>
            <a:r>
              <a:rPr lang="en-US" sz="3600">
                <a:solidFill>
                  <a:srgbClr val="FFFFFF"/>
                </a:solidFill>
                <a:latin typeface="Poppins"/>
                <a:ea typeface="Poppins"/>
                <a:cs typeface="Poppins"/>
                <a:sym typeface="Poppins"/>
              </a:rPr>
              <a:t>(Australian Counselling Association, 2019)</a:t>
            </a:r>
            <a:endParaRPr sz="3600">
              <a:solidFill>
                <a:srgbClr val="FFFFFF"/>
              </a:solidFill>
              <a:latin typeface="Poppins"/>
              <a:ea typeface="Poppins"/>
              <a:cs typeface="Poppins"/>
              <a:sym typeface="Poppins"/>
            </a:endParaRPr>
          </a:p>
        </p:txBody>
      </p:sp>
      <p:pic>
        <p:nvPicPr>
          <p:cNvPr id="299" name="Google Shape;299;p7"/>
          <p:cNvPicPr preferRelativeResize="0"/>
          <p:nvPr/>
        </p:nvPicPr>
        <p:blipFill rotWithShape="1">
          <a:blip r:embed="rId4">
            <a:alphaModFix/>
          </a:blip>
          <a:srcRect b="0" l="0" r="0" t="0"/>
          <a:stretch/>
        </p:blipFill>
        <p:spPr>
          <a:xfrm>
            <a:off x="13100825" y="3068900"/>
            <a:ext cx="4448250" cy="6253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23164" r="-25021" t="0"/>
            </a:stretch>
          </a:blipFill>
          <a:ln>
            <a:noFill/>
          </a:ln>
        </p:spPr>
      </p:sp>
      <p:sp>
        <p:nvSpPr>
          <p:cNvPr id="207" name="Google Shape;207;p21"/>
          <p:cNvSpPr txBox="1"/>
          <p:nvPr/>
        </p:nvSpPr>
        <p:spPr>
          <a:xfrm>
            <a:off x="6809775" y="997604"/>
            <a:ext cx="10415400" cy="779100"/>
          </a:xfrm>
          <a:prstGeom prst="rect">
            <a:avLst/>
          </a:prstGeom>
          <a:noFill/>
          <a:ln>
            <a:noFill/>
          </a:ln>
        </p:spPr>
        <p:txBody>
          <a:bodyPr anchorCtr="0" anchor="t" bIns="0" lIns="0" spcFirstLastPara="1" rIns="0" wrap="square" tIns="0">
            <a:spAutoFit/>
          </a:bodyPr>
          <a:lstStyle/>
          <a:p>
            <a:pPr indent="0" lvl="0" marL="0" marR="0" rtl="0" algn="l">
              <a:lnSpc>
                <a:spcPct val="112977"/>
              </a:lnSpc>
              <a:spcBef>
                <a:spcPts val="0"/>
              </a:spcBef>
              <a:spcAft>
                <a:spcPts val="0"/>
              </a:spcAft>
              <a:buNone/>
            </a:pPr>
            <a:r>
              <a:rPr b="1" lang="en-US" sz="4500">
                <a:solidFill>
                  <a:srgbClr val="FFFFFF"/>
                </a:solidFill>
                <a:latin typeface="Poppins"/>
                <a:ea typeface="Poppins"/>
                <a:cs typeface="Poppins"/>
                <a:sym typeface="Poppins"/>
              </a:rPr>
              <a:t>REFERENCES</a:t>
            </a:r>
            <a:endParaRPr/>
          </a:p>
        </p:txBody>
      </p:sp>
      <p:sp>
        <p:nvSpPr>
          <p:cNvPr id="208" name="Google Shape;208;p21"/>
          <p:cNvSpPr txBox="1"/>
          <p:nvPr/>
        </p:nvSpPr>
        <p:spPr>
          <a:xfrm>
            <a:off x="1028700" y="2116009"/>
            <a:ext cx="16658400" cy="7407600"/>
          </a:xfrm>
          <a:prstGeom prst="rect">
            <a:avLst/>
          </a:prstGeom>
          <a:noFill/>
          <a:ln>
            <a:noFill/>
          </a:ln>
        </p:spPr>
        <p:txBody>
          <a:bodyPr anchorCtr="0" anchor="t" bIns="0" lIns="0" spcFirstLastPara="1" rIns="0" wrap="square" tIns="0">
            <a:spAutoFit/>
          </a:bodyPr>
          <a:lstStyle/>
          <a:p>
            <a:pPr indent="-419100" lvl="0" marL="457200" marR="0" rtl="0" algn="l">
              <a:lnSpc>
                <a:spcPct val="115000"/>
              </a:lnSpc>
              <a:spcBef>
                <a:spcPts val="0"/>
              </a:spcBef>
              <a:spcAft>
                <a:spcPts val="0"/>
              </a:spcAft>
              <a:buClr>
                <a:srgbClr val="FFFFFF"/>
              </a:buClr>
              <a:buSzPts val="3000"/>
              <a:buFont typeface="Poppins"/>
              <a:buChar char="●"/>
            </a:pPr>
            <a:r>
              <a:rPr lang="en-US" sz="3000">
                <a:solidFill>
                  <a:srgbClr val="FFFFFF"/>
                </a:solidFill>
                <a:latin typeface="Poppins"/>
                <a:ea typeface="Poppins"/>
                <a:cs typeface="Poppins"/>
                <a:sym typeface="Poppins"/>
              </a:rPr>
              <a:t>Australian Counselling Association. (2019). Code of ethics and practice. https://www.theaca.net.au</a:t>
            </a:r>
            <a:endParaRPr sz="3000">
              <a:solidFill>
                <a:srgbClr val="FFFFFF"/>
              </a:solidFill>
              <a:latin typeface="Poppins"/>
              <a:ea typeface="Poppins"/>
              <a:cs typeface="Poppins"/>
              <a:sym typeface="Poppins"/>
            </a:endParaRPr>
          </a:p>
          <a:p>
            <a:pPr indent="-419100" lvl="0" marL="457200" marR="0" rtl="0" algn="l">
              <a:lnSpc>
                <a:spcPct val="115000"/>
              </a:lnSpc>
              <a:spcBef>
                <a:spcPts val="0"/>
              </a:spcBef>
              <a:spcAft>
                <a:spcPts val="0"/>
              </a:spcAft>
              <a:buClr>
                <a:srgbClr val="FFFFFF"/>
              </a:buClr>
              <a:buSzPts val="3000"/>
              <a:buFont typeface="Poppins"/>
              <a:buChar char="●"/>
            </a:pPr>
            <a:r>
              <a:rPr lang="en-US" sz="3000">
                <a:solidFill>
                  <a:srgbClr val="FFFFFF"/>
                </a:solidFill>
                <a:latin typeface="Poppins"/>
                <a:ea typeface="Poppins"/>
                <a:cs typeface="Poppins"/>
                <a:sym typeface="Poppins"/>
              </a:rPr>
              <a:t>Australian Institute of Health and Welfare. (2023). Mental health services in Australia. https://www.aihw.gov.au/reports/mental-health-services</a:t>
            </a:r>
            <a:endParaRPr sz="3000">
              <a:solidFill>
                <a:srgbClr val="FFFFFF"/>
              </a:solidFill>
              <a:latin typeface="Poppins"/>
              <a:ea typeface="Poppins"/>
              <a:cs typeface="Poppins"/>
              <a:sym typeface="Poppins"/>
            </a:endParaRPr>
          </a:p>
          <a:p>
            <a:pPr indent="-419100" lvl="0" marL="457200" marR="0" rtl="0" algn="l">
              <a:lnSpc>
                <a:spcPct val="115000"/>
              </a:lnSpc>
              <a:spcBef>
                <a:spcPts val="0"/>
              </a:spcBef>
              <a:spcAft>
                <a:spcPts val="0"/>
              </a:spcAft>
              <a:buClr>
                <a:srgbClr val="FFFFFF"/>
              </a:buClr>
              <a:buSzPts val="3000"/>
              <a:buFont typeface="Poppins"/>
              <a:buChar char="●"/>
            </a:pPr>
            <a:r>
              <a:rPr lang="en-US" sz="3000">
                <a:solidFill>
                  <a:srgbClr val="FFFFFF"/>
                </a:solidFill>
                <a:latin typeface="Poppins"/>
                <a:ea typeface="Poppins"/>
                <a:cs typeface="Poppins"/>
                <a:sym typeface="Poppins"/>
              </a:rPr>
              <a:t>Beyond Blue. (2022). Mental health in Australia: Practice resources. https://www.beyondblue.org.au</a:t>
            </a:r>
            <a:endParaRPr sz="3000">
              <a:solidFill>
                <a:srgbClr val="FFFFFF"/>
              </a:solidFill>
              <a:latin typeface="Poppins"/>
              <a:ea typeface="Poppins"/>
              <a:cs typeface="Poppins"/>
              <a:sym typeface="Poppins"/>
            </a:endParaRPr>
          </a:p>
          <a:p>
            <a:pPr indent="-419100" lvl="0" marL="457200" marR="0" rtl="0" algn="l">
              <a:lnSpc>
                <a:spcPct val="115000"/>
              </a:lnSpc>
              <a:spcBef>
                <a:spcPts val="0"/>
              </a:spcBef>
              <a:spcAft>
                <a:spcPts val="0"/>
              </a:spcAft>
              <a:buClr>
                <a:srgbClr val="FFFFFF"/>
              </a:buClr>
              <a:buSzPts val="3000"/>
              <a:buFont typeface="Poppins"/>
              <a:buChar char="●"/>
            </a:pPr>
            <a:r>
              <a:rPr lang="en-US" sz="3000">
                <a:solidFill>
                  <a:srgbClr val="FFFFFF"/>
                </a:solidFill>
                <a:latin typeface="Poppins"/>
                <a:ea typeface="Poppins"/>
                <a:cs typeface="Poppins"/>
                <a:sym typeface="Poppins"/>
              </a:rPr>
              <a:t>Department of Health Victoria. (2020). Mental health and wellbeing frameworks. https://www.health.vic.gov.au</a:t>
            </a:r>
            <a:endParaRPr sz="3000">
              <a:solidFill>
                <a:srgbClr val="FFFFFF"/>
              </a:solidFill>
              <a:latin typeface="Poppins"/>
              <a:ea typeface="Poppins"/>
              <a:cs typeface="Poppins"/>
              <a:sym typeface="Poppins"/>
            </a:endParaRPr>
          </a:p>
          <a:p>
            <a:pPr indent="-419100" lvl="0" marL="457200" marR="0" rtl="0" algn="l">
              <a:lnSpc>
                <a:spcPct val="115000"/>
              </a:lnSpc>
              <a:spcBef>
                <a:spcPts val="0"/>
              </a:spcBef>
              <a:spcAft>
                <a:spcPts val="0"/>
              </a:spcAft>
              <a:buClr>
                <a:srgbClr val="FFFFFF"/>
              </a:buClr>
              <a:buSzPts val="3000"/>
              <a:buFont typeface="Poppins"/>
              <a:buChar char="●"/>
            </a:pPr>
            <a:r>
              <a:rPr lang="en-US" sz="3000">
                <a:solidFill>
                  <a:srgbClr val="FFFFFF"/>
                </a:solidFill>
                <a:latin typeface="Poppins"/>
                <a:ea typeface="Poppins"/>
                <a:cs typeface="Poppins"/>
                <a:sym typeface="Poppins"/>
              </a:rPr>
              <a:t>Headspace Australia. (2021). Youth mental health practice guidelines. https://headspace.org.au</a:t>
            </a:r>
            <a:endParaRPr sz="3000">
              <a:solidFill>
                <a:srgbClr val="FFFFFF"/>
              </a:solidFill>
              <a:latin typeface="Poppins"/>
              <a:ea typeface="Poppins"/>
              <a:cs typeface="Poppins"/>
              <a:sym typeface="Poppins"/>
            </a:endParaRPr>
          </a:p>
          <a:p>
            <a:pPr indent="-419100" lvl="0" marL="457200" marR="0" rtl="0" algn="l">
              <a:lnSpc>
                <a:spcPct val="115000"/>
              </a:lnSpc>
              <a:spcBef>
                <a:spcPts val="0"/>
              </a:spcBef>
              <a:spcAft>
                <a:spcPts val="0"/>
              </a:spcAft>
              <a:buClr>
                <a:srgbClr val="FFFFFF"/>
              </a:buClr>
              <a:buSzPts val="3000"/>
              <a:buFont typeface="Poppins"/>
              <a:buChar char="●"/>
            </a:pPr>
            <a:r>
              <a:rPr lang="en-US" sz="3000">
                <a:solidFill>
                  <a:srgbClr val="FFFFFF"/>
                </a:solidFill>
                <a:latin typeface="Poppins"/>
                <a:ea typeface="Poppins"/>
                <a:cs typeface="Poppins"/>
                <a:sym typeface="Poppins"/>
              </a:rPr>
              <a:t>Moon, J. A. (2020). Reflection in learning and professional development: Theory and practice. Routledge.</a:t>
            </a:r>
            <a:endParaRPr sz="3000">
              <a:solidFill>
                <a:srgbClr val="FFFFFF"/>
              </a:solidFill>
              <a:latin typeface="Poppins"/>
              <a:ea typeface="Poppins"/>
              <a:cs typeface="Poppins"/>
              <a:sym typeface="Poppins"/>
            </a:endParaRPr>
          </a:p>
          <a:p>
            <a:pPr indent="-419100" lvl="0" marL="457200" marR="0" rtl="0" algn="l">
              <a:lnSpc>
                <a:spcPct val="115000"/>
              </a:lnSpc>
              <a:spcBef>
                <a:spcPts val="0"/>
              </a:spcBef>
              <a:spcAft>
                <a:spcPts val="0"/>
              </a:spcAft>
              <a:buClr>
                <a:srgbClr val="FFFFFF"/>
              </a:buClr>
              <a:buSzPts val="3000"/>
              <a:buFont typeface="Poppins"/>
              <a:buChar char="●"/>
            </a:pPr>
            <a:r>
              <a:rPr lang="en-US" sz="3000">
                <a:solidFill>
                  <a:srgbClr val="FFFFFF"/>
                </a:solidFill>
                <a:latin typeface="Poppins"/>
                <a:ea typeface="Poppins"/>
                <a:cs typeface="Poppins"/>
                <a:sym typeface="Poppins"/>
              </a:rPr>
              <a:t>Psychotherapy and Counselling Federation of Australia. (2026). Updated code of ethics and professional conduct. https://www.pacfa.org.au</a:t>
            </a:r>
            <a:endParaRPr sz="3000">
              <a:solidFill>
                <a:srgbClr val="FFFFFF"/>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