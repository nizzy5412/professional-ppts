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9" r:id="rId4"/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oboto Serif"/>
      <p:regular r:id="rId18"/>
      <p:bold r:id="rId19"/>
      <p:italic r:id="rId20"/>
      <p:boldItalic r:id="rId21"/>
    </p:embeddedFont>
    <p:embeddedFont>
      <p:font typeface="Inter Tight Medium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Inter Tight"/>
      <p:regular r:id="rId34"/>
      <p:bold r:id="rId35"/>
      <p:italic r:id="rId36"/>
      <p:boldItalic r:id="rId37"/>
    </p:embeddedFont>
    <p:embeddedFont>
      <p:font typeface="Roboto Serif Medium"/>
      <p:regular r:id="rId38"/>
      <p:bold r:id="rId39"/>
      <p:italic r:id="rId40"/>
      <p:boldItalic r:id="rId41"/>
    </p:embeddedFont>
    <p:embeddedFont>
      <p:font typeface="Inter Tight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Medium-italic.fntdata"/><Relationship Id="rId20" Type="http://schemas.openxmlformats.org/officeDocument/2006/relationships/font" Target="fonts/RobotoSerif-italic.fntdata"/><Relationship Id="rId42" Type="http://schemas.openxmlformats.org/officeDocument/2006/relationships/font" Target="fonts/InterTightSemiBold-regular.fntdata"/><Relationship Id="rId41" Type="http://schemas.openxmlformats.org/officeDocument/2006/relationships/font" Target="fonts/RobotoSerifMedium-boldItalic.fntdata"/><Relationship Id="rId22" Type="http://schemas.openxmlformats.org/officeDocument/2006/relationships/font" Target="fonts/InterTightMedium-regular.fntdata"/><Relationship Id="rId44" Type="http://schemas.openxmlformats.org/officeDocument/2006/relationships/font" Target="fonts/InterTightSemiBold-italic.fntdata"/><Relationship Id="rId21" Type="http://schemas.openxmlformats.org/officeDocument/2006/relationships/font" Target="fonts/RobotoSerif-boldItalic.fntdata"/><Relationship Id="rId43" Type="http://schemas.openxmlformats.org/officeDocument/2006/relationships/font" Target="fonts/InterTightSemiBold-bold.fntdata"/><Relationship Id="rId24" Type="http://schemas.openxmlformats.org/officeDocument/2006/relationships/font" Target="fonts/InterTightMedium-italic.fntdata"/><Relationship Id="rId23" Type="http://schemas.openxmlformats.org/officeDocument/2006/relationships/font" Target="fonts/InterTightMedium-bold.fntdata"/><Relationship Id="rId45" Type="http://schemas.openxmlformats.org/officeDocument/2006/relationships/font" Target="fonts/InterTightSemiBold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font" Target="fonts/InterTightMedium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4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6.xml"/><Relationship Id="rId35" Type="http://schemas.openxmlformats.org/officeDocument/2006/relationships/font" Target="fonts/InterTight-bold.fntdata"/><Relationship Id="rId12" Type="http://schemas.openxmlformats.org/officeDocument/2006/relationships/slide" Target="slides/slide5.xml"/><Relationship Id="rId34" Type="http://schemas.openxmlformats.org/officeDocument/2006/relationships/font" Target="fonts/InterTight-regular.fntdata"/><Relationship Id="rId15" Type="http://schemas.openxmlformats.org/officeDocument/2006/relationships/slide" Target="slides/slide8.xml"/><Relationship Id="rId37" Type="http://schemas.openxmlformats.org/officeDocument/2006/relationships/font" Target="fonts/InterTight-boldItalic.fntdata"/><Relationship Id="rId14" Type="http://schemas.openxmlformats.org/officeDocument/2006/relationships/slide" Target="slides/slide7.xml"/><Relationship Id="rId36" Type="http://schemas.openxmlformats.org/officeDocument/2006/relationships/font" Target="fonts/InterTight-italic.fntdata"/><Relationship Id="rId17" Type="http://schemas.openxmlformats.org/officeDocument/2006/relationships/slide" Target="slides/slide10.xml"/><Relationship Id="rId39" Type="http://schemas.openxmlformats.org/officeDocument/2006/relationships/font" Target="fonts/RobotoSerifMedium-bold.fntdata"/><Relationship Id="rId16" Type="http://schemas.openxmlformats.org/officeDocument/2006/relationships/slide" Target="slides/slide9.xml"/><Relationship Id="rId38" Type="http://schemas.openxmlformats.org/officeDocument/2006/relationships/font" Target="fonts/RobotoSerifMedium-regular.fntdata"/><Relationship Id="rId19" Type="http://schemas.openxmlformats.org/officeDocument/2006/relationships/font" Target="fonts/RobotoSerif-bold.fntdata"/><Relationship Id="rId18" Type="http://schemas.openxmlformats.org/officeDocument/2006/relationships/font" Target="fonts/RobotoSerif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af81a43e30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af81a43e30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f81a43e30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af81a43e30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presentation explores how rationalists and empiricists define knowledge, approach metaphysical issues, and apply their methods in philosophy and science.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af81a43e30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af81a43e30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Rationalists believe knowledge originates in reason and innate ideas. Descartes argued that logic and thought uncover truths independent of experience (Robinson, 2020).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af81a43e30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af81a43e30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Empiricists argue experience is the only true foundation of knowledge. Locke’s idea of the mind as a tabula rasa reflects this experiential basis (BonJour &amp; Sosa, 2017).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af81a43e30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af81a43e30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Rationalists and empiricists differ on whether knowledge arises internally or externally. Rationalists trust reasoning, while empiricists require evidence and experience.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af81a43e30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af81a43e30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traditions yield different metaphysical outlooks. Rationalists view mind and reason as core realities; empiricists often challenge the coherence of the “self.”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af81a43e30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af81a43e30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Rationalism seeks internal coherence and logical necessity, while empiricism draws conclusions from observable data and adjusts based on new findings (Casullo, 2020).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60fc7672a266c3c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60fc7672a266c3c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empiricism is central to science, rationalist thought is essential in ethics and mathematics. Many modern philosophers blend the strengths of both (Audi, 2015).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60fc7672a266c3c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60fc7672a266c3c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Personally, I favor empiricism for its real-world applications, but I value rationalism for moral reasoning and logic. A dual approach yields the richest insights.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af81a43e30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af81a43e30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7" name="Google Shape;5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4" name="Google Shape;114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9" name="Google Shape;139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" name="Google Shape;167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5" name="Google Shape;18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7" name="Google Shape;187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8" name="Google Shape;208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19" name="Google Shape;21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0" name="Google Shape;22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2" name="Google Shape;22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5" name="Google Shape;235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1" name="Google Shape;25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2" name="Google Shape;26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4" name="Google Shape;274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5" name="Google Shape;275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0" name="Google Shape;280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3" name="Google Shape;28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4" name="Google Shape;28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5" name="Google Shape;28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6" name="Google Shape;28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8" name="Google Shape;308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3" name="Google Shape;313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19" name="Google Shape;31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0" name="Google Shape;32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1" name="Google Shape;32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2" name="Google Shape;32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3" name="Google Shape;33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5" name="Google Shape;345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6" name="Google Shape;34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7" name="Google Shape;34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8" name="Google Shape;34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49" name="Google Shape;34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1" name="Google Shape;35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2" name="Google Shape;35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9" name="Google Shape;359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3"/>
          <p:cNvSpPr txBox="1"/>
          <p:nvPr>
            <p:ph type="ctrTitle"/>
          </p:nvPr>
        </p:nvSpPr>
        <p:spPr>
          <a:xfrm>
            <a:off x="311704" y="1463846"/>
            <a:ext cx="4728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53"/>
          <p:cNvSpPr txBox="1"/>
          <p:nvPr>
            <p:ph idx="1" type="subTitle"/>
          </p:nvPr>
        </p:nvSpPr>
        <p:spPr>
          <a:xfrm>
            <a:off x="311700" y="3552100"/>
            <a:ext cx="386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0" name="Google Shape;37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4" name="Google Shape;37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377" name="Google Shape;377;p5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8" name="Google Shape;378;p5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9" name="Google Shape;37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382" name="Google Shape;38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5" name="Google Shape;385;p5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6" name="Google Shape;38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9" name="Google Shape;38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3" name="Google Shape;393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4" name="Google Shape;394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5" name="Google Shape;39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8" name="Google Shape;39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1" name="Google Shape;401;p6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05" name="Google Shape;40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6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6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6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6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6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6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14" name="Google Shape;414;p6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5" name="Google Shape;415;p6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6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0" name="Google Shape;420;p6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1" name="Google Shape;421;p6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6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6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6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7" name="Google Shape;427;p6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8" name="Google Shape;428;p6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6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0" name="Google Shape;430;p6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6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6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6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6" name="Google Shape;436;p6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6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8" name="Google Shape;438;p6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6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6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6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6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6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46" name="Google Shape;44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6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6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6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55" name="Google Shape;455;p6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6" name="Google Shape;456;p6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9" name="Google Shape;459;p7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7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7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7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7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4" name="Google Shape;464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66" name="Google Shape;466;p7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7" name="Google Shape;467;p7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8" name="Google Shape;468;p7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7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7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7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7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7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7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7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481" name="Google Shape;481;p7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7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7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3"/>
          <p:cNvSpPr/>
          <p:nvPr/>
        </p:nvSpPr>
        <p:spPr>
          <a:xfrm>
            <a:off x="330299" y="-1669950"/>
            <a:ext cx="8483400" cy="8483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486" name="Google Shape;486;p73"/>
          <p:cNvSpPr/>
          <p:nvPr/>
        </p:nvSpPr>
        <p:spPr>
          <a:xfrm>
            <a:off x="650850" y="-1349400"/>
            <a:ext cx="7842300" cy="784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87" name="Google Shape;487;p73"/>
          <p:cNvSpPr txBox="1"/>
          <p:nvPr>
            <p:ph type="title"/>
          </p:nvPr>
        </p:nvSpPr>
        <p:spPr>
          <a:xfrm>
            <a:off x="650850" y="1825650"/>
            <a:ext cx="78423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solidFill>
          <a:schemeClr val="dk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4"/>
          <p:cNvSpPr/>
          <p:nvPr/>
        </p:nvSpPr>
        <p:spPr>
          <a:xfrm>
            <a:off x="330299" y="-1669950"/>
            <a:ext cx="8483400" cy="8483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491" name="Google Shape;491;p74"/>
          <p:cNvSpPr/>
          <p:nvPr/>
        </p:nvSpPr>
        <p:spPr>
          <a:xfrm>
            <a:off x="650850" y="-1349400"/>
            <a:ext cx="7842300" cy="784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92" name="Google Shape;492;p74"/>
          <p:cNvSpPr txBox="1"/>
          <p:nvPr>
            <p:ph type="title"/>
          </p:nvPr>
        </p:nvSpPr>
        <p:spPr>
          <a:xfrm>
            <a:off x="650850" y="1825650"/>
            <a:ext cx="78423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3" name="Google Shape;49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icker Bank">
  <p:cSld name="SECTION_HEADER_1_1">
    <p:bg>
      <p:bgPr>
        <a:solidFill>
          <a:schemeClr val="dk1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5"/>
          <p:cNvSpPr/>
          <p:nvPr/>
        </p:nvSpPr>
        <p:spPr>
          <a:xfrm>
            <a:off x="330299" y="-1669950"/>
            <a:ext cx="8483400" cy="8483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lt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496" name="Google Shape;496;p75"/>
          <p:cNvSpPr/>
          <p:nvPr/>
        </p:nvSpPr>
        <p:spPr>
          <a:xfrm>
            <a:off x="650850" y="-1349400"/>
            <a:ext cx="7842300" cy="784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97" name="Google Shape;497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75"/>
          <p:cNvSpPr txBox="1"/>
          <p:nvPr>
            <p:ph idx="1" type="subTitle"/>
          </p:nvPr>
        </p:nvSpPr>
        <p:spPr>
          <a:xfrm>
            <a:off x="1509750" y="807488"/>
            <a:ext cx="61245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boto Serif"/>
              <a:buNone/>
              <a:defRPr b="1" sz="42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99" name="Google Shape;499;p75"/>
          <p:cNvSpPr txBox="1"/>
          <p:nvPr>
            <p:ph idx="2" type="body"/>
          </p:nvPr>
        </p:nvSpPr>
        <p:spPr>
          <a:xfrm>
            <a:off x="1847850" y="1559575"/>
            <a:ext cx="5448300" cy="24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0" name="Google Shape;500;p75"/>
          <p:cNvSpPr txBox="1"/>
          <p:nvPr>
            <p:ph idx="3" type="body"/>
          </p:nvPr>
        </p:nvSpPr>
        <p:spPr>
          <a:xfrm>
            <a:off x="1509750" y="1763213"/>
            <a:ext cx="6124500" cy="25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bg>
      <p:bgPr>
        <a:solidFill>
          <a:schemeClr val="dk1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6"/>
          <p:cNvSpPr txBox="1"/>
          <p:nvPr>
            <p:ph idx="1" type="subTitle"/>
          </p:nvPr>
        </p:nvSpPr>
        <p:spPr>
          <a:xfrm>
            <a:off x="1032600" y="257925"/>
            <a:ext cx="70788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b="1"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None/>
              <a:defRPr b="1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3" name="Google Shape;503;p76"/>
          <p:cNvSpPr txBox="1"/>
          <p:nvPr>
            <p:ph idx="2" type="body"/>
          </p:nvPr>
        </p:nvSpPr>
        <p:spPr>
          <a:xfrm>
            <a:off x="2827800" y="1744500"/>
            <a:ext cx="3488400" cy="21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4" name="Google Shape;50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76"/>
          <p:cNvSpPr/>
          <p:nvPr/>
        </p:nvSpPr>
        <p:spPr>
          <a:xfrm flipH="1">
            <a:off x="-2099288" y="669925"/>
            <a:ext cx="4196100" cy="41961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6" name="Google Shape;506;p76"/>
          <p:cNvSpPr/>
          <p:nvPr/>
        </p:nvSpPr>
        <p:spPr>
          <a:xfrm>
            <a:off x="7053962" y="669925"/>
            <a:ext cx="4196100" cy="41961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7"/>
          <p:cNvSpPr txBox="1"/>
          <p:nvPr>
            <p:ph idx="1" type="body"/>
          </p:nvPr>
        </p:nvSpPr>
        <p:spPr>
          <a:xfrm>
            <a:off x="2827800" y="1744500"/>
            <a:ext cx="3488400" cy="21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9pPr>
          </a:lstStyle>
          <a:p/>
        </p:txBody>
      </p:sp>
      <p:sp>
        <p:nvSpPr>
          <p:cNvPr id="509" name="Google Shape;50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77"/>
          <p:cNvSpPr/>
          <p:nvPr/>
        </p:nvSpPr>
        <p:spPr>
          <a:xfrm flipH="1">
            <a:off x="-2099288" y="669925"/>
            <a:ext cx="4196100" cy="41961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1" name="Google Shape;511;p77"/>
          <p:cNvSpPr/>
          <p:nvPr/>
        </p:nvSpPr>
        <p:spPr>
          <a:xfrm>
            <a:off x="7053962" y="669925"/>
            <a:ext cx="4196100" cy="41961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2" name="Google Shape;512;p77"/>
          <p:cNvSpPr txBox="1"/>
          <p:nvPr>
            <p:ph idx="2" type="subTitle"/>
          </p:nvPr>
        </p:nvSpPr>
        <p:spPr>
          <a:xfrm>
            <a:off x="1032600" y="257925"/>
            <a:ext cx="70788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boto Serif"/>
              <a:buNone/>
              <a:defRPr b="1" sz="42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 type="twoColTx">
  <p:cSld name="TITLE_AND_TWO_COLUMNS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8"/>
          <p:cNvSpPr txBox="1"/>
          <p:nvPr>
            <p:ph idx="1" type="body"/>
          </p:nvPr>
        </p:nvSpPr>
        <p:spPr>
          <a:xfrm>
            <a:off x="4269825" y="1524575"/>
            <a:ext cx="4562400" cy="28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5" name="Google Shape;515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78"/>
          <p:cNvSpPr txBox="1"/>
          <p:nvPr>
            <p:ph idx="2" type="subTitle"/>
          </p:nvPr>
        </p:nvSpPr>
        <p:spPr>
          <a:xfrm>
            <a:off x="1032600" y="257925"/>
            <a:ext cx="70788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boto Serif"/>
              <a:buNone/>
              <a:defRPr b="1" sz="42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17" name="Google Shape;517;p78"/>
          <p:cNvSpPr/>
          <p:nvPr/>
        </p:nvSpPr>
        <p:spPr>
          <a:xfrm>
            <a:off x="283475" y="1477523"/>
            <a:ext cx="3185700" cy="3185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518" name="Google Shape;518;p78"/>
          <p:cNvSpPr/>
          <p:nvPr>
            <p:ph idx="3" type="pic"/>
          </p:nvPr>
        </p:nvSpPr>
        <p:spPr>
          <a:xfrm>
            <a:off x="471125" y="1278125"/>
            <a:ext cx="3309900" cy="3309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" type="titleOnly">
  <p:cSld name="TITLE_ONL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79"/>
          <p:cNvSpPr txBox="1"/>
          <p:nvPr>
            <p:ph idx="1" type="subTitle"/>
          </p:nvPr>
        </p:nvSpPr>
        <p:spPr>
          <a:xfrm>
            <a:off x="1032600" y="257925"/>
            <a:ext cx="70788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boto Serif"/>
              <a:buNone/>
              <a:defRPr b="1" sz="42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22" name="Google Shape;522;p79"/>
          <p:cNvSpPr/>
          <p:nvPr/>
        </p:nvSpPr>
        <p:spPr>
          <a:xfrm flipH="1">
            <a:off x="-1649150" y="1434888"/>
            <a:ext cx="2273700" cy="22737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p79"/>
          <p:cNvSpPr/>
          <p:nvPr/>
        </p:nvSpPr>
        <p:spPr>
          <a:xfrm flipH="1" rot="10800000">
            <a:off x="8519450" y="1434888"/>
            <a:ext cx="2273700" cy="2273700"/>
          </a:xfrm>
          <a:prstGeom prst="pie">
            <a:avLst>
              <a:gd fmla="val 5398085" name="adj1"/>
              <a:gd fmla="val 1620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4" name="Google Shape;524;p79"/>
          <p:cNvSpPr/>
          <p:nvPr>
            <p:ph idx="2" type="pic"/>
          </p:nvPr>
        </p:nvSpPr>
        <p:spPr>
          <a:xfrm>
            <a:off x="893000" y="1434888"/>
            <a:ext cx="2273700" cy="2273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79"/>
          <p:cNvSpPr txBox="1"/>
          <p:nvPr>
            <p:ph idx="3" type="subTitle"/>
          </p:nvPr>
        </p:nvSpPr>
        <p:spPr>
          <a:xfrm>
            <a:off x="956150" y="3857063"/>
            <a:ext cx="2147400" cy="2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79"/>
          <p:cNvSpPr txBox="1"/>
          <p:nvPr>
            <p:ph idx="4" type="body"/>
          </p:nvPr>
        </p:nvSpPr>
        <p:spPr>
          <a:xfrm>
            <a:off x="956150" y="4115766"/>
            <a:ext cx="2147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9pPr>
          </a:lstStyle>
          <a:p/>
        </p:txBody>
      </p:sp>
      <p:sp>
        <p:nvSpPr>
          <p:cNvPr id="527" name="Google Shape;527;p79"/>
          <p:cNvSpPr/>
          <p:nvPr>
            <p:ph idx="5" type="pic"/>
          </p:nvPr>
        </p:nvSpPr>
        <p:spPr>
          <a:xfrm>
            <a:off x="3435150" y="1434888"/>
            <a:ext cx="2273700" cy="2273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79"/>
          <p:cNvSpPr/>
          <p:nvPr>
            <p:ph idx="6" type="pic"/>
          </p:nvPr>
        </p:nvSpPr>
        <p:spPr>
          <a:xfrm>
            <a:off x="5977300" y="1434888"/>
            <a:ext cx="2273700" cy="2273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79"/>
          <p:cNvSpPr txBox="1"/>
          <p:nvPr>
            <p:ph idx="7" type="subTitle"/>
          </p:nvPr>
        </p:nvSpPr>
        <p:spPr>
          <a:xfrm>
            <a:off x="3498300" y="3857063"/>
            <a:ext cx="2147400" cy="2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79"/>
          <p:cNvSpPr txBox="1"/>
          <p:nvPr>
            <p:ph idx="8" type="body"/>
          </p:nvPr>
        </p:nvSpPr>
        <p:spPr>
          <a:xfrm>
            <a:off x="3498300" y="4115766"/>
            <a:ext cx="2147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9pPr>
          </a:lstStyle>
          <a:p/>
        </p:txBody>
      </p:sp>
      <p:sp>
        <p:nvSpPr>
          <p:cNvPr id="531" name="Google Shape;531;p79"/>
          <p:cNvSpPr txBox="1"/>
          <p:nvPr>
            <p:ph idx="9" type="subTitle"/>
          </p:nvPr>
        </p:nvSpPr>
        <p:spPr>
          <a:xfrm>
            <a:off x="6040450" y="3857063"/>
            <a:ext cx="2147400" cy="2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79"/>
          <p:cNvSpPr txBox="1"/>
          <p:nvPr>
            <p:ph idx="13" type="body"/>
          </p:nvPr>
        </p:nvSpPr>
        <p:spPr>
          <a:xfrm>
            <a:off x="6040450" y="4115766"/>
            <a:ext cx="2147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ONE_COLUMN_TEXT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80"/>
          <p:cNvSpPr txBox="1"/>
          <p:nvPr>
            <p:ph idx="1" type="subTitle"/>
          </p:nvPr>
        </p:nvSpPr>
        <p:spPr>
          <a:xfrm>
            <a:off x="1032600" y="257925"/>
            <a:ext cx="70788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boto Serif"/>
              <a:buNone/>
              <a:defRPr b="1" sz="42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36" name="Google Shape;536;p80"/>
          <p:cNvSpPr/>
          <p:nvPr/>
        </p:nvSpPr>
        <p:spPr>
          <a:xfrm>
            <a:off x="283475" y="1317561"/>
            <a:ext cx="3467100" cy="34671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537" name="Google Shape;537;p80"/>
          <p:cNvSpPr/>
          <p:nvPr>
            <p:ph idx="2" type="pic"/>
          </p:nvPr>
        </p:nvSpPr>
        <p:spPr>
          <a:xfrm>
            <a:off x="487700" y="1100550"/>
            <a:ext cx="3602100" cy="36021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80"/>
          <p:cNvSpPr/>
          <p:nvPr/>
        </p:nvSpPr>
        <p:spPr>
          <a:xfrm>
            <a:off x="5199624" y="1100550"/>
            <a:ext cx="3602100" cy="36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2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539" name="Google Shape;539;p80"/>
          <p:cNvSpPr txBox="1"/>
          <p:nvPr>
            <p:ph idx="3" type="subTitle"/>
          </p:nvPr>
        </p:nvSpPr>
        <p:spPr>
          <a:xfrm>
            <a:off x="5671825" y="1720250"/>
            <a:ext cx="2657700" cy="5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Font typeface="Roboto Serif"/>
              <a:buNone/>
              <a:defRPr b="1" sz="25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None/>
              <a:defRPr b="1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40" name="Google Shape;540;p80"/>
          <p:cNvSpPr txBox="1"/>
          <p:nvPr>
            <p:ph idx="4" type="body"/>
          </p:nvPr>
        </p:nvSpPr>
        <p:spPr>
          <a:xfrm>
            <a:off x="5545525" y="2226050"/>
            <a:ext cx="2910300" cy="15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1pPr>
            <a:lvl2pPr indent="-355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2pPr>
            <a:lvl3pPr indent="-355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3pPr>
            <a:lvl4pPr indent="-355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4pPr>
            <a:lvl5pPr indent="-355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5pPr>
            <a:lvl6pPr indent="-355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6pPr>
            <a:lvl7pPr indent="-355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/>
            </a:lvl7pPr>
            <a:lvl8pPr indent="-355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  <a:defRPr sz="2000"/>
            </a:lvl8pPr>
            <a:lvl9pPr indent="-355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■"/>
              <a:defRPr sz="2000"/>
            </a:lvl9pPr>
          </a:lstStyle>
          <a:p/>
        </p:txBody>
      </p:sp>
      <p:sp>
        <p:nvSpPr>
          <p:cNvPr id="541" name="Google Shape;541;p80"/>
          <p:cNvSpPr/>
          <p:nvPr>
            <p:ph idx="5" type="pic"/>
          </p:nvPr>
        </p:nvSpPr>
        <p:spPr>
          <a:xfrm>
            <a:off x="3421975" y="1476825"/>
            <a:ext cx="1517100" cy="15171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80"/>
          <p:cNvSpPr txBox="1"/>
          <p:nvPr>
            <p:ph idx="6" type="body"/>
          </p:nvPr>
        </p:nvSpPr>
        <p:spPr>
          <a:xfrm>
            <a:off x="5671825" y="3743150"/>
            <a:ext cx="2657700" cy="5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sz="1200"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 1">
  <p:cSld name="MAIN_POINT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81"/>
          <p:cNvSpPr/>
          <p:nvPr>
            <p:ph idx="2" type="pic"/>
          </p:nvPr>
        </p:nvSpPr>
        <p:spPr>
          <a:xfrm>
            <a:off x="-1862775" y="0"/>
            <a:ext cx="5143500" cy="5143500"/>
          </a:xfrm>
          <a:prstGeom prst="flowChartDelay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81"/>
          <p:cNvSpPr txBox="1"/>
          <p:nvPr>
            <p:ph idx="1" type="subTitle"/>
          </p:nvPr>
        </p:nvSpPr>
        <p:spPr>
          <a:xfrm>
            <a:off x="3476475" y="1981200"/>
            <a:ext cx="54582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Roboto Serif"/>
              <a:buNone/>
              <a:defRPr b="1" sz="38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47" name="Google Shape;547;p81"/>
          <p:cNvSpPr txBox="1"/>
          <p:nvPr>
            <p:ph idx="3" type="body"/>
          </p:nvPr>
        </p:nvSpPr>
        <p:spPr>
          <a:xfrm>
            <a:off x="3476475" y="2609850"/>
            <a:ext cx="45054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 2">
  <p:cSld name="MAIN_POINT_1">
    <p:bg>
      <p:bgPr>
        <a:solidFill>
          <a:schemeClr val="dk1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82"/>
          <p:cNvSpPr/>
          <p:nvPr>
            <p:ph idx="2" type="pic"/>
          </p:nvPr>
        </p:nvSpPr>
        <p:spPr>
          <a:xfrm>
            <a:off x="-1862775" y="0"/>
            <a:ext cx="5143500" cy="5143500"/>
          </a:xfrm>
          <a:prstGeom prst="flowChartDelay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82"/>
          <p:cNvSpPr txBox="1"/>
          <p:nvPr>
            <p:ph idx="1" type="subTitle"/>
          </p:nvPr>
        </p:nvSpPr>
        <p:spPr>
          <a:xfrm>
            <a:off x="3476475" y="1981200"/>
            <a:ext cx="54582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 Serif"/>
              <a:buNone/>
              <a:defRPr b="1" sz="3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2" name="Google Shape;552;p82"/>
          <p:cNvSpPr txBox="1"/>
          <p:nvPr>
            <p:ph idx="3" type="body"/>
          </p:nvPr>
        </p:nvSpPr>
        <p:spPr>
          <a:xfrm>
            <a:off x="3476475" y="2609850"/>
            <a:ext cx="45054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Gallery">
  <p:cSld name="CUSTOM">
    <p:bg>
      <p:bgPr>
        <a:solidFill>
          <a:schemeClr val="dk1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3"/>
          <p:cNvSpPr/>
          <p:nvPr>
            <p:ph idx="2" type="pic"/>
          </p:nvPr>
        </p:nvSpPr>
        <p:spPr>
          <a:xfrm>
            <a:off x="3539925" y="243425"/>
            <a:ext cx="1696800" cy="16968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83"/>
          <p:cNvSpPr/>
          <p:nvPr>
            <p:ph idx="3" type="pic"/>
          </p:nvPr>
        </p:nvSpPr>
        <p:spPr>
          <a:xfrm>
            <a:off x="6620900" y="1364900"/>
            <a:ext cx="2147400" cy="2147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83"/>
          <p:cNvSpPr/>
          <p:nvPr>
            <p:ph idx="4" type="pic"/>
          </p:nvPr>
        </p:nvSpPr>
        <p:spPr>
          <a:xfrm>
            <a:off x="264725" y="1831950"/>
            <a:ext cx="2789700" cy="27897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83"/>
          <p:cNvSpPr/>
          <p:nvPr>
            <p:ph idx="5" type="pic"/>
          </p:nvPr>
        </p:nvSpPr>
        <p:spPr>
          <a:xfrm>
            <a:off x="3404025" y="3975500"/>
            <a:ext cx="2147400" cy="2147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78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0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2"/>
          <p:cNvSpPr txBox="1"/>
          <p:nvPr>
            <p:ph type="title"/>
          </p:nvPr>
        </p:nvSpPr>
        <p:spPr>
          <a:xfrm>
            <a:off x="311700" y="445025"/>
            <a:ext cx="8520600" cy="15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 Serif"/>
              <a:buNone/>
              <a:defRPr b="1" sz="5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23589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3" name="Google Shape;36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5"/>
          <p:cNvSpPr txBox="1"/>
          <p:nvPr>
            <p:ph type="ctrTitle"/>
          </p:nvPr>
        </p:nvSpPr>
        <p:spPr>
          <a:xfrm>
            <a:off x="647125" y="1195750"/>
            <a:ext cx="8496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51C75"/>
                </a:solidFill>
                <a:latin typeface="Roboto Serif"/>
                <a:ea typeface="Roboto Serif"/>
                <a:cs typeface="Roboto Serif"/>
                <a:sym typeface="Roboto Serif"/>
              </a:rPr>
              <a:t>Rationalism vs. Empiricism: Foundations of Human Knowledge</a:t>
            </a:r>
            <a:endParaRPr b="1" sz="4000">
              <a:solidFill>
                <a:srgbClr val="351C75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65" name="Google Shape;565;p85"/>
          <p:cNvSpPr txBox="1"/>
          <p:nvPr>
            <p:ph idx="1" type="subTitle"/>
          </p:nvPr>
        </p:nvSpPr>
        <p:spPr>
          <a:xfrm>
            <a:off x="647125" y="3034800"/>
            <a:ext cx="6457200" cy="14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Institution Name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6"/>
          <p:cNvSpPr txBox="1"/>
          <p:nvPr>
            <p:ph idx="2" type="subTitle"/>
          </p:nvPr>
        </p:nvSpPr>
        <p:spPr>
          <a:xfrm>
            <a:off x="232550" y="257925"/>
            <a:ext cx="78789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Introduction to the Debate</a:t>
            </a:r>
            <a:endParaRPr sz="2700"/>
          </a:p>
        </p:txBody>
      </p:sp>
      <p:sp>
        <p:nvSpPr>
          <p:cNvPr id="571" name="Google Shape;571;p86"/>
          <p:cNvSpPr txBox="1"/>
          <p:nvPr/>
        </p:nvSpPr>
        <p:spPr>
          <a:xfrm>
            <a:off x="4273300" y="1521275"/>
            <a:ext cx="45558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rPr b="1" lang="en" sz="1500">
                <a:solidFill>
                  <a:schemeClr val="lt2"/>
                </a:solidFill>
              </a:rPr>
              <a:t>Rationalism and Empiricism offer different sources of knowledge</a:t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t/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rPr b="1" lang="en" sz="1500">
                <a:solidFill>
                  <a:schemeClr val="lt2"/>
                </a:solidFill>
              </a:rPr>
              <a:t>The debate concerns how we know what we know</a:t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t/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rPr b="1" lang="en" sz="1500">
                <a:solidFill>
                  <a:schemeClr val="lt2"/>
                </a:solidFill>
              </a:rPr>
              <a:t>Impacts epistemology, metaphysics, and methodology</a:t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t/>
            </a:r>
            <a:endParaRPr b="1" sz="15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Char char="●"/>
            </a:pPr>
            <a:r>
              <a:rPr b="1" lang="en" sz="1500">
                <a:solidFill>
                  <a:schemeClr val="lt2"/>
                </a:solidFill>
              </a:rPr>
              <a:t>Still influences modern science and philosophy</a:t>
            </a:r>
            <a:endParaRPr b="1" sz="1500">
              <a:solidFill>
                <a:schemeClr val="lt2"/>
              </a:solidFill>
            </a:endParaRPr>
          </a:p>
        </p:txBody>
      </p:sp>
      <p:pic>
        <p:nvPicPr>
          <p:cNvPr id="572" name="Google Shape;57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2425"/>
            <a:ext cx="4120900" cy="34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7"/>
          <p:cNvSpPr txBox="1"/>
          <p:nvPr>
            <p:ph idx="2" type="subTitle"/>
          </p:nvPr>
        </p:nvSpPr>
        <p:spPr>
          <a:xfrm>
            <a:off x="601575" y="257925"/>
            <a:ext cx="75099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Rationalism Explained</a:t>
            </a:r>
            <a:endParaRPr sz="2700"/>
          </a:p>
        </p:txBody>
      </p:sp>
      <p:sp>
        <p:nvSpPr>
          <p:cNvPr id="578" name="Google Shape;578;p87"/>
          <p:cNvSpPr txBox="1"/>
          <p:nvPr/>
        </p:nvSpPr>
        <p:spPr>
          <a:xfrm>
            <a:off x="4572008" y="392100"/>
            <a:ext cx="5273400" cy="43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Knowledge arises from reason, not sensory experience</a:t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Innate ideas exist within the mind (e.g., math truths)</a:t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Truths are discovered through deduction</a:t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</a:rPr>
              <a:t>Key philosophers: Descartes, Spinoza, Leibniz</a:t>
            </a:r>
            <a:endParaRPr b="1" sz="1300">
              <a:solidFill>
                <a:schemeClr val="lt2"/>
              </a:solidFill>
            </a:endParaRPr>
          </a:p>
        </p:txBody>
      </p:sp>
      <p:pic>
        <p:nvPicPr>
          <p:cNvPr id="579" name="Google Shape;57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2425"/>
            <a:ext cx="4071086" cy="382867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87"/>
          <p:cNvSpPr txBox="1"/>
          <p:nvPr/>
        </p:nvSpPr>
        <p:spPr>
          <a:xfrm>
            <a:off x="1" y="2048022"/>
            <a:ext cx="914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8"/>
          <p:cNvSpPr txBox="1"/>
          <p:nvPr>
            <p:ph idx="1" type="subTitle"/>
          </p:nvPr>
        </p:nvSpPr>
        <p:spPr>
          <a:xfrm>
            <a:off x="656625" y="406725"/>
            <a:ext cx="76425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Empiricism Explained</a:t>
            </a:r>
            <a:endParaRPr sz="2700"/>
          </a:p>
        </p:txBody>
      </p:sp>
      <p:sp>
        <p:nvSpPr>
          <p:cNvPr id="586" name="Google Shape;586;p88"/>
          <p:cNvSpPr txBox="1"/>
          <p:nvPr>
            <p:ph idx="3" type="body"/>
          </p:nvPr>
        </p:nvSpPr>
        <p:spPr>
          <a:xfrm>
            <a:off x="3939700" y="1434900"/>
            <a:ext cx="4505400" cy="3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All knowledge comes from sense experience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mind begins as a blank slate (Locke)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Knowledge is built through observation and reflection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figures: Locke, Berkeley, Hume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7" name="Google Shape;58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2125"/>
            <a:ext cx="3634900" cy="3584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9"/>
          <p:cNvSpPr txBox="1"/>
          <p:nvPr>
            <p:ph idx="1" type="subTitle"/>
          </p:nvPr>
        </p:nvSpPr>
        <p:spPr>
          <a:xfrm>
            <a:off x="276075" y="248650"/>
            <a:ext cx="78933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Epistemological Differences</a:t>
            </a:r>
            <a:endParaRPr sz="2700"/>
          </a:p>
        </p:txBody>
      </p:sp>
      <p:sp>
        <p:nvSpPr>
          <p:cNvPr id="593" name="Google Shape;593;p89"/>
          <p:cNvSpPr txBox="1"/>
          <p:nvPr>
            <p:ph idx="3" type="body"/>
          </p:nvPr>
        </p:nvSpPr>
        <p:spPr>
          <a:xfrm>
            <a:off x="360300" y="1238250"/>
            <a:ext cx="45054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Rationalists rely on a priori knowledge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Empiricists depend on a posteriori observation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Disagreement on source of truth and certainty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Rationalists favor logic; empiricists favor evidence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700" y="1001650"/>
            <a:ext cx="4020275" cy="39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0"/>
          <p:cNvSpPr txBox="1"/>
          <p:nvPr>
            <p:ph idx="1" type="subTitle"/>
          </p:nvPr>
        </p:nvSpPr>
        <p:spPr>
          <a:xfrm>
            <a:off x="2410075" y="0"/>
            <a:ext cx="78933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Metaphysical Implications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600" name="Google Shape;600;p90"/>
          <p:cNvSpPr txBox="1"/>
          <p:nvPr>
            <p:ph idx="3" type="body"/>
          </p:nvPr>
        </p:nvSpPr>
        <p:spPr>
          <a:xfrm>
            <a:off x="3670750" y="928475"/>
            <a:ext cx="5656200" cy="16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Rationalists emphasize mind over matter (dualism)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Empiricists focus on observable phenomena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Rationalism often leads to metaphysical certainty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Empiricism questions substance, self, and causality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5400"/>
            <a:ext cx="321945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1"/>
          <p:cNvSpPr txBox="1"/>
          <p:nvPr>
            <p:ph idx="1" type="subTitle"/>
          </p:nvPr>
        </p:nvSpPr>
        <p:spPr>
          <a:xfrm>
            <a:off x="276075" y="248650"/>
            <a:ext cx="78933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Methods and Attitudes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607" name="Google Shape;607;p91"/>
          <p:cNvSpPr txBox="1"/>
          <p:nvPr>
            <p:ph idx="3" type="body"/>
          </p:nvPr>
        </p:nvSpPr>
        <p:spPr>
          <a:xfrm>
            <a:off x="360300" y="1238250"/>
            <a:ext cx="45054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Rationalists use deductive reasoning and introspection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Empiricists rely on inductive reasoning and observation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Rationalism favors certainty; empiricism accepts uncertainty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Empiricism aligns with the scientific method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347" y="802401"/>
            <a:ext cx="3961200" cy="34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92"/>
          <p:cNvSpPr txBox="1"/>
          <p:nvPr>
            <p:ph type="title"/>
          </p:nvPr>
        </p:nvSpPr>
        <p:spPr>
          <a:xfrm>
            <a:off x="-534200" y="-1065200"/>
            <a:ext cx="5725200" cy="22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Which is More Convincing?</a:t>
            </a:r>
            <a:endParaRPr sz="2400"/>
          </a:p>
        </p:txBody>
      </p:sp>
      <p:sp>
        <p:nvSpPr>
          <p:cNvPr id="614" name="Google Shape;614;p92"/>
          <p:cNvSpPr txBox="1"/>
          <p:nvPr>
            <p:ph idx="1" type="subTitle"/>
          </p:nvPr>
        </p:nvSpPr>
        <p:spPr>
          <a:xfrm>
            <a:off x="265500" y="1477100"/>
            <a:ext cx="4045200" cy="3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Empiricism dominates science and psychology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Rationalism underpins logic, math, and ethics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has value depending on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Synthesis appears in thinkers like Kant and Quine</a:t>
            </a:r>
            <a:endParaRPr/>
          </a:p>
        </p:txBody>
      </p:sp>
      <p:pic>
        <p:nvPicPr>
          <p:cNvPr id="615" name="Google Shape;61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5" y="76200"/>
            <a:ext cx="46809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3"/>
          <p:cNvSpPr txBox="1"/>
          <p:nvPr>
            <p:ph type="title"/>
          </p:nvPr>
        </p:nvSpPr>
        <p:spPr>
          <a:xfrm>
            <a:off x="311700" y="555600"/>
            <a:ext cx="5652900" cy="3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Personal Reflection</a:t>
            </a:r>
            <a:endParaRPr sz="3000"/>
          </a:p>
        </p:txBody>
      </p:sp>
      <p:sp>
        <p:nvSpPr>
          <p:cNvPr id="621" name="Google Shape;621;p93"/>
          <p:cNvSpPr txBox="1"/>
          <p:nvPr>
            <p:ph idx="1" type="body"/>
          </p:nvPr>
        </p:nvSpPr>
        <p:spPr>
          <a:xfrm>
            <a:off x="311700" y="1139475"/>
            <a:ext cx="5174700" cy="3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Empiricism provides practical tools for learning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Rationalism strengthens abstract and ethical reasoning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A combined approach seems most balanced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Each tradition helps answer different philosophical questions</a:t>
            </a:r>
            <a:endParaRPr sz="2400"/>
          </a:p>
        </p:txBody>
      </p:sp>
      <p:pic>
        <p:nvPicPr>
          <p:cNvPr id="622" name="Google Shape;62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1066800"/>
            <a:ext cx="3352800" cy="37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4"/>
          <p:cNvSpPr txBox="1"/>
          <p:nvPr>
            <p:ph idx="1" type="subTitle"/>
          </p:nvPr>
        </p:nvSpPr>
        <p:spPr>
          <a:xfrm>
            <a:off x="276075" y="248650"/>
            <a:ext cx="78933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References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Audi, R. (2015). Epistemology: A contemporary introduction to the theory of knowledge (3rd ed.). Routledge.</a:t>
            </a:r>
            <a:endParaRPr b="0"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Casullo, A. (2020). Essays on A Priori Knowledge and Justification. Oxford University Press.</a:t>
            </a:r>
            <a:endParaRPr b="0"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BonJour, L., &amp; Sosa, E. (2017). Epistemic Justification. Wiley-Blackwell.</a:t>
            </a:r>
            <a:endParaRPr b="0"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Robinson, H. (2020). Rationalism vs. Empiricism. Stanford Encyclopedia of Philosophy. https://plato.stanford.edu/entries/rationalism-empiricism/</a:t>
            </a:r>
            <a:endParaRPr b="0"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0"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eld Trip">
  <a:themeElements>
    <a:clrScheme name="Simple Light">
      <a:dk1>
        <a:srgbClr val="351C75"/>
      </a:dk1>
      <a:lt1>
        <a:srgbClr val="EEEEEE"/>
      </a:lt1>
      <a:dk2>
        <a:srgbClr val="D9D2E9"/>
      </a:dk2>
      <a:lt2>
        <a:srgbClr val="000000"/>
      </a:lt2>
      <a:accent1>
        <a:srgbClr val="007991"/>
      </a:accent1>
      <a:accent2>
        <a:srgbClr val="FE6D73"/>
      </a:accent2>
      <a:accent3>
        <a:srgbClr val="F3A712"/>
      </a:accent3>
      <a:accent4>
        <a:srgbClr val="998650"/>
      </a:accent4>
      <a:accent5>
        <a:srgbClr val="77966D"/>
      </a:accent5>
      <a:accent6>
        <a:srgbClr val="626D5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