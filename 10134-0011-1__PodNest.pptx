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8288000" cy="10287000"/>
  <p:notesSz cx="6858000" cy="9144000"/>
  <p:embeddedFontLst>
    <p:embeddedFont>
      <p:font typeface="Arial Nova" panose="020B0504020202020204" pitchFamily="34" charset="0"/>
      <p:regular r:id="rId12"/>
    </p:embeddedFont>
    <p:embeddedFont>
      <p:font typeface="Arial Nova Bold" panose="020B0804020202020204" charset="0"/>
      <p:regular r:id="rId13"/>
    </p:embeddedFont>
    <p:embeddedFont>
      <p:font typeface="Arial Nova Light" panose="020B0304020202020204" pitchFamily="34" charset="0"/>
      <p:regular r:id="rId14"/>
    </p:embeddedFont>
    <p:embeddedFont>
      <p:font typeface="DM Sans Bold" panose="020B0604020202020204" charset="0"/>
      <p:regular r:id="rId15"/>
    </p:embeddedFont>
    <p:embeddedFont>
      <p:font typeface="Trirong Bold" panose="020B0604020202020204" charset="-34"/>
      <p:regular r:id="rId16"/>
    </p:embeddedFont>
    <p:embeddedFont>
      <p:font typeface="Trirong Extra-Light" panose="020B0604020202020204" charset="-3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4" d="100"/>
          <a:sy n="44" d="100"/>
        </p:scale>
        <p:origin x="876" y="1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minsights.com/industry-analysis/modular-and-prefabricated-construction-market" TargetMode="External"/><Relationship Id="rId7" Type="http://schemas.openxmlformats.org/officeDocument/2006/relationships/hyperlink" Target="https://www.visitbritain.org/research-insights/england-hotel-occupancy-latest" TargetMode="External"/><Relationship Id="rId2" Type="http://schemas.openxmlformats.org/officeDocument/2006/relationships/hyperlink" Target="https://www.futuremarketinsights.com/reports/united-kingdom-hostel-market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mdpi.com/2075-5309/15/5/765" TargetMode="External"/><Relationship Id="rId5" Type="http://schemas.openxmlformats.org/officeDocument/2006/relationships/hyperlink" Target="https://www.mordorintelligence.com/industry-reports/hospitality-industry-in-the-united-kingdom" TargetMode="External"/><Relationship Id="rId4" Type="http://schemas.openxmlformats.org/officeDocument/2006/relationships/hyperlink" Target="https://content.knightfrank.com/research/1663/documents/en/knight-frank-ucas-student-accommodation-survey-report-2024-11543.pdf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34742" y="1047750"/>
            <a:ext cx="21233661" cy="4762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1028700" y="1042987"/>
            <a:ext cx="4763" cy="9343694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28699" y="1042987"/>
            <a:ext cx="6421016" cy="9244013"/>
          </a:xfrm>
          <a:custGeom>
            <a:avLst/>
            <a:gdLst/>
            <a:ahLst/>
            <a:cxnLst/>
            <a:rect l="l" t="t" r="r" b="b"/>
            <a:pathLst>
              <a:path w="4697714" h="7046572">
                <a:moveTo>
                  <a:pt x="0" y="0"/>
                </a:moveTo>
                <a:lnTo>
                  <a:pt x="4697714" y="0"/>
                </a:lnTo>
                <a:lnTo>
                  <a:pt x="4697714" y="7046572"/>
                </a:lnTo>
                <a:lnTo>
                  <a:pt x="0" y="7046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344491"/>
            <a:ext cx="2318432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MATCH 7,  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98156" y="344491"/>
            <a:ext cx="2261144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660"/>
              </a:lnSpc>
            </a:pPr>
            <a:r>
              <a:rPr lang="en-US" sz="2500" spc="-104" dirty="0" err="1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PodNest</a:t>
            </a:r>
            <a:endParaRPr lang="en-US" sz="2500" spc="-104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696200" y="1846579"/>
            <a:ext cx="6284262" cy="1544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40"/>
              </a:lnSpc>
            </a:pPr>
            <a:r>
              <a:rPr lang="en-US" sz="14000" spc="-770" dirty="0" err="1">
                <a:solidFill>
                  <a:srgbClr val="39312D"/>
                </a:solidFill>
                <a:latin typeface="Arial Nova"/>
                <a:ea typeface="Arial Nova"/>
                <a:cs typeface="Arial Nova"/>
                <a:sym typeface="Arial Nova"/>
              </a:rPr>
              <a:t>PodNest</a:t>
            </a:r>
            <a:endParaRPr lang="en-US" sz="14000" spc="-770" dirty="0">
              <a:solidFill>
                <a:srgbClr val="39312D"/>
              </a:solidFill>
              <a:latin typeface="Arial Nova"/>
              <a:ea typeface="Arial Nova"/>
              <a:cs typeface="Arial Nova"/>
              <a:sym typeface="Arial Nova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775663" y="3924300"/>
            <a:ext cx="10512337" cy="2731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40"/>
              </a:lnSpc>
            </a:pPr>
            <a:r>
              <a:rPr lang="en-US" sz="9000" spc="-324" dirty="0">
                <a:solidFill>
                  <a:srgbClr val="39312D"/>
                </a:solidFill>
                <a:latin typeface="Trirong Extra-Light"/>
                <a:ea typeface="Trirong Extra-Light"/>
                <a:cs typeface="Trirong Extra-Light"/>
                <a:sym typeface="Trirong Extra-Light"/>
              </a:rPr>
              <a:t>Smart Modular “Plug-and-Play” Hotel Extension Pods</a:t>
            </a:r>
          </a:p>
        </p:txBody>
      </p:sp>
      <p:sp>
        <p:nvSpPr>
          <p:cNvPr id="9" name="TextBox 9"/>
          <p:cNvSpPr txBox="1"/>
          <p:nvPr/>
        </p:nvSpPr>
        <p:spPr>
          <a:xfrm rot="-5400000">
            <a:off x="-686246" y="7937477"/>
            <a:ext cx="2318432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PAGE ONE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48600" y="7096125"/>
            <a:ext cx="3876675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39312D"/>
                </a:solidFill>
                <a:latin typeface="DM Sans Bold"/>
                <a:ea typeface="DM Sans Bold"/>
                <a:cs typeface="DM Sans Bold"/>
                <a:sym typeface="DM Sans Bold"/>
              </a:rPr>
              <a:t>Student Name:</a:t>
            </a:r>
          </a:p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39312D"/>
                </a:solidFill>
                <a:latin typeface="DM Sans Bold"/>
                <a:ea typeface="DM Sans Bold"/>
                <a:cs typeface="DM Sans Bold"/>
                <a:sym typeface="DM Sans Bold"/>
              </a:rPr>
              <a:t>Student ID:</a:t>
            </a:r>
          </a:p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39312D"/>
                </a:solidFill>
                <a:latin typeface="DM Sans Bold"/>
                <a:ea typeface="DM Sans Bold"/>
                <a:cs typeface="DM Sans Bold"/>
                <a:sym typeface="DM Sans Bold"/>
              </a:rPr>
              <a:t>Course Code:</a:t>
            </a:r>
          </a:p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39312D"/>
                </a:solidFill>
                <a:latin typeface="DM Sans Bold"/>
                <a:ea typeface="DM Sans Bold"/>
                <a:cs typeface="DM Sans Bold"/>
                <a:sym typeface="DM Sans Bold"/>
              </a:rPr>
              <a:t>institution Affiliation: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39312D"/>
                </a:solidFill>
                <a:latin typeface="DM Sans Bold"/>
                <a:ea typeface="DM Sans Bold"/>
                <a:cs typeface="DM Sans Bold"/>
                <a:sym typeface="DM Sans Bold"/>
              </a:rPr>
              <a:t>Instructor's Name: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472831" y="1038225"/>
            <a:ext cx="21233661" cy="4762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836401" y="1873626"/>
            <a:ext cx="6647920" cy="7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27"/>
              </a:lnSpc>
            </a:pPr>
            <a:r>
              <a:rPr lang="en-US" sz="6699" b="1" spc="-241">
                <a:solidFill>
                  <a:srgbClr val="39312D"/>
                </a:solidFill>
                <a:latin typeface="Trirong Bold"/>
                <a:ea typeface="Trirong Bold"/>
                <a:cs typeface="Trirong Bold"/>
                <a:sym typeface="Trirong Bold"/>
              </a:rPr>
              <a:t>INTRODUCTION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831639" y="1042987"/>
            <a:ext cx="4763" cy="9343694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1">
            <a:off x="7479559" y="1042990"/>
            <a:ext cx="4763" cy="9343694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836401" y="3265800"/>
            <a:ext cx="6647920" cy="4985940"/>
          </a:xfrm>
          <a:custGeom>
            <a:avLst/>
            <a:gdLst/>
            <a:ahLst/>
            <a:cxnLst/>
            <a:rect l="l" t="t" r="r" b="b"/>
            <a:pathLst>
              <a:path w="6647920" h="4985940">
                <a:moveTo>
                  <a:pt x="0" y="0"/>
                </a:moveTo>
                <a:lnTo>
                  <a:pt x="6647920" y="0"/>
                </a:lnTo>
                <a:lnTo>
                  <a:pt x="6647920" y="4985940"/>
                </a:lnTo>
                <a:lnTo>
                  <a:pt x="0" y="498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 rot="-5400000">
            <a:off x="-686246" y="7937477"/>
            <a:ext cx="2318432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PAGE TWO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89134" y="1909433"/>
            <a:ext cx="8239594" cy="189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lang="en-US" sz="2900" b="1" spc="-159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PodNest: Smart Modular Hotel Pods</a:t>
            </a:r>
          </a:p>
          <a:p>
            <a:pPr algn="l">
              <a:lnSpc>
                <a:spcPts val="2970"/>
              </a:lnSpc>
            </a:pPr>
            <a:endParaRPr lang="en-US" sz="2900" b="1" spc="-159">
              <a:solidFill>
                <a:srgbClr val="39312D"/>
              </a:solidFill>
              <a:latin typeface="Arial Nova Bold"/>
              <a:ea typeface="Arial Nova Bold"/>
              <a:cs typeface="Arial Nova Bold"/>
              <a:sym typeface="Arial Nova Bold"/>
            </a:endParaRPr>
          </a:p>
          <a:p>
            <a:pPr algn="l">
              <a:lnSpc>
                <a:spcPts val="2970"/>
              </a:lnSpc>
            </a:pPr>
            <a:r>
              <a:rPr lang="en-US" sz="2700" b="1" spc="-148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 fast and affordable solution for modern travel accommodation</a:t>
            </a:r>
          </a:p>
          <a:p>
            <a:pPr marL="0" lvl="0" indent="0" algn="l">
              <a:lnSpc>
                <a:spcPts val="2970"/>
              </a:lnSpc>
              <a:spcBef>
                <a:spcPct val="0"/>
              </a:spcBef>
            </a:pPr>
            <a:endParaRPr lang="en-US" sz="2700" b="1" spc="-148">
              <a:solidFill>
                <a:srgbClr val="39312D"/>
              </a:solidFill>
              <a:latin typeface="Arial Nova Bold"/>
              <a:ea typeface="Arial Nova Bold"/>
              <a:cs typeface="Arial Nova Bold"/>
              <a:sym typeface="Arial Nov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889134" y="3752203"/>
            <a:ext cx="10071227" cy="557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r>
              <a:rPr lang="en-US" sz="2700" spc="-148" dirty="0" err="1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</a:t>
            </a:r>
            <a:r>
              <a:rPr lang="en-US" sz="2700" u="none" strike="noStrike" spc="-148" dirty="0" err="1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odNest</a:t>
            </a:r>
            <a:r>
              <a:rPr lang="en-US" sz="2700" u="none" strike="noStrike" spc="-148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is a module sleep pod that is meant to assist hotels to increase their capacity in a fast manner and at the same time offer affordable personal accommodation to </a:t>
            </a:r>
            <a:r>
              <a:rPr lang="en-US" sz="2700" u="none" strike="noStrike" spc="-148" dirty="0" err="1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travellers</a:t>
            </a:r>
            <a:r>
              <a:rPr lang="en-US" sz="2700" u="none" strike="noStrike" spc="-148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.</a:t>
            </a: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endParaRPr lang="en-US" sz="2700" u="none" strike="noStrike" spc="-148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r>
              <a:rPr lang="en-US" sz="2700" b="1" u="none" strike="noStrike" spc="-148" dirty="0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Key Features</a:t>
            </a: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r>
              <a:rPr lang="en-US" sz="2700" u="none" strike="noStrike" spc="-148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• Installed in 3–7 days on rooftops, car parks, or unused land</a:t>
            </a: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r>
              <a:rPr lang="en-US" sz="2700" u="none" strike="noStrike" spc="-148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• Smart lock and app-based check-in for seamless access</a:t>
            </a: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r>
              <a:rPr lang="en-US" sz="2700" u="none" strike="noStrike" spc="-148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• AI-enhanced sleep environment (lighting, temperature, sound)</a:t>
            </a: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r>
              <a:rPr lang="en-US" sz="2700" u="none" strike="noStrike" spc="-148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• Affordable private accommodation from £35–£55 per night</a:t>
            </a: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endParaRPr lang="en-US" sz="2700" u="none" strike="noStrike" spc="-148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r>
              <a:rPr lang="en-US" sz="2700" b="1" u="none" strike="noStrike" spc="-148" dirty="0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Value Proposition</a:t>
            </a: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endParaRPr lang="en-US" sz="2700" b="1" u="none" strike="noStrike" spc="-148" dirty="0">
              <a:solidFill>
                <a:srgbClr val="39312D"/>
              </a:solidFill>
              <a:latin typeface="Arial Nova Bold"/>
              <a:ea typeface="Arial Nova Bold"/>
              <a:cs typeface="Arial Nova Bold"/>
              <a:sym typeface="Arial Nova Bold"/>
            </a:endParaRP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r>
              <a:rPr lang="en-US" sz="2700" u="none" strike="noStrike" spc="-148" dirty="0" err="1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PodNest</a:t>
            </a:r>
            <a:r>
              <a:rPr lang="en-US" sz="2700" u="none" strike="noStrike" spc="-148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enables hotels to create more rooms within a short period of time without necessarily constructing new hotels at lower costs and charges to the </a:t>
            </a:r>
            <a:r>
              <a:rPr lang="en-US" sz="2700" u="none" strike="noStrike" spc="-148" dirty="0" err="1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traveller</a:t>
            </a:r>
            <a:r>
              <a:rPr lang="en-US" sz="2700" u="none" strike="noStrike" spc="-148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.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773F06E1-34D0-D8CD-3721-60A9662AEF0B}"/>
              </a:ext>
            </a:extLst>
          </p:cNvPr>
          <p:cNvSpPr txBox="1"/>
          <p:nvPr/>
        </p:nvSpPr>
        <p:spPr>
          <a:xfrm>
            <a:off x="1028700" y="344491"/>
            <a:ext cx="2318432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MATCH 7,  2026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06C245AD-A1EC-6E28-2C7F-9F56D68C94A7}"/>
              </a:ext>
            </a:extLst>
          </p:cNvPr>
          <p:cNvSpPr txBox="1"/>
          <p:nvPr/>
        </p:nvSpPr>
        <p:spPr>
          <a:xfrm>
            <a:off x="14998156" y="344491"/>
            <a:ext cx="2261144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660"/>
              </a:lnSpc>
            </a:pPr>
            <a:r>
              <a:rPr lang="en-US" sz="2500" spc="-104" dirty="0" err="1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PodNest</a:t>
            </a:r>
            <a:endParaRPr lang="en-US" sz="2500" spc="-104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472831" y="1038225"/>
            <a:ext cx="21233661" cy="4762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1028700" y="1042987"/>
            <a:ext cx="4763" cy="9343694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044123" y="1050881"/>
            <a:ext cx="16186602" cy="8200131"/>
            <a:chOff x="0" y="0"/>
            <a:chExt cx="4263138" cy="21597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63138" cy="2159705"/>
            </a:xfrm>
            <a:custGeom>
              <a:avLst/>
              <a:gdLst/>
              <a:ahLst/>
              <a:cxnLst/>
              <a:rect l="l" t="t" r="r" b="b"/>
              <a:pathLst>
                <a:path w="4263138" h="2159705">
                  <a:moveTo>
                    <a:pt x="0" y="0"/>
                  </a:moveTo>
                  <a:lnTo>
                    <a:pt x="4263138" y="0"/>
                  </a:lnTo>
                  <a:lnTo>
                    <a:pt x="4263138" y="2159705"/>
                  </a:lnTo>
                  <a:lnTo>
                    <a:pt x="0" y="2159705"/>
                  </a:lnTo>
                  <a:close/>
                </a:path>
              </a:pathLst>
            </a:custGeom>
            <a:solidFill>
              <a:srgbClr val="FAFAF6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263138" cy="2197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 flipV="1">
            <a:off x="17230725" y="1050881"/>
            <a:ext cx="4763" cy="9343694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033464" y="3296197"/>
            <a:ext cx="16197261" cy="0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028700" y="4840599"/>
            <a:ext cx="10802938" cy="0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flipV="1">
            <a:off x="6432550" y="3300960"/>
            <a:ext cx="0" cy="5950052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flipV="1">
            <a:off x="11831638" y="3300960"/>
            <a:ext cx="0" cy="5950052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1028700" y="9253538"/>
            <a:ext cx="16215177" cy="0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2047331" y="1776198"/>
            <a:ext cx="14193337" cy="114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64"/>
              </a:lnSpc>
            </a:pPr>
            <a:r>
              <a:rPr lang="en-US" sz="9600" b="1" spc="-345" dirty="0">
                <a:solidFill>
                  <a:srgbClr val="39312D"/>
                </a:solidFill>
                <a:latin typeface="Trirong Extra-Light"/>
                <a:ea typeface="Trirong Extra-Light"/>
                <a:cs typeface="Trirong Extra-Light"/>
                <a:sym typeface="Trirong Extra-Light"/>
              </a:rPr>
              <a:t>THE PROBLEM</a:t>
            </a:r>
          </a:p>
        </p:txBody>
      </p:sp>
      <p:sp>
        <p:nvSpPr>
          <p:cNvPr id="15" name="TextBox 15"/>
          <p:cNvSpPr txBox="1"/>
          <p:nvPr/>
        </p:nvSpPr>
        <p:spPr>
          <a:xfrm rot="-5400000">
            <a:off x="-686246" y="7937477"/>
            <a:ext cx="2318432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PAGE  Three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51430" y="3672435"/>
            <a:ext cx="5196624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  <a:spcBef>
                <a:spcPct val="0"/>
              </a:spcBef>
            </a:pPr>
            <a:r>
              <a:rPr lang="en-US" sz="3000" b="1" spc="-165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Hotels cannot expand quickly enough to meet demand.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51430" y="5856732"/>
            <a:ext cx="5196624" cy="2606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 u="none" strike="noStrike" spc="-148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UK hotel occupancy recovered strongly, reaching 77% in 2023 (VisitBritain, 2023)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 u="none" strike="noStrike" spc="-148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Construction delays and planning restrictions slow hotel expansion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 u="none" strike="noStrike" spc="-148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High construction costs make new hotels expensive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19617" y="6228207"/>
            <a:ext cx="3839693" cy="2234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 spc="-148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UK</a:t>
            </a:r>
            <a:r>
              <a:rPr lang="en-US" sz="2700" u="none" strike="noStrike" spc="-148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student population continues to grow rapidly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 u="none" strike="noStrike" spc="-148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470,000 new students but only 258,000 beds added since 2012 (Knight Frank, 2024)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06950" y="4320135"/>
            <a:ext cx="4848463" cy="4616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r>
              <a:rPr lang="en-US" sz="2700" b="1" spc="-148" dirty="0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Ma</a:t>
            </a:r>
            <a:r>
              <a:rPr lang="en-US" sz="2700" b="1" u="none" strike="noStrike" spc="-148" dirty="0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rket opportunity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 u="none" strike="noStrike" spc="-148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UK hospitality market valued at $63.8 billion (Mordor Intelligence, 2026)</a:t>
            </a:r>
          </a:p>
          <a:p>
            <a:pPr algn="l">
              <a:lnSpc>
                <a:spcPts val="2970"/>
              </a:lnSpc>
            </a:pPr>
            <a:endParaRPr lang="en-US" sz="2700" u="none" strike="noStrike" spc="-148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r>
              <a:rPr lang="en-US" sz="2700" b="1" u="none" strike="noStrike" spc="-148" dirty="0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Result: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 u="none" strike="noStrike" spc="-148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Hotels cannot add more rooms </a:t>
            </a:r>
            <a:r>
              <a:rPr lang="en-US" sz="2700" u="none" strike="noStrike" spc="-148" dirty="0" err="1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quicly</a:t>
            </a:r>
            <a:r>
              <a:rPr lang="en-US" sz="2700" u="none" strike="noStrike" spc="-148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, while young </a:t>
            </a:r>
            <a:r>
              <a:rPr lang="en-US" sz="2700" u="none" strike="noStrike" spc="-148" dirty="0" err="1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travellers</a:t>
            </a:r>
            <a:r>
              <a:rPr lang="en-US" sz="2700" u="none" strike="noStrike" spc="-148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have problems with finding affordable accommodation in their own rooms.</a:t>
            </a:r>
          </a:p>
          <a:p>
            <a:pPr algn="l">
              <a:lnSpc>
                <a:spcPts val="2970"/>
              </a:lnSpc>
            </a:pPr>
            <a:endParaRPr lang="en-US" sz="2700" u="none" strike="noStrike" spc="-148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923188" y="3710535"/>
            <a:ext cx="4136122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  <a:spcBef>
                <a:spcPct val="0"/>
              </a:spcBef>
            </a:pPr>
            <a:r>
              <a:rPr lang="en-US" sz="3000" b="1" spc="-165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Affordable accommodation shortage</a:t>
            </a: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424DEADC-24ED-6D49-B011-9D3B0F1F39A6}"/>
              </a:ext>
            </a:extLst>
          </p:cNvPr>
          <p:cNvSpPr txBox="1"/>
          <p:nvPr/>
        </p:nvSpPr>
        <p:spPr>
          <a:xfrm>
            <a:off x="1028700" y="344491"/>
            <a:ext cx="2318432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MATCH 7,  2026</a:t>
            </a: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A5D3897A-4DB3-E7D6-CF2C-8A85E9E21CDC}"/>
              </a:ext>
            </a:extLst>
          </p:cNvPr>
          <p:cNvSpPr txBox="1"/>
          <p:nvPr/>
        </p:nvSpPr>
        <p:spPr>
          <a:xfrm>
            <a:off x="14998156" y="344491"/>
            <a:ext cx="2261144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660"/>
              </a:lnSpc>
            </a:pPr>
            <a:r>
              <a:rPr lang="en-US" sz="2500" spc="-104" dirty="0" err="1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PodNest</a:t>
            </a:r>
            <a:endParaRPr lang="en-US" sz="2500" spc="-104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472831" y="1038225"/>
            <a:ext cx="21233661" cy="4762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1028700" y="1042987"/>
            <a:ext cx="4763" cy="9343694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704797" y="4088241"/>
            <a:ext cx="6372403" cy="0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0395445" y="4140261"/>
            <a:ext cx="6372403" cy="0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3652489" y="1435540"/>
            <a:ext cx="2557758" cy="2557758"/>
          </a:xfrm>
          <a:custGeom>
            <a:avLst/>
            <a:gdLst/>
            <a:ahLst/>
            <a:cxnLst/>
            <a:rect l="l" t="t" r="r" b="b"/>
            <a:pathLst>
              <a:path w="2557758" h="2557758">
                <a:moveTo>
                  <a:pt x="0" y="0"/>
                </a:moveTo>
                <a:lnTo>
                  <a:pt x="2557757" y="0"/>
                </a:lnTo>
                <a:lnTo>
                  <a:pt x="2557757" y="2557758"/>
                </a:lnTo>
                <a:lnTo>
                  <a:pt x="0" y="2557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885483" y="1834514"/>
            <a:ext cx="9544517" cy="946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8000" b="1" spc="-288" dirty="0">
                <a:solidFill>
                  <a:srgbClr val="39312D"/>
                </a:solidFill>
                <a:latin typeface="Trirong Extra-Light"/>
                <a:ea typeface="Trirong Extra-Light"/>
                <a:cs typeface="Trirong Extra-Light"/>
                <a:sym typeface="Trirong Extra-Light"/>
              </a:rPr>
              <a:t>THE SOLUTION</a:t>
            </a:r>
          </a:p>
        </p:txBody>
      </p:sp>
      <p:sp>
        <p:nvSpPr>
          <p:cNvPr id="9" name="TextBox 9"/>
          <p:cNvSpPr txBox="1"/>
          <p:nvPr/>
        </p:nvSpPr>
        <p:spPr>
          <a:xfrm rot="-5400000">
            <a:off x="-686246" y="7937477"/>
            <a:ext cx="2318432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PAGE FOUR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26655" y="2987675"/>
            <a:ext cx="3759945" cy="55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99"/>
              </a:lnSpc>
              <a:spcBef>
                <a:spcPct val="0"/>
              </a:spcBef>
            </a:pPr>
            <a:r>
              <a:rPr lang="en-US" sz="3999" b="1" spc="-219" dirty="0" err="1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PodNest</a:t>
            </a:r>
            <a:endParaRPr lang="en-US" sz="3999" b="1" spc="-219" dirty="0">
              <a:solidFill>
                <a:srgbClr val="39312D"/>
              </a:solidFill>
              <a:latin typeface="Arial Nova Bold"/>
              <a:ea typeface="Arial Nova Bold"/>
              <a:cs typeface="Arial Nova Bold"/>
              <a:sym typeface="Arial Nov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18813" y="4736465"/>
            <a:ext cx="6915587" cy="3912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r>
              <a:rPr lang="en-US" sz="2799" spc="-153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A m</a:t>
            </a:r>
            <a:r>
              <a:rPr lang="en-US" sz="2799" u="none" strike="noStrike" spc="-153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odular hotel pod system that allows hotels to add rooms rapidly without building new hotels.</a:t>
            </a:r>
          </a:p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endParaRPr lang="en-US" sz="2799" u="none" strike="noStrike" spc="-153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r>
              <a:rPr lang="en-US" sz="2799" u="none" strike="noStrike" spc="-153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Each Pod Includes</a:t>
            </a:r>
          </a:p>
          <a:p>
            <a:pPr marL="604519" lvl="1" indent="-302260" algn="l">
              <a:lnSpc>
                <a:spcPts val="3079"/>
              </a:lnSpc>
              <a:buFont typeface="Arial"/>
              <a:buChar char="•"/>
            </a:pPr>
            <a:r>
              <a:rPr lang="en-US" sz="2799" u="none" strike="noStrike" spc="-153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Smart lock and mobile check-in</a:t>
            </a:r>
          </a:p>
          <a:p>
            <a:pPr marL="604519" lvl="1" indent="-302260" algn="l">
              <a:lnSpc>
                <a:spcPts val="3079"/>
              </a:lnSpc>
              <a:buFont typeface="Arial"/>
              <a:buChar char="•"/>
            </a:pPr>
            <a:r>
              <a:rPr lang="en-US" sz="2799" u="none" strike="noStrike" spc="-153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AI-based sleep environment (lighting, temperature, sound)</a:t>
            </a:r>
          </a:p>
          <a:p>
            <a:pPr marL="604519" lvl="1" indent="-302260" algn="l">
              <a:lnSpc>
                <a:spcPts val="3079"/>
              </a:lnSpc>
              <a:buFont typeface="Arial"/>
              <a:buChar char="•"/>
            </a:pPr>
            <a:r>
              <a:rPr lang="en-US" sz="2799" u="none" strike="noStrike" spc="-153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Compact private sleeping space</a:t>
            </a:r>
          </a:p>
          <a:p>
            <a:pPr marL="604519" lvl="1" indent="-302260" algn="l">
              <a:lnSpc>
                <a:spcPts val="3079"/>
              </a:lnSpc>
              <a:buFont typeface="Arial"/>
              <a:buChar char="•"/>
            </a:pPr>
            <a:r>
              <a:rPr lang="en-US" sz="2799" u="none" strike="noStrike" spc="-153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Integrated breakfast vending option</a:t>
            </a:r>
          </a:p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endParaRPr lang="en-US" sz="2799" u="none" strike="noStrike" spc="-153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679970" y="3544837"/>
            <a:ext cx="4251397" cy="45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20"/>
              </a:lnSpc>
              <a:spcBef>
                <a:spcPct val="0"/>
              </a:spcBef>
            </a:pPr>
            <a:r>
              <a:rPr lang="en-US" sz="3200" b="1" spc="-176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Key Benefits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40250" y="4293726"/>
            <a:ext cx="6527598" cy="400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90"/>
              </a:lnSpc>
              <a:spcBef>
                <a:spcPct val="0"/>
              </a:spcBef>
            </a:pPr>
            <a:r>
              <a:rPr lang="en-US" sz="2900" spc="-159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H</a:t>
            </a:r>
            <a:r>
              <a:rPr lang="en-US" sz="2900" u="none" strike="noStrike" spc="-159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otels</a:t>
            </a:r>
          </a:p>
          <a:p>
            <a:pPr marL="626111" lvl="1" indent="-313055" algn="l">
              <a:lnSpc>
                <a:spcPts val="3190"/>
              </a:lnSpc>
              <a:buFont typeface="Arial"/>
              <a:buChar char="•"/>
            </a:pPr>
            <a:r>
              <a:rPr lang="en-US" sz="2900" u="none" strike="noStrike" spc="-159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Expand capacity in days instead of years</a:t>
            </a:r>
          </a:p>
          <a:p>
            <a:pPr marL="626111" lvl="1" indent="-313055" algn="l">
              <a:lnSpc>
                <a:spcPts val="3190"/>
              </a:lnSpc>
              <a:buFont typeface="Arial"/>
              <a:buChar char="•"/>
            </a:pPr>
            <a:r>
              <a:rPr lang="en-US" sz="2900" u="none" strike="noStrike" spc="-159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Use unused spaces such as rooftops or car parks</a:t>
            </a:r>
          </a:p>
          <a:p>
            <a:pPr marL="0" lvl="0" indent="0" algn="just">
              <a:lnSpc>
                <a:spcPts val="3190"/>
              </a:lnSpc>
              <a:spcBef>
                <a:spcPct val="0"/>
              </a:spcBef>
            </a:pPr>
            <a:endParaRPr lang="en-US" sz="2900" u="none" strike="noStrike" spc="-159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  <a:p>
            <a:pPr marL="0" lvl="0" indent="0" algn="just">
              <a:lnSpc>
                <a:spcPts val="3190"/>
              </a:lnSpc>
              <a:spcBef>
                <a:spcPct val="0"/>
              </a:spcBef>
            </a:pPr>
            <a:r>
              <a:rPr lang="en-US" sz="2900" u="none" strike="noStrike" spc="-159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Travellers</a:t>
            </a:r>
          </a:p>
          <a:p>
            <a:pPr marL="626111" lvl="1" indent="-313055" algn="l">
              <a:lnSpc>
                <a:spcPts val="3190"/>
              </a:lnSpc>
              <a:buFont typeface="Arial"/>
              <a:buChar char="•"/>
            </a:pPr>
            <a:r>
              <a:rPr lang="en-US" sz="2900" u="none" strike="noStrike" spc="-159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Private room at hostel-level prices</a:t>
            </a:r>
          </a:p>
          <a:p>
            <a:pPr marL="626111" lvl="1" indent="-313055" algn="l">
              <a:lnSpc>
                <a:spcPts val="3190"/>
              </a:lnSpc>
              <a:buFont typeface="Arial"/>
              <a:buChar char="•"/>
            </a:pPr>
            <a:r>
              <a:rPr lang="en-US" sz="2900" u="none" strike="noStrike" spc="-159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Fast digital check-in and smart comfort features</a:t>
            </a:r>
          </a:p>
          <a:p>
            <a:pPr marL="0" lvl="0" indent="0" algn="just">
              <a:lnSpc>
                <a:spcPts val="3190"/>
              </a:lnSpc>
              <a:spcBef>
                <a:spcPct val="0"/>
              </a:spcBef>
            </a:pPr>
            <a:endParaRPr lang="en-US" sz="2900" u="none" strike="noStrike" spc="-159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C61035BB-626A-9AA6-C439-E8B7F8965745}"/>
              </a:ext>
            </a:extLst>
          </p:cNvPr>
          <p:cNvSpPr txBox="1"/>
          <p:nvPr/>
        </p:nvSpPr>
        <p:spPr>
          <a:xfrm>
            <a:off x="1028700" y="344491"/>
            <a:ext cx="2318432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MATCH 7,  2026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D4E8D16F-A1B2-A938-87D4-36D89D619901}"/>
              </a:ext>
            </a:extLst>
          </p:cNvPr>
          <p:cNvSpPr txBox="1"/>
          <p:nvPr/>
        </p:nvSpPr>
        <p:spPr>
          <a:xfrm>
            <a:off x="14998156" y="344491"/>
            <a:ext cx="2261144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660"/>
              </a:lnSpc>
            </a:pPr>
            <a:r>
              <a:rPr lang="en-US" sz="2500" spc="-104" dirty="0" err="1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PodNest</a:t>
            </a:r>
            <a:endParaRPr lang="en-US" sz="2500" spc="-104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472831" y="1038225"/>
            <a:ext cx="21233661" cy="4762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1028700" y="1042987"/>
            <a:ext cx="4763" cy="9343694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V="1">
            <a:off x="17826037" y="1050881"/>
            <a:ext cx="4763" cy="9343694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5297725" y="3511650"/>
            <a:ext cx="2473457" cy="2395859"/>
            <a:chOff x="0" y="0"/>
            <a:chExt cx="839125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39125" cy="812800"/>
            </a:xfrm>
            <a:custGeom>
              <a:avLst/>
              <a:gdLst/>
              <a:ahLst/>
              <a:cxnLst/>
              <a:rect l="l" t="t" r="r" b="b"/>
              <a:pathLst>
                <a:path w="839125" h="812800">
                  <a:moveTo>
                    <a:pt x="419563" y="0"/>
                  </a:moveTo>
                  <a:cubicBezTo>
                    <a:pt x="187845" y="0"/>
                    <a:pt x="0" y="181951"/>
                    <a:pt x="0" y="406400"/>
                  </a:cubicBezTo>
                  <a:cubicBezTo>
                    <a:pt x="0" y="630849"/>
                    <a:pt x="187845" y="812800"/>
                    <a:pt x="419563" y="812800"/>
                  </a:cubicBezTo>
                  <a:cubicBezTo>
                    <a:pt x="651281" y="812800"/>
                    <a:pt x="839125" y="630849"/>
                    <a:pt x="839125" y="406400"/>
                  </a:cubicBezTo>
                  <a:cubicBezTo>
                    <a:pt x="839125" y="181951"/>
                    <a:pt x="651281" y="0"/>
                    <a:pt x="419563" y="0"/>
                  </a:cubicBezTo>
                  <a:close/>
                </a:path>
              </a:pathLst>
            </a:custGeom>
            <a:ln w="9525" cap="sq">
              <a:solidFill>
                <a:srgbClr val="39312D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8668" y="28575"/>
              <a:ext cx="681789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-54">
                  <a:solidFill>
                    <a:srgbClr val="39312D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P</a:t>
              </a:r>
              <a:r>
                <a:rPr lang="en-US" sz="2499" u="none" strike="noStrike" spc="-54">
                  <a:solidFill>
                    <a:srgbClr val="39312D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ods are delivered and installed within 3–7 days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45823" y="3570340"/>
            <a:ext cx="2602787" cy="2395859"/>
            <a:chOff x="0" y="0"/>
            <a:chExt cx="8830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83000" cy="812800"/>
            </a:xfrm>
            <a:custGeom>
              <a:avLst/>
              <a:gdLst/>
              <a:ahLst/>
              <a:cxnLst/>
              <a:rect l="l" t="t" r="r" b="b"/>
              <a:pathLst>
                <a:path w="883000" h="812800">
                  <a:moveTo>
                    <a:pt x="441500" y="0"/>
                  </a:moveTo>
                  <a:cubicBezTo>
                    <a:pt x="197666" y="0"/>
                    <a:pt x="0" y="181951"/>
                    <a:pt x="0" y="406400"/>
                  </a:cubicBezTo>
                  <a:cubicBezTo>
                    <a:pt x="0" y="630849"/>
                    <a:pt x="197666" y="812800"/>
                    <a:pt x="441500" y="812800"/>
                  </a:cubicBezTo>
                  <a:cubicBezTo>
                    <a:pt x="685334" y="812800"/>
                    <a:pt x="883000" y="630849"/>
                    <a:pt x="883000" y="406400"/>
                  </a:cubicBezTo>
                  <a:cubicBezTo>
                    <a:pt x="883000" y="181951"/>
                    <a:pt x="685334" y="0"/>
                    <a:pt x="441500" y="0"/>
                  </a:cubicBezTo>
                  <a:close/>
                </a:path>
              </a:pathLst>
            </a:custGeom>
            <a:ln w="9525" cap="sq">
              <a:solidFill>
                <a:srgbClr val="39312D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781" y="19050"/>
              <a:ext cx="717438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57">
                  <a:solidFill>
                    <a:srgbClr val="39312D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Hotels purch</a:t>
              </a:r>
              <a:r>
                <a:rPr lang="en-US" sz="2600" u="none" strike="noStrike" spc="-57">
                  <a:solidFill>
                    <a:srgbClr val="39312D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ase or lease PodNest pods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630803" y="7869870"/>
            <a:ext cx="2395859" cy="239585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39312D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-54">
                  <a:solidFill>
                    <a:srgbClr val="39312D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Guests check-in using mobile smart locks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45823" y="7869870"/>
            <a:ext cx="2395859" cy="239585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39312D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-54">
                  <a:solidFill>
                    <a:srgbClr val="39312D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Hotels earn revenue from additional rooms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-1472831" y="2781300"/>
            <a:ext cx="21233661" cy="4762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7026662" y="5980253"/>
            <a:ext cx="2729234" cy="2532665"/>
            <a:chOff x="0" y="0"/>
            <a:chExt cx="925898" cy="85921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25898" cy="859212"/>
            </a:xfrm>
            <a:custGeom>
              <a:avLst/>
              <a:gdLst/>
              <a:ahLst/>
              <a:cxnLst/>
              <a:rect l="l" t="t" r="r" b="b"/>
              <a:pathLst>
                <a:path w="925898" h="859212">
                  <a:moveTo>
                    <a:pt x="462949" y="0"/>
                  </a:moveTo>
                  <a:cubicBezTo>
                    <a:pt x="207269" y="0"/>
                    <a:pt x="0" y="192341"/>
                    <a:pt x="0" y="429606"/>
                  </a:cubicBezTo>
                  <a:cubicBezTo>
                    <a:pt x="0" y="666871"/>
                    <a:pt x="207269" y="859212"/>
                    <a:pt x="462949" y="859212"/>
                  </a:cubicBezTo>
                  <a:cubicBezTo>
                    <a:pt x="718629" y="859212"/>
                    <a:pt x="925898" y="666871"/>
                    <a:pt x="925898" y="429606"/>
                  </a:cubicBezTo>
                  <a:cubicBezTo>
                    <a:pt x="925898" y="192341"/>
                    <a:pt x="718629" y="0"/>
                    <a:pt x="462949" y="0"/>
                  </a:cubicBezTo>
                  <a:close/>
                </a:path>
              </a:pathLst>
            </a:custGeom>
            <a:ln w="9525" cap="sq">
              <a:solidFill>
                <a:srgbClr val="39312D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803" y="32926"/>
              <a:ext cx="752292" cy="745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-54">
                  <a:solidFill>
                    <a:srgbClr val="39312D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Guests book through PodNest app or hotel website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45823" y="6298862"/>
            <a:ext cx="4051902" cy="1238345"/>
            <a:chOff x="0" y="0"/>
            <a:chExt cx="1067137" cy="326136"/>
          </a:xfrm>
        </p:grpSpPr>
        <p:sp>
          <p:nvSpPr>
            <p:cNvPr id="22" name="Freeform 22"/>
            <p:cNvSpPr/>
            <p:nvPr/>
          </p:nvSpPr>
          <p:spPr>
            <a:xfrm>
              <a:off x="16034" y="6572"/>
              <a:ext cx="1035069" cy="319050"/>
            </a:xfrm>
            <a:custGeom>
              <a:avLst/>
              <a:gdLst/>
              <a:ahLst/>
              <a:cxnLst/>
              <a:rect l="l" t="t" r="r" b="b"/>
              <a:pathLst>
                <a:path w="1035069" h="319050">
                  <a:moveTo>
                    <a:pt x="663432" y="6545"/>
                  </a:moveTo>
                  <a:lnTo>
                    <a:pt x="704384" y="10227"/>
                  </a:lnTo>
                  <a:cubicBezTo>
                    <a:pt x="774065" y="16492"/>
                    <a:pt x="842667" y="31590"/>
                    <a:pt x="908540" y="55157"/>
                  </a:cubicBezTo>
                  <a:lnTo>
                    <a:pt x="959618" y="73431"/>
                  </a:lnTo>
                  <a:cubicBezTo>
                    <a:pt x="990424" y="84453"/>
                    <a:pt x="1015554" y="107318"/>
                    <a:pt x="1029427" y="136948"/>
                  </a:cubicBezTo>
                  <a:lnTo>
                    <a:pt x="1029427" y="136948"/>
                  </a:lnTo>
                  <a:cubicBezTo>
                    <a:pt x="1041905" y="163599"/>
                    <a:pt x="1033113" y="195368"/>
                    <a:pt x="1008710" y="211812"/>
                  </a:cubicBezTo>
                  <a:lnTo>
                    <a:pt x="987742" y="225941"/>
                  </a:lnTo>
                  <a:cubicBezTo>
                    <a:pt x="945922" y="254122"/>
                    <a:pt x="898898" y="273673"/>
                    <a:pt x="849426" y="283449"/>
                  </a:cubicBezTo>
                  <a:lnTo>
                    <a:pt x="796824" y="293844"/>
                  </a:lnTo>
                  <a:cubicBezTo>
                    <a:pt x="711989" y="310608"/>
                    <a:pt x="625720" y="319050"/>
                    <a:pt x="539245" y="319050"/>
                  </a:cubicBezTo>
                  <a:lnTo>
                    <a:pt x="495824" y="319050"/>
                  </a:lnTo>
                  <a:cubicBezTo>
                    <a:pt x="409348" y="319050"/>
                    <a:pt x="323080" y="310608"/>
                    <a:pt x="238245" y="293844"/>
                  </a:cubicBezTo>
                  <a:lnTo>
                    <a:pt x="185643" y="283449"/>
                  </a:lnTo>
                  <a:cubicBezTo>
                    <a:pt x="136171" y="273673"/>
                    <a:pt x="89147" y="254122"/>
                    <a:pt x="47327" y="225941"/>
                  </a:cubicBezTo>
                  <a:lnTo>
                    <a:pt x="26359" y="211812"/>
                  </a:lnTo>
                  <a:cubicBezTo>
                    <a:pt x="1956" y="195368"/>
                    <a:pt x="-6836" y="163599"/>
                    <a:pt x="5642" y="136948"/>
                  </a:cubicBezTo>
                  <a:lnTo>
                    <a:pt x="5642" y="136948"/>
                  </a:lnTo>
                  <a:cubicBezTo>
                    <a:pt x="19515" y="107318"/>
                    <a:pt x="44645" y="84453"/>
                    <a:pt x="75451" y="73431"/>
                  </a:cubicBezTo>
                  <a:lnTo>
                    <a:pt x="126529" y="55157"/>
                  </a:lnTo>
                  <a:cubicBezTo>
                    <a:pt x="192402" y="31590"/>
                    <a:pt x="261004" y="16492"/>
                    <a:pt x="330685" y="10227"/>
                  </a:cubicBezTo>
                  <a:lnTo>
                    <a:pt x="371637" y="6545"/>
                  </a:lnTo>
                  <a:cubicBezTo>
                    <a:pt x="468706" y="-2182"/>
                    <a:pt x="566363" y="-2182"/>
                    <a:pt x="663432" y="6545"/>
                  </a:cubicBezTo>
                  <a:close/>
                </a:path>
              </a:pathLst>
            </a:custGeom>
            <a:solidFill>
              <a:srgbClr val="92EBE3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59542" y="-13566"/>
              <a:ext cx="748053" cy="295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200"/>
                </a:lnSpc>
              </a:pPr>
              <a:r>
                <a:rPr lang="en-US" sz="3000" spc="-165">
                  <a:solidFill>
                    <a:srgbClr val="000000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Customer Journey</a:t>
              </a:r>
            </a:p>
          </p:txBody>
        </p:sp>
      </p:grpSp>
      <p:sp>
        <p:nvSpPr>
          <p:cNvPr id="24" name="Freeform 24"/>
          <p:cNvSpPr/>
          <p:nvPr/>
        </p:nvSpPr>
        <p:spPr>
          <a:xfrm rot="652247" flipV="1">
            <a:off x="3383329" y="3509252"/>
            <a:ext cx="2048906" cy="578816"/>
          </a:xfrm>
          <a:custGeom>
            <a:avLst/>
            <a:gdLst/>
            <a:ahLst/>
            <a:cxnLst/>
            <a:rect l="l" t="t" r="r" b="b"/>
            <a:pathLst>
              <a:path w="2048906" h="578816">
                <a:moveTo>
                  <a:pt x="0" y="578816"/>
                </a:moveTo>
                <a:lnTo>
                  <a:pt x="2048906" y="578816"/>
                </a:lnTo>
                <a:lnTo>
                  <a:pt x="2048906" y="0"/>
                </a:lnTo>
                <a:lnTo>
                  <a:pt x="0" y="0"/>
                </a:lnTo>
                <a:lnTo>
                  <a:pt x="0" y="578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2174108" y="1639527"/>
            <a:ext cx="13514699" cy="946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8000" b="1" spc="-288" dirty="0">
                <a:solidFill>
                  <a:srgbClr val="39312D"/>
                </a:solidFill>
                <a:latin typeface="Trirong Extra-Light"/>
                <a:ea typeface="Trirong Extra-Light"/>
                <a:cs typeface="Trirong Extra-Light"/>
                <a:sym typeface="Trirong Extra-Light"/>
              </a:rPr>
              <a:t>FEASIBILITY (HOW IT WORKS)</a:t>
            </a:r>
          </a:p>
        </p:txBody>
      </p:sp>
      <p:sp>
        <p:nvSpPr>
          <p:cNvPr id="27" name="TextBox 27"/>
          <p:cNvSpPr txBox="1"/>
          <p:nvPr/>
        </p:nvSpPr>
        <p:spPr>
          <a:xfrm rot="-5400000">
            <a:off x="-686246" y="7937477"/>
            <a:ext cx="2318432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PAGE FIVE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919046" y="3175635"/>
            <a:ext cx="7759354" cy="669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r>
              <a:rPr lang="en-US" sz="2700" b="1" spc="-148" dirty="0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K</a:t>
            </a:r>
            <a:r>
              <a:rPr lang="en-US" sz="2700" b="1" u="none" strike="noStrike" spc="-148" dirty="0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ey Business Model Elements</a:t>
            </a: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endParaRPr lang="en-US" sz="2700" b="1" u="none" strike="noStrike" spc="-148" dirty="0">
              <a:solidFill>
                <a:srgbClr val="39312D"/>
              </a:solidFill>
              <a:latin typeface="Arial Nova Bold"/>
              <a:ea typeface="Arial Nova Bold"/>
              <a:cs typeface="Arial Nova Bold"/>
              <a:sym typeface="Arial Nova Bold"/>
            </a:endParaRP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r>
              <a:rPr lang="en-US" sz="2700" b="1" u="none" strike="noStrike" spc="-148" dirty="0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Key Partners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 u="none" strike="noStrike" spc="-148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Hotels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 u="none" strike="noStrike" spc="-148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Modular construction manufacturers</a:t>
            </a:r>
          </a:p>
          <a:p>
            <a:pPr algn="l">
              <a:lnSpc>
                <a:spcPts val="2970"/>
              </a:lnSpc>
            </a:pPr>
            <a:endParaRPr lang="en-US" sz="2700" u="none" strike="noStrike" spc="-148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r>
              <a:rPr lang="en-US" sz="2700" b="1" u="none" strike="noStrike" spc="-148" dirty="0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Key Resources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 u="none" strike="noStrike" spc="-148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Pod design and manufacturing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 u="none" strike="noStrike" spc="-148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Digital booking platform</a:t>
            </a:r>
          </a:p>
          <a:p>
            <a:pPr algn="l">
              <a:lnSpc>
                <a:spcPts val="2970"/>
              </a:lnSpc>
            </a:pPr>
            <a:endParaRPr lang="en-US" sz="2700" u="none" strike="noStrike" spc="-148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r>
              <a:rPr lang="en-US" sz="2700" b="1" u="none" strike="noStrike" spc="-148" dirty="0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Revenue Streams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 u="none" strike="noStrike" spc="-148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Pod sales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 u="none" strike="noStrike" spc="-148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Monthly leasing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 u="none" strike="noStrike" spc="-148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Booking commissions</a:t>
            </a:r>
          </a:p>
          <a:p>
            <a:pPr algn="l">
              <a:lnSpc>
                <a:spcPts val="2970"/>
              </a:lnSpc>
            </a:pPr>
            <a:endParaRPr lang="en-US" sz="2700" u="none" strike="noStrike" spc="-148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r>
              <a:rPr lang="en-US" sz="2700" u="none" strike="noStrike" spc="-148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Modular construction significantly reduces construction time and costs compared with traditional buildings (Parracho et al., 2025).</a:t>
            </a:r>
          </a:p>
        </p:txBody>
      </p:sp>
      <p:sp>
        <p:nvSpPr>
          <p:cNvPr id="29" name="Freeform 29"/>
          <p:cNvSpPr/>
          <p:nvPr/>
        </p:nvSpPr>
        <p:spPr>
          <a:xfrm rot="3463425" flipV="1">
            <a:off x="7414654" y="4854092"/>
            <a:ext cx="2048906" cy="578816"/>
          </a:xfrm>
          <a:custGeom>
            <a:avLst/>
            <a:gdLst/>
            <a:ahLst/>
            <a:cxnLst/>
            <a:rect l="l" t="t" r="r" b="b"/>
            <a:pathLst>
              <a:path w="2048906" h="578816">
                <a:moveTo>
                  <a:pt x="0" y="578816"/>
                </a:moveTo>
                <a:lnTo>
                  <a:pt x="2048906" y="578816"/>
                </a:lnTo>
                <a:lnTo>
                  <a:pt x="2048906" y="0"/>
                </a:lnTo>
                <a:lnTo>
                  <a:pt x="0" y="0"/>
                </a:lnTo>
                <a:lnTo>
                  <a:pt x="0" y="578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10006283" flipV="1">
            <a:off x="7049406" y="8758570"/>
            <a:ext cx="2194650" cy="619989"/>
          </a:xfrm>
          <a:custGeom>
            <a:avLst/>
            <a:gdLst/>
            <a:ahLst/>
            <a:cxnLst/>
            <a:rect l="l" t="t" r="r" b="b"/>
            <a:pathLst>
              <a:path w="2194650" h="619989">
                <a:moveTo>
                  <a:pt x="0" y="619988"/>
                </a:moveTo>
                <a:lnTo>
                  <a:pt x="2194650" y="619988"/>
                </a:lnTo>
                <a:lnTo>
                  <a:pt x="2194650" y="0"/>
                </a:lnTo>
                <a:lnTo>
                  <a:pt x="0" y="0"/>
                </a:lnTo>
                <a:lnTo>
                  <a:pt x="0" y="61998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 rot="10391921">
            <a:off x="3366283" y="8159751"/>
            <a:ext cx="1449817" cy="409573"/>
          </a:xfrm>
          <a:custGeom>
            <a:avLst/>
            <a:gdLst/>
            <a:ahLst/>
            <a:cxnLst/>
            <a:rect l="l" t="t" r="r" b="b"/>
            <a:pathLst>
              <a:path w="1449817" h="409573">
                <a:moveTo>
                  <a:pt x="0" y="0"/>
                </a:moveTo>
                <a:lnTo>
                  <a:pt x="1449817" y="0"/>
                </a:lnTo>
                <a:lnTo>
                  <a:pt x="1449817" y="409573"/>
                </a:lnTo>
                <a:lnTo>
                  <a:pt x="0" y="409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5">
            <a:extLst>
              <a:ext uri="{FF2B5EF4-FFF2-40B4-BE49-F238E27FC236}">
                <a16:creationId xmlns:a16="http://schemas.microsoft.com/office/drawing/2014/main" id="{2698D73F-4845-64D1-9C46-9305411A0E36}"/>
              </a:ext>
            </a:extLst>
          </p:cNvPr>
          <p:cNvSpPr txBox="1"/>
          <p:nvPr/>
        </p:nvSpPr>
        <p:spPr>
          <a:xfrm>
            <a:off x="1028700" y="344491"/>
            <a:ext cx="2318432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MATCH 7,  2026</a:t>
            </a:r>
          </a:p>
        </p:txBody>
      </p:sp>
      <p:sp>
        <p:nvSpPr>
          <p:cNvPr id="33" name="TextBox 6">
            <a:extLst>
              <a:ext uri="{FF2B5EF4-FFF2-40B4-BE49-F238E27FC236}">
                <a16:creationId xmlns:a16="http://schemas.microsoft.com/office/drawing/2014/main" id="{35E37263-7625-B8FC-EB81-294F49083251}"/>
              </a:ext>
            </a:extLst>
          </p:cNvPr>
          <p:cNvSpPr txBox="1"/>
          <p:nvPr/>
        </p:nvSpPr>
        <p:spPr>
          <a:xfrm>
            <a:off x="14998156" y="344491"/>
            <a:ext cx="2261144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660"/>
              </a:lnSpc>
            </a:pPr>
            <a:r>
              <a:rPr lang="en-US" sz="2500" spc="-104" dirty="0" err="1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PodNest</a:t>
            </a:r>
            <a:endParaRPr lang="en-US" sz="2500" spc="-104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472831" y="800100"/>
            <a:ext cx="21233661" cy="4762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1028700" y="876300"/>
            <a:ext cx="4763" cy="9343694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V="1">
            <a:off x="17230725" y="876300"/>
            <a:ext cx="4763" cy="9343694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033464" y="2933700"/>
            <a:ext cx="16197261" cy="0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028700" y="4193984"/>
            <a:ext cx="16207703" cy="0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V="1">
            <a:off x="5082778" y="3009900"/>
            <a:ext cx="0" cy="7084936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flipV="1">
            <a:off x="9132094" y="3009900"/>
            <a:ext cx="0" cy="7084936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flipV="1">
            <a:off x="13181409" y="3009900"/>
            <a:ext cx="0" cy="7084936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>
            <a:off x="2082922" y="4336103"/>
            <a:ext cx="1950397" cy="1950397"/>
          </a:xfrm>
          <a:custGeom>
            <a:avLst/>
            <a:gdLst/>
            <a:ahLst/>
            <a:cxnLst/>
            <a:rect l="l" t="t" r="r" b="b"/>
            <a:pathLst>
              <a:path w="1950397" h="1950397">
                <a:moveTo>
                  <a:pt x="0" y="0"/>
                </a:moveTo>
                <a:lnTo>
                  <a:pt x="1950397" y="0"/>
                </a:lnTo>
                <a:lnTo>
                  <a:pt x="1950397" y="1950397"/>
                </a:lnTo>
                <a:lnTo>
                  <a:pt x="0" y="19503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135291" y="4483548"/>
            <a:ext cx="1844835" cy="1844835"/>
          </a:xfrm>
          <a:custGeom>
            <a:avLst/>
            <a:gdLst/>
            <a:ahLst/>
            <a:cxnLst/>
            <a:rect l="l" t="t" r="r" b="b"/>
            <a:pathLst>
              <a:path w="1844835" h="1844835">
                <a:moveTo>
                  <a:pt x="0" y="0"/>
                </a:moveTo>
                <a:lnTo>
                  <a:pt x="1844834" y="0"/>
                </a:lnTo>
                <a:lnTo>
                  <a:pt x="1844834" y="1844835"/>
                </a:lnTo>
                <a:lnTo>
                  <a:pt x="0" y="18448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034735" y="4291426"/>
            <a:ext cx="2229079" cy="2229079"/>
          </a:xfrm>
          <a:custGeom>
            <a:avLst/>
            <a:gdLst/>
            <a:ahLst/>
            <a:cxnLst/>
            <a:rect l="l" t="t" r="r" b="b"/>
            <a:pathLst>
              <a:path w="2229079" h="2229079">
                <a:moveTo>
                  <a:pt x="0" y="0"/>
                </a:moveTo>
                <a:lnTo>
                  <a:pt x="2229079" y="0"/>
                </a:lnTo>
                <a:lnTo>
                  <a:pt x="2229079" y="2229079"/>
                </a:lnTo>
                <a:lnTo>
                  <a:pt x="0" y="22290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047331" y="1776198"/>
            <a:ext cx="14193337" cy="114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64"/>
              </a:lnSpc>
            </a:pPr>
            <a:r>
              <a:rPr lang="en-US" sz="9600" b="1" spc="-345" dirty="0">
                <a:solidFill>
                  <a:srgbClr val="39312D"/>
                </a:solidFill>
                <a:latin typeface="Trirong Extra-Light"/>
                <a:ea typeface="Trirong Extra-Light"/>
                <a:cs typeface="Trirong Extra-Light"/>
                <a:sym typeface="Trirong Extra-Light"/>
              </a:rPr>
              <a:t>DESIRABILITY</a:t>
            </a:r>
          </a:p>
        </p:txBody>
      </p:sp>
      <p:sp>
        <p:nvSpPr>
          <p:cNvPr id="16" name="TextBox 16"/>
          <p:cNvSpPr txBox="1"/>
          <p:nvPr/>
        </p:nvSpPr>
        <p:spPr>
          <a:xfrm rot="-5400000">
            <a:off x="-686246" y="7937477"/>
            <a:ext cx="2318432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PAGE  SIX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03914" y="3613328"/>
            <a:ext cx="330841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-165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Target Customers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49491" y="3613328"/>
            <a:ext cx="330841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-165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Customer Needs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95068" y="3613328"/>
            <a:ext cx="330841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-165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Price Willingness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540645" y="3613328"/>
            <a:ext cx="330841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-165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Market Evidence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329047" y="4351147"/>
            <a:ext cx="4049316" cy="588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spc="-165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There is a growth in demand of cheap travel accommodation and the hostel industry is poised to expand tremendously, with younger </a:t>
            </a:r>
            <a:r>
              <a:rPr lang="en-US" sz="3000" spc="-165" dirty="0" err="1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travellers</a:t>
            </a:r>
            <a:r>
              <a:rPr lang="en-US" sz="3000" spc="-165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giving preference to low-cost travelling (Future Market Insights, 2025). </a:t>
            </a:r>
          </a:p>
          <a:p>
            <a:pPr algn="l">
              <a:lnSpc>
                <a:spcPts val="3300"/>
              </a:lnSpc>
            </a:pPr>
            <a:endParaRPr lang="en-US" sz="3000" spc="-165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  <a:p>
            <a:pPr marL="0" lvl="0" indent="0" algn="l">
              <a:lnSpc>
                <a:spcPts val="3300"/>
              </a:lnSpc>
              <a:spcBef>
                <a:spcPct val="0"/>
              </a:spcBef>
            </a:pPr>
            <a:r>
              <a:rPr lang="en-US" sz="3000" spc="-165" dirty="0" err="1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PodNest</a:t>
            </a:r>
            <a:r>
              <a:rPr lang="en-US" sz="3000" spc="-165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offers an individual option instead of shared hostel rooms at an equivalent cost.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27381" y="7420102"/>
            <a:ext cx="3506391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spc="-165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Estimated price range:</a:t>
            </a:r>
          </a:p>
          <a:p>
            <a:pPr algn="l">
              <a:lnSpc>
                <a:spcPts val="3300"/>
              </a:lnSpc>
            </a:pPr>
            <a:endParaRPr lang="en-US" sz="3000" spc="-165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  <a:p>
            <a:pPr marL="0" lvl="0" indent="0" algn="l">
              <a:lnSpc>
                <a:spcPts val="3300"/>
              </a:lnSpc>
              <a:spcBef>
                <a:spcPct val="0"/>
              </a:spcBef>
            </a:pPr>
            <a:r>
              <a:rPr lang="en-US" sz="3000" b="1" spc="-165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£35–£55 per night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52604" y="6632234"/>
            <a:ext cx="3531852" cy="295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300"/>
              </a:lnSpc>
              <a:buFont typeface="Arial"/>
              <a:buChar char="•"/>
            </a:pPr>
            <a:r>
              <a:rPr lang="en-US" sz="3000" spc="-165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Affordable accommodation</a:t>
            </a:r>
          </a:p>
          <a:p>
            <a:pPr marL="647700" lvl="1" indent="-323850" algn="l">
              <a:lnSpc>
                <a:spcPts val="3300"/>
              </a:lnSpc>
              <a:buFont typeface="Arial"/>
              <a:buChar char="•"/>
            </a:pPr>
            <a:r>
              <a:rPr lang="en-US" sz="3000" spc="-165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Privacy compared with hostels</a:t>
            </a:r>
          </a:p>
          <a:p>
            <a:pPr marL="647700" lvl="1" indent="-323850" algn="l">
              <a:lnSpc>
                <a:spcPts val="3300"/>
              </a:lnSpc>
              <a:buFont typeface="Arial"/>
              <a:buChar char="•"/>
            </a:pPr>
            <a:r>
              <a:rPr lang="en-US" sz="3000" spc="-165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Convenient digital booking and check-in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28750" y="6475222"/>
            <a:ext cx="3678865" cy="195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079"/>
              </a:lnSpc>
              <a:buFont typeface="Arial"/>
              <a:buChar char="•"/>
            </a:pPr>
            <a:r>
              <a:rPr lang="en-US" sz="2799" spc="-153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University students</a:t>
            </a:r>
          </a:p>
          <a:p>
            <a:pPr marL="604519" lvl="1" indent="-302260" algn="l">
              <a:lnSpc>
                <a:spcPts val="3079"/>
              </a:lnSpc>
              <a:buFont typeface="Arial"/>
              <a:buChar char="•"/>
            </a:pPr>
            <a:r>
              <a:rPr lang="en-US" sz="2799" spc="-153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Backpackers</a:t>
            </a:r>
          </a:p>
          <a:p>
            <a:pPr marL="604519" lvl="1" indent="-302260" algn="l">
              <a:lnSpc>
                <a:spcPts val="3079"/>
              </a:lnSpc>
              <a:buFont typeface="Arial"/>
              <a:buChar char="•"/>
            </a:pPr>
            <a:r>
              <a:rPr lang="en-US" sz="2799" spc="-153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Short-stay travellers</a:t>
            </a:r>
          </a:p>
          <a:p>
            <a:pPr marL="604519" lvl="1" indent="-302260" algn="l">
              <a:lnSpc>
                <a:spcPts val="3079"/>
              </a:lnSpc>
              <a:buFont typeface="Arial"/>
              <a:buChar char="•"/>
            </a:pPr>
            <a:r>
              <a:rPr lang="en-US" sz="2799" spc="-153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Budget-conscious tourists</a:t>
            </a:r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A106FF1D-63AD-E959-6145-3BDCC76564F4}"/>
              </a:ext>
            </a:extLst>
          </p:cNvPr>
          <p:cNvSpPr txBox="1"/>
          <p:nvPr/>
        </p:nvSpPr>
        <p:spPr>
          <a:xfrm>
            <a:off x="1028700" y="344491"/>
            <a:ext cx="2318432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MATCH 7,  2026</a:t>
            </a:r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9FEC413C-0757-FDF7-A976-415485599A5B}"/>
              </a:ext>
            </a:extLst>
          </p:cNvPr>
          <p:cNvSpPr txBox="1"/>
          <p:nvPr/>
        </p:nvSpPr>
        <p:spPr>
          <a:xfrm>
            <a:off x="14998156" y="344491"/>
            <a:ext cx="2261144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660"/>
              </a:lnSpc>
            </a:pPr>
            <a:r>
              <a:rPr lang="en-US" sz="2500" spc="-104" dirty="0" err="1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PodNest</a:t>
            </a:r>
            <a:endParaRPr lang="en-US" sz="2500" spc="-104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472831" y="1038225"/>
            <a:ext cx="21233661" cy="4762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1028700" y="1042987"/>
            <a:ext cx="4763" cy="9343694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2343894" y="3610737"/>
            <a:ext cx="5857780" cy="5857780"/>
          </a:xfrm>
          <a:custGeom>
            <a:avLst/>
            <a:gdLst/>
            <a:ahLst/>
            <a:cxnLst/>
            <a:rect l="l" t="t" r="r" b="b"/>
            <a:pathLst>
              <a:path w="5857780" h="5857780">
                <a:moveTo>
                  <a:pt x="0" y="0"/>
                </a:moveTo>
                <a:lnTo>
                  <a:pt x="5857780" y="0"/>
                </a:lnTo>
                <a:lnTo>
                  <a:pt x="5857780" y="5857780"/>
                </a:lnTo>
                <a:lnTo>
                  <a:pt x="0" y="5857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66690" y="1743075"/>
            <a:ext cx="5834984" cy="114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64"/>
              </a:lnSpc>
            </a:pPr>
            <a:r>
              <a:rPr lang="en-US" sz="9600" b="1" spc="-345" dirty="0">
                <a:solidFill>
                  <a:srgbClr val="39312D"/>
                </a:solidFill>
                <a:latin typeface="Trirong Extra-Light"/>
                <a:ea typeface="Trirong Extra-Light"/>
                <a:cs typeface="Trirong Extra-Light"/>
                <a:sym typeface="Trirong Extra-Light"/>
              </a:rPr>
              <a:t>VIABILITY</a:t>
            </a:r>
          </a:p>
        </p:txBody>
      </p:sp>
      <p:sp>
        <p:nvSpPr>
          <p:cNvPr id="8" name="TextBox 8"/>
          <p:cNvSpPr txBox="1"/>
          <p:nvPr/>
        </p:nvSpPr>
        <p:spPr>
          <a:xfrm rot="-5400000">
            <a:off x="-686246" y="7937477"/>
            <a:ext cx="2318432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PAGE  SEVEN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61184" y="1071562"/>
            <a:ext cx="9426816" cy="8549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r>
              <a:rPr lang="en-US" sz="2700" b="1" spc="-148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</a:t>
            </a:r>
            <a:r>
              <a:rPr lang="en-US" sz="2700" b="1" u="none" strike="noStrike" spc="-148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evenue Model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 u="none" strike="noStrike" spc="-148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Pod sales to hotel operators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 u="none" strike="noStrike" spc="-148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Monthly leasing agreements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 u="none" strike="noStrike" spc="-148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Commission from bookings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 u="none" strike="noStrike" spc="-148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Data insights for hotel revenue optimisation</a:t>
            </a: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endParaRPr lang="en-US" sz="2700" u="none" strike="noStrike" spc="-148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r>
              <a:rPr lang="en-US" sz="2700" b="1" u="none" strike="noStrike" spc="-148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Market Opportunity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 u="none" strike="noStrike" spc="-148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UK hospitality industry worth $63.8 billion (Mordor Intelligence, 2026)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 u="none" strike="noStrike" spc="-148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Global modular construction market expected to exceed $300 billion by 2035 (Global Market Insights, 2025)</a:t>
            </a: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endParaRPr lang="en-US" sz="2700" u="none" strike="noStrike" spc="-148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r>
              <a:rPr lang="en-US" sz="2700" b="1" u="none" strike="noStrike" spc="-148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Key Competitors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 u="none" strike="noStrike" spc="-148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Budget hotels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 u="none" strike="noStrike" spc="-148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Hostels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 u="none" strike="noStrike" spc="-148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Airbnb</a:t>
            </a: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endParaRPr lang="en-US" sz="2700" u="none" strike="noStrike" spc="-148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r>
              <a:rPr lang="en-US" sz="2700" b="1" u="none" strike="noStrike" spc="-148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Competitive Advantage</a:t>
            </a: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r>
              <a:rPr lang="en-US" sz="2700" u="none" strike="noStrike" spc="-148">
                <a:solidFill>
                  <a:srgbClr val="39312D"/>
                </a:solidFill>
                <a:latin typeface="Arial Nova"/>
                <a:ea typeface="Arial Nova"/>
                <a:cs typeface="Arial Nova"/>
                <a:sym typeface="Arial Nova"/>
              </a:rPr>
              <a:t>PodNest offers: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 u="none" strike="noStrike" spc="-148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Faster hotel expansion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 u="none" strike="noStrike" spc="-148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Lower accommodation prices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 u="none" strike="noStrike" spc="-148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Smart modular technology</a:t>
            </a: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endParaRPr lang="en-US" sz="2700" u="none" strike="noStrike" spc="-148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r>
              <a:rPr lang="en-US" sz="2700" u="none" strike="noStrike" spc="-148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This combination creates a scalable solution for both hotels and travellers.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CF02C86F-0461-B73B-F1F5-2F636CE7E1DE}"/>
              </a:ext>
            </a:extLst>
          </p:cNvPr>
          <p:cNvSpPr txBox="1"/>
          <p:nvPr/>
        </p:nvSpPr>
        <p:spPr>
          <a:xfrm>
            <a:off x="1028700" y="344491"/>
            <a:ext cx="2318432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MATCH 7,  2026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830F6601-91F7-C392-0B56-D85879E99ACE}"/>
              </a:ext>
            </a:extLst>
          </p:cNvPr>
          <p:cNvSpPr txBox="1"/>
          <p:nvPr/>
        </p:nvSpPr>
        <p:spPr>
          <a:xfrm>
            <a:off x="14998156" y="344491"/>
            <a:ext cx="2261144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660"/>
              </a:lnSpc>
            </a:pPr>
            <a:r>
              <a:rPr lang="en-US" sz="2500" spc="-104" dirty="0" err="1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PodNest</a:t>
            </a:r>
            <a:endParaRPr lang="en-US" sz="2500" spc="-104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472831" y="1038225"/>
            <a:ext cx="21233661" cy="4762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1028700" y="1042987"/>
            <a:ext cx="4763" cy="9343694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2361085" y="3260217"/>
            <a:ext cx="6782915" cy="156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r>
              <a:rPr lang="en-US" sz="2799" spc="-153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</a:t>
            </a:r>
            <a:r>
              <a:rPr lang="en-US" sz="2799" u="none" strike="noStrike" spc="-153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odNest offers an innovative solution to two major challenges in the hospitality industry: slow hotel expansion and the growing demand for affordable accommodation.</a:t>
            </a:r>
          </a:p>
        </p:txBody>
      </p:sp>
      <p:sp>
        <p:nvSpPr>
          <p:cNvPr id="5" name="AutoShape 5"/>
          <p:cNvSpPr/>
          <p:nvPr/>
        </p:nvSpPr>
        <p:spPr>
          <a:xfrm>
            <a:off x="2598428" y="3234299"/>
            <a:ext cx="6372403" cy="0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2598428" y="5581333"/>
            <a:ext cx="6372403" cy="0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10551187" y="2286996"/>
            <a:ext cx="7323295" cy="7323295"/>
          </a:xfrm>
          <a:custGeom>
            <a:avLst/>
            <a:gdLst/>
            <a:ahLst/>
            <a:cxnLst/>
            <a:rect l="l" t="t" r="r" b="b"/>
            <a:pathLst>
              <a:path w="7323295" h="7323295">
                <a:moveTo>
                  <a:pt x="0" y="0"/>
                </a:moveTo>
                <a:lnTo>
                  <a:pt x="7323296" y="0"/>
                </a:lnTo>
                <a:lnTo>
                  <a:pt x="7323296" y="7323295"/>
                </a:lnTo>
                <a:lnTo>
                  <a:pt x="0" y="73232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01109" y="1493373"/>
            <a:ext cx="8056651" cy="1050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96"/>
              </a:lnSpc>
            </a:pPr>
            <a:r>
              <a:rPr lang="en-US" sz="9600" b="1" spc="-345">
                <a:solidFill>
                  <a:srgbClr val="39312D"/>
                </a:solidFill>
                <a:latin typeface="Trirong Bold"/>
                <a:ea typeface="Trirong Bold"/>
                <a:cs typeface="Trirong Bold"/>
                <a:sym typeface="Trirong Bold"/>
              </a:rPr>
              <a:t>CONCLUSION</a:t>
            </a:r>
          </a:p>
        </p:txBody>
      </p:sp>
      <p:sp>
        <p:nvSpPr>
          <p:cNvPr id="11" name="TextBox 11"/>
          <p:cNvSpPr txBox="1"/>
          <p:nvPr/>
        </p:nvSpPr>
        <p:spPr>
          <a:xfrm rot="-5400000">
            <a:off x="-686246" y="7937477"/>
            <a:ext cx="2318432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PAGE  EIGHT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21050" y="2563221"/>
            <a:ext cx="786298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0"/>
              </a:lnSpc>
              <a:spcBef>
                <a:spcPct val="0"/>
              </a:spcBef>
            </a:pPr>
            <a:r>
              <a:rPr lang="en-US" sz="3000" b="1" spc="-165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PodNest: The Future of Flexible Hotel Expansion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98428" y="5124450"/>
            <a:ext cx="6372403" cy="37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60"/>
              </a:lnSpc>
              <a:spcBef>
                <a:spcPct val="0"/>
              </a:spcBef>
            </a:pPr>
            <a:r>
              <a:rPr lang="en-US" sz="2600" b="1" spc="-143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Key Takeaways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28750" y="5690870"/>
            <a:ext cx="8731912" cy="2350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079"/>
              </a:lnSpc>
              <a:buFont typeface="Arial"/>
              <a:buChar char="•"/>
            </a:pPr>
            <a:r>
              <a:rPr lang="en-US" sz="2799" spc="-61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Enables </a:t>
            </a:r>
            <a:r>
              <a:rPr lang="en-US" sz="2799" u="none" strike="noStrike" spc="-61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hotels to expand capacity quickly without new construction</a:t>
            </a:r>
          </a:p>
          <a:p>
            <a:pPr marL="604519" lvl="1" indent="-302260" algn="l">
              <a:lnSpc>
                <a:spcPts val="3079"/>
              </a:lnSpc>
              <a:buFont typeface="Arial"/>
              <a:buChar char="•"/>
            </a:pPr>
            <a:r>
              <a:rPr lang="en-US" sz="2799" u="none" strike="noStrike" spc="-61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Provides affordable and private accommodation for young travellers</a:t>
            </a:r>
          </a:p>
          <a:p>
            <a:pPr marL="604519" lvl="1" indent="-302260" algn="l">
              <a:lnSpc>
                <a:spcPts val="3079"/>
              </a:lnSpc>
              <a:buFont typeface="Arial"/>
              <a:buChar char="•"/>
            </a:pPr>
            <a:r>
              <a:rPr lang="en-US" sz="2799" u="none" strike="noStrike" spc="-61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Uses modular and sustainable construction technology</a:t>
            </a:r>
          </a:p>
          <a:p>
            <a:pPr marL="604519" lvl="1" indent="-302260" algn="l">
              <a:lnSpc>
                <a:spcPts val="3079"/>
              </a:lnSpc>
              <a:buFont typeface="Arial"/>
              <a:buChar char="•"/>
            </a:pPr>
            <a:r>
              <a:rPr lang="en-US" sz="2799" u="none" strike="noStrike" spc="-61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Creates new revenue opportunities for hotel operators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11499" y="8231505"/>
            <a:ext cx="7746260" cy="156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799" b="1" spc="-153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Vi</a:t>
            </a:r>
            <a:r>
              <a:rPr lang="en-US" sz="2799" b="1" u="none" strike="noStrike" spc="-153">
                <a:solidFill>
                  <a:srgbClr val="39312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sion</a:t>
            </a:r>
          </a:p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r>
              <a:rPr lang="en-US" sz="2799" u="none" strike="noStrike" spc="-153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To support the hospitality industry with flexible, fast, and affordable accommodation solutions while improving travel accessibility for the next generation of travellers.</a:t>
            </a: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12BAD54D-D769-2EAA-EC21-EE28BD8FD347}"/>
              </a:ext>
            </a:extLst>
          </p:cNvPr>
          <p:cNvSpPr txBox="1"/>
          <p:nvPr/>
        </p:nvSpPr>
        <p:spPr>
          <a:xfrm>
            <a:off x="1028700" y="344491"/>
            <a:ext cx="2318432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MATCH 7,  2026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9CEE4D4B-8693-3C63-9732-CD2D84DC553F}"/>
              </a:ext>
            </a:extLst>
          </p:cNvPr>
          <p:cNvSpPr txBox="1"/>
          <p:nvPr/>
        </p:nvSpPr>
        <p:spPr>
          <a:xfrm>
            <a:off x="14998156" y="344491"/>
            <a:ext cx="2261144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660"/>
              </a:lnSpc>
            </a:pPr>
            <a:r>
              <a:rPr lang="en-US" sz="2500" spc="-104" dirty="0" err="1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PodNest</a:t>
            </a:r>
            <a:endParaRPr lang="en-US" sz="2500" spc="-104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8ADFC8-2212-FA4E-C31F-4AD8BB3DA432}"/>
              </a:ext>
            </a:extLst>
          </p:cNvPr>
          <p:cNvSpPr txBox="1"/>
          <p:nvPr/>
        </p:nvSpPr>
        <p:spPr>
          <a:xfrm>
            <a:off x="3841474" y="5023438"/>
            <a:ext cx="10624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LID4096" dirty="0"/>
          </a:p>
        </p:txBody>
      </p:sp>
    </p:spTree>
  </p:cSld>
  <p:clrMapOvr>
    <a:masterClrMapping/>
  </p:clrMapOvr>
  <p:transition spd="slow">
    <p:wheel spokes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472831" y="1038225"/>
            <a:ext cx="21233661" cy="4762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858452" y="1376362"/>
            <a:ext cx="8214647" cy="1124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64"/>
              </a:lnSpc>
            </a:pPr>
            <a:r>
              <a:rPr lang="en-US" sz="9600" b="1" spc="-345">
                <a:solidFill>
                  <a:srgbClr val="39312D"/>
                </a:solidFill>
                <a:latin typeface="Trirong Bold"/>
                <a:ea typeface="Trirong Bold"/>
                <a:cs typeface="Trirong Bold"/>
                <a:sym typeface="Trirong Bold"/>
              </a:rPr>
              <a:t>REFERENCES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1028700" y="1042987"/>
            <a:ext cx="4763" cy="9343694"/>
          </a:xfrm>
          <a:prstGeom prst="line">
            <a:avLst/>
          </a:prstGeom>
          <a:ln w="9525" cap="flat">
            <a:solidFill>
              <a:srgbClr val="3931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 rot="-5400000">
            <a:off x="-686246" y="7937477"/>
            <a:ext cx="2318432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PAGE   NINE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25603" y="2520124"/>
            <a:ext cx="15233697" cy="6578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2749"/>
              </a:lnSpc>
              <a:buFont typeface="Arial"/>
              <a:buChar char="•"/>
            </a:pPr>
            <a:r>
              <a:rPr lang="en-US" sz="2499" spc="-137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Future Ma</a:t>
            </a:r>
            <a:r>
              <a:rPr lang="en-US" sz="2499" u="none" strike="noStrike" spc="-137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rket Insights. (2025). United Kingdom hostel market outlook 2025–2035. </a:t>
            </a:r>
            <a:r>
              <a:rPr lang="en-US" sz="2499" u="none" strike="noStrike" spc="-137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  <a:hlinkClick r:id="rId2"/>
              </a:rPr>
              <a:t>https://www.futuremarketinsights.com/reports/united-kingdom-hostel-market</a:t>
            </a:r>
            <a:endParaRPr lang="en-US" sz="2499" u="none" strike="noStrike" spc="-137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  <a:p>
            <a:pPr marL="539749" lvl="1" indent="-269875" algn="l">
              <a:lnSpc>
                <a:spcPts val="2749"/>
              </a:lnSpc>
              <a:buFont typeface="Arial"/>
              <a:buChar char="•"/>
            </a:pPr>
            <a:endParaRPr lang="en-US" sz="2499" u="none" strike="noStrike" spc="-137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  <a:p>
            <a:pPr marL="539749" lvl="1" indent="-269875" algn="l">
              <a:lnSpc>
                <a:spcPts val="2749"/>
              </a:lnSpc>
              <a:buFont typeface="Arial"/>
              <a:buChar char="•"/>
            </a:pPr>
            <a:r>
              <a:rPr lang="en-US" sz="2499" u="none" strike="noStrike" spc="-137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Global Market Insights. (2025). Modular and prefabricated construction market size. </a:t>
            </a:r>
            <a:r>
              <a:rPr lang="en-US" sz="2499" u="none" strike="noStrike" spc="-137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  <a:hlinkClick r:id="rId3"/>
              </a:rPr>
              <a:t>https://www.gminsights.com/industry-analysis/modular-and-prefabricated-construction-market</a:t>
            </a:r>
            <a:endParaRPr lang="en-US" sz="2499" u="none" strike="noStrike" spc="-137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  <a:p>
            <a:pPr marL="539749" lvl="1" indent="-269875" algn="l">
              <a:lnSpc>
                <a:spcPts val="2749"/>
              </a:lnSpc>
              <a:buFont typeface="Arial"/>
              <a:buChar char="•"/>
            </a:pPr>
            <a:endParaRPr lang="en-US" sz="2499" u="none" strike="noStrike" spc="-137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  <a:p>
            <a:pPr marL="539749" lvl="1" indent="-269875" algn="l">
              <a:lnSpc>
                <a:spcPts val="2749"/>
              </a:lnSpc>
              <a:buFont typeface="Arial"/>
              <a:buChar char="•"/>
            </a:pPr>
            <a:r>
              <a:rPr lang="en-US" sz="2499" u="none" strike="noStrike" spc="-137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Knight Frank. (2024). Student accommodation survey report. </a:t>
            </a:r>
            <a:r>
              <a:rPr lang="en-US" sz="2499" u="none" strike="noStrike" spc="-137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  <a:hlinkClick r:id="rId4"/>
              </a:rPr>
              <a:t>https://content.knightfrank.com/research/1663/documents/en/knight-frank-ucas-student-accommodation-survey-report-2024-11543.pdf</a:t>
            </a:r>
            <a:endParaRPr lang="en-US" sz="2499" u="none" strike="noStrike" spc="-137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  <a:p>
            <a:pPr marL="539749" lvl="1" indent="-269875" algn="l">
              <a:lnSpc>
                <a:spcPts val="2749"/>
              </a:lnSpc>
              <a:buFont typeface="Arial"/>
              <a:buChar char="•"/>
            </a:pPr>
            <a:endParaRPr lang="en-US" sz="2499" u="none" strike="noStrike" spc="-137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  <a:p>
            <a:pPr marL="539749" lvl="1" indent="-269875" algn="l">
              <a:lnSpc>
                <a:spcPts val="2749"/>
              </a:lnSpc>
              <a:buFont typeface="Arial"/>
              <a:buChar char="•"/>
            </a:pPr>
            <a:r>
              <a:rPr lang="en-US" sz="2499" u="none" strike="noStrike" spc="-137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Mordor Intelligence. (2026). United Kingdom hospitality industry report. </a:t>
            </a:r>
            <a:r>
              <a:rPr lang="en-US" sz="2499" u="none" strike="noStrike" spc="-137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  <a:hlinkClick r:id="rId5"/>
              </a:rPr>
              <a:t>https://www.mordorintelligence.com/industry-reports/hospitality-industry-in-the-united-kingdom</a:t>
            </a:r>
            <a:endParaRPr lang="en-US" sz="2499" u="none" strike="noStrike" spc="-137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  <a:p>
            <a:pPr marL="539749" lvl="1" indent="-269875" algn="l">
              <a:lnSpc>
                <a:spcPts val="2749"/>
              </a:lnSpc>
              <a:buFont typeface="Arial"/>
              <a:buChar char="•"/>
            </a:pPr>
            <a:endParaRPr lang="en-US" sz="2499" u="none" strike="noStrike" spc="-137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  <a:p>
            <a:pPr marL="539749" lvl="1" indent="-269875" algn="l">
              <a:lnSpc>
                <a:spcPts val="2749"/>
              </a:lnSpc>
              <a:buFont typeface="Arial"/>
              <a:buChar char="•"/>
            </a:pPr>
            <a:r>
              <a:rPr lang="en-US" sz="2499" u="none" strike="noStrike" spc="-137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Parracho, D. F. R., et al. (2025). Modular construction in the digital age. Buildings Journal. </a:t>
            </a:r>
            <a:r>
              <a:rPr lang="en-US" sz="2499" u="none" strike="noStrike" spc="-137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  <a:hlinkClick r:id="rId6"/>
              </a:rPr>
              <a:t>https://www.mdpi.com/2075-5309/15/5/765</a:t>
            </a:r>
            <a:endParaRPr lang="en-US" sz="2499" u="none" strike="noStrike" spc="-137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  <a:p>
            <a:pPr marL="539749" lvl="1" indent="-269875" algn="l">
              <a:lnSpc>
                <a:spcPts val="2749"/>
              </a:lnSpc>
              <a:buFont typeface="Arial"/>
              <a:buChar char="•"/>
            </a:pPr>
            <a:endParaRPr lang="en-US" sz="2499" u="none" strike="noStrike" spc="-137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  <a:p>
            <a:pPr marL="539749" lvl="1" indent="-269875" algn="l">
              <a:lnSpc>
                <a:spcPts val="2749"/>
              </a:lnSpc>
              <a:buFont typeface="Arial"/>
              <a:buChar char="•"/>
            </a:pPr>
            <a:r>
              <a:rPr lang="en-US" sz="2499" u="none" strike="noStrike" spc="-137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VisitBritain. (2023). England hotel occupancy statistics. </a:t>
            </a:r>
            <a:r>
              <a:rPr lang="en-US" sz="2499" u="none" strike="noStrike" spc="-137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  <a:hlinkClick r:id="rId7"/>
              </a:rPr>
              <a:t>https://www.visitbritain.org/research-insights/england-hotel-occupancy-latest</a:t>
            </a:r>
            <a:endParaRPr lang="en-US" sz="2499" u="none" strike="noStrike" spc="-137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  <a:p>
            <a:pPr marL="539749" lvl="1" indent="-269875" algn="l">
              <a:lnSpc>
                <a:spcPts val="2749"/>
              </a:lnSpc>
              <a:buFont typeface="Arial"/>
              <a:buChar char="•"/>
            </a:pPr>
            <a:endParaRPr lang="en-US" sz="2499" u="none" strike="noStrike" spc="-137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95617207-D96D-751D-DE46-4952DA971FC9}"/>
              </a:ext>
            </a:extLst>
          </p:cNvPr>
          <p:cNvSpPr txBox="1"/>
          <p:nvPr/>
        </p:nvSpPr>
        <p:spPr>
          <a:xfrm>
            <a:off x="1028700" y="344491"/>
            <a:ext cx="2318432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 dirty="0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MATCH 7,  2026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1BB5507F-10DA-BF4D-C370-C4BE2E3A7E5B}"/>
              </a:ext>
            </a:extLst>
          </p:cNvPr>
          <p:cNvSpPr txBox="1"/>
          <p:nvPr/>
        </p:nvSpPr>
        <p:spPr>
          <a:xfrm>
            <a:off x="14998156" y="344491"/>
            <a:ext cx="2261144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660"/>
              </a:lnSpc>
            </a:pPr>
            <a:r>
              <a:rPr lang="en-US" sz="2500" spc="-104" dirty="0" err="1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PodNest</a:t>
            </a:r>
            <a:endParaRPr lang="en-US" sz="2500" spc="-104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59723" y="2142678"/>
            <a:ext cx="8158726" cy="6001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13000" dirty="0">
                <a:solidFill>
                  <a:srgbClr val="281003"/>
                </a:solidFill>
                <a:latin typeface="Arial Nova" panose="020B0504020202020204" pitchFamily="34" charset="0"/>
                <a:ea typeface="Perandory Condensed"/>
                <a:cs typeface="Perandory Condensed"/>
                <a:sym typeface="Perandory Condensed"/>
              </a:rPr>
              <a:t>Thank you for your attention.</a:t>
            </a:r>
          </a:p>
        </p:txBody>
      </p:sp>
      <p:sp>
        <p:nvSpPr>
          <p:cNvPr id="6" name="AutoShape 6"/>
          <p:cNvSpPr/>
          <p:nvPr/>
        </p:nvSpPr>
        <p:spPr>
          <a:xfrm>
            <a:off x="8759723" y="8877300"/>
            <a:ext cx="7547077" cy="69092"/>
          </a:xfrm>
          <a:prstGeom prst="line">
            <a:avLst/>
          </a:prstGeom>
          <a:ln w="47625" cap="flat">
            <a:solidFill>
              <a:srgbClr val="BD551A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028" name="Picture 4" descr="Buy In Bulk Pod Capsule Hotel 5k+ | Alibaba.com">
            <a:extLst>
              <a:ext uri="{FF2B5EF4-FFF2-40B4-BE49-F238E27FC236}">
                <a16:creationId xmlns:a16="http://schemas.microsoft.com/office/drawing/2014/main" id="{E45B6E52-1DCB-F289-A6EF-2F6CD105B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95300"/>
            <a:ext cx="7848600" cy="9196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6">
            <a:extLst>
              <a:ext uri="{FF2B5EF4-FFF2-40B4-BE49-F238E27FC236}">
                <a16:creationId xmlns:a16="http://schemas.microsoft.com/office/drawing/2014/main" id="{FA7A48D1-14D3-A6CF-769E-0CE1DF9E3B69}"/>
              </a:ext>
            </a:extLst>
          </p:cNvPr>
          <p:cNvSpPr txBox="1"/>
          <p:nvPr/>
        </p:nvSpPr>
        <p:spPr>
          <a:xfrm>
            <a:off x="14998156" y="344491"/>
            <a:ext cx="2261144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660"/>
              </a:lnSpc>
            </a:pPr>
            <a:r>
              <a:rPr lang="en-US" sz="2500" spc="-104" dirty="0" err="1">
                <a:solidFill>
                  <a:srgbClr val="39312D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PodNest</a:t>
            </a:r>
            <a:endParaRPr lang="en-US" sz="2500" spc="-104" dirty="0">
              <a:solidFill>
                <a:srgbClr val="39312D"/>
              </a:solidFill>
              <a:latin typeface="Arial Nova Light"/>
              <a:ea typeface="Arial Nova Light"/>
              <a:cs typeface="Arial Nova Light"/>
              <a:sym typeface="Arial Nova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937</Words>
  <Application>Microsoft Office PowerPoint</Application>
  <PresentationFormat>Custom</PresentationFormat>
  <Paragraphs>167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 Nova</vt:lpstr>
      <vt:lpstr>DM Sans Bold</vt:lpstr>
      <vt:lpstr>Trirong Bold</vt:lpstr>
      <vt:lpstr>Calibri</vt:lpstr>
      <vt:lpstr>Arial</vt:lpstr>
      <vt:lpstr>Arial Nova Light</vt:lpstr>
      <vt:lpstr>Arial Nova Bold</vt:lpstr>
      <vt:lpstr>Trirong Extra-Light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PodNest</dc:title>
  <cp:lastModifiedBy>kelvin mwangi</cp:lastModifiedBy>
  <cp:revision>8</cp:revision>
  <dcterms:created xsi:type="dcterms:W3CDTF">2006-08-16T00:00:00Z</dcterms:created>
  <dcterms:modified xsi:type="dcterms:W3CDTF">2026-03-06T21:57:00Z</dcterms:modified>
  <dc:identifier>DAHDM_U7j6E</dc:identifier>
</cp:coreProperties>
</file>