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73" r:id="rId17"/>
    <p:sldId id="269" r:id="rId18"/>
    <p:sldId id="270" r:id="rId19"/>
  </p:sldIdLst>
  <p:sldSz cx="18288000" cy="10287000"/>
  <p:notesSz cx="6858000" cy="9144000"/>
  <p:embeddedFontLst>
    <p:embeddedFont>
      <p:font typeface="Lustria" panose="020B0604020202020204" charset="0"/>
      <p:regular r:id="rId20"/>
    </p:embeddedFont>
    <p:embeddedFont>
      <p:font typeface="Poppins" panose="00000500000000000000" pitchFamily="2" charset="0"/>
      <p:regular r:id="rId21"/>
      <p:bold r:id="rId22"/>
      <p:italic r:id="rId23"/>
    </p:embeddedFont>
    <p:embeddedFont>
      <p:font typeface="Poppins Bold" panose="00000800000000000000"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63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hyperlink" Target="https://www.tandfonline.com/doi/abs/10.1080/09585192.2023.2255823" TargetMode="External"/><Relationship Id="rId3" Type="http://schemas.openxmlformats.org/officeDocument/2006/relationships/hyperlink" Target="https://doi.org/10.1016/j.jclepro.2022.135610" TargetMode="External"/><Relationship Id="rId7" Type="http://schemas.openxmlformats.org/officeDocument/2006/relationships/hyperlink" Target="https://www.worldsupporter.org/en/summary/summary-human-resource-management-functions-applications-and-skill-development-lussier" TargetMode="External"/><Relationship Id="rId2" Type="http://schemas.openxmlformats.org/officeDocument/2006/relationships/hyperlink" Target="https://globalweb1.com/index.php/ojs/article/view/201" TargetMode="External"/><Relationship Id="rId1" Type="http://schemas.openxmlformats.org/officeDocument/2006/relationships/slideLayout" Target="../slideLayouts/slideLayout7.xml"/><Relationship Id="rId6" Type="http://schemas.openxmlformats.org/officeDocument/2006/relationships/hyperlink" Target="https://doi.org/10.1177/2158244018807320" TargetMode="External"/><Relationship Id="rId5" Type="http://schemas.openxmlformats.org/officeDocument/2006/relationships/hyperlink" Target="https://openlibrary.org/works/OL17326396W" TargetMode="External"/><Relationship Id="rId10" Type="http://schemas.openxmlformats.org/officeDocument/2006/relationships/hyperlink" Target="https://link.springer.com/article/10.1007/s00467-022-05573-7" TargetMode="External"/><Relationship Id="rId4" Type="http://schemas.openxmlformats.org/officeDocument/2006/relationships/hyperlink" Target="https://papers.ssrn.com/sol3/papers.cfm?abstract_id=5675622" TargetMode="External"/><Relationship Id="rId9" Type="http://schemas.openxmlformats.org/officeDocument/2006/relationships/hyperlink" Target="https://www.tandfonline.com/doi/abs/10.1080/14719037.2024.2431609"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96556" y="-2604607"/>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273047" y="856573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485066" y="1181100"/>
            <a:ext cx="10131548" cy="3587521"/>
          </a:xfrm>
          <a:prstGeom prst="rect">
            <a:avLst/>
          </a:prstGeom>
        </p:spPr>
        <p:txBody>
          <a:bodyPr lIns="0" tIns="0" rIns="0" bIns="0" rtlCol="0" anchor="t">
            <a:spAutoFit/>
          </a:bodyPr>
          <a:lstStyle/>
          <a:p>
            <a:pPr algn="l">
              <a:lnSpc>
                <a:spcPts val="9280"/>
              </a:lnSpc>
            </a:pPr>
            <a:r>
              <a:rPr lang="en-US" sz="8000" b="1" dirty="0">
                <a:solidFill>
                  <a:srgbClr val="000000"/>
                </a:solidFill>
                <a:latin typeface="Lustria"/>
                <a:ea typeface="Lustria"/>
                <a:cs typeface="Lustria"/>
                <a:sym typeface="Lustria"/>
              </a:rPr>
              <a:t>CO-OPERATIVE EDUCATION PORTFOLIO</a:t>
            </a:r>
          </a:p>
        </p:txBody>
      </p:sp>
      <p:grpSp>
        <p:nvGrpSpPr>
          <p:cNvPr id="5" name="Group 5"/>
          <p:cNvGrpSpPr/>
          <p:nvPr/>
        </p:nvGrpSpPr>
        <p:grpSpPr>
          <a:xfrm>
            <a:off x="10090305" y="2179331"/>
            <a:ext cx="8003577" cy="5928338"/>
            <a:chOff x="0" y="0"/>
            <a:chExt cx="8572844" cy="6350000"/>
          </a:xfrm>
        </p:grpSpPr>
        <p:sp>
          <p:nvSpPr>
            <p:cNvPr id="6" name="Freeform 6"/>
            <p:cNvSpPr/>
            <p:nvPr/>
          </p:nvSpPr>
          <p:spPr>
            <a:xfrm>
              <a:off x="0" y="0"/>
              <a:ext cx="8572843" cy="6350000"/>
            </a:xfrm>
            <a:custGeom>
              <a:avLst/>
              <a:gdLst/>
              <a:ahLst/>
              <a:cxnLst/>
              <a:rect l="l" t="t" r="r" b="b"/>
              <a:pathLst>
                <a:path w="8572843" h="6350000">
                  <a:moveTo>
                    <a:pt x="4286422" y="0"/>
                  </a:moveTo>
                  <a:cubicBezTo>
                    <a:pt x="1867184" y="0"/>
                    <a:pt x="0" y="1144270"/>
                    <a:pt x="0" y="2917190"/>
                  </a:cubicBezTo>
                  <a:cubicBezTo>
                    <a:pt x="0" y="4175760"/>
                    <a:pt x="0" y="6350000"/>
                    <a:pt x="0" y="6350000"/>
                  </a:cubicBezTo>
                  <a:lnTo>
                    <a:pt x="4286422" y="6350000"/>
                  </a:lnTo>
                  <a:lnTo>
                    <a:pt x="8572843" y="6350000"/>
                  </a:lnTo>
                  <a:cubicBezTo>
                    <a:pt x="8572843" y="6350000"/>
                    <a:pt x="8572843" y="4175760"/>
                    <a:pt x="8572843" y="2917190"/>
                  </a:cubicBezTo>
                  <a:cubicBezTo>
                    <a:pt x="8572843" y="1144270"/>
                    <a:pt x="6705660" y="0"/>
                    <a:pt x="4286422" y="0"/>
                  </a:cubicBezTo>
                  <a:close/>
                </a:path>
              </a:pathLst>
            </a:custGeom>
            <a:blipFill>
              <a:blip r:embed="rId4"/>
              <a:stretch>
                <a:fillRect l="-4066" r="-4066"/>
              </a:stretch>
            </a:blipFill>
          </p:spPr>
        </p:sp>
      </p:grpSp>
      <p:sp>
        <p:nvSpPr>
          <p:cNvPr id="7" name="TextBox 7"/>
          <p:cNvSpPr txBox="1"/>
          <p:nvPr/>
        </p:nvSpPr>
        <p:spPr>
          <a:xfrm>
            <a:off x="1485066" y="4879975"/>
            <a:ext cx="7476413" cy="1254125"/>
          </a:xfrm>
          <a:prstGeom prst="rect">
            <a:avLst/>
          </a:prstGeom>
        </p:spPr>
        <p:txBody>
          <a:bodyPr lIns="0" tIns="0" rIns="0" bIns="0" rtlCol="0" anchor="t">
            <a:spAutoFit/>
          </a:bodyPr>
          <a:lstStyle/>
          <a:p>
            <a:pPr algn="l">
              <a:lnSpc>
                <a:spcPts val="4900"/>
              </a:lnSpc>
              <a:spcBef>
                <a:spcPct val="0"/>
              </a:spcBef>
            </a:pPr>
            <a:r>
              <a:rPr lang="en-US" sz="3500" dirty="0">
                <a:solidFill>
                  <a:srgbClr val="000000"/>
                </a:solidFill>
                <a:latin typeface="Poppins"/>
                <a:ea typeface="Poppins"/>
                <a:cs typeface="Poppins"/>
                <a:sym typeface="Poppins"/>
              </a:rPr>
              <a:t>Professional Development and Cross-Cultural Communication</a:t>
            </a:r>
          </a:p>
        </p:txBody>
      </p:sp>
      <p:sp>
        <p:nvSpPr>
          <p:cNvPr id="8" name="TextBox 8"/>
          <p:cNvSpPr txBox="1"/>
          <p:nvPr/>
        </p:nvSpPr>
        <p:spPr>
          <a:xfrm>
            <a:off x="1485066" y="6505575"/>
            <a:ext cx="6359315" cy="2676525"/>
          </a:xfrm>
          <a:prstGeom prst="rect">
            <a:avLst/>
          </a:prstGeom>
        </p:spPr>
        <p:txBody>
          <a:bodyPr lIns="0" tIns="0" rIns="0" bIns="0" rtlCol="0" anchor="t">
            <a:spAutoFit/>
          </a:bodyPr>
          <a:lstStyle/>
          <a:p>
            <a:pPr algn="l">
              <a:lnSpc>
                <a:spcPts val="4200"/>
              </a:lnSpc>
              <a:spcBef>
                <a:spcPct val="0"/>
              </a:spcBef>
            </a:pPr>
            <a:r>
              <a:rPr lang="en-US" sz="3000" b="1" dirty="0">
                <a:solidFill>
                  <a:srgbClr val="000000"/>
                </a:solidFill>
                <a:latin typeface="Poppins Bold"/>
                <a:ea typeface="Poppins Bold"/>
                <a:cs typeface="Poppins Bold"/>
                <a:sym typeface="Poppins Bold"/>
              </a:rPr>
              <a:t>Student Name: </a:t>
            </a:r>
          </a:p>
          <a:p>
            <a:pPr algn="l">
              <a:lnSpc>
                <a:spcPts val="4200"/>
              </a:lnSpc>
              <a:spcBef>
                <a:spcPct val="0"/>
              </a:spcBef>
            </a:pPr>
            <a:r>
              <a:rPr lang="en-US" sz="3000" b="1" dirty="0">
                <a:solidFill>
                  <a:srgbClr val="000000"/>
                </a:solidFill>
                <a:latin typeface="Poppins Bold"/>
                <a:ea typeface="Poppins Bold"/>
                <a:cs typeface="Poppins Bold"/>
                <a:sym typeface="Poppins Bold"/>
              </a:rPr>
              <a:t>Student ID:</a:t>
            </a:r>
          </a:p>
          <a:p>
            <a:pPr algn="l">
              <a:lnSpc>
                <a:spcPts val="4200"/>
              </a:lnSpc>
              <a:spcBef>
                <a:spcPct val="0"/>
              </a:spcBef>
            </a:pPr>
            <a:r>
              <a:rPr lang="en-US" sz="3000" b="1" dirty="0">
                <a:solidFill>
                  <a:srgbClr val="000000"/>
                </a:solidFill>
                <a:latin typeface="Poppins Bold"/>
                <a:ea typeface="Poppins Bold"/>
                <a:cs typeface="Poppins Bold"/>
                <a:sym typeface="Poppins Bold"/>
              </a:rPr>
              <a:t>Course Code</a:t>
            </a:r>
          </a:p>
          <a:p>
            <a:pPr algn="l">
              <a:lnSpc>
                <a:spcPts val="4200"/>
              </a:lnSpc>
              <a:spcBef>
                <a:spcPct val="0"/>
              </a:spcBef>
            </a:pPr>
            <a:r>
              <a:rPr lang="en-US" sz="3000" b="1" dirty="0">
                <a:solidFill>
                  <a:srgbClr val="000000"/>
                </a:solidFill>
                <a:latin typeface="Poppins Bold"/>
                <a:ea typeface="Poppins Bold"/>
                <a:cs typeface="Poppins Bold"/>
                <a:sym typeface="Poppins Bold"/>
              </a:rPr>
              <a:t>Institution:</a:t>
            </a:r>
          </a:p>
          <a:p>
            <a:pPr algn="l">
              <a:lnSpc>
                <a:spcPts val="4200"/>
              </a:lnSpc>
              <a:spcBef>
                <a:spcPct val="0"/>
              </a:spcBef>
            </a:pPr>
            <a:r>
              <a:rPr lang="en-US" sz="3000" b="1" dirty="0">
                <a:solidFill>
                  <a:srgbClr val="000000"/>
                </a:solidFill>
                <a:latin typeface="Poppins Bold"/>
                <a:ea typeface="Poppins Bold"/>
                <a:cs typeface="Poppins Bold"/>
                <a:sym typeface="Poppins Bold"/>
              </a:rPr>
              <a:t>Placement: FNZC Ltd</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88323" y="2392782"/>
            <a:ext cx="5501436" cy="5501436"/>
            <a:chOff x="0" y="0"/>
            <a:chExt cx="7620000" cy="7620000"/>
          </a:xfrm>
        </p:grpSpPr>
        <p:sp>
          <p:nvSpPr>
            <p:cNvPr id="3" name="Freeform 3"/>
            <p:cNvSpPr/>
            <p:nvPr/>
          </p:nvSpPr>
          <p:spPr>
            <a:xfrm>
              <a:off x="0" y="0"/>
              <a:ext cx="7620000" cy="7620000"/>
            </a:xfrm>
            <a:custGeom>
              <a:avLst/>
              <a:gdLst/>
              <a:ahLst/>
              <a:cxnLst/>
              <a:rect l="l" t="t" r="r" b="b"/>
              <a:pathLst>
                <a:path w="7620000" h="7620000">
                  <a:moveTo>
                    <a:pt x="6826250" y="0"/>
                  </a:moveTo>
                  <a:lnTo>
                    <a:pt x="793750" y="0"/>
                  </a:lnTo>
                  <a:cubicBezTo>
                    <a:pt x="355600" y="0"/>
                    <a:pt x="0" y="355600"/>
                    <a:pt x="0" y="793750"/>
                  </a:cubicBezTo>
                  <a:lnTo>
                    <a:pt x="0" y="7620000"/>
                  </a:lnTo>
                  <a:lnTo>
                    <a:pt x="6826250" y="7620000"/>
                  </a:lnTo>
                  <a:cubicBezTo>
                    <a:pt x="7264400" y="7620000"/>
                    <a:pt x="7620000" y="7264400"/>
                    <a:pt x="7620000" y="6826250"/>
                  </a:cubicBezTo>
                  <a:lnTo>
                    <a:pt x="7620000" y="0"/>
                  </a:lnTo>
                  <a:lnTo>
                    <a:pt x="6826250" y="0"/>
                  </a:lnTo>
                  <a:close/>
                </a:path>
              </a:pathLst>
            </a:custGeom>
            <a:blipFill>
              <a:blip r:embed="rId2"/>
              <a:stretch>
                <a:fillRect l="-16666" r="-16666"/>
              </a:stretch>
            </a:blipFill>
          </p:spPr>
        </p:sp>
      </p:grpSp>
      <p:sp>
        <p:nvSpPr>
          <p:cNvPr id="4" name="TextBox 4"/>
          <p:cNvSpPr txBox="1"/>
          <p:nvPr/>
        </p:nvSpPr>
        <p:spPr>
          <a:xfrm>
            <a:off x="8492336" y="1603375"/>
            <a:ext cx="8766964" cy="1482725"/>
          </a:xfrm>
          <a:prstGeom prst="rect">
            <a:avLst/>
          </a:prstGeom>
        </p:spPr>
        <p:txBody>
          <a:bodyPr lIns="0" tIns="0" rIns="0" bIns="0" rtlCol="0" anchor="t">
            <a:spAutoFit/>
          </a:bodyPr>
          <a:lstStyle/>
          <a:p>
            <a:pPr algn="l">
              <a:lnSpc>
                <a:spcPts val="5800"/>
              </a:lnSpc>
              <a:spcBef>
                <a:spcPct val="0"/>
              </a:spcBef>
            </a:pPr>
            <a:r>
              <a:rPr lang="en-US" sz="5000" b="1" dirty="0">
                <a:solidFill>
                  <a:srgbClr val="000000"/>
                </a:solidFill>
                <a:latin typeface="Lustria"/>
                <a:ea typeface="Lustria"/>
                <a:cs typeface="Lustria"/>
                <a:sym typeface="Lustria"/>
              </a:rPr>
              <a:t>Introduction &amp; Presentation Overview</a:t>
            </a:r>
          </a:p>
        </p:txBody>
      </p:sp>
      <p:sp>
        <p:nvSpPr>
          <p:cNvPr id="5" name="Freeform 5"/>
          <p:cNvSpPr/>
          <p:nvPr/>
        </p:nvSpPr>
        <p:spPr>
          <a:xfrm>
            <a:off x="14396556" y="-2604607"/>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789655" y="895667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8492336" y="3645098"/>
            <a:ext cx="9087708" cy="4796185"/>
          </a:xfrm>
          <a:prstGeom prst="rect">
            <a:avLst/>
          </a:prstGeom>
        </p:spPr>
        <p:txBody>
          <a:bodyPr lIns="0" tIns="0" rIns="0" bIns="0" rtlCol="0" anchor="t">
            <a:spAutoFit/>
          </a:bodyPr>
          <a:lstStyle/>
          <a:p>
            <a:pPr algn="just">
              <a:lnSpc>
                <a:spcPts val="3364"/>
              </a:lnSpc>
              <a:spcBef>
                <a:spcPct val="0"/>
              </a:spcBef>
            </a:pPr>
            <a:r>
              <a:rPr lang="en-US" sz="2900" b="1" dirty="0">
                <a:solidFill>
                  <a:srgbClr val="000000"/>
                </a:solidFill>
                <a:latin typeface="Poppins"/>
                <a:ea typeface="Poppins"/>
                <a:cs typeface="Poppins"/>
                <a:sym typeface="Poppins"/>
              </a:rPr>
              <a:t>Purpose of this Oral Brief</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Critically reflect on my Co-operative Education experience</a:t>
            </a:r>
          </a:p>
          <a:p>
            <a:pPr marL="626111" lvl="1" indent="-313055" algn="just">
              <a:lnSpc>
                <a:spcPts val="3364"/>
              </a:lnSpc>
              <a:spcBef>
                <a:spcPct val="0"/>
              </a:spcBef>
              <a:buFont typeface="Arial"/>
              <a:buChar char="•"/>
            </a:pPr>
            <a:r>
              <a:rPr lang="en-US" sz="2900" dirty="0" err="1">
                <a:solidFill>
                  <a:srgbClr val="000000"/>
                </a:solidFill>
                <a:latin typeface="Poppins"/>
                <a:ea typeface="Poppins"/>
                <a:cs typeface="Poppins"/>
                <a:sym typeface="Poppins"/>
              </a:rPr>
              <a:t>Analyse</a:t>
            </a:r>
            <a:r>
              <a:rPr lang="en-US" sz="2900" dirty="0">
                <a:solidFill>
                  <a:srgbClr val="000000"/>
                </a:solidFill>
                <a:latin typeface="Poppins"/>
                <a:ea typeface="Poppins"/>
                <a:cs typeface="Poppins"/>
                <a:sym typeface="Poppins"/>
              </a:rPr>
              <a:t> a key learning experience and its impact on my professional development</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Examine the development of my professional identity</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Present progress on my contemporary issue research</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Discuss application to FNZC Ltd and the industry in general</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1028700"/>
            <a:ext cx="4837130" cy="4905258"/>
            <a:chOff x="0" y="0"/>
            <a:chExt cx="1241189" cy="1258671"/>
          </a:xfrm>
        </p:grpSpPr>
        <p:sp>
          <p:nvSpPr>
            <p:cNvPr id="3" name="Freeform 3"/>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2"/>
              <a:stretch>
                <a:fillRect l="-50382" r="-1825"/>
              </a:stretch>
            </a:blipFill>
          </p:spPr>
        </p:sp>
      </p:grpSp>
      <p:sp>
        <p:nvSpPr>
          <p:cNvPr id="4" name="Freeform 4"/>
          <p:cNvSpPr/>
          <p:nvPr/>
        </p:nvSpPr>
        <p:spPr>
          <a:xfrm>
            <a:off x="5228606" y="9258300"/>
            <a:ext cx="5357470" cy="4114800"/>
          </a:xfrm>
          <a:custGeom>
            <a:avLst/>
            <a:gdLst/>
            <a:ahLst/>
            <a:cxnLst/>
            <a:rect l="l" t="t" r="r" b="b"/>
            <a:pathLst>
              <a:path w="5357470" h="4114800">
                <a:moveTo>
                  <a:pt x="0" y="0"/>
                </a:moveTo>
                <a:lnTo>
                  <a:pt x="5357469" y="0"/>
                </a:lnTo>
                <a:lnTo>
                  <a:pt x="535746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12704980" y="4353042"/>
            <a:ext cx="4837130" cy="4905258"/>
            <a:chOff x="0" y="0"/>
            <a:chExt cx="1241189" cy="1258671"/>
          </a:xfrm>
        </p:grpSpPr>
        <p:sp>
          <p:nvSpPr>
            <p:cNvPr id="6" name="Freeform 6"/>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5"/>
              <a:stretch>
                <a:fillRect l="-3601" r="-48605"/>
              </a:stretch>
            </a:blipFill>
          </p:spPr>
        </p:sp>
      </p:grpSp>
      <p:sp>
        <p:nvSpPr>
          <p:cNvPr id="7" name="TextBox 7"/>
          <p:cNvSpPr txBox="1"/>
          <p:nvPr/>
        </p:nvSpPr>
        <p:spPr>
          <a:xfrm>
            <a:off x="1028700" y="2280836"/>
            <a:ext cx="5184935"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Placement Context</a:t>
            </a:r>
          </a:p>
        </p:txBody>
      </p:sp>
      <p:sp>
        <p:nvSpPr>
          <p:cNvPr id="8" name="TextBox 8"/>
          <p:cNvSpPr txBox="1"/>
          <p:nvPr/>
        </p:nvSpPr>
        <p:spPr>
          <a:xfrm>
            <a:off x="1028700" y="4367996"/>
            <a:ext cx="6878640" cy="4129024"/>
          </a:xfrm>
          <a:prstGeom prst="rect">
            <a:avLst/>
          </a:prstGeom>
        </p:spPr>
        <p:txBody>
          <a:bodyPr lIns="0" tIns="0" rIns="0" bIns="0" rtlCol="0" anchor="t">
            <a:spAutoFit/>
          </a:bodyPr>
          <a:lstStyle/>
          <a:p>
            <a:pPr marL="302259" lvl="1" algn="just">
              <a:lnSpc>
                <a:spcPts val="3247"/>
              </a:lnSpc>
            </a:pPr>
            <a:r>
              <a:rPr lang="en-US" sz="2799" b="1" dirty="0">
                <a:solidFill>
                  <a:srgbClr val="000000"/>
                </a:solidFill>
                <a:latin typeface="Poppins"/>
                <a:ea typeface="Poppins"/>
                <a:cs typeface="Poppins"/>
                <a:sym typeface="Poppins"/>
              </a:rPr>
              <a:t>FNZC Ltd – Work Environment</a:t>
            </a:r>
          </a:p>
          <a:p>
            <a:pPr marL="604519" lvl="1" indent="-302260" algn="just">
              <a:lnSpc>
                <a:spcPts val="3247"/>
              </a:lnSpc>
              <a:buFont typeface="Arial"/>
              <a:buChar char="•"/>
            </a:pPr>
            <a:r>
              <a:rPr lang="en-US" sz="2799" dirty="0">
                <a:solidFill>
                  <a:srgbClr val="000000"/>
                </a:solidFill>
                <a:latin typeface="Poppins"/>
                <a:ea typeface="Poppins"/>
                <a:cs typeface="Poppins"/>
                <a:sym typeface="Poppins"/>
              </a:rPr>
              <a:t>Small NZ cleaning &amp; light construction company</a:t>
            </a:r>
          </a:p>
          <a:p>
            <a:pPr marL="604519" lvl="1" indent="-302260" algn="just">
              <a:lnSpc>
                <a:spcPts val="3247"/>
              </a:lnSpc>
              <a:buFont typeface="Arial"/>
              <a:buChar char="•"/>
            </a:pPr>
            <a:r>
              <a:rPr lang="en-US" sz="2799" dirty="0">
                <a:solidFill>
                  <a:srgbClr val="000000"/>
                </a:solidFill>
                <a:latin typeface="Poppins"/>
                <a:ea typeface="Poppins"/>
                <a:cs typeface="Poppins"/>
                <a:sym typeface="Poppins"/>
              </a:rPr>
              <a:t>Multicultural workforce (Mandarin &amp; English speakers)</a:t>
            </a:r>
          </a:p>
          <a:p>
            <a:pPr marL="604519" lvl="1" indent="-302260" algn="just">
              <a:lnSpc>
                <a:spcPts val="3247"/>
              </a:lnSpc>
              <a:buFont typeface="Arial"/>
              <a:buChar char="•"/>
            </a:pPr>
            <a:r>
              <a:rPr lang="en-US" sz="2799" dirty="0" err="1">
                <a:solidFill>
                  <a:srgbClr val="000000"/>
                </a:solidFill>
                <a:latin typeface="Poppins"/>
                <a:ea typeface="Poppins"/>
                <a:cs typeface="Poppins"/>
                <a:sym typeface="Poppins"/>
              </a:rPr>
              <a:t>Labour</a:t>
            </a:r>
            <a:r>
              <a:rPr lang="en-US" sz="2799" dirty="0">
                <a:solidFill>
                  <a:srgbClr val="000000"/>
                </a:solidFill>
                <a:latin typeface="Poppins"/>
                <a:ea typeface="Poppins"/>
                <a:cs typeface="Poppins"/>
                <a:sym typeface="Poppins"/>
              </a:rPr>
              <a:t>-intensive, competitive industry</a:t>
            </a:r>
          </a:p>
          <a:p>
            <a:pPr marL="604519" lvl="1" indent="-302260" algn="just">
              <a:lnSpc>
                <a:spcPts val="3247"/>
              </a:lnSpc>
              <a:buFont typeface="Arial"/>
              <a:buChar char="•"/>
            </a:pPr>
            <a:r>
              <a:rPr lang="en-US" sz="2799" b="1" dirty="0">
                <a:solidFill>
                  <a:srgbClr val="000000"/>
                </a:solidFill>
                <a:latin typeface="Poppins"/>
                <a:ea typeface="Poppins"/>
                <a:cs typeface="Poppins"/>
                <a:sym typeface="Poppins"/>
              </a:rPr>
              <a:t>My role: </a:t>
            </a:r>
            <a:r>
              <a:rPr lang="en-US" sz="2799" dirty="0">
                <a:solidFill>
                  <a:srgbClr val="000000"/>
                </a:solidFill>
                <a:latin typeface="Poppins"/>
                <a:ea typeface="Poppins"/>
                <a:cs typeface="Poppins"/>
                <a:sym typeface="Poppins"/>
              </a:rPr>
              <a:t>workforce coordination, payroll, compliance, communication</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89655" y="895667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410404" y="1349999"/>
            <a:ext cx="6149479" cy="6757670"/>
            <a:chOff x="0" y="0"/>
            <a:chExt cx="5778500" cy="6350000"/>
          </a:xfrm>
        </p:grpSpPr>
        <p:sp>
          <p:nvSpPr>
            <p:cNvPr id="4" name="Freeform 4"/>
            <p:cNvSpPr/>
            <p:nvPr/>
          </p:nvSpPr>
          <p:spPr>
            <a:xfrm>
              <a:off x="0" y="0"/>
              <a:ext cx="5778500" cy="6350000"/>
            </a:xfrm>
            <a:custGeom>
              <a:avLst/>
              <a:gdLst/>
              <a:ahLst/>
              <a:cxnLst/>
              <a:rect l="l" t="t" r="r" b="b"/>
              <a:pathLst>
                <a:path w="5778500" h="63500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4"/>
              <a:stretch>
                <a:fillRect l="-3341" r="-6136"/>
              </a:stretch>
            </a:blipFill>
          </p:spPr>
        </p:sp>
      </p:grpSp>
      <p:sp>
        <p:nvSpPr>
          <p:cNvPr id="5" name="Freeform 5"/>
          <p:cNvSpPr/>
          <p:nvPr/>
        </p:nvSpPr>
        <p:spPr>
          <a:xfrm>
            <a:off x="15272468" y="100140"/>
            <a:ext cx="2499718" cy="2499718"/>
          </a:xfrm>
          <a:custGeom>
            <a:avLst/>
            <a:gdLst/>
            <a:ahLst/>
            <a:cxnLst/>
            <a:rect l="l" t="t" r="r" b="b"/>
            <a:pathLst>
              <a:path w="2499718" h="2499718">
                <a:moveTo>
                  <a:pt x="0" y="0"/>
                </a:moveTo>
                <a:lnTo>
                  <a:pt x="2499718" y="0"/>
                </a:lnTo>
                <a:lnTo>
                  <a:pt x="2499718" y="2499718"/>
                </a:lnTo>
                <a:lnTo>
                  <a:pt x="0" y="2499718"/>
                </a:lnTo>
                <a:lnTo>
                  <a:pt x="0" y="0"/>
                </a:lnTo>
                <a:close/>
              </a:path>
            </a:pathLst>
          </a:custGeom>
          <a:blipFill>
            <a:blip r:embed="rId5"/>
            <a:stretch>
              <a:fillRect/>
            </a:stretch>
          </a:blipFill>
        </p:spPr>
      </p:sp>
      <p:sp>
        <p:nvSpPr>
          <p:cNvPr id="6" name="TextBox 6"/>
          <p:cNvSpPr txBox="1"/>
          <p:nvPr/>
        </p:nvSpPr>
        <p:spPr>
          <a:xfrm>
            <a:off x="9144000" y="2256548"/>
            <a:ext cx="6128468"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Key Learning Experience</a:t>
            </a:r>
          </a:p>
        </p:txBody>
      </p:sp>
      <p:sp>
        <p:nvSpPr>
          <p:cNvPr id="7" name="TextBox 7"/>
          <p:cNvSpPr txBox="1"/>
          <p:nvPr/>
        </p:nvSpPr>
        <p:spPr>
          <a:xfrm>
            <a:off x="9144000" y="4559794"/>
            <a:ext cx="7136432" cy="3309874"/>
          </a:xfrm>
          <a:prstGeom prst="rect">
            <a:avLst/>
          </a:prstGeom>
        </p:spPr>
        <p:txBody>
          <a:bodyPr lIns="0" tIns="0" rIns="0" bIns="0" rtlCol="0" anchor="t">
            <a:spAutoFit/>
          </a:bodyPr>
          <a:lstStyle/>
          <a:p>
            <a:pPr algn="l">
              <a:lnSpc>
                <a:spcPts val="3247"/>
              </a:lnSpc>
              <a:spcBef>
                <a:spcPct val="0"/>
              </a:spcBef>
            </a:pPr>
            <a:r>
              <a:rPr lang="en-US" sz="2799" b="1" dirty="0">
                <a:solidFill>
                  <a:srgbClr val="000000"/>
                </a:solidFill>
                <a:latin typeface="Poppins"/>
                <a:ea typeface="Poppins"/>
                <a:cs typeface="Poppins"/>
                <a:sym typeface="Poppins"/>
              </a:rPr>
              <a:t>Workforce Coordination During Staff Retirement</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Two senior employees retired</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Needed rapid redistribution of duties</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Risk of service disruption</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Required structured HR and operational decision-making</a:t>
            </a:r>
          </a:p>
          <a:p>
            <a:pPr algn="l">
              <a:lnSpc>
                <a:spcPts val="3247"/>
              </a:lnSpc>
              <a:spcBef>
                <a:spcPct val="0"/>
              </a:spcBef>
            </a:pPr>
            <a:endParaRPr lang="en-US" sz="2799" dirty="0">
              <a:solidFill>
                <a:srgbClr val="000000"/>
              </a:solidFill>
              <a:latin typeface="Poppins"/>
              <a:ea typeface="Poppins"/>
              <a:cs typeface="Poppins"/>
              <a:sym typeface="Poppins"/>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24688" y="5231030"/>
            <a:ext cx="4686903" cy="4796902"/>
          </a:xfrm>
          <a:custGeom>
            <a:avLst/>
            <a:gdLst/>
            <a:ahLst/>
            <a:cxnLst/>
            <a:rect l="l" t="t" r="r" b="b"/>
            <a:pathLst>
              <a:path w="4686903" h="4796902">
                <a:moveTo>
                  <a:pt x="0" y="0"/>
                </a:moveTo>
                <a:lnTo>
                  <a:pt x="4686903" y="0"/>
                </a:lnTo>
                <a:lnTo>
                  <a:pt x="4686903" y="4796903"/>
                </a:lnTo>
                <a:lnTo>
                  <a:pt x="0" y="4796903"/>
                </a:lnTo>
                <a:lnTo>
                  <a:pt x="0" y="0"/>
                </a:lnTo>
                <a:close/>
              </a:path>
            </a:pathLst>
          </a:custGeom>
          <a:blipFill>
            <a:blip r:embed="rId2"/>
            <a:stretch>
              <a:fillRect l="-6454" t="-6306" r="-9387" b="-6879"/>
            </a:stretch>
          </a:blipFill>
        </p:spPr>
      </p:sp>
      <p:sp>
        <p:nvSpPr>
          <p:cNvPr id="3" name="TextBox 3"/>
          <p:cNvSpPr txBox="1"/>
          <p:nvPr/>
        </p:nvSpPr>
        <p:spPr>
          <a:xfrm>
            <a:off x="1817823" y="1226496"/>
            <a:ext cx="5700518" cy="2699457"/>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Applying Specialist Knowledge</a:t>
            </a:r>
          </a:p>
        </p:txBody>
      </p:sp>
      <p:sp>
        <p:nvSpPr>
          <p:cNvPr id="4" name="TextBox 4"/>
          <p:cNvSpPr txBox="1"/>
          <p:nvPr/>
        </p:nvSpPr>
        <p:spPr>
          <a:xfrm>
            <a:off x="1817823" y="4223022"/>
            <a:ext cx="6878640" cy="4538599"/>
          </a:xfrm>
          <a:prstGeom prst="rect">
            <a:avLst/>
          </a:prstGeom>
        </p:spPr>
        <p:txBody>
          <a:bodyPr lIns="0" tIns="0" rIns="0" bIns="0" rtlCol="0" anchor="t">
            <a:spAutoFit/>
          </a:bodyPr>
          <a:lstStyle/>
          <a:p>
            <a:pPr algn="l">
              <a:lnSpc>
                <a:spcPts val="3247"/>
              </a:lnSpc>
              <a:spcBef>
                <a:spcPct val="0"/>
              </a:spcBef>
            </a:pPr>
            <a:r>
              <a:rPr lang="en-US" sz="2799" b="1" dirty="0">
                <a:solidFill>
                  <a:srgbClr val="000000"/>
                </a:solidFill>
                <a:latin typeface="Poppins Bold"/>
                <a:ea typeface="Poppins Bold"/>
                <a:cs typeface="Poppins Bold"/>
                <a:sym typeface="Poppins Bold"/>
              </a:rPr>
              <a:t>Theoretical Frameworks Applied</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Workforce planning model used to reallocate tasks systematically (HR Lineup, 2023)</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Job design theory improved task identity and responsibility (Lussier &amp; Hendon, 2021)</a:t>
            </a:r>
          </a:p>
          <a:p>
            <a:pPr marL="604519" lvl="1" indent="-302260" algn="l">
              <a:lnSpc>
                <a:spcPts val="3247"/>
              </a:lnSpc>
              <a:buFont typeface="Arial"/>
              <a:buChar char="•"/>
            </a:pPr>
            <a:r>
              <a:rPr lang="en-US" sz="2799" dirty="0">
                <a:solidFill>
                  <a:srgbClr val="000000"/>
                </a:solidFill>
                <a:latin typeface="Poppins"/>
                <a:ea typeface="Poppins"/>
                <a:cs typeface="Poppins"/>
                <a:sym typeface="Poppins"/>
              </a:rPr>
              <a:t>These models facilitated more </a:t>
            </a:r>
            <a:r>
              <a:rPr lang="en-US" sz="2799" dirty="0" err="1">
                <a:solidFill>
                  <a:srgbClr val="000000"/>
                </a:solidFill>
                <a:latin typeface="Poppins"/>
                <a:ea typeface="Poppins"/>
                <a:cs typeface="Poppins"/>
                <a:sym typeface="Poppins"/>
              </a:rPr>
              <a:t>organised</a:t>
            </a:r>
            <a:r>
              <a:rPr lang="en-US" sz="2799" dirty="0">
                <a:solidFill>
                  <a:srgbClr val="000000"/>
                </a:solidFill>
                <a:latin typeface="Poppins"/>
                <a:ea typeface="Poppins"/>
                <a:cs typeface="Poppins"/>
                <a:sym typeface="Poppins"/>
              </a:rPr>
              <a:t> and evidence-based HR decision-making rather than responsive judgement.</a:t>
            </a:r>
          </a:p>
        </p:txBody>
      </p:sp>
      <p:sp>
        <p:nvSpPr>
          <p:cNvPr id="5" name="Freeform 5"/>
          <p:cNvSpPr/>
          <p:nvPr/>
        </p:nvSpPr>
        <p:spPr>
          <a:xfrm>
            <a:off x="10830836" y="-90084"/>
            <a:ext cx="5578290" cy="5578290"/>
          </a:xfrm>
          <a:custGeom>
            <a:avLst/>
            <a:gdLst/>
            <a:ahLst/>
            <a:cxnLst/>
            <a:rect l="l" t="t" r="r" b="b"/>
            <a:pathLst>
              <a:path w="5578290" h="5578290">
                <a:moveTo>
                  <a:pt x="0" y="0"/>
                </a:moveTo>
                <a:lnTo>
                  <a:pt x="5578290" y="0"/>
                </a:lnTo>
                <a:lnTo>
                  <a:pt x="5578290" y="5578289"/>
                </a:lnTo>
                <a:lnTo>
                  <a:pt x="0" y="5578289"/>
                </a:lnTo>
                <a:lnTo>
                  <a:pt x="0" y="0"/>
                </a:lnTo>
                <a:close/>
              </a:path>
            </a:pathLst>
          </a:custGeom>
          <a:blipFill>
            <a:blip r:embed="rId3"/>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08450" y="2305213"/>
            <a:ext cx="5676573" cy="5676573"/>
            <a:chOff x="0" y="0"/>
            <a:chExt cx="3282950" cy="3282950"/>
          </a:xfrm>
        </p:grpSpPr>
        <p:sp>
          <p:nvSpPr>
            <p:cNvPr id="3" name="Freeform 3"/>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2"/>
              <a:stretch>
                <a:fillRect l="-18027" r="-18027"/>
              </a:stretch>
            </a:blipFill>
          </p:spPr>
        </p:sp>
      </p:grpSp>
      <p:sp>
        <p:nvSpPr>
          <p:cNvPr id="4" name="Freeform 4"/>
          <p:cNvSpPr/>
          <p:nvPr/>
        </p:nvSpPr>
        <p:spPr>
          <a:xfrm>
            <a:off x="15159545" y="270729"/>
            <a:ext cx="2889031" cy="2889031"/>
          </a:xfrm>
          <a:custGeom>
            <a:avLst/>
            <a:gdLst/>
            <a:ahLst/>
            <a:cxnLst/>
            <a:rect l="l" t="t" r="r" b="b"/>
            <a:pathLst>
              <a:path w="2889031" h="2889031">
                <a:moveTo>
                  <a:pt x="0" y="0"/>
                </a:moveTo>
                <a:lnTo>
                  <a:pt x="2889031" y="0"/>
                </a:lnTo>
                <a:lnTo>
                  <a:pt x="2889031" y="2889032"/>
                </a:lnTo>
                <a:lnTo>
                  <a:pt x="0" y="2889032"/>
                </a:lnTo>
                <a:lnTo>
                  <a:pt x="0" y="0"/>
                </a:lnTo>
                <a:close/>
              </a:path>
            </a:pathLst>
          </a:custGeom>
          <a:blipFill>
            <a:blip r:embed="rId3"/>
            <a:stretch>
              <a:fillRect/>
            </a:stretch>
          </a:blipFill>
        </p:spPr>
      </p:sp>
      <p:sp>
        <p:nvSpPr>
          <p:cNvPr id="5" name="Freeform 5"/>
          <p:cNvSpPr/>
          <p:nvPr/>
        </p:nvSpPr>
        <p:spPr>
          <a:xfrm>
            <a:off x="513395" y="8200112"/>
            <a:ext cx="3945169" cy="2628469"/>
          </a:xfrm>
          <a:custGeom>
            <a:avLst/>
            <a:gdLst/>
            <a:ahLst/>
            <a:cxnLst/>
            <a:rect l="l" t="t" r="r" b="b"/>
            <a:pathLst>
              <a:path w="3945169" h="2628469">
                <a:moveTo>
                  <a:pt x="0" y="0"/>
                </a:moveTo>
                <a:lnTo>
                  <a:pt x="3945170" y="0"/>
                </a:lnTo>
                <a:lnTo>
                  <a:pt x="3945170" y="2628469"/>
                </a:lnTo>
                <a:lnTo>
                  <a:pt x="0" y="2628469"/>
                </a:lnTo>
                <a:lnTo>
                  <a:pt x="0" y="0"/>
                </a:lnTo>
                <a:close/>
              </a:path>
            </a:pathLst>
          </a:custGeom>
          <a:blipFill>
            <a:blip r:embed="rId4"/>
            <a:stretch>
              <a:fillRect/>
            </a:stretch>
          </a:blipFill>
        </p:spPr>
      </p:sp>
      <p:sp>
        <p:nvSpPr>
          <p:cNvPr id="6" name="TextBox 6"/>
          <p:cNvSpPr txBox="1"/>
          <p:nvPr/>
        </p:nvSpPr>
        <p:spPr>
          <a:xfrm>
            <a:off x="9200909" y="2485948"/>
            <a:ext cx="5958635"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Critical Reflection</a:t>
            </a:r>
          </a:p>
        </p:txBody>
      </p:sp>
      <p:sp>
        <p:nvSpPr>
          <p:cNvPr id="7" name="TextBox 7"/>
          <p:cNvSpPr txBox="1"/>
          <p:nvPr/>
        </p:nvSpPr>
        <p:spPr>
          <a:xfrm>
            <a:off x="9200909" y="4719701"/>
            <a:ext cx="6878640" cy="4103688"/>
          </a:xfrm>
          <a:prstGeom prst="rect">
            <a:avLst/>
          </a:prstGeom>
        </p:spPr>
        <p:txBody>
          <a:bodyPr lIns="0" tIns="0" rIns="0" bIns="0" rtlCol="0" anchor="t">
            <a:spAutoFit/>
          </a:bodyPr>
          <a:lstStyle/>
          <a:p>
            <a:pPr algn="l">
              <a:lnSpc>
                <a:spcPts val="3247"/>
              </a:lnSpc>
              <a:spcBef>
                <a:spcPct val="0"/>
              </a:spcBef>
            </a:pPr>
            <a:r>
              <a:rPr lang="en-US" sz="2799" b="1" dirty="0">
                <a:solidFill>
                  <a:srgbClr val="000000"/>
                </a:solidFill>
                <a:latin typeface="Poppins"/>
                <a:ea typeface="Poppins"/>
                <a:cs typeface="Poppins"/>
                <a:sym typeface="Poppins"/>
              </a:rPr>
              <a:t>What This Experience Taught Me</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Importance of separating relational vs operational judgement</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Value of evidence-based decisions</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Balancing efficiency and employee wellbeing</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Theory helped reduce bias in decision-making</a:t>
            </a:r>
          </a:p>
          <a:p>
            <a:pPr algn="l">
              <a:lnSpc>
                <a:spcPts val="3247"/>
              </a:lnSpc>
              <a:spcBef>
                <a:spcPct val="0"/>
              </a:spcBef>
            </a:pPr>
            <a:endParaRPr lang="en-US" sz="2799" dirty="0">
              <a:solidFill>
                <a:srgbClr val="000000"/>
              </a:solidFill>
              <a:latin typeface="Poppins"/>
              <a:ea typeface="Poppins"/>
              <a:cs typeface="Poppins"/>
              <a:sym typeface="Poppi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94438" y="5143500"/>
            <a:ext cx="3864862" cy="3919296"/>
            <a:chOff x="0" y="0"/>
            <a:chExt cx="1241189" cy="1258671"/>
          </a:xfrm>
        </p:grpSpPr>
        <p:sp>
          <p:nvSpPr>
            <p:cNvPr id="3" name="Freeform 3"/>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2"/>
              <a:stretch>
                <a:fillRect l="-704" r="-704"/>
              </a:stretch>
            </a:blipFill>
          </p:spPr>
        </p:sp>
      </p:grpSp>
      <p:grpSp>
        <p:nvGrpSpPr>
          <p:cNvPr id="4" name="Group 4"/>
          <p:cNvGrpSpPr/>
          <p:nvPr/>
        </p:nvGrpSpPr>
        <p:grpSpPr>
          <a:xfrm>
            <a:off x="8813981" y="1279566"/>
            <a:ext cx="3864862" cy="3919296"/>
            <a:chOff x="0" y="0"/>
            <a:chExt cx="1241189" cy="1258671"/>
          </a:xfrm>
        </p:grpSpPr>
        <p:sp>
          <p:nvSpPr>
            <p:cNvPr id="5" name="Freeform 5"/>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3"/>
              <a:stretch>
                <a:fillRect l="-704" r="-704"/>
              </a:stretch>
            </a:blipFill>
          </p:spPr>
        </p:sp>
      </p:grpSp>
      <p:grpSp>
        <p:nvGrpSpPr>
          <p:cNvPr id="6" name="Group 6"/>
          <p:cNvGrpSpPr/>
          <p:nvPr/>
        </p:nvGrpSpPr>
        <p:grpSpPr>
          <a:xfrm>
            <a:off x="8718458" y="5339004"/>
            <a:ext cx="3864862" cy="3919296"/>
            <a:chOff x="0" y="0"/>
            <a:chExt cx="1241189" cy="1258671"/>
          </a:xfrm>
        </p:grpSpPr>
        <p:sp>
          <p:nvSpPr>
            <p:cNvPr id="7" name="Freeform 7"/>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4"/>
              <a:stretch>
                <a:fillRect l="-26103" r="-26103"/>
              </a:stretch>
            </a:blipFill>
          </p:spPr>
        </p:sp>
      </p:grpSp>
      <p:grpSp>
        <p:nvGrpSpPr>
          <p:cNvPr id="8" name="Group 8"/>
          <p:cNvGrpSpPr/>
          <p:nvPr/>
        </p:nvGrpSpPr>
        <p:grpSpPr>
          <a:xfrm>
            <a:off x="13554086" y="1224204"/>
            <a:ext cx="3864862" cy="3919296"/>
            <a:chOff x="0" y="0"/>
            <a:chExt cx="1241189" cy="1258671"/>
          </a:xfrm>
        </p:grpSpPr>
        <p:sp>
          <p:nvSpPr>
            <p:cNvPr id="9" name="Freeform 9"/>
            <p:cNvSpPr/>
            <p:nvPr/>
          </p:nvSpPr>
          <p:spPr>
            <a:xfrm>
              <a:off x="0" y="0"/>
              <a:ext cx="1241189" cy="1258671"/>
            </a:xfrm>
            <a:custGeom>
              <a:avLst/>
              <a:gdLst/>
              <a:ahLst/>
              <a:cxnLst/>
              <a:rect l="l" t="t" r="r" b="b"/>
              <a:pathLst>
                <a:path w="1241189" h="1258671">
                  <a:moveTo>
                    <a:pt x="0" y="0"/>
                  </a:moveTo>
                  <a:lnTo>
                    <a:pt x="1241189" y="0"/>
                  </a:lnTo>
                  <a:lnTo>
                    <a:pt x="1241189" y="1258671"/>
                  </a:lnTo>
                  <a:lnTo>
                    <a:pt x="0" y="1258671"/>
                  </a:lnTo>
                  <a:close/>
                </a:path>
              </a:pathLst>
            </a:custGeom>
            <a:blipFill>
              <a:blip r:embed="rId5"/>
              <a:stretch>
                <a:fillRect l="-704" r="-704"/>
              </a:stretch>
            </a:blipFill>
          </p:spPr>
        </p:sp>
      </p:grpSp>
      <p:sp>
        <p:nvSpPr>
          <p:cNvPr id="10" name="TextBox 10"/>
          <p:cNvSpPr txBox="1"/>
          <p:nvPr/>
        </p:nvSpPr>
        <p:spPr>
          <a:xfrm>
            <a:off x="837654" y="2184077"/>
            <a:ext cx="7260731" cy="2699457"/>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Impact On My Professional Development</a:t>
            </a:r>
          </a:p>
        </p:txBody>
      </p:sp>
      <p:sp>
        <p:nvSpPr>
          <p:cNvPr id="11" name="TextBox 11"/>
          <p:cNvSpPr txBox="1"/>
          <p:nvPr/>
        </p:nvSpPr>
        <p:spPr>
          <a:xfrm>
            <a:off x="837654" y="5529288"/>
            <a:ext cx="6878640" cy="2490724"/>
          </a:xfrm>
          <a:prstGeom prst="rect">
            <a:avLst/>
          </a:prstGeom>
        </p:spPr>
        <p:txBody>
          <a:bodyPr lIns="0" tIns="0" rIns="0" bIns="0" rtlCol="0" anchor="t">
            <a:spAutoFit/>
          </a:bodyPr>
          <a:lstStyle/>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Greater analytical thinking</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Improved confidence in HR decision-making</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Stronger ethical awareness in workforce allocation</a:t>
            </a:r>
          </a:p>
          <a:p>
            <a:pPr marL="604519" lvl="1" indent="-302260" algn="l">
              <a:lnSpc>
                <a:spcPts val="3247"/>
              </a:lnSpc>
              <a:spcBef>
                <a:spcPct val="0"/>
              </a:spcBef>
              <a:buFont typeface="Arial"/>
              <a:buChar char="•"/>
            </a:pPr>
            <a:r>
              <a:rPr lang="en-US" sz="2799" dirty="0">
                <a:solidFill>
                  <a:srgbClr val="000000"/>
                </a:solidFill>
                <a:latin typeface="Poppins"/>
                <a:ea typeface="Poppins"/>
                <a:cs typeface="Poppins"/>
                <a:sym typeface="Poppins"/>
              </a:rPr>
              <a:t>Growth in structured leadership</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96556" y="-2604607"/>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89655" y="895667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931937" y="1028700"/>
            <a:ext cx="6953087" cy="6953087"/>
            <a:chOff x="0" y="0"/>
            <a:chExt cx="3282950" cy="3282950"/>
          </a:xfrm>
        </p:grpSpPr>
        <p:sp>
          <p:nvSpPr>
            <p:cNvPr id="5" name="Freeform 5"/>
            <p:cNvSpPr/>
            <p:nvPr/>
          </p:nvSpPr>
          <p:spPr>
            <a:xfrm>
              <a:off x="0" y="0"/>
              <a:ext cx="3282950" cy="3282950"/>
            </a:xfrm>
            <a:custGeom>
              <a:avLst/>
              <a:gdLst/>
              <a:ahLst/>
              <a:cxnLst/>
              <a:rect l="l" t="t" r="r" b="b"/>
              <a:pathLst>
                <a:path w="3282950" h="3282950">
                  <a:moveTo>
                    <a:pt x="0" y="0"/>
                  </a:moveTo>
                  <a:lnTo>
                    <a:pt x="2532380" y="0"/>
                  </a:lnTo>
                  <a:cubicBezTo>
                    <a:pt x="2946400" y="0"/>
                    <a:pt x="3282950" y="336550"/>
                    <a:pt x="3282950" y="750570"/>
                  </a:cubicBezTo>
                  <a:lnTo>
                    <a:pt x="3282950" y="3282950"/>
                  </a:lnTo>
                  <a:lnTo>
                    <a:pt x="0" y="3282950"/>
                  </a:lnTo>
                  <a:lnTo>
                    <a:pt x="0" y="0"/>
                  </a:lnTo>
                  <a:close/>
                </a:path>
              </a:pathLst>
            </a:custGeom>
            <a:blipFill>
              <a:blip r:embed="rId4"/>
              <a:stretch>
                <a:fillRect l="-38888" r="-38888"/>
              </a:stretch>
            </a:blipFill>
          </p:spPr>
        </p:sp>
      </p:grpSp>
      <p:sp>
        <p:nvSpPr>
          <p:cNvPr id="6" name="TextBox 6"/>
          <p:cNvSpPr txBox="1"/>
          <p:nvPr/>
        </p:nvSpPr>
        <p:spPr>
          <a:xfrm>
            <a:off x="9200909" y="2819995"/>
            <a:ext cx="7040675"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Impact On Future Career</a:t>
            </a:r>
          </a:p>
        </p:txBody>
      </p:sp>
      <p:sp>
        <p:nvSpPr>
          <p:cNvPr id="7" name="TextBox 7"/>
          <p:cNvSpPr txBox="1"/>
          <p:nvPr/>
        </p:nvSpPr>
        <p:spPr>
          <a:xfrm>
            <a:off x="9108091" y="4896338"/>
            <a:ext cx="6878640" cy="3719449"/>
          </a:xfrm>
          <a:prstGeom prst="rect">
            <a:avLst/>
          </a:prstGeom>
        </p:spPr>
        <p:txBody>
          <a:bodyPr lIns="0" tIns="0" rIns="0" bIns="0" rtlCol="0" anchor="t">
            <a:spAutoFit/>
          </a:bodyPr>
          <a:lstStyle/>
          <a:p>
            <a:pPr marL="604519" lvl="1" indent="-302260" algn="just">
              <a:lnSpc>
                <a:spcPts val="3247"/>
              </a:lnSpc>
              <a:spcBef>
                <a:spcPct val="0"/>
              </a:spcBef>
              <a:buFont typeface="Arial"/>
              <a:buChar char="•"/>
            </a:pPr>
            <a:r>
              <a:rPr lang="en-US" sz="2799" dirty="0">
                <a:solidFill>
                  <a:srgbClr val="000000"/>
                </a:solidFill>
                <a:latin typeface="Poppins"/>
                <a:ea typeface="Poppins"/>
                <a:cs typeface="Poppins"/>
                <a:sym typeface="Poppins"/>
              </a:rPr>
              <a:t>Reinforced interest in HR &amp; operations roles</a:t>
            </a:r>
          </a:p>
          <a:p>
            <a:pPr marL="604519" lvl="1" indent="-302260" algn="just">
              <a:lnSpc>
                <a:spcPts val="3247"/>
              </a:lnSpc>
              <a:spcBef>
                <a:spcPct val="0"/>
              </a:spcBef>
              <a:buFont typeface="Arial"/>
              <a:buChar char="•"/>
            </a:pPr>
            <a:r>
              <a:rPr lang="en-US" sz="2799" dirty="0">
                <a:solidFill>
                  <a:srgbClr val="000000"/>
                </a:solidFill>
                <a:latin typeface="Poppins"/>
                <a:ea typeface="Poppins"/>
                <a:cs typeface="Poppins"/>
                <a:sym typeface="Poppins"/>
              </a:rPr>
              <a:t>Importance of ethical workforce management</a:t>
            </a:r>
          </a:p>
          <a:p>
            <a:pPr marL="604519" lvl="1" indent="-302260" algn="just">
              <a:lnSpc>
                <a:spcPts val="3247"/>
              </a:lnSpc>
              <a:spcBef>
                <a:spcPct val="0"/>
              </a:spcBef>
              <a:buFont typeface="Arial"/>
              <a:buChar char="•"/>
            </a:pPr>
            <a:r>
              <a:rPr lang="en-US" sz="2799" dirty="0">
                <a:solidFill>
                  <a:srgbClr val="000000"/>
                </a:solidFill>
                <a:latin typeface="Poppins"/>
                <a:ea typeface="Poppins"/>
                <a:cs typeface="Poppins"/>
                <a:sym typeface="Poppins"/>
              </a:rPr>
              <a:t>Need for structured systems in multicultural teams</a:t>
            </a:r>
          </a:p>
          <a:p>
            <a:pPr marL="604519" lvl="1" indent="-302260" algn="just">
              <a:lnSpc>
                <a:spcPts val="3247"/>
              </a:lnSpc>
              <a:spcBef>
                <a:spcPct val="0"/>
              </a:spcBef>
              <a:buFont typeface="Arial"/>
              <a:buChar char="•"/>
            </a:pPr>
            <a:r>
              <a:rPr lang="en-US" sz="2799" dirty="0">
                <a:solidFill>
                  <a:srgbClr val="000000"/>
                </a:solidFill>
                <a:latin typeface="Poppins"/>
                <a:ea typeface="Poppins"/>
                <a:cs typeface="Poppins"/>
                <a:sym typeface="Poppins"/>
              </a:rPr>
              <a:t>Career direction toward people-</a:t>
            </a:r>
            <a:r>
              <a:rPr lang="en-US" sz="2799" dirty="0" err="1">
                <a:solidFill>
                  <a:srgbClr val="000000"/>
                </a:solidFill>
                <a:latin typeface="Poppins"/>
                <a:ea typeface="Poppins"/>
                <a:cs typeface="Poppins"/>
                <a:sym typeface="Poppins"/>
              </a:rPr>
              <a:t>centred</a:t>
            </a:r>
            <a:r>
              <a:rPr lang="en-US" sz="2799" dirty="0">
                <a:solidFill>
                  <a:srgbClr val="000000"/>
                </a:solidFill>
                <a:latin typeface="Poppins"/>
                <a:ea typeface="Poppins"/>
                <a:cs typeface="Poppins"/>
                <a:sym typeface="Poppins"/>
              </a:rPr>
              <a:t> coordination roles</a:t>
            </a:r>
          </a:p>
          <a:p>
            <a:pPr algn="just">
              <a:lnSpc>
                <a:spcPts val="3247"/>
              </a:lnSpc>
              <a:spcBef>
                <a:spcPct val="0"/>
              </a:spcBef>
            </a:pPr>
            <a:endParaRPr lang="en-US" sz="2799" dirty="0">
              <a:solidFill>
                <a:srgbClr val="000000"/>
              </a:solidFill>
              <a:latin typeface="Poppins"/>
              <a:ea typeface="Poppins"/>
              <a:cs typeface="Poppins"/>
              <a:sym typeface="Poppin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96556" y="-2604607"/>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273047" y="856573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028700" y="1538768"/>
            <a:ext cx="9055758" cy="1801775"/>
          </a:xfrm>
          <a:prstGeom prst="rect">
            <a:avLst/>
          </a:prstGeom>
        </p:spPr>
        <p:txBody>
          <a:bodyPr lIns="0" tIns="0" rIns="0" bIns="0" rtlCol="0" anchor="t">
            <a:spAutoFit/>
          </a:bodyPr>
          <a:lstStyle/>
          <a:p>
            <a:pPr algn="l">
              <a:lnSpc>
                <a:spcPts val="6959"/>
              </a:lnSpc>
            </a:pPr>
            <a:r>
              <a:rPr lang="en-US" sz="6000" b="1" dirty="0">
                <a:solidFill>
                  <a:srgbClr val="000000"/>
                </a:solidFill>
                <a:latin typeface="Lustria"/>
                <a:ea typeface="Lustria"/>
                <a:cs typeface="Lustria"/>
                <a:sym typeface="Lustria"/>
              </a:rPr>
              <a:t>Contemporary Issue Overview</a:t>
            </a:r>
          </a:p>
        </p:txBody>
      </p:sp>
      <p:sp>
        <p:nvSpPr>
          <p:cNvPr id="5" name="TextBox 5"/>
          <p:cNvSpPr txBox="1"/>
          <p:nvPr/>
        </p:nvSpPr>
        <p:spPr>
          <a:xfrm>
            <a:off x="1028700" y="3481579"/>
            <a:ext cx="9055758" cy="5343525"/>
          </a:xfrm>
          <a:prstGeom prst="rect">
            <a:avLst/>
          </a:prstGeom>
        </p:spPr>
        <p:txBody>
          <a:bodyPr lIns="0" tIns="0" rIns="0" bIns="0" rtlCol="0" anchor="t">
            <a:spAutoFit/>
          </a:bodyPr>
          <a:lstStyle/>
          <a:p>
            <a:pPr algn="l">
              <a:lnSpc>
                <a:spcPts val="4200"/>
              </a:lnSpc>
              <a:spcBef>
                <a:spcPct val="0"/>
              </a:spcBef>
            </a:pPr>
            <a:r>
              <a:rPr lang="en-US" sz="3000" b="1" dirty="0">
                <a:solidFill>
                  <a:srgbClr val="000000"/>
                </a:solidFill>
                <a:latin typeface="Poppins Bold"/>
                <a:ea typeface="Poppins Bold"/>
                <a:cs typeface="Poppins Bold"/>
                <a:sym typeface="Poppins Bold"/>
              </a:rPr>
              <a:t>Research Topic</a:t>
            </a:r>
          </a:p>
          <a:p>
            <a:pPr algn="l">
              <a:lnSpc>
                <a:spcPts val="4200"/>
              </a:lnSpc>
              <a:spcBef>
                <a:spcPct val="0"/>
              </a:spcBef>
            </a:pPr>
            <a:endParaRPr lang="en-US" sz="3000" b="1" dirty="0">
              <a:solidFill>
                <a:srgbClr val="000000"/>
              </a:solidFill>
              <a:latin typeface="Poppins Bold"/>
              <a:ea typeface="Poppins Bold"/>
              <a:cs typeface="Poppins Bold"/>
              <a:sym typeface="Poppins Bold"/>
            </a:endParaRPr>
          </a:p>
          <a:p>
            <a:pPr algn="l">
              <a:lnSpc>
                <a:spcPts val="4200"/>
              </a:lnSpc>
              <a:spcBef>
                <a:spcPct val="0"/>
              </a:spcBef>
            </a:pPr>
            <a:r>
              <a:rPr lang="en-US" sz="3000" i="1" dirty="0">
                <a:solidFill>
                  <a:srgbClr val="44DB10"/>
                </a:solidFill>
                <a:latin typeface="Poppins"/>
                <a:ea typeface="Poppins"/>
                <a:cs typeface="Poppins"/>
                <a:sym typeface="Poppins"/>
              </a:rPr>
              <a:t>Cross-Cultural Communication Challenges and Their Impact on Service Quality in Multicultural Service </a:t>
            </a:r>
            <a:r>
              <a:rPr lang="en-US" sz="3000" i="1" dirty="0" err="1">
                <a:solidFill>
                  <a:srgbClr val="44DB10"/>
                </a:solidFill>
                <a:latin typeface="Poppins"/>
                <a:ea typeface="Poppins"/>
                <a:cs typeface="Poppins"/>
                <a:sym typeface="Poppins"/>
              </a:rPr>
              <a:t>Organisations</a:t>
            </a:r>
            <a:endParaRPr lang="en-US" sz="3000" i="1" dirty="0">
              <a:solidFill>
                <a:srgbClr val="44DB10"/>
              </a:solidFill>
              <a:latin typeface="Poppins"/>
              <a:ea typeface="Poppins"/>
              <a:cs typeface="Poppins"/>
              <a:sym typeface="Poppins"/>
            </a:endParaRPr>
          </a:p>
          <a:p>
            <a:pPr algn="l">
              <a:lnSpc>
                <a:spcPts val="4200"/>
              </a:lnSpc>
              <a:spcBef>
                <a:spcPct val="0"/>
              </a:spcBef>
            </a:pPr>
            <a:endParaRPr lang="en-US" sz="3000" dirty="0">
              <a:solidFill>
                <a:srgbClr val="44DB10"/>
              </a:solidFill>
              <a:latin typeface="Poppins"/>
              <a:ea typeface="Poppins"/>
              <a:cs typeface="Poppins"/>
              <a:sym typeface="Poppins"/>
            </a:endParaRPr>
          </a:p>
          <a:p>
            <a:pPr marL="647700" lvl="1" indent="-323850" algn="l">
              <a:lnSpc>
                <a:spcPts val="4200"/>
              </a:lnSpc>
              <a:spcBef>
                <a:spcPct val="0"/>
              </a:spcBef>
              <a:buFont typeface="Arial"/>
              <a:buChar char="•"/>
            </a:pPr>
            <a:r>
              <a:rPr lang="en-US" sz="3000" dirty="0">
                <a:solidFill>
                  <a:srgbClr val="000000"/>
                </a:solidFill>
                <a:latin typeface="Poppins"/>
                <a:ea typeface="Poppins"/>
                <a:cs typeface="Poppins"/>
                <a:sym typeface="Poppins"/>
              </a:rPr>
              <a:t>Relevant to FNZC and industry (Taylan &amp; Weber, 2023;)</a:t>
            </a:r>
          </a:p>
          <a:p>
            <a:pPr marL="647700" lvl="1" indent="-323850" algn="l">
              <a:lnSpc>
                <a:spcPts val="4200"/>
              </a:lnSpc>
              <a:spcBef>
                <a:spcPct val="0"/>
              </a:spcBef>
              <a:buFont typeface="Arial"/>
              <a:buChar char="•"/>
            </a:pPr>
            <a:r>
              <a:rPr lang="en-US" sz="3000" dirty="0">
                <a:solidFill>
                  <a:srgbClr val="000000"/>
                </a:solidFill>
                <a:latin typeface="Poppins"/>
                <a:ea typeface="Poppins"/>
                <a:cs typeface="Poppins"/>
                <a:sym typeface="Poppins"/>
              </a:rPr>
              <a:t>Service quality depends on communication accuracy (Maijala et al., 2025)</a:t>
            </a:r>
          </a:p>
        </p:txBody>
      </p:sp>
      <p:grpSp>
        <p:nvGrpSpPr>
          <p:cNvPr id="6" name="Group 6"/>
          <p:cNvGrpSpPr/>
          <p:nvPr/>
        </p:nvGrpSpPr>
        <p:grpSpPr>
          <a:xfrm>
            <a:off x="10488051" y="2179331"/>
            <a:ext cx="7713444" cy="5928338"/>
            <a:chOff x="0" y="0"/>
            <a:chExt cx="8262075" cy="6350000"/>
          </a:xfrm>
        </p:grpSpPr>
        <p:sp>
          <p:nvSpPr>
            <p:cNvPr id="7" name="Freeform 7"/>
            <p:cNvSpPr/>
            <p:nvPr/>
          </p:nvSpPr>
          <p:spPr>
            <a:xfrm>
              <a:off x="0" y="0"/>
              <a:ext cx="8262075" cy="6350000"/>
            </a:xfrm>
            <a:custGeom>
              <a:avLst/>
              <a:gdLst/>
              <a:ahLst/>
              <a:cxnLst/>
              <a:rect l="l" t="t" r="r" b="b"/>
              <a:pathLst>
                <a:path w="8262075" h="6350000">
                  <a:moveTo>
                    <a:pt x="4131037" y="0"/>
                  </a:moveTo>
                  <a:cubicBezTo>
                    <a:pt x="1799498" y="0"/>
                    <a:pt x="0" y="1144270"/>
                    <a:pt x="0" y="2917190"/>
                  </a:cubicBezTo>
                  <a:cubicBezTo>
                    <a:pt x="0" y="4175760"/>
                    <a:pt x="0" y="6350000"/>
                    <a:pt x="0" y="6350000"/>
                  </a:cubicBezTo>
                  <a:lnTo>
                    <a:pt x="4131037" y="6350000"/>
                  </a:lnTo>
                  <a:lnTo>
                    <a:pt x="8262075" y="6350000"/>
                  </a:lnTo>
                  <a:cubicBezTo>
                    <a:pt x="8262075" y="6350000"/>
                    <a:pt x="8262075" y="4175760"/>
                    <a:pt x="8262075" y="2917190"/>
                  </a:cubicBezTo>
                  <a:cubicBezTo>
                    <a:pt x="8262075" y="1144270"/>
                    <a:pt x="6462576" y="0"/>
                    <a:pt x="4131037" y="0"/>
                  </a:cubicBezTo>
                  <a:close/>
                </a:path>
              </a:pathLst>
            </a:custGeom>
            <a:blipFill>
              <a:blip r:embed="rId4"/>
              <a:stretch>
                <a:fillRect l="-5425" r="-5425"/>
              </a:stretch>
            </a:blipFill>
          </p:spPr>
        </p:sp>
      </p:gr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11154" y="2305213"/>
            <a:ext cx="7273870" cy="5676573"/>
            <a:chOff x="0" y="0"/>
            <a:chExt cx="4206719" cy="3282950"/>
          </a:xfrm>
        </p:grpSpPr>
        <p:sp>
          <p:nvSpPr>
            <p:cNvPr id="3" name="Freeform 3"/>
            <p:cNvSpPr/>
            <p:nvPr/>
          </p:nvSpPr>
          <p:spPr>
            <a:xfrm>
              <a:off x="0" y="0"/>
              <a:ext cx="4206720" cy="3282950"/>
            </a:xfrm>
            <a:custGeom>
              <a:avLst/>
              <a:gdLst/>
              <a:ahLst/>
              <a:cxnLst/>
              <a:rect l="l" t="t" r="r" b="b"/>
              <a:pathLst>
                <a:path w="4206720" h="3282950">
                  <a:moveTo>
                    <a:pt x="0" y="0"/>
                  </a:moveTo>
                  <a:lnTo>
                    <a:pt x="3244951" y="0"/>
                  </a:lnTo>
                  <a:cubicBezTo>
                    <a:pt x="3775470" y="0"/>
                    <a:pt x="4206720" y="336550"/>
                    <a:pt x="4206720" y="750570"/>
                  </a:cubicBezTo>
                  <a:lnTo>
                    <a:pt x="4206720" y="3282950"/>
                  </a:lnTo>
                  <a:lnTo>
                    <a:pt x="0" y="3282950"/>
                  </a:lnTo>
                  <a:lnTo>
                    <a:pt x="0" y="0"/>
                  </a:lnTo>
                  <a:close/>
                </a:path>
              </a:pathLst>
            </a:custGeom>
            <a:blipFill>
              <a:blip r:embed="rId2"/>
              <a:stretch>
                <a:fillRect l="-8457" r="-8457"/>
              </a:stretch>
            </a:blipFill>
          </p:spPr>
        </p:sp>
      </p:grpSp>
      <p:sp>
        <p:nvSpPr>
          <p:cNvPr id="4" name="Freeform 4"/>
          <p:cNvSpPr/>
          <p:nvPr/>
        </p:nvSpPr>
        <p:spPr>
          <a:xfrm>
            <a:off x="15253681" y="322255"/>
            <a:ext cx="3034319" cy="3034319"/>
          </a:xfrm>
          <a:custGeom>
            <a:avLst/>
            <a:gdLst/>
            <a:ahLst/>
            <a:cxnLst/>
            <a:rect l="l" t="t" r="r" b="b"/>
            <a:pathLst>
              <a:path w="3034319" h="3034319">
                <a:moveTo>
                  <a:pt x="0" y="0"/>
                </a:moveTo>
                <a:lnTo>
                  <a:pt x="3034319" y="0"/>
                </a:lnTo>
                <a:lnTo>
                  <a:pt x="3034319" y="3034319"/>
                </a:lnTo>
                <a:lnTo>
                  <a:pt x="0" y="3034319"/>
                </a:lnTo>
                <a:lnTo>
                  <a:pt x="0" y="0"/>
                </a:lnTo>
                <a:close/>
              </a:path>
            </a:pathLst>
          </a:custGeom>
          <a:blipFill>
            <a:blip r:embed="rId3"/>
            <a:stretch>
              <a:fillRect/>
            </a:stretch>
          </a:blipFill>
        </p:spPr>
      </p:sp>
      <p:sp>
        <p:nvSpPr>
          <p:cNvPr id="5" name="Freeform 5"/>
          <p:cNvSpPr/>
          <p:nvPr/>
        </p:nvSpPr>
        <p:spPr>
          <a:xfrm>
            <a:off x="6847514" y="8145091"/>
            <a:ext cx="2296486" cy="2141909"/>
          </a:xfrm>
          <a:custGeom>
            <a:avLst/>
            <a:gdLst/>
            <a:ahLst/>
            <a:cxnLst/>
            <a:rect l="l" t="t" r="r" b="b"/>
            <a:pathLst>
              <a:path w="2296486" h="2141909">
                <a:moveTo>
                  <a:pt x="0" y="0"/>
                </a:moveTo>
                <a:lnTo>
                  <a:pt x="2296486" y="0"/>
                </a:lnTo>
                <a:lnTo>
                  <a:pt x="2296486" y="2141909"/>
                </a:lnTo>
                <a:lnTo>
                  <a:pt x="0" y="2141909"/>
                </a:lnTo>
                <a:lnTo>
                  <a:pt x="0" y="0"/>
                </a:lnTo>
                <a:close/>
              </a:path>
            </a:pathLst>
          </a:custGeom>
          <a:blipFill>
            <a:blip r:embed="rId4"/>
            <a:stretch>
              <a:fillRect b="-7216"/>
            </a:stretch>
          </a:blipFill>
        </p:spPr>
      </p:sp>
      <p:sp>
        <p:nvSpPr>
          <p:cNvPr id="6" name="TextBox 6"/>
          <p:cNvSpPr txBox="1"/>
          <p:nvPr/>
        </p:nvSpPr>
        <p:spPr>
          <a:xfrm>
            <a:off x="8891755" y="2333788"/>
            <a:ext cx="5958635"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My Research Progress</a:t>
            </a:r>
          </a:p>
        </p:txBody>
      </p:sp>
      <p:sp>
        <p:nvSpPr>
          <p:cNvPr id="7" name="TextBox 7"/>
          <p:cNvSpPr txBox="1"/>
          <p:nvPr/>
        </p:nvSpPr>
        <p:spPr>
          <a:xfrm>
            <a:off x="8706032" y="4594025"/>
            <a:ext cx="6878640" cy="3924151"/>
          </a:xfrm>
          <a:prstGeom prst="rect">
            <a:avLst/>
          </a:prstGeom>
        </p:spPr>
        <p:txBody>
          <a:bodyPr lIns="0" tIns="0" rIns="0" bIns="0" rtlCol="0" anchor="t">
            <a:spAutoFit/>
          </a:bodyPr>
          <a:lstStyle/>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Reviewed literature on communication &amp; service quality</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Identified barriers beyond language (culture, hierarchy, assumptions) (2018; Asare &amp; Tony, 2025)</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Informal systems increase miscommunication risk Grímsdóttir &amp; Edvardsson)</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2502916"/>
            <a:ext cx="8913948" cy="5701222"/>
            <a:chOff x="0" y="0"/>
            <a:chExt cx="1363338" cy="871970"/>
          </a:xfrm>
        </p:grpSpPr>
        <p:sp>
          <p:nvSpPr>
            <p:cNvPr id="3" name="Freeform 3"/>
            <p:cNvSpPr/>
            <p:nvPr/>
          </p:nvSpPr>
          <p:spPr>
            <a:xfrm>
              <a:off x="0" y="0"/>
              <a:ext cx="1363338" cy="871970"/>
            </a:xfrm>
            <a:custGeom>
              <a:avLst/>
              <a:gdLst/>
              <a:ahLst/>
              <a:cxnLst/>
              <a:rect l="l" t="t" r="r" b="b"/>
              <a:pathLst>
                <a:path w="1363338" h="871970">
                  <a:moveTo>
                    <a:pt x="0" y="0"/>
                  </a:moveTo>
                  <a:lnTo>
                    <a:pt x="1363338" y="0"/>
                  </a:lnTo>
                  <a:lnTo>
                    <a:pt x="1363338" y="871970"/>
                  </a:lnTo>
                  <a:lnTo>
                    <a:pt x="0" y="871970"/>
                  </a:lnTo>
                  <a:close/>
                </a:path>
              </a:pathLst>
            </a:custGeom>
            <a:blipFill>
              <a:blip r:embed="rId2"/>
              <a:stretch>
                <a:fillRect l="-560" r="-560"/>
              </a:stretch>
            </a:blipFill>
          </p:spPr>
        </p:sp>
      </p:grpSp>
      <p:sp>
        <p:nvSpPr>
          <p:cNvPr id="4" name="Freeform 4"/>
          <p:cNvSpPr/>
          <p:nvPr/>
        </p:nvSpPr>
        <p:spPr>
          <a:xfrm>
            <a:off x="6138704" y="7909414"/>
            <a:ext cx="2545157" cy="2545157"/>
          </a:xfrm>
          <a:custGeom>
            <a:avLst/>
            <a:gdLst/>
            <a:ahLst/>
            <a:cxnLst/>
            <a:rect l="l" t="t" r="r" b="b"/>
            <a:pathLst>
              <a:path w="2545157" h="2545157">
                <a:moveTo>
                  <a:pt x="0" y="0"/>
                </a:moveTo>
                <a:lnTo>
                  <a:pt x="2545157" y="0"/>
                </a:lnTo>
                <a:lnTo>
                  <a:pt x="2545157" y="2545157"/>
                </a:lnTo>
                <a:lnTo>
                  <a:pt x="0" y="2545157"/>
                </a:lnTo>
                <a:lnTo>
                  <a:pt x="0" y="0"/>
                </a:lnTo>
                <a:close/>
              </a:path>
            </a:pathLst>
          </a:custGeom>
          <a:blipFill>
            <a:blip r:embed="rId3"/>
            <a:stretch>
              <a:fillRect/>
            </a:stretch>
          </a:blipFill>
        </p:spPr>
      </p:sp>
      <p:sp>
        <p:nvSpPr>
          <p:cNvPr id="5" name="TextBox 5"/>
          <p:cNvSpPr txBox="1"/>
          <p:nvPr/>
        </p:nvSpPr>
        <p:spPr>
          <a:xfrm>
            <a:off x="1033721" y="2732125"/>
            <a:ext cx="6601891"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Application To </a:t>
            </a:r>
            <a:r>
              <a:rPr lang="en-US" sz="6000" b="1" dirty="0" err="1">
                <a:solidFill>
                  <a:srgbClr val="000000"/>
                </a:solidFill>
                <a:latin typeface="Lustria"/>
                <a:ea typeface="Lustria"/>
                <a:cs typeface="Lustria"/>
                <a:sym typeface="Lustria"/>
              </a:rPr>
              <a:t>Fnzc</a:t>
            </a:r>
            <a:r>
              <a:rPr lang="en-US" sz="6000" b="1" dirty="0">
                <a:solidFill>
                  <a:srgbClr val="000000"/>
                </a:solidFill>
                <a:latin typeface="Lustria"/>
                <a:ea typeface="Lustria"/>
                <a:cs typeface="Lustria"/>
                <a:sym typeface="Lustria"/>
              </a:rPr>
              <a:t> &amp; Industry</a:t>
            </a:r>
          </a:p>
        </p:txBody>
      </p:sp>
      <p:sp>
        <p:nvSpPr>
          <p:cNvPr id="6" name="TextBox 6"/>
          <p:cNvSpPr txBox="1"/>
          <p:nvPr/>
        </p:nvSpPr>
        <p:spPr>
          <a:xfrm>
            <a:off x="1033721" y="4838700"/>
            <a:ext cx="6878640" cy="2957957"/>
          </a:xfrm>
          <a:prstGeom prst="rect">
            <a:avLst/>
          </a:prstGeom>
        </p:spPr>
        <p:txBody>
          <a:bodyPr lIns="0" tIns="0" rIns="0" bIns="0" rtlCol="0" anchor="t">
            <a:spAutoFit/>
          </a:bodyPr>
          <a:lstStyle/>
          <a:p>
            <a:pPr marL="626111" lvl="1" indent="-313055" algn="l">
              <a:lnSpc>
                <a:spcPts val="3364"/>
              </a:lnSpc>
              <a:spcBef>
                <a:spcPct val="0"/>
              </a:spcBef>
              <a:buFont typeface="Arial"/>
              <a:buChar char="•"/>
            </a:pPr>
            <a:r>
              <a:rPr lang="en-US" sz="2900" dirty="0">
                <a:solidFill>
                  <a:srgbClr val="000000"/>
                </a:solidFill>
                <a:latin typeface="Poppins"/>
                <a:ea typeface="Poppins"/>
                <a:cs typeface="Poppins"/>
                <a:sym typeface="Poppins"/>
              </a:rPr>
              <a:t>Communication errors affect safety &amp; service consistency</a:t>
            </a:r>
          </a:p>
          <a:p>
            <a:pPr marL="626111" lvl="1" indent="-313055" algn="l">
              <a:lnSpc>
                <a:spcPts val="3364"/>
              </a:lnSpc>
              <a:spcBef>
                <a:spcPct val="0"/>
              </a:spcBef>
              <a:buFont typeface="Arial"/>
              <a:buChar char="•"/>
            </a:pPr>
            <a:r>
              <a:rPr lang="en-US" sz="2900" dirty="0">
                <a:solidFill>
                  <a:srgbClr val="000000"/>
                </a:solidFill>
                <a:latin typeface="Poppins"/>
                <a:ea typeface="Poppins"/>
                <a:cs typeface="Poppins"/>
                <a:sym typeface="Poppins"/>
              </a:rPr>
              <a:t>Structured tools improve clarity (Butler &amp; </a:t>
            </a:r>
            <a:r>
              <a:rPr lang="en-US" sz="2900" dirty="0" err="1">
                <a:solidFill>
                  <a:srgbClr val="000000"/>
                </a:solidFill>
                <a:latin typeface="Poppins"/>
                <a:ea typeface="Poppins"/>
                <a:cs typeface="Poppins"/>
                <a:sym typeface="Poppins"/>
              </a:rPr>
              <a:t>Celebrezze</a:t>
            </a:r>
            <a:r>
              <a:rPr lang="en-US" sz="2900" dirty="0">
                <a:solidFill>
                  <a:srgbClr val="000000"/>
                </a:solidFill>
                <a:latin typeface="Poppins"/>
                <a:ea typeface="Poppins"/>
                <a:cs typeface="Poppins"/>
                <a:sym typeface="Poppins"/>
              </a:rPr>
              <a:t>, 2025)</a:t>
            </a:r>
          </a:p>
          <a:p>
            <a:pPr marL="626111" lvl="1" indent="-313055" algn="l">
              <a:lnSpc>
                <a:spcPts val="3364"/>
              </a:lnSpc>
              <a:spcBef>
                <a:spcPct val="0"/>
              </a:spcBef>
              <a:buFont typeface="Arial"/>
              <a:buChar char="•"/>
            </a:pPr>
            <a:r>
              <a:rPr lang="en-US" sz="2900" dirty="0">
                <a:solidFill>
                  <a:srgbClr val="000000"/>
                </a:solidFill>
                <a:latin typeface="Poppins"/>
                <a:ea typeface="Poppins"/>
                <a:cs typeface="Poppins"/>
                <a:sym typeface="Poppins"/>
              </a:rPr>
              <a:t>Visual guides &amp; simplified protocols reduce risks (Lee &amp; </a:t>
            </a:r>
            <a:r>
              <a:rPr lang="en-US" sz="2900" dirty="0" err="1">
                <a:solidFill>
                  <a:srgbClr val="000000"/>
                </a:solidFill>
                <a:latin typeface="Poppins"/>
                <a:ea typeface="Poppins"/>
                <a:cs typeface="Poppins"/>
                <a:sym typeface="Poppins"/>
              </a:rPr>
              <a:t>Wechtler</a:t>
            </a:r>
            <a:r>
              <a:rPr lang="en-US" sz="2900" dirty="0">
                <a:solidFill>
                  <a:srgbClr val="000000"/>
                </a:solidFill>
                <a:latin typeface="Poppins"/>
                <a:ea typeface="Poppins"/>
                <a:cs typeface="Poppins"/>
                <a:sym typeface="Poppins"/>
              </a:rPr>
              <a:t>, 2024)</a:t>
            </a:r>
          </a:p>
        </p:txBody>
      </p:sp>
      <p:sp>
        <p:nvSpPr>
          <p:cNvPr id="7" name="Freeform 7"/>
          <p:cNvSpPr/>
          <p:nvPr/>
        </p:nvSpPr>
        <p:spPr>
          <a:xfrm flipH="1">
            <a:off x="13092496" y="-42241"/>
            <a:ext cx="2403461" cy="2403461"/>
          </a:xfrm>
          <a:custGeom>
            <a:avLst/>
            <a:gdLst/>
            <a:ahLst/>
            <a:cxnLst/>
            <a:rect l="l" t="t" r="r" b="b"/>
            <a:pathLst>
              <a:path w="2403461" h="2403461">
                <a:moveTo>
                  <a:pt x="2403461" y="0"/>
                </a:moveTo>
                <a:lnTo>
                  <a:pt x="0" y="0"/>
                </a:lnTo>
                <a:lnTo>
                  <a:pt x="0" y="2403461"/>
                </a:lnTo>
                <a:lnTo>
                  <a:pt x="2403461" y="2403461"/>
                </a:lnTo>
                <a:lnTo>
                  <a:pt x="2403461" y="0"/>
                </a:lnTo>
                <a:close/>
              </a:path>
            </a:pathLst>
          </a:custGeom>
          <a:blipFill>
            <a:blip r:embed="rId3"/>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96556" y="-2604607"/>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89655" y="8956675"/>
            <a:ext cx="5357470" cy="4114800"/>
          </a:xfrm>
          <a:custGeom>
            <a:avLst/>
            <a:gdLst/>
            <a:ahLst/>
            <a:cxnLst/>
            <a:rect l="l" t="t" r="r" b="b"/>
            <a:pathLst>
              <a:path w="5357470" h="4114800">
                <a:moveTo>
                  <a:pt x="0" y="0"/>
                </a:moveTo>
                <a:lnTo>
                  <a:pt x="5357470" y="0"/>
                </a:lnTo>
                <a:lnTo>
                  <a:pt x="53574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533865" y="2305213"/>
            <a:ext cx="7351158" cy="5676573"/>
            <a:chOff x="0" y="0"/>
            <a:chExt cx="4251418" cy="3282950"/>
          </a:xfrm>
        </p:grpSpPr>
        <p:sp>
          <p:nvSpPr>
            <p:cNvPr id="5" name="Freeform 5"/>
            <p:cNvSpPr/>
            <p:nvPr/>
          </p:nvSpPr>
          <p:spPr>
            <a:xfrm>
              <a:off x="0" y="0"/>
              <a:ext cx="4251418" cy="3282950"/>
            </a:xfrm>
            <a:custGeom>
              <a:avLst/>
              <a:gdLst/>
              <a:ahLst/>
              <a:cxnLst/>
              <a:rect l="l" t="t" r="r" b="b"/>
              <a:pathLst>
                <a:path w="4251418" h="3282950">
                  <a:moveTo>
                    <a:pt x="0" y="0"/>
                  </a:moveTo>
                  <a:lnTo>
                    <a:pt x="3279430" y="0"/>
                  </a:lnTo>
                  <a:cubicBezTo>
                    <a:pt x="3815586" y="0"/>
                    <a:pt x="4251418" y="336550"/>
                    <a:pt x="4251418" y="750570"/>
                  </a:cubicBezTo>
                  <a:lnTo>
                    <a:pt x="4251418" y="3282950"/>
                  </a:lnTo>
                  <a:lnTo>
                    <a:pt x="0" y="3282950"/>
                  </a:lnTo>
                  <a:lnTo>
                    <a:pt x="0" y="0"/>
                  </a:lnTo>
                  <a:close/>
                </a:path>
              </a:pathLst>
            </a:custGeom>
            <a:blipFill>
              <a:blip r:embed="rId4"/>
              <a:stretch>
                <a:fillRect t="-504" b="-504"/>
              </a:stretch>
            </a:blipFill>
          </p:spPr>
        </p:sp>
      </p:grpSp>
      <p:sp>
        <p:nvSpPr>
          <p:cNvPr id="6" name="TextBox 6"/>
          <p:cNvSpPr txBox="1"/>
          <p:nvPr/>
        </p:nvSpPr>
        <p:spPr>
          <a:xfrm>
            <a:off x="9200909" y="2333788"/>
            <a:ext cx="7633220" cy="1801775"/>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Ethics &amp; Industry Context</a:t>
            </a:r>
          </a:p>
        </p:txBody>
      </p:sp>
      <p:sp>
        <p:nvSpPr>
          <p:cNvPr id="7" name="TextBox 7"/>
          <p:cNvSpPr txBox="1"/>
          <p:nvPr/>
        </p:nvSpPr>
        <p:spPr>
          <a:xfrm>
            <a:off x="9200909" y="4379461"/>
            <a:ext cx="6878640" cy="3796157"/>
          </a:xfrm>
          <a:prstGeom prst="rect">
            <a:avLst/>
          </a:prstGeom>
        </p:spPr>
        <p:txBody>
          <a:bodyPr lIns="0" tIns="0" rIns="0" bIns="0" rtlCol="0" anchor="t">
            <a:spAutoFit/>
          </a:bodyPr>
          <a:lstStyle/>
          <a:p>
            <a:pPr marL="626111" lvl="1" indent="-313055" algn="just">
              <a:lnSpc>
                <a:spcPts val="3364"/>
              </a:lnSpc>
              <a:spcBef>
                <a:spcPct val="0"/>
              </a:spcBef>
              <a:buFont typeface="Arial"/>
              <a:buChar char="•"/>
            </a:pPr>
            <a:r>
              <a:rPr lang="en-US" sz="2900" dirty="0" err="1">
                <a:solidFill>
                  <a:srgbClr val="000000"/>
                </a:solidFill>
                <a:latin typeface="Poppins"/>
                <a:ea typeface="Poppins"/>
                <a:cs typeface="Poppins"/>
                <a:sym typeface="Poppins"/>
              </a:rPr>
              <a:t>Labour</a:t>
            </a:r>
            <a:r>
              <a:rPr lang="en-US" sz="2900" dirty="0">
                <a:solidFill>
                  <a:srgbClr val="000000"/>
                </a:solidFill>
                <a:latin typeface="Poppins"/>
                <a:ea typeface="Poppins"/>
                <a:cs typeface="Poppins"/>
                <a:sym typeface="Poppins"/>
              </a:rPr>
              <a:t> shortages increase pressure on workers (Bag et al., 2024)</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Ethical HR practices needed for retention</a:t>
            </a:r>
          </a:p>
          <a:p>
            <a:pPr marL="626111" lvl="1" indent="-313055" algn="just">
              <a:lnSpc>
                <a:spcPts val="3364"/>
              </a:lnSpc>
              <a:spcBef>
                <a:spcPct val="0"/>
              </a:spcBef>
              <a:buFont typeface="Arial"/>
              <a:buChar char="•"/>
            </a:pPr>
            <a:r>
              <a:rPr lang="en-US" sz="2900" dirty="0">
                <a:solidFill>
                  <a:srgbClr val="000000"/>
                </a:solidFill>
                <a:latin typeface="Poppins"/>
                <a:ea typeface="Poppins"/>
                <a:cs typeface="Poppins"/>
                <a:sym typeface="Poppins"/>
              </a:rPr>
              <a:t>CSR requires fair workload and communication (Ferrell et al., 2017)</a:t>
            </a:r>
          </a:p>
          <a:p>
            <a:pPr algn="just">
              <a:lnSpc>
                <a:spcPts val="3364"/>
              </a:lnSpc>
              <a:spcBef>
                <a:spcPct val="0"/>
              </a:spcBef>
            </a:pPr>
            <a:endParaRPr lang="en-US" sz="2900" dirty="0">
              <a:solidFill>
                <a:srgbClr val="000000"/>
              </a:solidFill>
              <a:latin typeface="Poppins"/>
              <a:ea typeface="Poppins"/>
              <a:cs typeface="Poppins"/>
              <a:sym typeface="Poppins"/>
            </a:endParaRPr>
          </a:p>
        </p:txBody>
      </p:sp>
    </p:spTree>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83320" y="1028700"/>
            <a:ext cx="8763971" cy="6447917"/>
            <a:chOff x="0" y="0"/>
            <a:chExt cx="1241189" cy="913180"/>
          </a:xfrm>
        </p:grpSpPr>
        <p:sp>
          <p:nvSpPr>
            <p:cNvPr id="3" name="Freeform 3"/>
            <p:cNvSpPr/>
            <p:nvPr/>
          </p:nvSpPr>
          <p:spPr>
            <a:xfrm>
              <a:off x="0" y="0"/>
              <a:ext cx="1241189" cy="913180"/>
            </a:xfrm>
            <a:custGeom>
              <a:avLst/>
              <a:gdLst/>
              <a:ahLst/>
              <a:cxnLst/>
              <a:rect l="l" t="t" r="r" b="b"/>
              <a:pathLst>
                <a:path w="1241189" h="913180">
                  <a:moveTo>
                    <a:pt x="0" y="0"/>
                  </a:moveTo>
                  <a:lnTo>
                    <a:pt x="1241189" y="0"/>
                  </a:lnTo>
                  <a:lnTo>
                    <a:pt x="1241189" y="913180"/>
                  </a:lnTo>
                  <a:lnTo>
                    <a:pt x="0" y="913180"/>
                  </a:lnTo>
                  <a:close/>
                </a:path>
              </a:pathLst>
            </a:custGeom>
            <a:blipFill>
              <a:blip r:embed="rId2"/>
              <a:stretch>
                <a:fillRect t="-969" b="-969"/>
              </a:stretch>
            </a:blipFill>
          </p:spPr>
        </p:sp>
      </p:grpSp>
      <p:sp>
        <p:nvSpPr>
          <p:cNvPr id="4" name="Freeform 4"/>
          <p:cNvSpPr/>
          <p:nvPr/>
        </p:nvSpPr>
        <p:spPr>
          <a:xfrm>
            <a:off x="16148913" y="8378771"/>
            <a:ext cx="1759058" cy="1759058"/>
          </a:xfrm>
          <a:custGeom>
            <a:avLst/>
            <a:gdLst/>
            <a:ahLst/>
            <a:cxnLst/>
            <a:rect l="l" t="t" r="r" b="b"/>
            <a:pathLst>
              <a:path w="1759058" h="1759058">
                <a:moveTo>
                  <a:pt x="0" y="0"/>
                </a:moveTo>
                <a:lnTo>
                  <a:pt x="1759058" y="0"/>
                </a:lnTo>
                <a:lnTo>
                  <a:pt x="1759058" y="1759058"/>
                </a:lnTo>
                <a:lnTo>
                  <a:pt x="0" y="1759058"/>
                </a:lnTo>
                <a:lnTo>
                  <a:pt x="0" y="0"/>
                </a:lnTo>
                <a:close/>
              </a:path>
            </a:pathLst>
          </a:custGeom>
          <a:blipFill>
            <a:blip r:embed="rId3"/>
            <a:stretch>
              <a:fillRect/>
            </a:stretch>
          </a:blipFill>
        </p:spPr>
      </p:sp>
      <p:sp>
        <p:nvSpPr>
          <p:cNvPr id="5" name="TextBox 5"/>
          <p:cNvSpPr txBox="1"/>
          <p:nvPr/>
        </p:nvSpPr>
        <p:spPr>
          <a:xfrm>
            <a:off x="1033721" y="1408257"/>
            <a:ext cx="5184935" cy="904094"/>
          </a:xfrm>
          <a:prstGeom prst="rect">
            <a:avLst/>
          </a:prstGeom>
        </p:spPr>
        <p:txBody>
          <a:bodyPr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Conclusion</a:t>
            </a:r>
          </a:p>
        </p:txBody>
      </p:sp>
      <p:sp>
        <p:nvSpPr>
          <p:cNvPr id="6" name="TextBox 6"/>
          <p:cNvSpPr txBox="1"/>
          <p:nvPr/>
        </p:nvSpPr>
        <p:spPr>
          <a:xfrm>
            <a:off x="698804" y="2695659"/>
            <a:ext cx="6878640" cy="6310757"/>
          </a:xfrm>
          <a:prstGeom prst="rect">
            <a:avLst/>
          </a:prstGeom>
        </p:spPr>
        <p:txBody>
          <a:bodyPr lIns="0" tIns="0" rIns="0" bIns="0" rtlCol="0" anchor="t">
            <a:spAutoFit/>
          </a:bodyPr>
          <a:lstStyle/>
          <a:p>
            <a:pPr marL="626107" lvl="1" indent="-313054" algn="just">
              <a:lnSpc>
                <a:spcPts val="3363"/>
              </a:lnSpc>
              <a:buFont typeface="Arial"/>
              <a:buChar char="•"/>
            </a:pPr>
            <a:r>
              <a:rPr lang="en-US" sz="2899" dirty="0">
                <a:solidFill>
                  <a:srgbClr val="000000"/>
                </a:solidFill>
                <a:latin typeface="Poppins"/>
                <a:ea typeface="Poppins"/>
                <a:cs typeface="Poppins"/>
                <a:sym typeface="Poppins"/>
              </a:rPr>
              <a:t>The co-op experience enabled me to make well-structured and ethical decisions at work.</a:t>
            </a:r>
          </a:p>
          <a:p>
            <a:pPr marL="626107" lvl="1" indent="-313054" algn="just">
              <a:lnSpc>
                <a:spcPts val="3363"/>
              </a:lnSpc>
              <a:buFont typeface="Arial"/>
              <a:buChar char="•"/>
            </a:pPr>
            <a:r>
              <a:rPr lang="en-US" sz="2899" dirty="0">
                <a:solidFill>
                  <a:srgbClr val="000000"/>
                </a:solidFill>
                <a:latin typeface="Poppins"/>
                <a:ea typeface="Poppins"/>
                <a:cs typeface="Poppins"/>
                <a:sym typeface="Poppins"/>
              </a:rPr>
              <a:t>My key learning experience is that I have learnt to stop depending on intuition and rely more on evidence-based methods.</a:t>
            </a:r>
          </a:p>
          <a:p>
            <a:pPr marL="626107" lvl="1" indent="-313054" algn="just">
              <a:lnSpc>
                <a:spcPts val="3363"/>
              </a:lnSpc>
              <a:buFont typeface="Arial"/>
              <a:buChar char="•"/>
            </a:pPr>
            <a:r>
              <a:rPr lang="en-US" sz="2899" dirty="0">
                <a:solidFill>
                  <a:srgbClr val="000000"/>
                </a:solidFill>
                <a:latin typeface="Poppins"/>
                <a:ea typeface="Poppins"/>
                <a:cs typeface="Poppins"/>
                <a:sym typeface="Poppins"/>
              </a:rPr>
              <a:t>My contemporary issue research revealed the direct impact of communication on the quality of service.</a:t>
            </a:r>
          </a:p>
          <a:p>
            <a:pPr marL="626107" lvl="1" indent="-313054" algn="just">
              <a:lnSpc>
                <a:spcPts val="3363"/>
              </a:lnSpc>
              <a:buFont typeface="Arial"/>
              <a:buChar char="•"/>
            </a:pPr>
            <a:r>
              <a:rPr lang="en-US" sz="2899" dirty="0">
                <a:solidFill>
                  <a:srgbClr val="000000"/>
                </a:solidFill>
                <a:latin typeface="Poppins"/>
                <a:ea typeface="Poppins"/>
                <a:cs typeface="Poppins"/>
                <a:sym typeface="Poppins"/>
              </a:rPr>
              <a:t>This experience has equipped me with the ability to perform in multicultural and team-based environments</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B0BC2-9C86-C70B-4C99-363B436C1667}"/>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88DB1ABE-B486-D708-2F43-EBB4995A69E5}"/>
              </a:ext>
            </a:extLst>
          </p:cNvPr>
          <p:cNvSpPr txBox="1"/>
          <p:nvPr/>
        </p:nvSpPr>
        <p:spPr>
          <a:xfrm>
            <a:off x="3962400" y="2171700"/>
            <a:ext cx="7819505" cy="904094"/>
          </a:xfrm>
          <a:prstGeom prst="rect">
            <a:avLst/>
          </a:prstGeom>
        </p:spPr>
        <p:txBody>
          <a:bodyPr wrap="square" lIns="0" tIns="0" rIns="0" bIns="0" rtlCol="0" anchor="t">
            <a:spAutoFit/>
          </a:bodyPr>
          <a:lstStyle/>
          <a:p>
            <a:pPr algn="l">
              <a:lnSpc>
                <a:spcPts val="6959"/>
              </a:lnSpc>
              <a:spcBef>
                <a:spcPct val="0"/>
              </a:spcBef>
            </a:pPr>
            <a:r>
              <a:rPr lang="en-US" sz="6000" b="1" dirty="0">
                <a:solidFill>
                  <a:srgbClr val="000000"/>
                </a:solidFill>
                <a:latin typeface="Lustria"/>
                <a:ea typeface="Lustria"/>
                <a:cs typeface="Lustria"/>
                <a:sym typeface="Lustria"/>
              </a:rPr>
              <a:t>Discussion Questions</a:t>
            </a:r>
          </a:p>
        </p:txBody>
      </p:sp>
      <p:sp>
        <p:nvSpPr>
          <p:cNvPr id="6" name="TextBox 6">
            <a:extLst>
              <a:ext uri="{FF2B5EF4-FFF2-40B4-BE49-F238E27FC236}">
                <a16:creationId xmlns:a16="http://schemas.microsoft.com/office/drawing/2014/main" id="{F339D9BF-10FB-EA7B-E67D-A8CD4AD3544E}"/>
              </a:ext>
            </a:extLst>
          </p:cNvPr>
          <p:cNvSpPr txBox="1"/>
          <p:nvPr/>
        </p:nvSpPr>
        <p:spPr>
          <a:xfrm>
            <a:off x="1752600" y="3565416"/>
            <a:ext cx="14782800" cy="4016484"/>
          </a:xfrm>
          <a:prstGeom prst="rect">
            <a:avLst/>
          </a:prstGeom>
        </p:spPr>
        <p:txBody>
          <a:bodyPr wrap="square" lIns="0" tIns="0" rIns="0" bIns="0" rtlCol="0" anchor="t">
            <a:spAutoFit/>
          </a:bodyPr>
          <a:lstStyle/>
          <a:p>
            <a:r>
              <a:rPr lang="en-GB" sz="2900" b="1" dirty="0">
                <a:latin typeface="Poppins" panose="00000500000000000000" pitchFamily="2" charset="0"/>
                <a:cs typeface="Poppins" panose="00000500000000000000" pitchFamily="2" charset="0"/>
              </a:rPr>
              <a:t>Q1.</a:t>
            </a:r>
            <a:r>
              <a:rPr lang="en-GB" sz="2900" dirty="0">
                <a:latin typeface="Poppins" panose="00000500000000000000" pitchFamily="2" charset="0"/>
                <a:cs typeface="Poppins" panose="00000500000000000000" pitchFamily="2" charset="0"/>
              </a:rPr>
              <a:t> How can Ｉ effectively promote employees' identification with and joint construction of a unified, inclusive corporate culture while respecting the diverse social backgrounds?</a:t>
            </a:r>
          </a:p>
          <a:p>
            <a:endParaRPr lang="en-GB" sz="2900" dirty="0">
              <a:latin typeface="Poppins" panose="00000500000000000000" pitchFamily="2" charset="0"/>
              <a:cs typeface="Poppins" panose="00000500000000000000" pitchFamily="2" charset="0"/>
            </a:endParaRPr>
          </a:p>
          <a:p>
            <a:r>
              <a:rPr lang="en-GB" sz="2900" b="1" dirty="0">
                <a:latin typeface="Poppins" panose="00000500000000000000" pitchFamily="2" charset="0"/>
                <a:cs typeface="Poppins" panose="00000500000000000000" pitchFamily="2" charset="0"/>
              </a:rPr>
              <a:t>Q2. </a:t>
            </a:r>
            <a:r>
              <a:rPr lang="en-GB" sz="2900" dirty="0">
                <a:latin typeface="Poppins" panose="00000500000000000000" pitchFamily="2" charset="0"/>
                <a:cs typeface="Poppins" panose="00000500000000000000" pitchFamily="2" charset="0"/>
              </a:rPr>
              <a:t>My research has found that cross-cultural communication barriers undermine service quality by impairing employees' collaboration efficiency, so how do we enhance the quality of services and deal with the poor collaboration efficiency in small multicultural firms within practical cross-cultural communication approaches?</a:t>
            </a:r>
          </a:p>
        </p:txBody>
      </p:sp>
      <p:sp>
        <p:nvSpPr>
          <p:cNvPr id="8" name="Freeform 7">
            <a:extLst>
              <a:ext uri="{FF2B5EF4-FFF2-40B4-BE49-F238E27FC236}">
                <a16:creationId xmlns:a16="http://schemas.microsoft.com/office/drawing/2014/main" id="{28028E57-8C08-8897-7816-7C6F15DC7184}"/>
              </a:ext>
            </a:extLst>
          </p:cNvPr>
          <p:cNvSpPr/>
          <p:nvPr/>
        </p:nvSpPr>
        <p:spPr>
          <a:xfrm flipH="1">
            <a:off x="14706600" y="74129"/>
            <a:ext cx="3581400" cy="3240571"/>
          </a:xfrm>
          <a:custGeom>
            <a:avLst/>
            <a:gdLst/>
            <a:ahLst/>
            <a:cxnLst/>
            <a:rect l="l" t="t" r="r" b="b"/>
            <a:pathLst>
              <a:path w="2403461" h="2403461">
                <a:moveTo>
                  <a:pt x="2403461" y="0"/>
                </a:moveTo>
                <a:lnTo>
                  <a:pt x="0" y="0"/>
                </a:lnTo>
                <a:lnTo>
                  <a:pt x="0" y="2403461"/>
                </a:lnTo>
                <a:lnTo>
                  <a:pt x="2403461" y="2403461"/>
                </a:lnTo>
                <a:lnTo>
                  <a:pt x="2403461" y="0"/>
                </a:lnTo>
                <a:close/>
              </a:path>
            </a:pathLst>
          </a:custGeom>
          <a:blipFill>
            <a:blip r:embed="rId2"/>
            <a:stretch>
              <a:fillRect/>
            </a:stretch>
          </a:blipFill>
        </p:spPr>
      </p:sp>
      <p:sp>
        <p:nvSpPr>
          <p:cNvPr id="9" name="Freeform 4">
            <a:extLst>
              <a:ext uri="{FF2B5EF4-FFF2-40B4-BE49-F238E27FC236}">
                <a16:creationId xmlns:a16="http://schemas.microsoft.com/office/drawing/2014/main" id="{7492BA0A-C2C7-2D1F-FA97-F4E111E291E1}"/>
              </a:ext>
            </a:extLst>
          </p:cNvPr>
          <p:cNvSpPr/>
          <p:nvPr/>
        </p:nvSpPr>
        <p:spPr>
          <a:xfrm>
            <a:off x="685800" y="7810500"/>
            <a:ext cx="2667000" cy="2476500"/>
          </a:xfrm>
          <a:custGeom>
            <a:avLst/>
            <a:gdLst/>
            <a:ahLst/>
            <a:cxnLst/>
            <a:rect l="l" t="t" r="r" b="b"/>
            <a:pathLst>
              <a:path w="2545157" h="2545157">
                <a:moveTo>
                  <a:pt x="0" y="0"/>
                </a:moveTo>
                <a:lnTo>
                  <a:pt x="2545157" y="0"/>
                </a:lnTo>
                <a:lnTo>
                  <a:pt x="2545157" y="2545157"/>
                </a:lnTo>
                <a:lnTo>
                  <a:pt x="0" y="2545157"/>
                </a:lnTo>
                <a:lnTo>
                  <a:pt x="0" y="0"/>
                </a:lnTo>
                <a:close/>
              </a:path>
            </a:pathLst>
          </a:custGeom>
          <a:blipFill>
            <a:blip r:embed="rId2"/>
            <a:stretch>
              <a:fillRect/>
            </a:stretch>
          </a:blipFill>
        </p:spPr>
      </p:sp>
    </p:spTree>
    <p:extLst>
      <p:ext uri="{BB962C8B-B14F-4D97-AF65-F5344CB8AC3E}">
        <p14:creationId xmlns:p14="http://schemas.microsoft.com/office/powerpoint/2010/main" val="35775650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8084-EC64-DCCF-98A6-334E127F8784}"/>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22CFAEFE-8F49-5B3A-2036-BA0593EAC6B2}"/>
              </a:ext>
            </a:extLst>
          </p:cNvPr>
          <p:cNvSpPr txBox="1"/>
          <p:nvPr/>
        </p:nvSpPr>
        <p:spPr>
          <a:xfrm>
            <a:off x="1040347" y="-190500"/>
            <a:ext cx="6601891" cy="750205"/>
          </a:xfrm>
          <a:prstGeom prst="rect">
            <a:avLst/>
          </a:prstGeom>
        </p:spPr>
        <p:txBody>
          <a:bodyPr lIns="0" tIns="0" rIns="0" bIns="0" rtlCol="0" anchor="t">
            <a:spAutoFit/>
          </a:bodyPr>
          <a:lstStyle/>
          <a:p>
            <a:pPr algn="l">
              <a:lnSpc>
                <a:spcPts val="6959"/>
              </a:lnSpc>
              <a:spcBef>
                <a:spcPct val="0"/>
              </a:spcBef>
            </a:pPr>
            <a:r>
              <a:rPr lang="en-US" sz="2000" b="1" dirty="0">
                <a:solidFill>
                  <a:srgbClr val="000000"/>
                </a:solidFill>
                <a:latin typeface="Lustria"/>
                <a:ea typeface="Lustria"/>
                <a:cs typeface="Lustria"/>
                <a:sym typeface="Lustria"/>
              </a:rPr>
              <a:t>Q1 Answer</a:t>
            </a:r>
          </a:p>
        </p:txBody>
      </p:sp>
      <p:sp>
        <p:nvSpPr>
          <p:cNvPr id="6" name="TextBox 6">
            <a:extLst>
              <a:ext uri="{FF2B5EF4-FFF2-40B4-BE49-F238E27FC236}">
                <a16:creationId xmlns:a16="http://schemas.microsoft.com/office/drawing/2014/main" id="{4F4EEC22-6996-9D18-3C56-58369DE7A52E}"/>
              </a:ext>
            </a:extLst>
          </p:cNvPr>
          <p:cNvSpPr txBox="1"/>
          <p:nvPr/>
        </p:nvSpPr>
        <p:spPr>
          <a:xfrm>
            <a:off x="288260" y="727014"/>
            <a:ext cx="17694940" cy="8988486"/>
          </a:xfrm>
          <a:prstGeom prst="rect">
            <a:avLst/>
          </a:prstGeom>
        </p:spPr>
        <p:txBody>
          <a:bodyPr wrap="square" lIns="0" tIns="0" rIns="0" bIns="0" rtlCol="0" anchor="t">
            <a:spAutoFit/>
          </a:bodyPr>
          <a:lstStyle/>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It needs a well-rounded and deliberate approach to promote the identification of employees with a unified and inclusive corporate culture at the same time respecting the diversity of social backgrounds. Individual differences should not be lost in a strong corporate culture, but it should only establish common values which everybody can relate to irrespective of their culture.</a:t>
            </a:r>
          </a:p>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Defining and communicating core organisational values is one of the key steps. The principles that should be aimed at in these values include respect and fairness as well as teamwork and professionalism, not the cultural norms of a particular group. By framing values in terms of behaviours such as “we communicate clearly” or “we support each other’s safety”, the employees of varied backgrounds are able to discern the roles they play in these expectations in their unique manner.</a:t>
            </a:r>
          </a:p>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There is also the need to incorporate communication practices, as the language that leaders and supervisors utilise should be simple and clear and visual support should be used when it is possible to have everyone have equal access to information. The sense of belonging can be built by encouraging open communication where employees are not afraid of sharing ideas or issues. This is particularly significant with the employees who might belong to a culture where not necessarily talking back is promoted. Employees tend to feel appreciated and like they belong to the organisation when managers get to listen to them and treat them with reverence.</a:t>
            </a:r>
          </a:p>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 other way that is effective is to engage employees in the development of workplace practices. Requesting feedback about scheduling and assignments of tasks as well as means of communication can give the staff members the opportunity to engage in culture building together. The involvement makes employees feel that they are a part of the organisation rather than being imposed upon. The cross-cultural relationships can be reinforced through team work, peer mentoring and solving problems together.</a:t>
            </a:r>
          </a:p>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Another element that is important in enhancing teamwork in multicultural workplaces is training and awareness. Cross-cultural understanding can be taught in short practical sessions, which will make employees understand employees of various communication styles and work habits as well as expectations. This assists in minimising confusion and fosters respect in the team members. Simultaneously, leaders must also be the first ones to exemplify their actions through treating everyone equally, speaking frankly, and addressing any form of unwarranted behaviour timely to ensure a state of trust and inclusion.</a:t>
            </a:r>
          </a:p>
          <a:p>
            <a:pPr marL="342900" indent="-34290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In the end, an integrated and non-discriminatory corporate culture develops as the employees feel respected, listened to and engaged. Through the integration of open common values, participative communication, involvement, and respectful leadership, organisations can develop a work environment where diversity is recognised as a strength and the employees are able to identify themselves with the organisation without losing the organisational cultural identity.</a:t>
            </a:r>
          </a:p>
        </p:txBody>
      </p:sp>
    </p:spTree>
    <p:extLst>
      <p:ext uri="{BB962C8B-B14F-4D97-AF65-F5344CB8AC3E}">
        <p14:creationId xmlns:p14="http://schemas.microsoft.com/office/powerpoint/2010/main" val="8461001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1DA16-D1F5-6D70-C76C-E605CA07E9B6}"/>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D51CC4A0-FEC1-DEB1-91DD-2CC3D8883E51}"/>
              </a:ext>
            </a:extLst>
          </p:cNvPr>
          <p:cNvSpPr txBox="1"/>
          <p:nvPr/>
        </p:nvSpPr>
        <p:spPr>
          <a:xfrm>
            <a:off x="1040347" y="-331105"/>
            <a:ext cx="1474253" cy="750205"/>
          </a:xfrm>
          <a:prstGeom prst="rect">
            <a:avLst/>
          </a:prstGeom>
        </p:spPr>
        <p:txBody>
          <a:bodyPr wrap="square" lIns="0" tIns="0" rIns="0" bIns="0" rtlCol="0" anchor="t">
            <a:spAutoFit/>
          </a:bodyPr>
          <a:lstStyle/>
          <a:p>
            <a:pPr algn="l">
              <a:lnSpc>
                <a:spcPts val="6959"/>
              </a:lnSpc>
              <a:spcBef>
                <a:spcPct val="0"/>
              </a:spcBef>
            </a:pPr>
            <a:r>
              <a:rPr lang="en-US" sz="2000" b="1" dirty="0">
                <a:solidFill>
                  <a:srgbClr val="000000"/>
                </a:solidFill>
                <a:latin typeface="Lustria"/>
                <a:ea typeface="Lustria"/>
                <a:cs typeface="Lustria"/>
                <a:sym typeface="Lustria"/>
              </a:rPr>
              <a:t>Q2 Answer</a:t>
            </a:r>
          </a:p>
        </p:txBody>
      </p:sp>
      <p:sp>
        <p:nvSpPr>
          <p:cNvPr id="6" name="TextBox 6">
            <a:extLst>
              <a:ext uri="{FF2B5EF4-FFF2-40B4-BE49-F238E27FC236}">
                <a16:creationId xmlns:a16="http://schemas.microsoft.com/office/drawing/2014/main" id="{A044D08B-B7AF-719C-C2F8-13C6BBB7AD2F}"/>
              </a:ext>
            </a:extLst>
          </p:cNvPr>
          <p:cNvSpPr txBox="1"/>
          <p:nvPr/>
        </p:nvSpPr>
        <p:spPr>
          <a:xfrm>
            <a:off x="212060" y="563199"/>
            <a:ext cx="17863879" cy="9380901"/>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 obstacles in cross-cultural communication may also decrease the efficiency of collaboration in a small multicultural service company since misunderstandings, reluctance to explain the instructions, and other communication styles can disrupt the effective teamwork. Companies require effective communication strategies that are realistic in their daily activities instead of sophisticated ones to improve service delivery and resolve poor cooperation.</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Structured and regular briefings are one of the key approaches. Employees will get information in a predictable manner when supervisors adhere to the same format daily, where they are well aware of what is expected, where safety points are and time. This will minimise misunderstandings that may arise whereby directions are relayed in an informal way or at too fast a rate. It is also beneficial to add some written notes after speaking or some simple visual instructions, which will help in understanding, especially when it comes to workers who do not feel quite comfortable with the primary language used in the workplace.</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 confirmation techniques are also used to enhance coordination and team work. It checks that the employees did not misinterpret the important instructions and promotes mistakes that would otherwise remain unnoticed by asking employees to repeat them in their own words. Some cultures also provide workers with a reluctance to ask questions since it reflects disrespect to the position of authority. Ensuring confirmation is a common practice in communication, and it facilitates clarification in a relaxed manner and helps minimise mistakes that may compromise the quality of service.</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Another practical means of enhancing understanding in the workplace is using visual tools of communication. Language barriers between team members can be overcome by the use of photos with the proper outcomes of the task, simple diagrams, colour coding, and well-labelled equipment. These tools are particularly useful with cleaning and construction work, which is physical and can be depicted visually. With team members having a clear vision of what the end product is supposed to be like, there is enhanced teamwork, reduced errors, and it takes less time to correct an error and repeat a task.</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Collaboration is also facilitated by cross-cultural awareness among the team members. The limited, focused training sessions will be able to teach the employees the difference in communication styles and time orientation as well as expectation of hierarchy and this knowledge can lower the negative assumptions and enhance patience and cooperation in teams.</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 leadership behaviour is also significant as employees feel freer to speak when their supervisors set an example of respectful listening and composing explanations as well as being willing to be asked. A psychologically safe environment helps workers to report concerns at an early stage, thus avoiding the occurrence of problems and the impact of such on-service delivery.</a:t>
            </a:r>
          </a:p>
          <a:p>
            <a:pPr marL="285750" indent="-285750">
              <a:lnSpc>
                <a:spcPct val="150000"/>
              </a:lnSpc>
              <a:buFont typeface="Wingdings" panose="05000000000000000000" pitchFamily="2" charset="2"/>
              <a:buChar char="Ø"/>
            </a:pPr>
            <a:r>
              <a:rPr lang="en-GB" sz="1700" dirty="0">
                <a:latin typeface="Poppins" panose="00000500000000000000" pitchFamily="2" charset="0"/>
                <a:cs typeface="Poppins" panose="00000500000000000000" pitchFamily="2" charset="0"/>
              </a:rPr>
              <a:t>These methods combined can lead to better communication, more effective teamwork and more consistent performance. Small multicultural companies can achieve better results in collaboration and provide more qualitative services in a pragmatic and sustainable manner by eliminating misunderstandings and promoting inclusive communication.</a:t>
            </a:r>
          </a:p>
        </p:txBody>
      </p:sp>
    </p:spTree>
    <p:extLst>
      <p:ext uri="{BB962C8B-B14F-4D97-AF65-F5344CB8AC3E}">
        <p14:creationId xmlns:p14="http://schemas.microsoft.com/office/powerpoint/2010/main" val="6744387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8924817"/>
            <a:ext cx="18288000" cy="1362183"/>
            <a:chOff x="0" y="0"/>
            <a:chExt cx="4816593" cy="358764"/>
          </a:xfrm>
        </p:grpSpPr>
        <p:sp>
          <p:nvSpPr>
            <p:cNvPr id="3" name="Freeform 3"/>
            <p:cNvSpPr/>
            <p:nvPr/>
          </p:nvSpPr>
          <p:spPr>
            <a:xfrm>
              <a:off x="0" y="0"/>
              <a:ext cx="4816592" cy="358764"/>
            </a:xfrm>
            <a:custGeom>
              <a:avLst/>
              <a:gdLst/>
              <a:ahLst/>
              <a:cxnLst/>
              <a:rect l="l" t="t" r="r" b="b"/>
              <a:pathLst>
                <a:path w="4816592" h="358764">
                  <a:moveTo>
                    <a:pt x="0" y="0"/>
                  </a:moveTo>
                  <a:lnTo>
                    <a:pt x="4816592" y="0"/>
                  </a:lnTo>
                  <a:lnTo>
                    <a:pt x="4816592" y="358764"/>
                  </a:lnTo>
                  <a:lnTo>
                    <a:pt x="0" y="358764"/>
                  </a:lnTo>
                  <a:close/>
                </a:path>
              </a:pathLst>
            </a:custGeom>
            <a:solidFill>
              <a:srgbClr val="454F5F"/>
            </a:solidFill>
          </p:spPr>
        </p:sp>
        <p:sp>
          <p:nvSpPr>
            <p:cNvPr id="4" name="TextBox 4"/>
            <p:cNvSpPr txBox="1"/>
            <p:nvPr/>
          </p:nvSpPr>
          <p:spPr>
            <a:xfrm>
              <a:off x="0" y="-57150"/>
              <a:ext cx="4816593" cy="415914"/>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2016610" y="408868"/>
            <a:ext cx="14254780" cy="904094"/>
          </a:xfrm>
          <a:prstGeom prst="rect">
            <a:avLst/>
          </a:prstGeom>
        </p:spPr>
        <p:txBody>
          <a:bodyPr lIns="0" tIns="0" rIns="0" bIns="0" rtlCol="0" anchor="t">
            <a:spAutoFit/>
          </a:bodyPr>
          <a:lstStyle/>
          <a:p>
            <a:pPr algn="ctr">
              <a:lnSpc>
                <a:spcPts val="6959"/>
              </a:lnSpc>
              <a:spcBef>
                <a:spcPct val="0"/>
              </a:spcBef>
            </a:pPr>
            <a:r>
              <a:rPr lang="en-US" sz="6000" b="1" dirty="0">
                <a:solidFill>
                  <a:srgbClr val="000000"/>
                </a:solidFill>
                <a:latin typeface="Lustria"/>
                <a:ea typeface="Lustria"/>
                <a:cs typeface="Lustria"/>
                <a:sym typeface="Lustria"/>
              </a:rPr>
              <a:t>References</a:t>
            </a:r>
          </a:p>
        </p:txBody>
      </p:sp>
      <p:sp>
        <p:nvSpPr>
          <p:cNvPr id="6" name="TextBox 6"/>
          <p:cNvSpPr txBox="1"/>
          <p:nvPr/>
        </p:nvSpPr>
        <p:spPr>
          <a:xfrm>
            <a:off x="380999" y="1181100"/>
            <a:ext cx="17628079" cy="7694414"/>
          </a:xfrm>
          <a:prstGeom prst="rect">
            <a:avLst/>
          </a:prstGeom>
        </p:spPr>
        <p:txBody>
          <a:bodyPr wrap="square" lIns="0" tIns="0" rIns="0" bIns="0" rtlCol="0" anchor="t">
            <a:spAutoFit/>
          </a:bodyPr>
          <a:lstStyle/>
          <a:p>
            <a:pPr indent="-457200" algn="l">
              <a:lnSpc>
                <a:spcPts val="2436"/>
              </a:lnSpc>
            </a:pPr>
            <a:r>
              <a:rPr lang="en-US" sz="2100" dirty="0">
                <a:solidFill>
                  <a:srgbClr val="000000"/>
                </a:solidFill>
                <a:latin typeface="Poppins"/>
                <a:ea typeface="Poppins"/>
                <a:cs typeface="Poppins"/>
                <a:sym typeface="Poppins"/>
              </a:rPr>
              <a:t>Asare, E., &amp; Tony, A. O. (2025). The Role of Corporate Communication in </a:t>
            </a:r>
            <a:r>
              <a:rPr lang="en-US" sz="2100" dirty="0" err="1">
                <a:solidFill>
                  <a:srgbClr val="000000"/>
                </a:solidFill>
                <a:latin typeface="Poppins"/>
                <a:ea typeface="Poppins"/>
                <a:cs typeface="Poppins"/>
                <a:sym typeface="Poppins"/>
              </a:rPr>
              <a:t>Organisational</a:t>
            </a:r>
            <a:r>
              <a:rPr lang="en-US" sz="2100" dirty="0">
                <a:solidFill>
                  <a:srgbClr val="000000"/>
                </a:solidFill>
                <a:latin typeface="Poppins"/>
                <a:ea typeface="Poppins"/>
                <a:cs typeface="Poppins"/>
                <a:sym typeface="Poppins"/>
              </a:rPr>
              <a:t> Change Management. Convergence Chronicles, 6(3), 83-94. </a:t>
            </a:r>
            <a:r>
              <a:rPr lang="en-US" sz="2100" u="sng" dirty="0">
                <a:solidFill>
                  <a:srgbClr val="000000"/>
                </a:solidFill>
                <a:latin typeface="Poppins"/>
                <a:ea typeface="Poppins"/>
                <a:cs typeface="Poppins"/>
                <a:sym typeface="Poppins"/>
                <a:hlinkClick r:id="rId2" tooltip="https://globalweb1.com/index.php/ojs/article/view/201"/>
              </a:rPr>
              <a:t>https://globalweb1.com/index.php/ojs/article/view/201</a:t>
            </a:r>
          </a:p>
          <a:p>
            <a:pPr indent="-457200" algn="l">
              <a:lnSpc>
                <a:spcPts val="2436"/>
              </a:lnSpc>
            </a:pPr>
            <a:r>
              <a:rPr lang="en-US" sz="2100" dirty="0">
                <a:solidFill>
                  <a:srgbClr val="000000"/>
                </a:solidFill>
                <a:latin typeface="Poppins"/>
                <a:ea typeface="Poppins"/>
                <a:cs typeface="Poppins"/>
                <a:sym typeface="Poppins"/>
              </a:rPr>
              <a:t>Bag, S., Gupta, S., Choi, T. M., &amp; Kumar, A. (2024). Corporate social responsibility and firm performance: A systematic literature review. Journal of Cleaner Production, 384, 135610. </a:t>
            </a:r>
            <a:r>
              <a:rPr lang="en-US" sz="2100" u="sng" dirty="0">
                <a:solidFill>
                  <a:srgbClr val="000000"/>
                </a:solidFill>
                <a:latin typeface="Poppins"/>
                <a:ea typeface="Poppins"/>
                <a:cs typeface="Poppins"/>
                <a:sym typeface="Poppins"/>
                <a:hlinkClick r:id="rId3" tooltip="https://doi.org/10.1016/j.jclepro.2022.135610"/>
              </a:rPr>
              <a:t>https://doi.org/10.1016/j.jclepro.2022.135610</a:t>
            </a:r>
          </a:p>
          <a:p>
            <a:pPr indent="-457200" algn="l">
              <a:lnSpc>
                <a:spcPts val="2436"/>
              </a:lnSpc>
            </a:pPr>
            <a:r>
              <a:rPr lang="en-US" sz="2100" dirty="0">
                <a:solidFill>
                  <a:srgbClr val="000000"/>
                </a:solidFill>
                <a:latin typeface="Poppins"/>
                <a:ea typeface="Poppins"/>
                <a:cs typeface="Poppins"/>
                <a:sym typeface="Poppins"/>
              </a:rPr>
              <a:t>Butler, M., &amp; </a:t>
            </a:r>
            <a:r>
              <a:rPr lang="en-US" sz="2100" dirty="0" err="1">
                <a:solidFill>
                  <a:srgbClr val="000000"/>
                </a:solidFill>
                <a:latin typeface="Poppins"/>
                <a:ea typeface="Poppins"/>
                <a:cs typeface="Poppins"/>
                <a:sym typeface="Poppins"/>
              </a:rPr>
              <a:t>Celebrezze</a:t>
            </a:r>
            <a:r>
              <a:rPr lang="en-US" sz="2100" dirty="0">
                <a:solidFill>
                  <a:srgbClr val="000000"/>
                </a:solidFill>
                <a:latin typeface="Poppins"/>
                <a:ea typeface="Poppins"/>
                <a:cs typeface="Poppins"/>
                <a:sym typeface="Poppins"/>
              </a:rPr>
              <a:t>, J. (2025). Teaching Cross-Cultural Communication in Law School: Lessons from Medicine, Social Work, and Business. Social Work, and Business (August 01, 2025). </a:t>
            </a:r>
            <a:r>
              <a:rPr lang="en-US" sz="2100" u="sng" dirty="0">
                <a:solidFill>
                  <a:srgbClr val="000000"/>
                </a:solidFill>
                <a:latin typeface="Poppins"/>
                <a:ea typeface="Poppins"/>
                <a:cs typeface="Poppins"/>
                <a:sym typeface="Poppins"/>
                <a:hlinkClick r:id="rId4" tooltip="https://papers.ssrn.com/sol3/papers.cfm?abstract_id=5675622"/>
              </a:rPr>
              <a:t>https://papers.ssrn.com/sol3/papers.cfm?abstract_id=5675622</a:t>
            </a:r>
          </a:p>
          <a:p>
            <a:pPr indent="-457200" algn="l">
              <a:lnSpc>
                <a:spcPts val="2436"/>
              </a:lnSpc>
            </a:pPr>
            <a:r>
              <a:rPr lang="en-US" sz="2100" dirty="0">
                <a:solidFill>
                  <a:srgbClr val="000000"/>
                </a:solidFill>
                <a:latin typeface="Poppins"/>
                <a:ea typeface="Poppins"/>
                <a:cs typeface="Poppins"/>
                <a:sym typeface="Poppins"/>
              </a:rPr>
              <a:t>Ferrell, O. C., Fraedrich, J., &amp; Ferrell, L. (2017). Business ethics: Ethical decision making and cases (11th ed.). Cengage Learning. </a:t>
            </a:r>
            <a:r>
              <a:rPr lang="en-US" sz="2100" u="sng" dirty="0">
                <a:solidFill>
                  <a:srgbClr val="000000"/>
                </a:solidFill>
                <a:latin typeface="Poppins"/>
                <a:ea typeface="Poppins"/>
                <a:cs typeface="Poppins"/>
                <a:sym typeface="Poppins"/>
                <a:hlinkClick r:id="rId5" tooltip="https://openlibrary.org/works/OL17326396W"/>
              </a:rPr>
              <a:t>https://openlibrary.org/works/OL17326396W</a:t>
            </a:r>
          </a:p>
          <a:p>
            <a:pPr indent="-457200" algn="l">
              <a:lnSpc>
                <a:spcPts val="2436"/>
              </a:lnSpc>
              <a:spcBef>
                <a:spcPct val="0"/>
              </a:spcBef>
            </a:pPr>
            <a:r>
              <a:rPr lang="en-US" sz="2100" dirty="0">
                <a:solidFill>
                  <a:srgbClr val="000000"/>
                </a:solidFill>
                <a:latin typeface="Poppins"/>
                <a:ea typeface="Poppins"/>
                <a:cs typeface="Poppins"/>
                <a:sym typeface="Poppins"/>
              </a:rPr>
              <a:t>Grímsdóttir, E., &amp; Edvardsson, I. R. (2018). Knowledge Management, Knowledge Creation, and Open Innovation in Icelandic SMEs. Sage Open, 8(4). </a:t>
            </a:r>
            <a:r>
              <a:rPr lang="en-US" sz="2100" u="sng" dirty="0">
                <a:solidFill>
                  <a:srgbClr val="000000"/>
                </a:solidFill>
                <a:latin typeface="Poppins"/>
                <a:ea typeface="Poppins"/>
                <a:cs typeface="Poppins"/>
                <a:sym typeface="Poppins"/>
                <a:hlinkClick r:id="rId6" tooltip="https://doi.org/10.1177/2158244018807320"/>
              </a:rPr>
              <a:t>Lorem ipsum dolor sit </a:t>
            </a:r>
            <a:r>
              <a:rPr lang="en-US" sz="2100" u="sng" dirty="0" err="1">
                <a:solidFill>
                  <a:srgbClr val="000000"/>
                </a:solidFill>
                <a:latin typeface="Poppins"/>
                <a:ea typeface="Poppins"/>
                <a:cs typeface="Poppins"/>
                <a:sym typeface="Poppins"/>
                <a:hlinkClick r:id="rId6" tooltip="https://doi.org/10.1177/2158244018807320"/>
              </a:rPr>
              <a:t>amet</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consectetur</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adipiscing</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elit</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Aliquam</a:t>
            </a:r>
            <a:r>
              <a:rPr lang="en-US" sz="2100" u="sng" dirty="0">
                <a:solidFill>
                  <a:srgbClr val="000000"/>
                </a:solidFill>
                <a:latin typeface="Poppins"/>
                <a:ea typeface="Poppins"/>
                <a:cs typeface="Poppins"/>
                <a:sym typeface="Poppins"/>
                <a:hlinkClick r:id="rId6" tooltip="https://doi.org/10.1177/2158244018807320"/>
              </a:rPr>
              <a:t> sed </a:t>
            </a:r>
            <a:r>
              <a:rPr lang="en-US" sz="2100" u="sng" dirty="0" err="1">
                <a:solidFill>
                  <a:srgbClr val="000000"/>
                </a:solidFill>
                <a:latin typeface="Poppins"/>
                <a:ea typeface="Poppins"/>
                <a:cs typeface="Poppins"/>
                <a:sym typeface="Poppins"/>
                <a:hlinkClick r:id="rId6" tooltip="https://doi.org/10.1177/2158244018807320"/>
              </a:rPr>
              <a:t>odio</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elit</a:t>
            </a:r>
            <a:r>
              <a:rPr lang="en-US" sz="2100" u="sng" dirty="0">
                <a:solidFill>
                  <a:srgbClr val="000000"/>
                </a:solidFill>
                <a:latin typeface="Poppins"/>
                <a:ea typeface="Poppins"/>
                <a:cs typeface="Poppins"/>
                <a:sym typeface="Poppins"/>
                <a:hlinkClick r:id="rId6" tooltip="https://doi.org/10.1177/2158244018807320"/>
              </a:rPr>
              <a:t>. Integer dui </a:t>
            </a:r>
            <a:r>
              <a:rPr lang="en-US" sz="2100" u="sng" dirty="0" err="1">
                <a:solidFill>
                  <a:srgbClr val="000000"/>
                </a:solidFill>
                <a:latin typeface="Poppins"/>
                <a:ea typeface="Poppins"/>
                <a:cs typeface="Poppins"/>
                <a:sym typeface="Poppins"/>
                <a:hlinkClick r:id="rId6" tooltip="https://doi.org/10.1177/2158244018807320"/>
              </a:rPr>
              <a:t>neque</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sollicitudin</a:t>
            </a:r>
            <a:r>
              <a:rPr lang="en-US" sz="2100" u="sng" dirty="0">
                <a:solidFill>
                  <a:srgbClr val="000000"/>
                </a:solidFill>
                <a:latin typeface="Poppins"/>
                <a:ea typeface="Poppins"/>
                <a:cs typeface="Poppins"/>
                <a:sym typeface="Poppins"/>
                <a:hlinkClick r:id="rId6" tooltip="https://doi.org/10.1177/2158244018807320"/>
              </a:rPr>
              <a:t> a </a:t>
            </a:r>
            <a:r>
              <a:rPr lang="en-US" sz="2100" u="sng" dirty="0" err="1">
                <a:solidFill>
                  <a:srgbClr val="000000"/>
                </a:solidFill>
                <a:latin typeface="Poppins"/>
                <a:ea typeface="Poppins"/>
                <a:cs typeface="Poppins"/>
                <a:sym typeface="Poppins"/>
                <a:hlinkClick r:id="rId6" tooltip="https://doi.org/10.1177/2158244018807320"/>
              </a:rPr>
              <a:t>purus</a:t>
            </a:r>
            <a:r>
              <a:rPr lang="en-US" sz="2100" u="sng" dirty="0">
                <a:solidFill>
                  <a:srgbClr val="000000"/>
                </a:solidFill>
                <a:latin typeface="Poppins"/>
                <a:ea typeface="Poppins"/>
                <a:cs typeface="Poppins"/>
                <a:sym typeface="Poppins"/>
                <a:hlinkClick r:id="rId6" tooltip="https://doi.org/10.1177/2158244018807320"/>
              </a:rPr>
              <a:t> ac, </a:t>
            </a:r>
            <a:r>
              <a:rPr lang="en-US" sz="2100" u="sng" dirty="0" err="1">
                <a:solidFill>
                  <a:srgbClr val="000000"/>
                </a:solidFill>
                <a:latin typeface="Poppins"/>
                <a:ea typeface="Poppins"/>
                <a:cs typeface="Poppins"/>
                <a:sym typeface="Poppins"/>
                <a:hlinkClick r:id="rId6" tooltip="https://doi.org/10.1177/2158244018807320"/>
              </a:rPr>
              <a:t>venenatis</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tincidunt</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orci</a:t>
            </a:r>
            <a:r>
              <a:rPr lang="en-US" sz="2100" u="sng" dirty="0">
                <a:solidFill>
                  <a:srgbClr val="000000"/>
                </a:solidFill>
                <a:latin typeface="Poppins"/>
                <a:ea typeface="Poppins"/>
                <a:cs typeface="Poppins"/>
                <a:sym typeface="Poppins"/>
                <a:hlinkClick r:id="rId6" tooltip="https://doi.org/10.1177/2158244018807320"/>
              </a:rPr>
              <a:t>. Donec vitae </a:t>
            </a:r>
            <a:r>
              <a:rPr lang="en-US" sz="2100" u="sng" dirty="0" err="1">
                <a:solidFill>
                  <a:srgbClr val="000000"/>
                </a:solidFill>
                <a:latin typeface="Poppins"/>
                <a:ea typeface="Poppins"/>
                <a:cs typeface="Poppins"/>
                <a:sym typeface="Poppins"/>
                <a:hlinkClick r:id="rId6" tooltip="https://doi.org/10.1177/2158244018807320"/>
              </a:rPr>
              <a:t>metus</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quis</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sapien</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commodo</a:t>
            </a:r>
            <a:r>
              <a:rPr lang="en-US" sz="2100" u="sng" dirty="0">
                <a:solidFill>
                  <a:srgbClr val="000000"/>
                </a:solidFill>
                <a:latin typeface="Poppins"/>
                <a:ea typeface="Poppins"/>
                <a:cs typeface="Poppins"/>
                <a:sym typeface="Poppins"/>
                <a:hlinkClick r:id="rId6" tooltip="https://doi.org/10.1177/2158244018807320"/>
              </a:rPr>
              <a:t> </a:t>
            </a:r>
            <a:r>
              <a:rPr lang="en-US" sz="2100" u="sng" dirty="0" err="1">
                <a:solidFill>
                  <a:srgbClr val="000000"/>
                </a:solidFill>
                <a:latin typeface="Poppins"/>
                <a:ea typeface="Poppins"/>
                <a:cs typeface="Poppins"/>
                <a:sym typeface="Poppins"/>
                <a:hlinkClick r:id="rId6" tooltip="https://doi.org/10.1177/2158244018807320"/>
              </a:rPr>
              <a:t>dignissim</a:t>
            </a:r>
            <a:r>
              <a:rPr lang="en-US" sz="2100" u="sng" dirty="0">
                <a:solidFill>
                  <a:srgbClr val="000000"/>
                </a:solidFill>
                <a:latin typeface="Poppins"/>
                <a:ea typeface="Poppins"/>
                <a:cs typeface="Poppins"/>
                <a:sym typeface="Poppins"/>
                <a:hlinkClick r:id="rId6" tooltip="https://doi.org/10.1177/2158244018807320"/>
              </a:rPr>
              <a:t>. Integer.</a:t>
            </a:r>
          </a:p>
          <a:p>
            <a:pPr indent="-457200" algn="l">
              <a:lnSpc>
                <a:spcPts val="2436"/>
              </a:lnSpc>
              <a:spcBef>
                <a:spcPct val="0"/>
              </a:spcBef>
            </a:pPr>
            <a:r>
              <a:rPr lang="en-US" sz="2100" dirty="0">
                <a:solidFill>
                  <a:srgbClr val="000000"/>
                </a:solidFill>
                <a:latin typeface="Poppins"/>
                <a:ea typeface="Poppins"/>
                <a:cs typeface="Poppins"/>
                <a:sym typeface="Poppins"/>
              </a:rPr>
              <a:t>HR Lineup. (2023). Workforce planning model: Process, benefits, elements &amp; examples. </a:t>
            </a:r>
            <a:r>
              <a:rPr lang="en-US" sz="2100" u="sng" dirty="0">
                <a:solidFill>
                  <a:srgbClr val="000000"/>
                </a:solidFill>
                <a:latin typeface="Poppins"/>
                <a:ea typeface="Poppins"/>
                <a:cs typeface="Poppins"/>
                <a:sym typeface="Poppins"/>
                <a:hlinkClick r:id="rId7" tooltip="https://www.worldsupporter.org/en/summary/summary-human-resource-management-functions-applications-and-skill-development-lussier"/>
              </a:rPr>
              <a:t>https://www.worldsupporter.org/en/summary/summary-human-resource-management-functions-applications-and-skill-development-lussier</a:t>
            </a:r>
          </a:p>
          <a:p>
            <a:pPr indent="-457200" algn="l">
              <a:lnSpc>
                <a:spcPts val="2436"/>
              </a:lnSpc>
              <a:spcBef>
                <a:spcPct val="0"/>
              </a:spcBef>
            </a:pPr>
            <a:r>
              <a:rPr lang="en-US" sz="2100" dirty="0">
                <a:solidFill>
                  <a:srgbClr val="000000"/>
                </a:solidFill>
                <a:latin typeface="Poppins"/>
                <a:ea typeface="Poppins"/>
                <a:cs typeface="Poppins"/>
                <a:sym typeface="Poppins"/>
              </a:rPr>
              <a:t>Lee, E. S., &amp; </a:t>
            </a:r>
            <a:r>
              <a:rPr lang="en-US" sz="2100" dirty="0" err="1">
                <a:solidFill>
                  <a:srgbClr val="000000"/>
                </a:solidFill>
                <a:latin typeface="Poppins"/>
                <a:ea typeface="Poppins"/>
                <a:cs typeface="Poppins"/>
                <a:sym typeface="Poppins"/>
              </a:rPr>
              <a:t>Wechtler</a:t>
            </a:r>
            <a:r>
              <a:rPr lang="en-US" sz="2100" dirty="0">
                <a:solidFill>
                  <a:srgbClr val="000000"/>
                </a:solidFill>
                <a:latin typeface="Poppins"/>
                <a:ea typeface="Poppins"/>
                <a:cs typeface="Poppins"/>
                <a:sym typeface="Poppins"/>
              </a:rPr>
              <a:t>, H. (2024). Hidden agenda for cross-cultural training: understanding refugees’ cross-cultural experience through the capability approach. The </a:t>
            </a:r>
            <a:r>
              <a:rPr lang="en-US" sz="2100" dirty="0" err="1">
                <a:solidFill>
                  <a:srgbClr val="000000"/>
                </a:solidFill>
                <a:latin typeface="Poppins"/>
                <a:ea typeface="Poppins"/>
                <a:cs typeface="Poppins"/>
                <a:sym typeface="Poppins"/>
              </a:rPr>
              <a:t>InTernaTIonal</a:t>
            </a:r>
            <a:r>
              <a:rPr lang="en-US" sz="2100" dirty="0">
                <a:solidFill>
                  <a:srgbClr val="000000"/>
                </a:solidFill>
                <a:latin typeface="Poppins"/>
                <a:ea typeface="Poppins"/>
                <a:cs typeface="Poppins"/>
                <a:sym typeface="Poppins"/>
              </a:rPr>
              <a:t> Journal of human resource </a:t>
            </a:r>
            <a:r>
              <a:rPr lang="en-US" sz="2100" dirty="0" err="1">
                <a:solidFill>
                  <a:srgbClr val="000000"/>
                </a:solidFill>
                <a:latin typeface="Poppins"/>
                <a:ea typeface="Poppins"/>
                <a:cs typeface="Poppins"/>
                <a:sym typeface="Poppins"/>
              </a:rPr>
              <a:t>managemenT</a:t>
            </a:r>
            <a:r>
              <a:rPr lang="en-US" sz="2100" dirty="0">
                <a:solidFill>
                  <a:srgbClr val="000000"/>
                </a:solidFill>
                <a:latin typeface="Poppins"/>
                <a:ea typeface="Poppins"/>
                <a:cs typeface="Poppins"/>
                <a:sym typeface="Poppins"/>
              </a:rPr>
              <a:t>, 35(6), 1007-1047. </a:t>
            </a:r>
            <a:r>
              <a:rPr lang="en-US" sz="2100" u="sng" dirty="0">
                <a:solidFill>
                  <a:srgbClr val="000000"/>
                </a:solidFill>
                <a:latin typeface="Poppins"/>
                <a:ea typeface="Poppins"/>
                <a:cs typeface="Poppins"/>
                <a:sym typeface="Poppins"/>
                <a:hlinkClick r:id="rId8" tooltip="https://www.tandfonline.com/doi/abs/10.1080/09585192.2023.2255823"/>
              </a:rPr>
              <a:t>https://www.tandfonline.com/doi/abs/10.1080/09585192.2023.2255823</a:t>
            </a:r>
          </a:p>
          <a:p>
            <a:pPr indent="-457200" algn="l">
              <a:lnSpc>
                <a:spcPts val="2436"/>
              </a:lnSpc>
              <a:spcBef>
                <a:spcPct val="0"/>
              </a:spcBef>
            </a:pPr>
            <a:r>
              <a:rPr lang="en-US" sz="2100" dirty="0">
                <a:solidFill>
                  <a:srgbClr val="000000"/>
                </a:solidFill>
                <a:latin typeface="Poppins"/>
                <a:ea typeface="Poppins"/>
                <a:cs typeface="Poppins"/>
                <a:sym typeface="Poppins"/>
              </a:rPr>
              <a:t>Lussier, R. N., &amp; Hendon, J. R. (2021). Human resource management: Functions, applications, and skill development (3rd ed.). SAGE Publications. </a:t>
            </a:r>
            <a:r>
              <a:rPr lang="en-US" sz="2100" u="sng" dirty="0">
                <a:solidFill>
                  <a:srgbClr val="000000"/>
                </a:solidFill>
                <a:latin typeface="Poppins"/>
                <a:ea typeface="Poppins"/>
                <a:cs typeface="Poppins"/>
                <a:sym typeface="Poppins"/>
                <a:hlinkClick r:id="rId7" tooltip="https://www.worldsupporter.org/en/summary/summary-human-resource-management-functions-applications-and-skill-development-lussier"/>
              </a:rPr>
              <a:t>https://www.worldsupporter.org/en/summary/summary-human-resource-management-functions-applications-and-skill-development-lussier</a:t>
            </a:r>
          </a:p>
          <a:p>
            <a:pPr indent="-457200" algn="l">
              <a:lnSpc>
                <a:spcPts val="2436"/>
              </a:lnSpc>
              <a:spcBef>
                <a:spcPct val="0"/>
              </a:spcBef>
            </a:pPr>
            <a:r>
              <a:rPr lang="en-US" sz="2100" dirty="0">
                <a:solidFill>
                  <a:srgbClr val="000000"/>
                </a:solidFill>
                <a:latin typeface="Poppins"/>
                <a:ea typeface="Poppins"/>
                <a:cs typeface="Poppins"/>
                <a:sym typeface="Poppins"/>
              </a:rPr>
              <a:t>Maijala, S., Rantamäki, A., Kurkela, K., </a:t>
            </a:r>
            <a:r>
              <a:rPr lang="en-US" sz="2100" dirty="0" err="1">
                <a:solidFill>
                  <a:srgbClr val="000000"/>
                </a:solidFill>
                <a:latin typeface="Poppins"/>
                <a:ea typeface="Poppins"/>
                <a:cs typeface="Poppins"/>
                <a:sym typeface="Poppins"/>
              </a:rPr>
              <a:t>Tuurnas</a:t>
            </a:r>
            <a:r>
              <a:rPr lang="en-US" sz="2100" dirty="0">
                <a:solidFill>
                  <a:srgbClr val="000000"/>
                </a:solidFill>
                <a:latin typeface="Poppins"/>
                <a:ea typeface="Poppins"/>
                <a:cs typeface="Poppins"/>
                <a:sym typeface="Poppins"/>
              </a:rPr>
              <a:t>, S., &amp; Jalonen, H. (2025). Roles of professionals in value co-creation: a systematic literature review. Public Management Review, 27(11), 2643-2667. </a:t>
            </a:r>
            <a:r>
              <a:rPr lang="en-US" sz="2100" u="sng" dirty="0">
                <a:solidFill>
                  <a:srgbClr val="000000"/>
                </a:solidFill>
                <a:latin typeface="Poppins"/>
                <a:ea typeface="Poppins"/>
                <a:cs typeface="Poppins"/>
                <a:sym typeface="Poppins"/>
                <a:hlinkClick r:id="rId9" tooltip="https://www.tandfonline.com/doi/abs/10.1080/14719037.2024.2431609"/>
              </a:rPr>
              <a:t>https://www.tandfonline.com/doi/abs/10.1080/14719037.2024.2431609</a:t>
            </a:r>
          </a:p>
          <a:p>
            <a:pPr indent="-457200" algn="l">
              <a:lnSpc>
                <a:spcPts val="2436"/>
              </a:lnSpc>
              <a:spcBef>
                <a:spcPct val="0"/>
              </a:spcBef>
            </a:pPr>
            <a:r>
              <a:rPr lang="en-US" sz="2100" dirty="0">
                <a:solidFill>
                  <a:srgbClr val="000000"/>
                </a:solidFill>
                <a:latin typeface="Poppins"/>
                <a:ea typeface="Poppins"/>
                <a:cs typeface="Poppins"/>
                <a:sym typeface="Poppins"/>
              </a:rPr>
              <a:t>Taylan, C., &amp; Weber, L. T. (2023). “Don’t let me be misunderstood”: communication with patients from a different cultural background. Pediatric Nephrology, 38(3), 643-649. </a:t>
            </a:r>
            <a:r>
              <a:rPr lang="en-US" sz="2100" u="sng" dirty="0">
                <a:solidFill>
                  <a:srgbClr val="000000"/>
                </a:solidFill>
                <a:latin typeface="Poppins"/>
                <a:ea typeface="Poppins"/>
                <a:cs typeface="Poppins"/>
                <a:sym typeface="Poppins"/>
                <a:hlinkClick r:id="rId10" tooltip="https://link.springer.com/article/10.1007/s00467-022-05573-7"/>
              </a:rPr>
              <a:t>https://link.springer.com/article/10.1007/s00467-022-05573-7</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09661" y="1571753"/>
            <a:ext cx="7143493" cy="7143493"/>
          </a:xfrm>
          <a:custGeom>
            <a:avLst/>
            <a:gdLst/>
            <a:ahLst/>
            <a:cxnLst/>
            <a:rect l="l" t="t" r="r" b="b"/>
            <a:pathLst>
              <a:path w="7143493" h="7143493">
                <a:moveTo>
                  <a:pt x="0" y="0"/>
                </a:moveTo>
                <a:lnTo>
                  <a:pt x="7143493" y="0"/>
                </a:lnTo>
                <a:lnTo>
                  <a:pt x="7143493" y="7143494"/>
                </a:lnTo>
                <a:lnTo>
                  <a:pt x="0" y="7143494"/>
                </a:lnTo>
                <a:lnTo>
                  <a:pt x="0" y="0"/>
                </a:lnTo>
                <a:close/>
              </a:path>
            </a:pathLst>
          </a:custGeom>
          <a:blipFill>
            <a:blip r:embed="rId2"/>
            <a:stretch>
              <a:fillRect/>
            </a:stretch>
          </a:blipFill>
        </p:spPr>
      </p:sp>
      <p:sp>
        <p:nvSpPr>
          <p:cNvPr id="3" name="TextBox 3"/>
          <p:cNvSpPr txBox="1"/>
          <p:nvPr/>
        </p:nvSpPr>
        <p:spPr>
          <a:xfrm>
            <a:off x="10454812" y="4773612"/>
            <a:ext cx="5207191" cy="749300"/>
          </a:xfrm>
          <a:prstGeom prst="rect">
            <a:avLst/>
          </a:prstGeom>
        </p:spPr>
        <p:txBody>
          <a:bodyPr lIns="0" tIns="0" rIns="0" bIns="0" rtlCol="0" anchor="t">
            <a:spAutoFit/>
          </a:bodyPr>
          <a:lstStyle/>
          <a:p>
            <a:pPr marL="0" lvl="0" indent="0" algn="l">
              <a:lnSpc>
                <a:spcPts val="5800"/>
              </a:lnSpc>
              <a:spcBef>
                <a:spcPct val="0"/>
              </a:spcBef>
            </a:pPr>
            <a:r>
              <a:rPr lang="en-US" sz="5000" u="none" strike="noStrike" dirty="0">
                <a:solidFill>
                  <a:srgbClr val="000000"/>
                </a:solidFill>
                <a:latin typeface="Lustria"/>
                <a:ea typeface="Lustria"/>
                <a:cs typeface="Lustria"/>
                <a:sym typeface="Lustria"/>
              </a:rPr>
              <a:t> FOR LISTENING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2125</Words>
  <Application>Microsoft Office PowerPoint</Application>
  <PresentationFormat>Custom</PresentationFormat>
  <Paragraphs>102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Poppins</vt:lpstr>
      <vt:lpstr>Calibri</vt:lpstr>
      <vt:lpstr>Poppins Bold</vt:lpstr>
      <vt:lpstr>Arial</vt:lpstr>
      <vt:lpstr>Wingdings</vt:lpstr>
      <vt:lpstr>Lustria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Co-op Portfolio Presentation</dc:title>
  <dc:creator>ADMIN</dc:creator>
  <cp:lastModifiedBy>kelvin mwangi</cp:lastModifiedBy>
  <cp:revision>18</cp:revision>
  <dcterms:created xsi:type="dcterms:W3CDTF">2006-08-16T00:00:00Z</dcterms:created>
  <dcterms:modified xsi:type="dcterms:W3CDTF">2026-01-26T17:12:05Z</dcterms:modified>
  <dc:identifier>DAG_Vf7Heho</dc:identifier>
</cp:coreProperties>
</file>